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41732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 spc="260">
                <a:solidFill>
                  <a:srgbClr val="4F46E5"/>
                </a:solidFill>
                <a:latin typeface="Helvetica Neue"/>
              </a:rPr>
              <a:t>WEEK 9 · LECTURE 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874519"/>
            <a:ext cx="108813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200" b="1" i="0">
                <a:solidFill>
                  <a:srgbClr val="0F172A"/>
                </a:solidFill>
                <a:latin typeface="Helvetica Neue"/>
              </a:rPr>
              <a:t>Support Copilot Audit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88036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475569"/>
                </a:solidFill>
                <a:latin typeface="Helvetica Neue"/>
              </a:rPr>
              <a:t>Evaluation, fairness, explainability and red-teaming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88620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0F172A"/>
                </a:solidFill>
                <a:latin typeface="Helvetica Neue"/>
              </a:rPr>
              <a:t>Four lectures went into building this system. This one measures it,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25196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0F172A"/>
                </a:solidFill>
                <a:latin typeface="Helvetica Neue"/>
              </a:rPr>
              <a:t>finds who it serves worst, and then tries to break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166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475569"/>
                </a:solidFill>
                <a:latin typeface="Helvetica Neue"/>
              </a:rPr>
              <a:t>Laptops open. A notebook walk, then a twenty-five minute team competition.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17220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4F46E5"/>
                </a:solidFill>
                <a:latin typeface="Helvetica Neue"/>
              </a:rPr>
              <a:t>WHERE WE 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Four lectures of building, one of measuring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Same company, same inbox, same models. What changes is that tonight nothing is taken on trust.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66323" y="384048"/>
            <a:ext cx="1132575" cy="274320"/>
          </a:xfrm>
          <a:prstGeom prst="roundRect">
            <a:avLst>
              <a:gd name="adj" fmla="val 42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166323" y="452628"/>
            <a:ext cx="1132575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FFFFFF"/>
                </a:solidFill>
                <a:latin typeface="Helvetica Neue"/>
              </a:rPr>
              <a:t>1  Measure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90339" y="452628"/>
            <a:ext cx="106655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2  The tools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48335" y="452628"/>
            <a:ext cx="100053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3  Red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10" name="Picture 9" descr="d_ar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567" y="2286000"/>
            <a:ext cx="11338560" cy="280145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0EA5E9"/>
                </a:solidFill>
                <a:latin typeface="Helvetica Neue"/>
              </a:rPr>
              <a:t>THE NOTEBOOK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Helvetica Neue"/>
              </a:rPr>
              <a:t>Eight blocks, sixteen steps, three numbers that disagree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The whole session on one slide. Come back to it when you lose the thread.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66323" y="384048"/>
            <a:ext cx="1132575" cy="274320"/>
          </a:xfrm>
          <a:prstGeom prst="roundRect">
            <a:avLst>
              <a:gd name="adj" fmla="val 42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166323" y="452628"/>
            <a:ext cx="1132575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FFFFFF"/>
                </a:solidFill>
                <a:latin typeface="Helvetica Neue"/>
              </a:rPr>
              <a:t>1  Measure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90339" y="452628"/>
            <a:ext cx="106655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2  The tools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48335" y="452628"/>
            <a:ext cx="100053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3  Red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10" name="Picture 9" descr="fig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407" y="2079183"/>
            <a:ext cx="11612880" cy="411695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D97706"/>
                </a:solidFill>
                <a:latin typeface="Helvetica Neue"/>
              </a:rPr>
              <a:t>BEFORE WE START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Four results to watch for while we run the cells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Every one of these is measured in the notebook. None of them is visible in an aggregate score.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66323" y="384048"/>
            <a:ext cx="1132575" cy="274320"/>
          </a:xfrm>
          <a:prstGeom prst="roundRect">
            <a:avLst>
              <a:gd name="adj" fmla="val 42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166323" y="452628"/>
            <a:ext cx="1132575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FFFFFF"/>
                </a:solidFill>
                <a:latin typeface="Helvetica Neue"/>
              </a:rPr>
              <a:t>1  Measure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90339" y="452628"/>
            <a:ext cx="106655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2  The tools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48335" y="452628"/>
            <a:ext cx="100053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3  Red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10" name="Picture 9" descr="d_w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567" y="2286000"/>
            <a:ext cx="11338560" cy="257866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7C3AED"/>
                </a:solidFill>
                <a:latin typeface="Helvetica Neue"/>
              </a:rPr>
              <a:t>THE TOOLS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Library against framework: who invokes whom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Reference. The mechanism, the API you write, and where each shows up in a stack trace.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6323" y="452628"/>
            <a:ext cx="1132575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1  Measure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390339" y="384048"/>
            <a:ext cx="1066556" cy="274320"/>
          </a:xfrm>
          <a:prstGeom prst="roundRect">
            <a:avLst>
              <a:gd name="adj" fmla="val 42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390339" y="452628"/>
            <a:ext cx="106655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FFFFFF"/>
                </a:solidFill>
                <a:latin typeface="Helvetica Neue"/>
              </a:rPr>
              <a:t>2  The tools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48335" y="452628"/>
            <a:ext cx="100053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3  Red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10" name="Picture 9" descr="fig_frame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407" y="2064616"/>
            <a:ext cx="11612880" cy="414608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7C3AED"/>
                </a:solidFill>
                <a:latin typeface="Helvetica Neue"/>
              </a:rPr>
              <a:t>THE TOOLS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LangChain against LangGraph: the API contract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Reference. Same vendor, different object, and the step count is the dividing line.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6323" y="452628"/>
            <a:ext cx="1132575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1  Measure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390339" y="384048"/>
            <a:ext cx="1066556" cy="274320"/>
          </a:xfrm>
          <a:prstGeom prst="roundRect">
            <a:avLst>
              <a:gd name="adj" fmla="val 42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390339" y="452628"/>
            <a:ext cx="106655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FFFFFF"/>
                </a:solidFill>
                <a:latin typeface="Helvetica Neue"/>
              </a:rPr>
              <a:t>2  The tools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48335" y="452628"/>
            <a:ext cx="100053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3  Red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10" name="Picture 9" descr="fig_lcl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407" y="2070084"/>
            <a:ext cx="11612880" cy="413515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E11D48"/>
                </a:solidFill>
                <a:latin typeface="Helvetica Neue"/>
              </a:rPr>
              <a:t>THE COMPETITION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Can a normal customer email get past the safety catch?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Twenty-five minutes, one rule, one number. The system is frozen; only the wording changes.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6323" y="452628"/>
            <a:ext cx="1132575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1  Measure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90339" y="452628"/>
            <a:ext cx="106655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2  The tools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48335" y="384048"/>
            <a:ext cx="1000536" cy="274320"/>
          </a:xfrm>
          <a:prstGeom prst="roundRect">
            <a:avLst>
              <a:gd name="adj" fmla="val 42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548335" y="452628"/>
            <a:ext cx="100053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FFFFFF"/>
                </a:solidFill>
                <a:latin typeface="Helvetica Neue"/>
              </a:rPr>
              <a:t>3  Red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10" name="Picture 9" descr="d_co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070" y="2057400"/>
            <a:ext cx="11133554" cy="43434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059669"/>
                </a:solidFill>
                <a:latin typeface="Helvetica Neue"/>
              </a:rPr>
              <a:t>WHAT THE AUDIT FOUND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Three measurements of one system, and they disagree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Each is correct. Each describes a different part of the pipeline.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6323" y="452628"/>
            <a:ext cx="1132575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1  Measure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90339" y="452628"/>
            <a:ext cx="106655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2  The tools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48335" y="384048"/>
            <a:ext cx="1000536" cy="274320"/>
          </a:xfrm>
          <a:prstGeom prst="roundRect">
            <a:avLst>
              <a:gd name="adj" fmla="val 42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548335" y="452628"/>
            <a:ext cx="100053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FFFFFF"/>
                </a:solidFill>
                <a:latin typeface="Helvetica Neue"/>
              </a:rPr>
              <a:t>3  Red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10" name="Picture 9" descr="d_th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2377440"/>
            <a:ext cx="11155680" cy="226511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E11D48"/>
                </a:solidFill>
                <a:latin typeface="Helvetica Neue"/>
              </a:rPr>
              <a:t>DISCUSSION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Nobody chose any of tonight's failures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Twelve minutes. Answer from a company you have actually worked at.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6323" y="452628"/>
            <a:ext cx="1132575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1  Measure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90339" y="452628"/>
            <a:ext cx="106655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2  The tools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48335" y="384048"/>
            <a:ext cx="1000536" cy="274320"/>
          </a:xfrm>
          <a:prstGeom prst="roundRect">
            <a:avLst>
              <a:gd name="adj" fmla="val 42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548335" y="452628"/>
            <a:ext cx="100053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FFFFFF"/>
                </a:solidFill>
                <a:latin typeface="Helvetica Neue"/>
              </a:rPr>
              <a:t>3  Red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10" name="Picture 9" descr="d_dis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887" y="2377440"/>
            <a:ext cx="10789920" cy="296239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059669"/>
                </a:solidFill>
                <a:latin typeface="Helvetica Neue"/>
              </a:rPr>
              <a:t>DISCUSSION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50" b="1" i="0">
                <a:solidFill>
                  <a:srgbClr val="0F172A"/>
                </a:solidFill>
                <a:latin typeface="Helvetica Neue"/>
              </a:rPr>
              <a:t>Five measurements, four of them invisible in the others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Where the argument lands, and what to carry into your final project.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6323" y="452628"/>
            <a:ext cx="1132575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1  Measure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90339" y="452628"/>
            <a:ext cx="106655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BCC1CC"/>
                </a:solidFill>
                <a:latin typeface="Helvetica Neue"/>
              </a:rPr>
              <a:t>2  The tools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48335" y="384048"/>
            <a:ext cx="1000536" cy="274320"/>
          </a:xfrm>
          <a:prstGeom prst="roundRect">
            <a:avLst>
              <a:gd name="adj" fmla="val 42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548335" y="452628"/>
            <a:ext cx="100053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 spc="60">
                <a:solidFill>
                  <a:srgbClr val="FFFFFF"/>
                </a:solidFill>
                <a:latin typeface="Helvetica Neue"/>
              </a:rPr>
              <a:t>3  Red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10" name="Picture 9" descr="d_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2286000"/>
            <a:ext cx="11247120" cy="342551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