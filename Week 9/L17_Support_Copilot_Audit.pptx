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 spc="260">
                <a:solidFill>
                  <a:srgbClr val="4F46E5"/>
                </a:solidFill>
                <a:latin typeface="Helvetica Neue"/>
              </a:rPr>
              <a:t>WEEK 9 · LECTURE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0F172A"/>
                </a:solidFill>
                <a:latin typeface="Helvetica Neue"/>
              </a:rPr>
              <a:t>Support Copilot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8036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475569"/>
                </a:solidFill>
                <a:latin typeface="Helvetica Neue"/>
              </a:rPr>
              <a:t>Evaluation, fairness, explainability and red-teaming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862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0F172A"/>
                </a:solidFill>
                <a:latin typeface="Helvetica Neue"/>
              </a:rPr>
              <a:t>Four lectures went into building this system. This one measures it,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519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0F172A"/>
                </a:solidFill>
                <a:latin typeface="Helvetica Neue"/>
              </a:rPr>
              <a:t>finds who it serves worst, and then tries to break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663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Helvetica Neue"/>
              </a:rPr>
              <a:t>Laptops open. A notebook walk, then a twenty-five minute team competition.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4F46E5"/>
                </a:solidFill>
                <a:latin typeface="Helvetica Neue"/>
              </a:rPr>
              <a:t>WHERE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Four lectures of building, one of measuring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Same company, same inbox, same models. What changes is that tonight nothing is taken on trust.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66323" y="384048"/>
            <a:ext cx="1132575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166323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1  Measure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90339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2  The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8335" y="452628"/>
            <a:ext cx="10005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3  Red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0" name="Picture 9" descr="d_a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" y="2286000"/>
            <a:ext cx="11338560" cy="280145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0EA5E9"/>
                </a:solidFill>
                <a:latin typeface="Helvetica Neue"/>
              </a:rPr>
              <a:t>THE 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50" b="1" i="0">
                <a:solidFill>
                  <a:srgbClr val="0F172A"/>
                </a:solidFill>
                <a:latin typeface="Helvetica Neue"/>
              </a:rPr>
              <a:t>Eight blocks, sixteen steps: what each one measures and what it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The whole session on one slide. Come back to it when you lose the thread.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66323" y="384048"/>
            <a:ext cx="1132575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166323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1  Measure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90339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2  The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8335" y="452628"/>
            <a:ext cx="10005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3  Red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0" name="Picture 9" descr="fig_flow_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07" y="2053296"/>
            <a:ext cx="11612880" cy="4168726"/>
          </a:xfrm>
          <a:prstGeom prst="rect">
            <a:avLst/>
          </a:prstGeom>
        </p:spPr>
      </p:pic>
      <p:pic>
        <p:nvPicPr>
          <p:cNvPr id="11" name="Picture 10" descr="fig_flow_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407" y="2053296"/>
            <a:ext cx="11612880" cy="4168726"/>
          </a:xfrm>
          <a:prstGeom prst="rect">
            <a:avLst/>
          </a:prstGeom>
        </p:spPr>
      </p:pic>
      <p:pic>
        <p:nvPicPr>
          <p:cNvPr id="12" name="Picture 11" descr="fig_flow_L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407" y="2053296"/>
            <a:ext cx="11612880" cy="4168726"/>
          </a:xfrm>
          <a:prstGeom prst="rect">
            <a:avLst/>
          </a:prstGeom>
        </p:spPr>
      </p:pic>
      <p:pic>
        <p:nvPicPr>
          <p:cNvPr id="13" name="Picture 12" descr="fig_flow_L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407" y="2053296"/>
            <a:ext cx="11612880" cy="4168726"/>
          </a:xfrm>
          <a:prstGeom prst="rect">
            <a:avLst/>
          </a:prstGeom>
        </p:spPr>
      </p:pic>
      <p:pic>
        <p:nvPicPr>
          <p:cNvPr id="14" name="Picture 13" descr="fig_flow_L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407" y="2053296"/>
            <a:ext cx="11612880" cy="4168726"/>
          </a:xfrm>
          <a:prstGeom prst="rect">
            <a:avLst/>
          </a:prstGeom>
        </p:spPr>
      </p:pic>
      <p:pic>
        <p:nvPicPr>
          <p:cNvPr id="15" name="Picture 14" descr="fig_flow_L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407" y="2053296"/>
            <a:ext cx="11612880" cy="4168726"/>
          </a:xfrm>
          <a:prstGeom prst="rect">
            <a:avLst/>
          </a:prstGeom>
        </p:spPr>
      </p:pic>
      <p:pic>
        <p:nvPicPr>
          <p:cNvPr id="16" name="Picture 15" descr="fig_flow_L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9407" y="2053296"/>
            <a:ext cx="11612880" cy="4168726"/>
          </a:xfrm>
          <a:prstGeom prst="rect">
            <a:avLst/>
          </a:prstGeom>
        </p:spPr>
      </p:pic>
      <p:pic>
        <p:nvPicPr>
          <p:cNvPr id="17" name="Picture 16" descr="fig_flow_L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9407" y="2053296"/>
            <a:ext cx="11612880" cy="41687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D97706"/>
                </a:solidFill>
                <a:latin typeface="Helvetica Neue"/>
              </a:rPr>
              <a:t>BEFORE WE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Four results to watch for while we run the cells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Every one of these is measured in the notebook. None of them is visible in an aggregate score.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66323" y="384048"/>
            <a:ext cx="1132575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166323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1  Measure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90339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2  The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8335" y="452628"/>
            <a:ext cx="10005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3  Red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0" name="Picture 9" descr="d_w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" y="2286000"/>
            <a:ext cx="11338560" cy="25786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7C3AED"/>
                </a:solidFill>
                <a:latin typeface="Helvetica Neue"/>
              </a:rPr>
              <a:t>THE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Library against framework: who invokes whom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Reference. The mechanism, the API you write, and where each shows up in a stack trace.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6323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1  Measure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90339" y="384048"/>
            <a:ext cx="1066556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390339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2  The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8335" y="452628"/>
            <a:ext cx="10005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3  Red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0" name="Picture 9" descr="fig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07" y="2064616"/>
            <a:ext cx="11612880" cy="41460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7C3AED"/>
                </a:solidFill>
                <a:latin typeface="Helvetica Neue"/>
              </a:rPr>
              <a:t>THE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LangChain against LangGraph: the API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Reference. Same vendor, different object, and the step count is the dividing 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6323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1  Measure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90339" y="384048"/>
            <a:ext cx="1066556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390339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2  The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8335" y="452628"/>
            <a:ext cx="10005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3  Red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0" name="Picture 9" descr="fig_lcl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07" y="2070084"/>
            <a:ext cx="11612880" cy="41351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E11D48"/>
                </a:solidFill>
                <a:latin typeface="Helvetica Neue"/>
              </a:rPr>
              <a:t>THE 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Can a normal customer email get past the safety catch?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Twenty-five minutes, one rule, one number. The system is frozen; only the wording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6323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1  Measure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90339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2  The tools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8335" y="384048"/>
            <a:ext cx="1000536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48335" y="452628"/>
            <a:ext cx="10005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3  Red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0" name="Picture 9" descr="d_co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070" y="2057400"/>
            <a:ext cx="11133554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059669"/>
                </a:solidFill>
                <a:latin typeface="Helvetica Neue"/>
              </a:rPr>
              <a:t>WHAT THE AUDIT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Three measurements of one system, and they disagree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Each is correct. Each describes a different part of the pipeline.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6323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1  Measure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90339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2  The tools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8335" y="384048"/>
            <a:ext cx="1000536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48335" y="452628"/>
            <a:ext cx="10005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3  Red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0" name="Picture 9" descr="d_th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2377440"/>
            <a:ext cx="11155680" cy="22651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E11D48"/>
                </a:solidFill>
                <a:latin typeface="Helvetica Neue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50" b="1" i="0">
                <a:solidFill>
                  <a:srgbClr val="0F172A"/>
                </a:solidFill>
                <a:latin typeface="Helvetica Neue"/>
              </a:rPr>
              <a:t>Three questions on evaluation, fairness, and responsible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Twelve minutes. Answer from a company you have worked at, not from the notebook.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6323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1  Measure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90339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2  The tools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8335" y="384048"/>
            <a:ext cx="1000536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48335" y="452628"/>
            <a:ext cx="10005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3  Red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0" name="Picture 9" descr="d_dis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930" y="2194560"/>
            <a:ext cx="9873833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059669"/>
                </a:solidFill>
                <a:latin typeface="Helvetica Neue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Helvetica Neue"/>
              </a:rPr>
              <a:t>Five measurements of one pipeline, and what each one alone tells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Each row is a number from tonight's notebook and the single conclusion it supports.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6323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1  Measure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90339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2  The tools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8335" y="384048"/>
            <a:ext cx="1000536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48335" y="452628"/>
            <a:ext cx="10005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3  Red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0" name="Picture 9" descr="d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220" y="2103120"/>
            <a:ext cx="10831253" cy="4297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