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488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lesmalin/Documents/SCU NLP Summer 2026/SCU NLP Summer 2026/Week 5/diagrams/journey/p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 ·   LECTURE 10   ·   THURSDAY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22860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Themes in the Pile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33467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 with embeddings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58368" y="3950208"/>
            <a:ext cx="1645920" cy="45720"/>
          </a:xfrm>
          <a:prstGeom prst="rect">
            <a:avLst/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finds the clusters. You name them.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1018520" y="502920"/>
            <a:ext cx="91440" cy="429768"/>
          </a:xfrm>
          <a:prstGeom prst="line">
            <a:avLst/>
          </a:prstGeom>
          <a:noFill/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11109960" y="868680"/>
            <a:ext cx="548640" cy="64008"/>
          </a:xfrm>
          <a:prstGeom prst="line">
            <a:avLst/>
          </a:prstGeom>
          <a:noFill/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10835640" y="932688"/>
            <a:ext cx="274320" cy="118872"/>
          </a:xfrm>
          <a:prstGeom prst="line">
            <a:avLst/>
          </a:prstGeom>
          <a:noFill/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109960" y="932688"/>
            <a:ext cx="365760" cy="438912"/>
          </a:xfrm>
          <a:prstGeom prst="line">
            <a:avLst/>
          </a:prstGeom>
          <a:noFill/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V="1">
            <a:off x="11475720" y="868680"/>
            <a:ext cx="182880" cy="502920"/>
          </a:xfrm>
          <a:prstGeom prst="line">
            <a:avLst/>
          </a:prstGeom>
          <a:noFill/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63656" y="448056"/>
            <a:ext cx="109728" cy="109728"/>
          </a:xfrm>
          <a:prstGeom prst="ellipse">
            <a:avLst/>
          </a:prstGeom>
          <a:solidFill>
            <a:srgbClr val="B5A06A"/>
          </a:solidFill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1603736" y="813816"/>
            <a:ext cx="109728" cy="109728"/>
          </a:xfrm>
          <a:prstGeom prst="ellipse">
            <a:avLst/>
          </a:prstGeom>
          <a:solidFill>
            <a:srgbClr val="B5A06A"/>
          </a:solidFill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0780776" y="996696"/>
            <a:ext cx="109728" cy="109728"/>
          </a:xfrm>
          <a:prstGeom prst="ellipse">
            <a:avLst/>
          </a:prstGeom>
          <a:solidFill>
            <a:srgbClr val="B5A06A"/>
          </a:solidFill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420856" y="1316736"/>
            <a:ext cx="109728" cy="109728"/>
          </a:xfrm>
          <a:prstGeom prst="ellipse">
            <a:avLst/>
          </a:prstGeom>
          <a:solidFill>
            <a:srgbClr val="B5A06A"/>
          </a:solidFill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055096" y="877824"/>
            <a:ext cx="109728" cy="109728"/>
          </a:xfrm>
          <a:prstGeom prst="ellipse">
            <a:avLst/>
          </a:prstGeom>
          <a:solidFill>
            <a:srgbClr val="B5A06A"/>
          </a:solidFill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 reviews. Nobody labeled them.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read them all, and counting words misses meaning.</a:t>
            </a:r>
            <a:endParaRPr lang="en-US" sz="1500" dirty="0"/>
          </a:p>
        </p:txBody>
      </p:sp>
      <p:pic>
        <p:nvPicPr>
          <p:cNvPr id="5" name="Image 0" descr="/Users/julesmalin/Documents/SCU NLP Summer 2026/SCU NLP Summer 2026/Week 5/diagrams/journey/w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670" y="2194560"/>
            <a:ext cx="8328355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let's follow just five.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watch every step by hand, then we scale up to the whole pile.</a:t>
            </a:r>
            <a:endParaRPr lang="en-US" sz="1500" dirty="0"/>
          </a:p>
        </p:txBody>
      </p:sp>
      <p:pic>
        <p:nvPicPr>
          <p:cNvPr id="5" name="Image 0" descr="/Users/julesmalin/Documents/SCU NLP Summer 2026/SCU NLP Summer 2026/Week 5/diagrams/journey/five_ch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824" y="2194560"/>
            <a:ext cx="6772046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4352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1D9E75"/>
          </a:solidFill>
          <a:ln w="19050">
            <a:solidFill>
              <a:srgbClr val="1B1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84352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21712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5760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EDE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5760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3120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27168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EDE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27168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64528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48576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EDE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48576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85936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469984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EDE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69984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review becomes a list of numbers.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640080" y="17556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pretrained sentence-transformer maps text to a 384-dim vector in meaning-space.</a:t>
            </a:r>
            <a:endParaRPr lang="en-US" sz="1500" dirty="0"/>
          </a:p>
        </p:txBody>
      </p:sp>
      <p:pic>
        <p:nvPicPr>
          <p:cNvPr id="18" name="Image 0" descr="/Users/julesmalin/Documents/SCU NLP Summer 2026/SCU NLP Summer 2026/Week 5/diagrams/journey/em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108" y="2350008"/>
            <a:ext cx="6799478" cy="309067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0080" y="5577840"/>
            <a:ext cx="10908792" cy="603504"/>
          </a:xfrm>
          <a:prstGeom prst="roundRect">
            <a:avLst>
              <a:gd name="adj" fmla="val 9091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14400" y="55778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 </a:t>
            </a:r>
            <a:r>
              <a:rPr lang="en-US" sz="1200" dirty="0">
                <a:solidFill>
                  <a:srgbClr val="E6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 = model.encode(reviews)   # 384-dim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55778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· Reimers &amp; Gurevych 2019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4352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84352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21712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5760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378ADD"/>
          </a:solidFill>
          <a:ln w="19050">
            <a:solidFill>
              <a:srgbClr val="1B1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5760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3120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27168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EDE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27168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64528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48576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EDE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48576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85936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469984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EDE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69984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meaning lands nearby.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640080" y="17556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is high within a theme; to see it, we reduce 384-dim to 2-D.</a:t>
            </a:r>
            <a:endParaRPr lang="en-US" sz="1500" dirty="0"/>
          </a:p>
        </p:txBody>
      </p:sp>
      <p:pic>
        <p:nvPicPr>
          <p:cNvPr id="18" name="Image 0" descr="/Users/julesmalin/Documents/SCU NLP Summer 2026/SCU NLP Summer 2026/Week 5/diagrams/journey/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590" y="2350008"/>
            <a:ext cx="5130516" cy="309067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0080" y="5577840"/>
            <a:ext cx="10908792" cy="603504"/>
          </a:xfrm>
          <a:prstGeom prst="roundRect">
            <a:avLst>
              <a:gd name="adj" fmla="val 9091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14400" y="55778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 </a:t>
            </a:r>
            <a:r>
              <a:rPr lang="en-US" sz="1200" dirty="0">
                <a:solidFill>
                  <a:srgbClr val="E6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cos_sim(a, b)  ·  UMAP(n_neighbors=15)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55778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· McInnes, Healy &amp; Melville 2018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4352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84352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21712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5760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5760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3120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27168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7F77DD"/>
          </a:solidFill>
          <a:ln w="19050">
            <a:solidFill>
              <a:srgbClr val="1B1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27168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64528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48576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EDE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48576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85936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469984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EDE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69984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clusters appear, and one doesn't fit.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640080" y="17556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clustering finds the groups and leaves borderline points as noise (-1).</a:t>
            </a:r>
            <a:endParaRPr lang="en-US" sz="1500" dirty="0"/>
          </a:p>
        </p:txBody>
      </p:sp>
      <p:pic>
        <p:nvPicPr>
          <p:cNvPr id="18" name="Image 0" descr="/Users/julesmalin/Documents/SCU NLP Summer 2026/SCU NLP Summer 2026/Week 5/diagrams/journey/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590" y="2350008"/>
            <a:ext cx="5130516" cy="309067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0080" y="5577840"/>
            <a:ext cx="10908792" cy="603504"/>
          </a:xfrm>
          <a:prstGeom prst="roundRect">
            <a:avLst>
              <a:gd name="adj" fmla="val 9091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14400" y="55778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 </a:t>
            </a:r>
            <a:r>
              <a:rPr lang="en-US" sz="1200" dirty="0">
                <a:solidFill>
                  <a:srgbClr val="E6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HDBSCAN(min_cluster_size=15)   # toy: KMeans(2)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55778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· Campello 2013 · McInnes 2017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4352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84352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21712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5760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5760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3120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27168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7F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27168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64528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48576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BA7517"/>
          </a:solidFill>
          <a:ln w="19050">
            <a:solidFill>
              <a:srgbClr val="1B1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48576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85936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469984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EDE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69984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cluster is just a list of words.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640080" y="17556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c-TF-IDF scores which words are most distinctive to each cluster.</a:t>
            </a:r>
            <a:endParaRPr lang="en-US" sz="1500" dirty="0"/>
          </a:p>
        </p:txBody>
      </p:sp>
      <p:pic>
        <p:nvPicPr>
          <p:cNvPr id="18" name="Image 0" descr="/Users/julesmalin/Documents/SCU NLP Summer 2026/SCU NLP Summer 2026/Week 5/diagrams/journey/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590" y="2350008"/>
            <a:ext cx="5130516" cy="309067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0080" y="5577840"/>
            <a:ext cx="10908792" cy="603504"/>
          </a:xfrm>
          <a:prstGeom prst="roundRect">
            <a:avLst>
              <a:gd name="adj" fmla="val 9091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14400" y="55778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 </a:t>
            </a:r>
            <a:r>
              <a:rPr lang="en-US" sz="1200" dirty="0">
                <a:solidFill>
                  <a:srgbClr val="E6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topic_model.get_topic(k)   # c-TF-IDF terms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55778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c-TF-IDF · Grootendorst 2022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4352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84352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21712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5760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5760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3120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27168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7F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27168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64528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48576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48576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85936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469984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B31A38"/>
          </a:solidFill>
          <a:ln w="19050">
            <a:solidFill>
              <a:srgbClr val="1B1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69984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write the label.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640080" y="17556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hands you words. A human reads them, checks a few examples, and writes the topic name.</a:t>
            </a:r>
            <a:endParaRPr lang="en-US" sz="1500" dirty="0"/>
          </a:p>
        </p:txBody>
      </p:sp>
      <p:pic>
        <p:nvPicPr>
          <p:cNvPr id="18" name="Image 0" descr="/Users/julesmalin/Documents/SCU NLP Summer 2026/SCU NLP Summer 2026/Week 5/diagrams/journey/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590" y="2350008"/>
            <a:ext cx="5130516" cy="309067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0080" y="5577840"/>
            <a:ext cx="10908792" cy="603504"/>
          </a:xfrm>
          <a:prstGeom prst="roundRect">
            <a:avLst>
              <a:gd name="adj" fmla="val 9091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14400" y="55778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 </a:t>
            </a:r>
            <a:r>
              <a:rPr lang="en-US" sz="1200" dirty="0">
                <a:solidFill>
                  <a:srgbClr val="E6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set_topic_labels({0:"Story", 1:"Bugs"})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55778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box is yours · Grootendorst 2022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reviews fit no clean theme.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collects torn cases in the -1 bucket. A tidy word-list can still be junk.</a:t>
            </a:r>
            <a:endParaRPr lang="en-US" sz="1500" dirty="0"/>
          </a:p>
        </p:txBody>
      </p:sp>
      <p:pic>
        <p:nvPicPr>
          <p:cNvPr id="5" name="Image 0" descr="/Users/julesmalin/Documents/SCU NLP Summer 2026/SCU NLP Summer 2026/Week 5/diagrams/journey/c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2194560"/>
            <a:ext cx="5388559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577840"/>
            <a:ext cx="10908792" cy="603504"/>
          </a:xfrm>
          <a:prstGeom prst="roundRect">
            <a:avLst>
              <a:gd name="adj" fmla="val 9091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55778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 </a:t>
            </a:r>
            <a:r>
              <a:rPr lang="en-US" sz="1200" dirty="0">
                <a:solidFill>
                  <a:srgbClr val="E6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topics == -1   # outlier / noise bucket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55778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clustering · McInnes 2017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4352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84352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21712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5760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5760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3120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27168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7F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27168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64528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48576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48576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85936" y="384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469984" y="384048"/>
            <a:ext cx="1737360" cy="420624"/>
          </a:xfrm>
          <a:prstGeom prst="roundRect">
            <a:avLst>
              <a:gd name="adj" fmla="val 19565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69984" y="384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button does all 5,000.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640080" y="17556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 chains embed, reduce, cluster, and c-TF-IDF into a single call.</a:t>
            </a:r>
            <a:endParaRPr lang="en-US" sz="1500" dirty="0"/>
          </a:p>
        </p:txBody>
      </p:sp>
      <p:pic>
        <p:nvPicPr>
          <p:cNvPr id="18" name="Image 0" descr="/Users/julesmalin/Documents/SCU NLP Summer 2026/SCU NLP Summer 2026/Week 5/diagrams/journey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603" y="2350008"/>
            <a:ext cx="5470489" cy="309067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0080" y="5577840"/>
            <a:ext cx="10908792" cy="603504"/>
          </a:xfrm>
          <a:prstGeom prst="roundRect">
            <a:avLst>
              <a:gd name="adj" fmla="val 9091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14400" y="55778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 </a:t>
            </a:r>
            <a:r>
              <a:rPr lang="en-US" sz="1200" dirty="0">
                <a:solidFill>
                  <a:srgbClr val="E6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BERTopic().fit_transform(docs)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55778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 · Grootendorst, arXiv:2203.05794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algorithms, then you.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just did, end to end. BERTopic chains the first four steps; the last one is yours.</a:t>
            </a:r>
            <a:endParaRPr lang="en-US" sz="1500" dirty="0"/>
          </a:p>
        </p:txBody>
      </p:sp>
      <p:pic>
        <p:nvPicPr>
          <p:cNvPr id="5" name="Image 0" descr="/Users/julesmalin/Documents/SCU NLP Summer 2026/SCU NLP Summer 2026/Week 5/diagrams/journey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8" y="2293620"/>
            <a:ext cx="10607040" cy="304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577840"/>
            <a:ext cx="10908792" cy="603504"/>
          </a:xfrm>
          <a:prstGeom prst="roundRect">
            <a:avLst>
              <a:gd name="adj" fmla="val 9091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55778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 </a:t>
            </a:r>
            <a:r>
              <a:rPr lang="en-US" sz="1200" dirty="0">
                <a:solidFill>
                  <a:srgbClr val="E6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  -&gt;  SBERT  -&gt;  UMAP  -&gt;  HDBSCAN  -&gt;  c-TF-IDF  -&gt;  you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55778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for tonight and for your project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8732520" y="502920"/>
            <a:ext cx="2816352" cy="658368"/>
          </a:xfrm>
          <a:prstGeom prst="roundRect">
            <a:avLst>
              <a:gd name="adj" fmla="val 1388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32520" y="502920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themes. Flag the junk.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1938528"/>
            <a:ext cx="1645920" cy="45720"/>
          </a:xfrm>
          <a:prstGeom prst="rect">
            <a:avLst/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final project team, one laptop. Open the notebook and scroll to Part C: your six cards are already there.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262B38"/>
          </a:solidFill>
          <a:ln w="12700">
            <a:solidFill>
              <a:srgbClr val="3A4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96112" y="345643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all six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96112" y="3858768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A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top words. Write a name a product team could actually act 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27432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262B38"/>
          </a:solidFill>
          <a:ln w="12700">
            <a:solidFill>
              <a:srgbClr val="3A4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90872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90872" y="345643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junk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90872" y="3858768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A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six is incoherent. Which one, and how could you tell?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262B38"/>
          </a:solidFill>
          <a:ln w="12700">
            <a:solidFill>
              <a:srgbClr val="3A4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85632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85632" y="345643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mis-file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85632" y="3858768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A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sits in the wrong topic. Quote it, and say where it belongs.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8280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go in your team's row of the sheet.</a:t>
            </a:r>
            <a:r>
              <a:rPr lang="en-US" sz="1500" dirty="0">
                <a:solidFill>
                  <a:srgbClr val="AFA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Link: top and bottom of the notebook. Worked example in the first row.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394960"/>
            <a:ext cx="10908792" cy="603504"/>
          </a:xfrm>
          <a:prstGeom prst="roundRect">
            <a:avLst>
              <a:gd name="adj" fmla="val 9091"/>
            </a:avLst>
          </a:prstGeom>
          <a:solidFill>
            <a:srgbClr val="11141C"/>
          </a:solidFill>
          <a:ln w="12700">
            <a:solidFill>
              <a:srgbClr val="B31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53949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  </a:t>
            </a:r>
            <a:r>
              <a:rPr lang="en-US" sz="12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the cells at the very bottom, they're the answer key.   ·   Don't just split the six between you: argue about at least one, out loud.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 THE MACHINE 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it write the names too?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reads the same words and the same examples, and drafts every label in about a second.</a:t>
            </a:r>
            <a:endParaRPr lang="en-US" sz="1500" dirty="0"/>
          </a:p>
        </p:txBody>
      </p:sp>
      <p:pic>
        <p:nvPicPr>
          <p:cNvPr id="5" name="Image 0" descr="/Users/julesmalin/Documents/SCU NLP Summer 2026/SCU NLP Summer 2026/Week 5/diagrams/journey/pipeline_l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8" y="2511334"/>
            <a:ext cx="10607040" cy="261257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577840"/>
            <a:ext cx="10908792" cy="603504"/>
          </a:xfrm>
          <a:prstGeom prst="roundRect">
            <a:avLst>
              <a:gd name="adj" fmla="val 9091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55778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 </a:t>
            </a:r>
            <a:r>
              <a:rPr lang="en-US" sz="1200" dirty="0">
                <a:solidFill>
                  <a:srgbClr val="E6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BERTopic(representation_model=TextGeneration(llm))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55778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models · Grootendorst 2022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lesmalin/Documents/SCU NLP Summer 2026/SCU NLP Summer 2026/Week 5/diagrams/journey/w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22402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grouped the reviews. You named the topics.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prints a word-list per cluster. You read them, drop the incoherent ones, and write a topic name a product team can act on.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58368" y="4572000"/>
            <a:ext cx="1645920" cy="45720"/>
          </a:xfrm>
          <a:prstGeom prst="rect">
            <a:avLst/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4800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the same meaning-space points become the engine of retrieval (RAG).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018520" y="502920"/>
            <a:ext cx="91440" cy="429768"/>
          </a:xfrm>
          <a:prstGeom prst="line">
            <a:avLst/>
          </a:prstGeom>
          <a:noFill/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11109960" y="868680"/>
            <a:ext cx="548640" cy="64008"/>
          </a:xfrm>
          <a:prstGeom prst="line">
            <a:avLst/>
          </a:prstGeom>
          <a:noFill/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10835640" y="932688"/>
            <a:ext cx="274320" cy="118872"/>
          </a:xfrm>
          <a:prstGeom prst="line">
            <a:avLst/>
          </a:prstGeom>
          <a:noFill/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109960" y="932688"/>
            <a:ext cx="365760" cy="438912"/>
          </a:xfrm>
          <a:prstGeom prst="line">
            <a:avLst/>
          </a:prstGeom>
          <a:noFill/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V="1">
            <a:off x="11475720" y="868680"/>
            <a:ext cx="182880" cy="502920"/>
          </a:xfrm>
          <a:prstGeom prst="line">
            <a:avLst/>
          </a:prstGeom>
          <a:noFill/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63656" y="448056"/>
            <a:ext cx="109728" cy="109728"/>
          </a:xfrm>
          <a:prstGeom prst="ellipse">
            <a:avLst/>
          </a:prstGeom>
          <a:solidFill>
            <a:srgbClr val="B5A06A"/>
          </a:solidFill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1603736" y="813816"/>
            <a:ext cx="109728" cy="109728"/>
          </a:xfrm>
          <a:prstGeom prst="ellipse">
            <a:avLst/>
          </a:prstGeom>
          <a:solidFill>
            <a:srgbClr val="B5A06A"/>
          </a:solidFill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0780776" y="996696"/>
            <a:ext cx="109728" cy="109728"/>
          </a:xfrm>
          <a:prstGeom prst="ellipse">
            <a:avLst/>
          </a:prstGeom>
          <a:solidFill>
            <a:srgbClr val="B5A06A"/>
          </a:solidFill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420856" y="1316736"/>
            <a:ext cx="109728" cy="109728"/>
          </a:xfrm>
          <a:prstGeom prst="ellipse">
            <a:avLst/>
          </a:prstGeom>
          <a:solidFill>
            <a:srgbClr val="B5A06A"/>
          </a:solidFill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055096" y="877824"/>
            <a:ext cx="109728" cy="109728"/>
          </a:xfrm>
          <a:prstGeom prst="ellipse">
            <a:avLst/>
          </a:prstGeom>
          <a:solidFill>
            <a:srgbClr val="B5A06A"/>
          </a:solidFill>
          <a:ln w="12700">
            <a:solidFill>
              <a:srgbClr val="B5A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REFERENCES &amp;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Reimers &amp; Gurevych (2019). </a:t>
            </a: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Sentence-BERT: Sentence Embeddings using Siamese BERT-Networks. EMNLP. arXiv:1908.10084.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71576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(2020). </a:t>
            </a: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MiniLM: Deep Self-Attention Distillation for Task-Agnostic Compression. NeurIPS. arXiv:2002.10957.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46557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McInnes, Healy &amp; Melville (2018). </a:t>
            </a: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UMAP: Uniform Manifold Approximation and Projection. arXiv:1802.03426.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1538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Campello, Moulavi &amp; Sander (2013). </a:t>
            </a: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Clustering Based on Hierarchical Density Estimates. PAKDD.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96519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Grootendorst (2022). </a:t>
            </a: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BERTopic: Neural topic modeling with a class-based TF-IDF procedure. arXiv:2203.05794.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1874520"/>
            <a:ext cx="3611880" cy="3977640"/>
          </a:xfrm>
          <a:prstGeom prst="roundRect">
            <a:avLst>
              <a:gd name="adj" fmla="val 1519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3816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38160" y="24231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sentence-transformers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umap-learn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hdbscan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bertopic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3816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all-MiniLM-L6-v2  (Hugging Face)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38160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Jurafsky &amp; Martin, SLP3, Ch. 6: Vector Semantics &amp; Embeddings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1089</Words>
  <Application>Microsoft Macintosh PowerPoint</Application>
  <PresentationFormat>Widescreen</PresentationFormat>
  <Paragraphs>183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Jules Malin</cp:lastModifiedBy>
  <cp:revision>2</cp:revision>
  <dcterms:created xsi:type="dcterms:W3CDTF">2026-07-16T21:37:29Z</dcterms:created>
  <dcterms:modified xsi:type="dcterms:W3CDTF">2026-07-16T23:06:01Z</dcterms:modified>
</cp:coreProperties>
</file>