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 ·   LECTURE 9   ·   TUESDAY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Giants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pipelines  ·  zero-shot, QA &amp; multi-lens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04088" y="3767328"/>
            <a:ext cx="1920240" cy="41148"/>
          </a:xfrm>
          <a:prstGeom prst="rect">
            <a:avLst/>
          </a:prstGeom>
          <a:solidFill>
            <a:srgbClr val="B31A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0050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you built the machine. Tonight you borrow bigger ones — and learn to judge them.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460736" y="1133856"/>
            <a:ext cx="548640" cy="36576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75136" y="996696"/>
            <a:ext cx="-365760" cy="50292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43616" y="1865376"/>
            <a:ext cx="365760" cy="-36576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66576" y="1956816"/>
            <a:ext cx="-457200" cy="-45720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60736" y="1133856"/>
            <a:ext cx="914400" cy="-13716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43616" y="1865376"/>
            <a:ext cx="822960" cy="9144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440" y="105156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91440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61320" y="178308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84280" y="187452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27080" y="141732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FROM LAST WEEK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a network by hand. Do we do that every time?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you trained a net from scratch — and saw how much data and compute learning really takes.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181448" cy="2468880"/>
          </a:xfrm>
          <a:prstGeom prst="roundRect">
            <a:avLst>
              <a:gd name="adj" fmla="val 259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58775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gave 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4449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 trained from scratch in PyTorch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guess → measure → adjust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truth: learning needs mountains of data + compute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2331720"/>
            <a:ext cx="5181448" cy="2468880"/>
          </a:xfrm>
          <a:prstGeom prst="roundRect">
            <a:avLst>
              <a:gd name="adj" fmla="val 259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258775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Tonight asks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90208" y="3108960"/>
            <a:ext cx="4449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we retrain from zero for every task?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someone already did the hard part?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tag, answer &amp; analyse reviews in three lines each?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623560"/>
            <a:ext cx="10820095" cy="749808"/>
          </a:xfrm>
          <a:prstGeom prst="rect">
            <a:avLst/>
          </a:prstGeom>
          <a:solidFill>
            <a:srgbClr val="1B1F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62356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you need already exist. Tonight you borrow them — and spend the night judging them.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learning: reuse knowledge, don't rebuild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pretrained on billions of words already “knows” language. You point that knowledge at your task instead of starting from zero.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30189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3218688"/>
            <a:ext cx="2021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scratch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977640"/>
            <a:ext cx="2570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 baby the language from nothing — huge data, huge compute, weeks of training.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44898" y="2834640"/>
            <a:ext cx="330189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0658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12" name="Text 10"/>
          <p:cNvSpPr/>
          <p:nvPr/>
        </p:nvSpPr>
        <p:spPr>
          <a:xfrm>
            <a:off x="481065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96458" y="3218688"/>
            <a:ext cx="2021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10658" y="3977640"/>
            <a:ext cx="2570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someone who already speaks it — adapt in minutes, not weeks.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03997" y="2834640"/>
            <a:ext cx="330189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69757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17" name="Text 15"/>
          <p:cNvSpPr/>
          <p:nvPr/>
        </p:nvSpPr>
        <p:spPr>
          <a:xfrm>
            <a:off x="8569757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55557" y="3218688"/>
            <a:ext cx="2021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69757" y="3977640"/>
            <a:ext cx="2570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inherit their knowledge — and their blind spots. More on that soon.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Face: the app store for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pretrained models behind one interface. pipeline(task) loads a model and does all the plumbing.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72968" y="278892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11880" y="2788920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61888" y="278892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0" y="2788920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50808" y="278892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89720" y="2788920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answer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45262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pipeline() </a:t>
            </a:r>
            <a:pPr indent="0" marL="0">
              <a:buNone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wraps every box above — you call one function.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5074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Tonight: four borrowed models — a sentiment warm-up, then the two new stars (zero-shot &amp; QA) plus a multi-lens work-up.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SENTIMENT (A WEEK-4 CALLBACK)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lines — then check it against the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126480" cy="1828800"/>
          </a:xfrm>
          <a:prstGeom prst="roundRect">
            <a:avLst>
              <a:gd name="adj" fmla="val 2500"/>
            </a:avLst>
          </a:prstGeom>
          <a:solidFill>
            <a:srgbClr val="151A2E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2148840"/>
            <a:ext cx="5614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= pipeline("sentiment-analysis")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clf("this game is a masterpiece")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POSITIVE  0.99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69480" y="2011680"/>
            <a:ext cx="4236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reality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42364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Steam review carries the player's real thumb — ground truth we didn't make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measure where the model agrees with reality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shows how it's wrong, not just how often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4114800"/>
            <a:ext cx="10820095" cy="128016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4251960"/>
            <a:ext cx="100885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a model without ground truth.  </a:t>
            </a:r>
            <a:pPr indent="0" marL="0">
              <a:buNone/>
            </a:pPr>
            <a:r>
              <a:rPr lang="en-US" sz="15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you met in Week 4; the habit of checking it against labels is the Week-3 evaluation discipline.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  ·  THE NEW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Router — classify with labels you invent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126480" cy="2148840"/>
          </a:xfrm>
          <a:prstGeom prst="roundRect">
            <a:avLst>
              <a:gd name="adj" fmla="val 2128"/>
            </a:avLst>
          </a:prstGeom>
          <a:solidFill>
            <a:srgbClr val="151A2E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2148840"/>
            <a:ext cx="5614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pipeline(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"zero-shot-classification")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router(review,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["bug","price","story"])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bug 0.72 · price 0.18 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69480" y="2011680"/>
            <a:ext cx="4236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via entailment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42364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no fixed label set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label it asks: “does this review imply it's about ___?”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entailment probability is the score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ARE the question you ask the 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you built a supervised classifier — classes fixed up front.  </a:t>
            </a:r>
            <a:pPr indent="0" marL="0">
              <a:buNone/>
            </a:pPr>
            <a:r>
              <a:rPr lang="en-US" sz="15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opposite: invent the labels at runtime.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  ·  THE SECOND NEW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reviews — extractive question answering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126480" cy="2148840"/>
          </a:xfrm>
          <a:prstGeom prst="roundRect">
            <a:avLst>
              <a:gd name="adj" fmla="val 2128"/>
            </a:avLst>
          </a:prstGeom>
          <a:solidFill>
            <a:srgbClr val="151A2E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2148840"/>
            <a:ext cx="5614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= pipeline("question-answering")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qa(question="how hard is it?",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context=reviews)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"brutal but fair"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score 0.88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69480" y="2011680"/>
            <a:ext cx="4236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span, don't invent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42364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token as a possible start and end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the span between them — words already in the text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 — but it can't answer what isn't there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retrieve the right reviews first (TF-IDF, Week 4), then read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→ read  </a:t>
            </a:r>
            <a:pPr indent="0" marL="0">
              <a:buNone/>
            </a:pPr>
            <a:r>
              <a:rPr lang="en-US" sz="15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backbone of a RAG system — the core of your final project.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— and wrong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Gamers are fluent in sarcasm. Run four lenses on one review and they openly disagree — which do you believe?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430704" cy="1783080"/>
          </a:xfrm>
          <a:prstGeom prst="roundRect">
            <a:avLst>
              <a:gd name="adj" fmla="val 3077"/>
            </a:avLst>
          </a:prstGeom>
          <a:solidFill>
            <a:srgbClr val="242B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24912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82264" y="2468880"/>
            <a:ext cx="2430704" cy="1783080"/>
          </a:xfrm>
          <a:prstGeom prst="roundRect">
            <a:avLst>
              <a:gd name="adj" fmla="val 3077"/>
            </a:avLst>
          </a:prstGeom>
          <a:solidFill>
            <a:srgbClr val="242B37"/>
          </a:solidFill>
          <a:ln/>
        </p:spPr>
      </p:sp>
      <p:sp>
        <p:nvSpPr>
          <p:cNvPr id="9" name="Text 7"/>
          <p:cNvSpPr/>
          <p:nvPr/>
        </p:nvSpPr>
        <p:spPr>
          <a:xfrm>
            <a:off x="3710864" y="2724912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10864" y="324612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8728" y="2468880"/>
            <a:ext cx="2430704" cy="1783080"/>
          </a:xfrm>
          <a:prstGeom prst="roundRect">
            <a:avLst>
              <a:gd name="adj" fmla="val 3077"/>
            </a:avLst>
          </a:prstGeom>
          <a:solidFill>
            <a:srgbClr val="242B37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724912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07328" y="324612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95%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75191" y="2468880"/>
            <a:ext cx="2430704" cy="1783080"/>
          </a:xfrm>
          <a:prstGeom prst="roundRect">
            <a:avLst>
              <a:gd name="adj" fmla="val 3077"/>
            </a:avLst>
          </a:prstGeom>
          <a:solidFill>
            <a:srgbClr val="242B37"/>
          </a:solidFill>
          <a:ln/>
        </p:spPr>
      </p:sp>
      <p:sp>
        <p:nvSpPr>
          <p:cNvPr id="15" name="Text 13"/>
          <p:cNvSpPr/>
          <p:nvPr/>
        </p:nvSpPr>
        <p:spPr>
          <a:xfrm>
            <a:off x="9303791" y="2724912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Toxicity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03791" y="324612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game if you enjoy losing your entire weekend”  </a:t>
            </a:r>
            <a:pPr indent="0" marL="0">
              <a:buNone/>
            </a:pPr>
            <a:r>
              <a:rPr lang="en-US" sz="17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POSITIVE, but ironic. Your judgment is the safeguard.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 enough to catch it. Let's try to break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45 minutes the whole class shares one live app over 5,000 real Steam reviews. Your job isn't to admire it — it's to find where it fails and say why.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72488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B5A06A"/>
          </a:solidFill>
          <a:ln/>
        </p:spPr>
      </p:sp>
      <p:sp>
        <p:nvSpPr>
          <p:cNvPr id="6" name="Text 4"/>
          <p:cNvSpPr/>
          <p:nvPr/>
        </p:nvSpPr>
        <p:spPr>
          <a:xfrm>
            <a:off x="2072488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72488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92728" y="33832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181448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B31A38"/>
          </a:solidFill>
          <a:ln/>
        </p:spPr>
      </p:sp>
      <p:sp>
        <p:nvSpPr>
          <p:cNvPr id="10" name="Text 8"/>
          <p:cNvSpPr/>
          <p:nvPr/>
        </p:nvSpPr>
        <p:spPr>
          <a:xfrm>
            <a:off x="5181448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81448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failure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01688" y="33832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290408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A2E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90408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90408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not to trust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can use it. The analyst is the one who knows when not to trust it.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SHOULD YOU PLAY IT?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 over 5,000 Steam reviews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borrowed tools behind one chat window. Open the link (and QR) on screen — laptop or phone.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301898" cy="2286000"/>
          </a:xfrm>
          <a:prstGeom prst="roundRect">
            <a:avLst>
              <a:gd name="adj" fmla="val 2400"/>
            </a:avLst>
          </a:prstGeom>
          <a:solidFill>
            <a:srgbClr val="242B3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892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reviews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→ the answer span, pulled from real reviews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44898" y="2514600"/>
            <a:ext cx="3301898" cy="2286000"/>
          </a:xfrm>
          <a:prstGeom prst="roundRect">
            <a:avLst>
              <a:gd name="adj" fmla="val 2400"/>
            </a:avLst>
          </a:prstGeom>
          <a:solidFill>
            <a:srgbClr val="242B37"/>
          </a:solidFill>
          <a:ln/>
        </p:spPr>
      </p:sp>
      <p:sp>
        <p:nvSpPr>
          <p:cNvPr id="9" name="Text 7"/>
          <p:cNvSpPr/>
          <p:nvPr/>
        </p:nvSpPr>
        <p:spPr>
          <a:xfrm>
            <a:off x="4764938" y="278892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Router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4938" y="33832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review → tags in the categories you invent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03997" y="2514600"/>
            <a:ext cx="3301898" cy="2286000"/>
          </a:xfrm>
          <a:prstGeom prst="roundRect">
            <a:avLst>
              <a:gd name="adj" fmla="val 2400"/>
            </a:avLst>
          </a:prstGeom>
          <a:solidFill>
            <a:srgbClr val="242B37"/>
          </a:solidFill>
          <a:ln/>
        </p:spPr>
      </p:sp>
      <p:sp>
        <p:nvSpPr>
          <p:cNvPr id="12" name="Text 10"/>
          <p:cNvSpPr/>
          <p:nvPr/>
        </p:nvSpPr>
        <p:spPr>
          <a:xfrm>
            <a:off x="8524037" y="278892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Multi-lens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24037" y="33832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emotion · irony · toxicity, all at once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5074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shared Gradio link + QR here  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HOW TO DRIVE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input, three kinds of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01898" cy="3108960"/>
          </a:xfrm>
          <a:prstGeom prst="roundRect">
            <a:avLst>
              <a:gd name="adj" fmla="val 2059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042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question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Elden Ring worth it?”   “How hard is Sekiro?”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4160520"/>
            <a:ext cx="2661818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297680"/>
            <a:ext cx="2661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quoted answer span + a % recommend gauge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44898" y="2011680"/>
            <a:ext cx="3301898" cy="3108960"/>
          </a:xfrm>
          <a:prstGeom prst="roundRect">
            <a:avLst>
              <a:gd name="adj" fmla="val 2059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4938" y="23042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a 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4938" y="29260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if you enjoy losing your entire weekend”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64938" y="4160520"/>
            <a:ext cx="2661818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938" y="4297680"/>
            <a:ext cx="2661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sentiment · emotion · irony · toxicity + topic tags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03997" y="2011680"/>
            <a:ext cx="3301898" cy="3108960"/>
          </a:xfrm>
          <a:prstGeom prst="roundRect">
            <a:avLst>
              <a:gd name="adj" fmla="val 2059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24037" y="23042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Type: analyze &lt;game&gt;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24037" y="29260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“analyze Cyberpunk 2077”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24037" y="4160520"/>
            <a:ext cx="2661818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4037" y="4297680"/>
            <a:ext cx="2661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the whole community talks about most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623560"/>
            <a:ext cx="10820095" cy="749808"/>
          </a:xfrm>
          <a:prstGeom prst="rect">
            <a:avLst/>
          </a:prstGeom>
          <a:solidFill>
            <a:srgbClr val="1B1F2A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62356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confident whether it's right or wrong — your job is to judge it.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ROUND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two new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18144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8600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Router (zero-shot)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834640"/>
            <a:ext cx="44499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review + invent a label set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labels → watch it re-sort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review it tags wrong — and say why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2011680"/>
            <a:ext cx="518144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0208" y="228600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reviews (QA)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90208" y="2834640"/>
            <a:ext cx="44499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game question in plain English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it nails and one it fumbles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failure: wrong game? answer not in the text?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ROUND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Lenses that disagree, and a whole-game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0189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86000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26618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sarcastic review. Sentiment says POSITIVE, irony flags it. Which do you trust?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44898" y="2011680"/>
            <a:ext cx="330189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64938" y="2286000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a game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4938" y="2834640"/>
            <a:ext cx="26618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analyze Cyberpunk 2077 — the Router runs over ALL its reviews into a topic breakdown.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03997" y="2011680"/>
            <a:ext cx="330189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24037" y="2286000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24037" y="2834640"/>
            <a:ext cx="26618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confident-wrong answer. It posts to a shared Confidently-Wrong Wall the whole room sees.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WHAT IT REVEALED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isn't the bot. It's the analyst.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18144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2199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44499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Tag, answer &amp; analyse 5,000 reviews — zero training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each, borrowed off the Hub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 on sarcasm, in predictable ways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1965960"/>
            <a:ext cx="518144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0208" y="222199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90208" y="2743200"/>
            <a:ext cx="44499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failure modes before you ship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on the edge cases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the model can be trusted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5623560"/>
            <a:ext cx="10820095" cy="749808"/>
          </a:xfrm>
          <a:prstGeom prst="rect">
            <a:avLst/>
          </a:prstGeom>
          <a:solidFill>
            <a:srgbClr val="1B1F2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62356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is an anecdote; all of a game's reviews are a voice-of-customer dataset.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EXERCISE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tools. Then document where they break.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10820095" cy="914400"/>
          </a:xfrm>
          <a:prstGeom prst="roundRect">
            <a:avLst>
              <a:gd name="adj" fmla="val 700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0428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21945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Router: name two misses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46520" y="2194560"/>
            <a:ext cx="4785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15 reviews with your own labels. Find two it gets wrong — and why.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10820095" cy="914400"/>
          </a:xfrm>
          <a:prstGeom prst="roundRect">
            <a:avLst>
              <a:gd name="adj" fmla="val 700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35584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QA: find a fumble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46520" y="3246120"/>
            <a:ext cx="4785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five game questions. Name one clean answer and one failure mode.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206240"/>
            <a:ext cx="10820095" cy="914400"/>
          </a:xfrm>
          <a:prstGeom prst="roundRect">
            <a:avLst>
              <a:gd name="adj" fmla="val 700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40740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407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83080" y="4297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Lenses that disagree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46520" y="4297680"/>
            <a:ext cx="4785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review where the four lenses conflict. Which do you trust?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 ·  CHOOSE YOUR LEVEL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notebook, three depths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301898" cy="2880360"/>
          </a:xfrm>
          <a:prstGeom prst="roundRect">
            <a:avLst>
              <a:gd name="adj" fmla="val 22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103120"/>
            <a:ext cx="3301898" cy="621792"/>
          </a:xfrm>
          <a:prstGeom prst="roundRect">
            <a:avLst>
              <a:gd name="adj" fmla="val 10294"/>
            </a:avLst>
          </a:prstGeom>
          <a:solidFill>
            <a:srgbClr val="B31A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330189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257037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provided tools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outputs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one obvious miss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44898" y="2103120"/>
            <a:ext cx="3301898" cy="2880360"/>
          </a:xfrm>
          <a:prstGeom prst="roundRect">
            <a:avLst>
              <a:gd name="adj" fmla="val 22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44898" y="2103120"/>
            <a:ext cx="3301898" cy="621792"/>
          </a:xfrm>
          <a:prstGeom prst="roundRect">
            <a:avLst>
              <a:gd name="adj" fmla="val 10294"/>
            </a:avLst>
          </a:prstGeom>
          <a:solidFill>
            <a:srgbClr val="B31A38"/>
          </a:solidFill>
          <a:ln/>
        </p:spPr>
      </p:sp>
      <p:sp>
        <p:nvSpPr>
          <p:cNvPr id="10" name="Text 8"/>
          <p:cNvSpPr/>
          <p:nvPr/>
        </p:nvSpPr>
        <p:spPr>
          <a:xfrm>
            <a:off x="4444898" y="2103120"/>
            <a:ext cx="330189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10658" y="3017520"/>
            <a:ext cx="257037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different model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changed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03997" y="2103120"/>
            <a:ext cx="3301898" cy="2880360"/>
          </a:xfrm>
          <a:prstGeom prst="roundRect">
            <a:avLst>
              <a:gd name="adj" fmla="val 22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03997" y="2103120"/>
            <a:ext cx="3301898" cy="621792"/>
          </a:xfrm>
          <a:prstGeom prst="roundRect">
            <a:avLst>
              <a:gd name="adj" fmla="val 10294"/>
            </a:avLst>
          </a:prstGeom>
          <a:solidFill>
            <a:srgbClr val="B31A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03997" y="2103120"/>
            <a:ext cx="330189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69757" y="3017520"/>
            <a:ext cx="257037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two whole games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measure sentiment vs the thumb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agreement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write-up — and a scaffold for your final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3591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approach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found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cases + diagnoses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29400" y="2103120"/>
            <a:ext cx="4876495" cy="2834640"/>
          </a:xfrm>
          <a:prstGeom prst="roundRect">
            <a:avLst>
              <a:gd name="adj" fmla="val 2258"/>
            </a:avLst>
          </a:prstGeom>
          <a:solidFill>
            <a:srgbClr val="1B1F2A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2359152"/>
            <a:ext cx="4144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notebook = your final-project template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95160" y="3200400"/>
            <a:ext cx="414497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→ borrow models → retrieve-then-read → wrap in a demo UI.  </a:t>
            </a:r>
            <a:pPr indent="0" marL="0">
              <a:buNone/>
            </a:pPr>
            <a:r>
              <a:rPr lang="en-US" sz="15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Steam reviews for your project's data and the skeleton is the same.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 or build — and who's accountable?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model vs. training your own; and when a confident answer is wrong, who owns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242B3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337560"/>
            <a:ext cx="2753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 when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task · little data · speed matters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44898" y="301752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242B37"/>
          </a:solidFill>
          <a:ln/>
        </p:spPr>
      </p:sp>
      <p:sp>
        <p:nvSpPr>
          <p:cNvPr id="9" name="Text 7"/>
          <p:cNvSpPr/>
          <p:nvPr/>
        </p:nvSpPr>
        <p:spPr>
          <a:xfrm>
            <a:off x="4719218" y="3337560"/>
            <a:ext cx="2753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when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19218" y="39319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domain · you have labels · high stakes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03997" y="301752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242B37"/>
          </a:solidFill>
          <a:ln/>
        </p:spPr>
      </p:sp>
      <p:sp>
        <p:nvSpPr>
          <p:cNvPr id="12" name="Text 10"/>
          <p:cNvSpPr/>
          <p:nvPr/>
        </p:nvSpPr>
        <p:spPr>
          <a:xfrm>
            <a:off x="8478317" y="3337560"/>
            <a:ext cx="2753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it?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78317" y="39319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the vendor, or the analyst who shipped it?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didn't train anything tonight.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borrowed four models, tagged and answered and analysed 5,000 reviews in a few lines each — then spent the night learning where they break.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242B3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611880"/>
            <a:ext cx="100885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line: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isn't calling the model — it's judging 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9377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— Lecture 10:  the same reviews, unsupervised. Topic modeling finds the themes nobody labeled.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2026-07-13T20:51:16Z</dcterms:created>
  <dcterms:modified xsi:type="dcterms:W3CDTF">2026-07-13T20:51:16Z</dcterms:modified>
</cp:coreProperties>
</file>