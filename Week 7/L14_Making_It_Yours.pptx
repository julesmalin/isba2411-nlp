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14173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1" i="0" spc="260">
                <a:solidFill>
                  <a:srgbClr val="4F46E5"/>
                </a:solidFill>
                <a:latin typeface="Helvetica Neue"/>
              </a:rPr>
              <a:t>WEEK 7 · LECTURE 14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74519"/>
            <a:ext cx="1088136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0F172A"/>
                </a:solidFill>
                <a:latin typeface="Helvetica Neue"/>
              </a:rPr>
              <a:t>Making It Yours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88036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475569"/>
                </a:solidFill>
                <a:latin typeface="Helvetica Neue"/>
              </a:rPr>
              <a:t>Part 2: adapting a pretrained model to your own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79476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How much of your own labelled data does each method need,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900" b="0" i="0">
                <a:solidFill>
                  <a:srgbClr val="0F172A"/>
                </a:solidFill>
                <a:latin typeface="Helvetica Neue"/>
              </a:rPr>
              <a:t>and what does each one cost?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0749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600" b="0" i="0">
                <a:solidFill>
                  <a:srgbClr val="475569"/>
                </a:solidFill>
                <a:latin typeface="Helvetica Neue"/>
              </a:rPr>
              <a:t>Rungs 1 and 2 were Lecture 13. Rung 3 is Week 8. Tonight covers rungs 4 to 7.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17220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WEEK 7 · AT A GLANCE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Language Models &amp; Transformers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eight concepts for Week 7 and the five models we run. Greyed out was covered in Lecture 13. The four in green are covered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wee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25280"/>
            <a:ext cx="11430000" cy="431619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LECTURE 13 RECAP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copilot achieved with no training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Accuracy 64% on the first guess and 80% within its top two, on the same 160 tickets. Two categories were caught less than half the time.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c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8932"/>
            <a:ext cx="11155680" cy="216317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THE ADAPTATION LADDER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Seven ways to adapt a model to your own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Ordered bottom to top by how much of your own data each one requires, with what each costs. Rungs 1 and 2 were Lecture 13; rung 3 is Week 8; rungs 4 to 7 are tonight.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lad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77949" y="1874519"/>
            <a:ext cx="9035796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BERT was trained to read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15% of the words are chosen. Of those, 80% are replaced with a blank, 10% with a wrong word, and 10% are left unchanged. The right-hand panel explains why.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847" y="2098852"/>
            <a:ext cx="11430000" cy="407761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fill-in-the-blank task, run live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bert-base-uncased predicting a hidden word from the words around it. No labelled data is needed for this, which is why it could be run on very large amounts of text.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ml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73672"/>
            <a:ext cx="11155680" cy="38365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906816" y="6345936"/>
            <a:ext cx="364479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94923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6226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923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53904" y="6460236"/>
            <a:ext cx="169712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MASKED LANGUAGE MODELLING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The same task on product vocabulary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model and the same task, asked to fill a blank whose answer is a vendor name it rarely encountered during pretraining.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18387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2901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jargon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163061"/>
            <a:ext cx="11155680" cy="3857757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Fill in the blank on Cobalt jargon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Which words each model is allowed to look 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Each row is a word doing the looking; each column is a word being looked at. Green is permitted, black is blocked.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di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3402" y="1965960"/>
            <a:ext cx="10084890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D97706"/>
                </a:solidFill>
                <a:latin typeface="Helvetica Neue"/>
              </a:rPr>
              <a:t>ENCODER AND DECODER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each of the two is used for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use the transformer block from Lecture 13. The only difference is whether a word may look at the words to its right.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encde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77305"/>
            <a:ext cx="11155680" cy="216642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105802" y="6345936"/>
            <a:ext cx="4445812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148218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61250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48218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52890" y="6460236"/>
            <a:ext cx="249814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BERT reads and GPT writes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PRETRAINING AND FINE-TUNING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fine-tuning actually changes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A small classifier is added on top of the pretrained encoder. The textbook default is to leave the encoder frozen, or to change only its last few layers.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ftboo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287" y="2035321"/>
            <a:ext cx="11247120" cy="420467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650" b="1" i="0">
                <a:solidFill>
                  <a:srgbClr val="0F172A"/>
                </a:solidFill>
                <a:latin typeface="Helvetica Neue"/>
              </a:rPr>
              <a:t>Freeze the encoder, train only the head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320 labelled tickets. 3,072 new parameters are trained and 22.7 million are left unchanged. Macro-F1 goes from 0.635 to 0.727.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300822"/>
            <a:ext cx="11155680" cy="3582234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68580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6858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19134" y="6460236"/>
            <a:ext cx="283189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4: train a head on 320 labels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RUNG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Fine-tune all 66 million parameters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same 320 tickets, but every weight in the model may change. Write down your prediction before the result is shown.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85832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0967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ung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416617"/>
            <a:ext cx="11155680" cy="3350645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772046" y="6345936"/>
            <a:ext cx="4779568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814462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927494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4462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7714" y="6460236"/>
            <a:ext cx="2763316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 5: fine-tune the whole model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059669"/>
                </a:solidFill>
                <a:latin typeface="Helvetica Neue"/>
              </a:rPr>
              <a:t>LABELLING BUDGET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0F172A"/>
                </a:solidFill>
                <a:latin typeface="Helvetica Neue"/>
              </a:rPr>
              <a:t>Accuracy against number of labelled tickets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Both rungs at six budgets, measured on the 160 held-out hand-written tickets. Averaged over several runs per point.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10344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55480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fig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5496" y="1965960"/>
            <a:ext cx="8140702" cy="402336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learning curve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Rung 4 scores higher than rung 5 at every budget shown. Both curves flatten: going from 640 to 1,400 labels adds only 0.035 macro-F1.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IN-CLASS EXERCISE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Choose which 240 of 1,400 tickets to label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Final project teams. Same budget for every team. Scored on held-out tickets, averaged over 5 seeds.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gamebri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2760703"/>
            <a:ext cx="11155680" cy="2799632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905548" y="6345936"/>
            <a:ext cx="4646066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47964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60996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47964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1216" y="6460236"/>
            <a:ext cx="2629814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THE GAME: your labelling budget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Six selection strategies at the same 240-label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Same model and same training code throughout. Only the choice of which tickets to label changed.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d_rev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3767" y="2620080"/>
            <a:ext cx="10424160" cy="262367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89788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0F172A"/>
                </a:solidFill>
                <a:latin typeface="Helvetica Neue"/>
              </a:rPr>
              <a:t>A range of 0.247 macro-F1 at identical cost. Only 'cover the space' scored above random plus one standard deviation. Every strategy that ranked tickets by a score scored below random.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How each strategy spent its 240 labels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One bar per strategy, split by category, sorted by score. An even bar means the strategy bought some of every category.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1658" y="1965960"/>
            <a:ext cx="9668377" cy="3977639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773314" y="6345936"/>
            <a:ext cx="377830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81573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2876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81573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19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88982" y="6460236"/>
            <a:ext cx="176204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Why the winner won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01675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No strategy was allowed to balance on the true categories, since those are what the budget buys. Clustering the ticket vectors produced an even spread without using any label.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7C3AED"/>
                </a:solidFill>
                <a:latin typeface="Helvetica Neue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Lopsided purchases scored lower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Horizontal axis is the largest category count minus the smallest. Correlation with macro-F1 across all six strategies is -0.72.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imb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00333" y="2011680"/>
            <a:ext cx="7591027" cy="39776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05332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475569"/>
                </a:solidFill>
                <a:latin typeface="Helvetica Neue"/>
              </a:rPr>
              <a:t>The rule used to select training data also determines its class distribution. Any rule that sorts by a score will skew that distribution, so check the mix before training.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ROBERTA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550" b="1" i="0">
                <a:solidFill>
                  <a:srgbClr val="0F172A"/>
                </a:solidFill>
                <a:latin typeface="Helvetica Neue"/>
              </a:rPr>
              <a:t>What RoBERTa changed, and what it did not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The architecture is unchanged. The training recipe changed: one objective dropped, larger batches, more text, longer training.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9789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4303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36808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E11D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81944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rober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672" y="1965960"/>
            <a:ext cx="9446349" cy="43434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E11D48"/>
                </a:solidFill>
                <a:latin typeface="Helvetica Neue"/>
              </a:rPr>
              <a:t>RUNGS 6 AND 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73152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What the top two rungs cost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Continued pretraining and training from scratch: what each requires, when each is worth doing, and why the answer for Cobalt is neither.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02752" y="593445"/>
            <a:ext cx="2852928" cy="20116"/>
          </a:xfrm>
          <a:prstGeom prst="roundRect">
            <a:avLst/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0455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65591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95943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EA5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4107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71431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16567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46919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92055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122407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67543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  <a:latin typeface="Helvetica Neue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561319" y="457200"/>
            <a:ext cx="292608" cy="292608"/>
          </a:xfrm>
          <a:prstGeom prst="roundRect">
            <a:avLst>
              <a:gd name="adj" fmla="val 32000"/>
            </a:avLst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06455" y="489204"/>
            <a:ext cx="402336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Helvetica Neue"/>
              </a:rPr>
              <a:t>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73384" y="493776"/>
            <a:ext cx="219456" cy="219456"/>
          </a:xfrm>
          <a:prstGeom prst="roundRect">
            <a:avLst>
              <a:gd name="adj" fmla="val 32000"/>
            </a:avLst>
          </a:prstGeom>
          <a:solidFill>
            <a:srgbClr val="E9EB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18519" y="489204"/>
            <a:ext cx="329184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50" b="1" i="0">
                <a:solidFill>
                  <a:srgbClr val="AEB4BF"/>
                </a:solidFill>
                <a:latin typeface="Helvetica Neue"/>
              </a:rPr>
              <a:t>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21" name="Picture 20" descr="d_t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8007" y="3015360"/>
            <a:ext cx="11155680" cy="2290319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4534" y="6345936"/>
            <a:ext cx="5447080" cy="365760"/>
          </a:xfrm>
          <a:prstGeom prst="roundRect">
            <a:avLst>
              <a:gd name="adj" fmla="val 44000"/>
            </a:avLst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146950" y="6396228"/>
            <a:ext cx="754380" cy="265176"/>
          </a:xfrm>
          <a:prstGeom prst="roundRect">
            <a:avLst>
              <a:gd name="adj" fmla="val 44000"/>
            </a:avLst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59982" y="6460236"/>
            <a:ext cx="91440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50" b="1" i="0">
                <a:solidFill>
                  <a:srgbClr val="A7F3D0"/>
                </a:solidFill>
                <a:latin typeface="Helvetica Neue"/>
              </a:rPr>
              <a:t>▶ NOTEBOOK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46950" y="6451092"/>
            <a:ext cx="754380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Helvetica Neue"/>
              </a:rPr>
              <a:t>STEP 20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20202" y="6460236"/>
            <a:ext cx="3430828" cy="219456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Helvetica Neue"/>
              </a:rPr>
              <a:t>RUNGS 6 and 7: should Cobalt train its own?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Every result from both lectures on one axis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17320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475569"/>
                </a:solidFill>
                <a:latin typeface="Helvetica Neue"/>
              </a:rPr>
              <a:t>Macro-F1 with no labels, with 240 labels chosen badly, 240 chosen at random, 240 chosen well, and with all 1,400 labelled.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pic>
        <p:nvPicPr>
          <p:cNvPr id="6" name="Picture 5" descr="fig_cir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4154" y="2011680"/>
            <a:ext cx="8583385" cy="37947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594360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0F172A"/>
                </a:solidFill>
                <a:latin typeface="Helvetica Neue"/>
              </a:rPr>
              <a:t>240 labels chosen well reached 93% of the score obtained by labelling all 1,400 tickets.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6766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 i="0" spc="220">
                <a:solidFill>
                  <a:srgbClr val="4F46E5"/>
                </a:solidFill>
                <a:latin typeface="Helvetica Neue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58952"/>
            <a:ext cx="10972800" cy="7040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900" b="1" i="0">
                <a:solidFill>
                  <a:srgbClr val="0F172A"/>
                </a:solidFill>
                <a:latin typeface="Helvetica Neue"/>
              </a:rPr>
              <a:t>Four things you can apply at 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49224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BCC1CC"/>
                </a:solidFill>
                <a:latin typeface="Helvetica Neue"/>
              </a:rPr>
              <a:t>ISBA 2411 · Natural Language Processing &amp; AI · Summer 2026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057400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41247" y="2295144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7" y="2368296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19" y="2231136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Plot the learning curve before committing to a labelling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19" y="2532888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Label a few hundred examples, plot the score against the number of labels, and find where the curve flattens. That point, not a fixed target, is where labelling should stop.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99815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41247" y="3337559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3410711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19" y="3273551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Test the frozen-encoder option before approving a fine-tune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19" y="3575303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Frozen embeddings with a simple classifier is faster and cheaper, and at these data sizes it scored higher. Require the more expensive option to demonstrate an improvement.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142231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7" y="4379975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445312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19" y="4315968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Check the class distribution of the training data you selected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19" y="4617719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The selection rule determines the class mix, and the class mix determines where the model will fail. Inspect the counts per category before training.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184648"/>
            <a:ext cx="10908792" cy="914400"/>
          </a:xfrm>
          <a:prstGeom prst="roundRect">
            <a:avLst/>
          </a:prstGeom>
          <a:solidFill>
            <a:srgbClr val="FFFFFF"/>
          </a:solidFill>
          <a:ln>
            <a:solidFill>
              <a:srgbClr val="EEF1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41247" y="5422392"/>
            <a:ext cx="402336" cy="402336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7" y="54955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Helvetica Neue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19" y="5358384"/>
            <a:ext cx="9875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0F172A"/>
                </a:solidFill>
                <a:latin typeface="Helvetica Neue"/>
              </a:rPr>
              <a:t>Ask which adaptation methods have already been tried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17319" y="5660136"/>
            <a:ext cx="987552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475569"/>
                </a:solidFill>
                <a:latin typeface="Helvetica Neue"/>
              </a:rPr>
              <a:t>When training a model from scratch is proposed, establish first what rungs 1 through 5 scored. Also ask what random selection scored before accepting any clever selection method.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