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173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 spc="260">
                <a:solidFill>
                  <a:srgbClr val="4F46E5"/>
                </a:solidFill>
                <a:latin typeface="Helvetica Neue"/>
              </a:rPr>
              <a:t>WEEK 7 · LECTURE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108813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0F172A"/>
                </a:solidFill>
                <a:latin typeface="Helvetica Neue"/>
              </a:rPr>
              <a:t>Making It Yours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88036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475569"/>
                </a:solidFill>
                <a:latin typeface="Helvetica Neue"/>
              </a:rPr>
              <a:t>Part 2: adapting a pretrained model to your own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0F172A"/>
                </a:solidFill>
                <a:latin typeface="Helvetica Neue"/>
              </a:rPr>
              <a:t>How much of your own labelled data does each method need,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0F172A"/>
                </a:solidFill>
                <a:latin typeface="Helvetica Neue"/>
              </a:rPr>
              <a:t>and what does each one cost?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749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475569"/>
                </a:solidFill>
                <a:latin typeface="Helvetica Neue"/>
              </a:rPr>
              <a:t>Rungs 1 and 2 were Lecture 13. Rung 3 is Week 8. Tonight covers rungs 4 to 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722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WEEK 7 ·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Language Models &amp; Transformers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The eight concepts for Week 7 and the five models we run. Greyed out was covered in Lecture 13. The four in green are covered tonight.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d_wee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2025280"/>
            <a:ext cx="11430000" cy="431619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LECTURE 13 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What the copilot achieved with no training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Accuracy 64% on the first guess and 80% within its top two, on the same 160 tickets. Two categories were caught less than half the time.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d_rec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078932"/>
            <a:ext cx="11155680" cy="216317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THE ADAPTATION LADDER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Seven ways to adapt a model to your own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Ordered bottom to top by how much of your own data each one requires, with what each costs. Rungs 1 and 2 were Lecture 13; rung 3 is Week 8; rungs 4 to 7 are tonight.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fig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7949" y="1874519"/>
            <a:ext cx="9035796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D97706"/>
                </a:solidFill>
                <a:latin typeface="Helvetica Neue"/>
              </a:rPr>
              <a:t>MASKED LANGUAGE MODELLING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How BERT was trained to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15% of the words are chosen. Of those, 80% are replaced with a blank, 10% with a wrong word, and 10% are left unchanged. The right-hand panel explains why.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183879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29015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46919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92055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mlmb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2098852"/>
            <a:ext cx="11430000" cy="407761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D97706"/>
                </a:solidFill>
                <a:latin typeface="Helvetica Neue"/>
              </a:rPr>
              <a:t>MASKED LANGUAGE MODELLING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The fill-in-the-blank task, run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bert-base-uncased predicting a hidden word from the words around it. No labelled data is needed for this, which is why it could be run on very large amounts of text.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183879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29015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46919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92055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ml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173672"/>
            <a:ext cx="11155680" cy="3836534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7906816" y="6345936"/>
            <a:ext cx="3644798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949232" y="6396228"/>
            <a:ext cx="68580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62264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49232" y="6451092"/>
            <a:ext cx="6858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3904" y="6460236"/>
            <a:ext cx="169712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Fill in the blank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D97706"/>
                </a:solidFill>
                <a:latin typeface="Helvetica Neue"/>
              </a:rPr>
              <a:t>MASKED LANGUAGE MODELLING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The same task on product vocabulary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The same model and the same task, asked to fill a blank whose answer is a vendor name it rarely encountered during pretraining.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183879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29015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46919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92055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jargon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163061"/>
            <a:ext cx="11155680" cy="3857757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772046" y="6345936"/>
            <a:ext cx="4779568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814462" y="6396228"/>
            <a:ext cx="68580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27494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4462" y="6451092"/>
            <a:ext cx="6858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19134" y="6460236"/>
            <a:ext cx="283189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Fill in the blank on Cobalt jargon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D97706"/>
                </a:solidFill>
                <a:latin typeface="Helvetica Neue"/>
              </a:rPr>
              <a:t>ENCODER AND DECODER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Which words each model is allowed to look 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Each row is a word doing the looking; each column is a word being looked at. Green is permitted, black is blocked.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d_dir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402" y="1965960"/>
            <a:ext cx="10084890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D97706"/>
                </a:solidFill>
                <a:latin typeface="Helvetica Neue"/>
              </a:rPr>
              <a:t>ENCODER AND DECODER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What each of the two is used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Both use the transformer block from Lecture 13. The only difference is whether a word may look at the words to its right.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d_encd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077305"/>
            <a:ext cx="11155680" cy="216642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05802" y="6345936"/>
            <a:ext cx="4445812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48218" y="6396228"/>
            <a:ext cx="68580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61250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48218" y="6451092"/>
            <a:ext cx="6858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52890" y="6460236"/>
            <a:ext cx="24981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Why BERT reads and GPT writes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PRETRAINING AND FINE-TUNING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What fine-tuning actually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A small classifier is added on top of the pretrained encoder. The textbook default is to leave the encoder frozen, or to change only its last few layers.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045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6559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10344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55480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ftb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2035321"/>
            <a:ext cx="11247120" cy="42046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RUNG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50" b="1" i="0">
                <a:solidFill>
                  <a:srgbClr val="0F172A"/>
                </a:solidFill>
                <a:latin typeface="Helvetica Neue"/>
              </a:rPr>
              <a:t>Freeze the encoder, train only the head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320 labelled tickets. 3,072 new parameters are trained and 22.7 million are left unchanged. Macro-F1 goes from 0.635 to 0.727.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045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6559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10344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55480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run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300822"/>
            <a:ext cx="11155680" cy="3582234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772046" y="6345936"/>
            <a:ext cx="4779568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814462" y="6396228"/>
            <a:ext cx="68580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27494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4462" y="6451092"/>
            <a:ext cx="6858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19134" y="6460236"/>
            <a:ext cx="283189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RUNG 4: train a head on 320 labels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RUNG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Fine-tune all 66 million parameters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The same 320 tickets, but every weight in the model may change. Write down your prediction before the result is shown.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045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6559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46919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92055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85832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30967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rung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416617"/>
            <a:ext cx="11155680" cy="3350645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772046" y="6345936"/>
            <a:ext cx="4779568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814462" y="6396228"/>
            <a:ext cx="75438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27494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4462" y="6451092"/>
            <a:ext cx="7543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7714" y="6460236"/>
            <a:ext cx="276331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RUNG 5: fine-tune the whole model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LABELLING BUDGET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0F172A"/>
                </a:solidFill>
                <a:latin typeface="Helvetica Neue"/>
              </a:rPr>
              <a:t>Accuracy against number of labelled tickets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Both rungs at six budgets, measured on the 160 held-out hand-written tickets. Averaged over several runs per point.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045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6559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10344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55480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fi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5496" y="1965960"/>
            <a:ext cx="8140702" cy="402336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7773314" y="6345936"/>
            <a:ext cx="3778300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815730" y="6396228"/>
            <a:ext cx="75438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28762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15730" y="6451092"/>
            <a:ext cx="7543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88982" y="6460236"/>
            <a:ext cx="1762048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The learning curve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053328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475569"/>
                </a:solidFill>
                <a:latin typeface="Helvetica Neue"/>
              </a:rPr>
              <a:t>Rung 4 scores higher than rung 5 at every budget shown. Both curves flatten: going from 640 to 1,400 labels adds only 0.035 macro-F1.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IN-CLASS EXERCISE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Choose which 240 of 1,400 tickets to label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Final project teams. Same budget for every team. Scored on held-out tickets, averaged over 5 seeds.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d_gamebri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760703"/>
            <a:ext cx="11155680" cy="279963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905548" y="6345936"/>
            <a:ext cx="4646066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47964" y="6396228"/>
            <a:ext cx="75438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60996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47964" y="6451092"/>
            <a:ext cx="7543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1216" y="6460236"/>
            <a:ext cx="2629814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THE GAME: your labelling budget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Six selection strategies at the same 240-label budget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Same model and same training code throughout. Only the choice of which tickets to label changed.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d_rev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2620080"/>
            <a:ext cx="10424160" cy="26236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F172A"/>
                </a:solidFill>
                <a:latin typeface="Helvetica Neue"/>
              </a:rPr>
              <a:t>A range of 0.247 macro-F1 at identical cost. Only 'cover the space' scored above random plus one standard deviation. Every strategy that ranked tickets by a score scored below random.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How each strategy spent its 240 labels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One bar per strategy, split by category, sorted by score. An even bar means the strategy bought some of every category.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fig_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1658" y="1965960"/>
            <a:ext cx="9668377" cy="397763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3314" y="6345936"/>
            <a:ext cx="3778300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815730" y="6396228"/>
            <a:ext cx="75438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8762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15730" y="6451092"/>
            <a:ext cx="7543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88982" y="6460236"/>
            <a:ext cx="1762048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Why the winner won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016752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475569"/>
                </a:solidFill>
                <a:latin typeface="Helvetica Neue"/>
              </a:rPr>
              <a:t>No strategy was allowed to balance on the true categories, since those are what the budget buys. Clustering the ticket vectors produced an even spread without using any label.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Lopsided purchases scored lower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Horizontal axis is the largest category count minus the smallest. Correlation with macro-F1 across all six strategies is -0.72.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fig_im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0333" y="2011680"/>
            <a:ext cx="7591027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053328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475569"/>
                </a:solidFill>
                <a:latin typeface="Helvetica Neue"/>
              </a:rPr>
              <a:t>The rule used to select training data also determines its class distribution. Any rule that sorts by a score will skew that distribution, so check the mix before training.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E11D48"/>
                </a:solidFill>
                <a:latin typeface="Helvetica Neue"/>
              </a:rPr>
              <a:t>ROBERTA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550" b="1" i="0">
                <a:solidFill>
                  <a:srgbClr val="0F172A"/>
                </a:solidFill>
                <a:latin typeface="Helvetica Neue"/>
              </a:rPr>
              <a:t>What RoBERTa changed, and what it did not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The architecture is unchanged. The training recipe changed: one objective dropped, larger batches, more text, longer training.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045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6559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46919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92055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36808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81944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rober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672" y="1965960"/>
            <a:ext cx="9446349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E11D48"/>
                </a:solidFill>
                <a:latin typeface="Helvetica Neue"/>
              </a:rPr>
              <a:t>RUNGS 6 AND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What the top two rungs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Continued pretraining and training from scratch: what each requires, when each is worth doing, and why the answer for Cobalt is neither.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045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6559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46919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92055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61319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06455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015360"/>
            <a:ext cx="11155680" cy="2290319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104534" y="6345936"/>
            <a:ext cx="5447080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146950" y="6396228"/>
            <a:ext cx="75438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59982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46950" y="6451092"/>
            <a:ext cx="7543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0202" y="6460236"/>
            <a:ext cx="3430828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RUNGS 6 and 7: should Cobalt train its own?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Every result from both lectures on one axis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Macro-F1 with no labels, with 240 labels chosen badly, 240 chosen at random, 240 chosen well, and with all 1,400 labelled.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fig_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4154" y="2011680"/>
            <a:ext cx="8583385" cy="37947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0F172A"/>
                </a:solidFill>
                <a:latin typeface="Helvetica Neue"/>
              </a:rPr>
              <a:t>240 labels chosen well reached 93% of the score obtained by labelling all 1,400 tickets.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Four things you can apply at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10908792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E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7" y="2295144"/>
            <a:ext cx="402336" cy="402336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368296"/>
            <a:ext cx="402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223113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Helvetica Neue"/>
              </a:rPr>
              <a:t>Plot the learning curve before committing to a labelling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19" y="2532888"/>
            <a:ext cx="98755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475569"/>
                </a:solidFill>
                <a:latin typeface="Helvetica Neue"/>
              </a:rPr>
              <a:t>Label a few hundred examples, plot the score against the number of labels, and find where the curve flattens. That point, not a fixed target, is where labelling should stop.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99815"/>
            <a:ext cx="10908792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E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1247" y="3337559"/>
            <a:ext cx="402336" cy="402336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3410711"/>
            <a:ext cx="402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3273551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Helvetica Neue"/>
              </a:rPr>
              <a:t>Test the frozen-encoder option before approving a fine-tune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3575303"/>
            <a:ext cx="98755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475569"/>
                </a:solidFill>
                <a:latin typeface="Helvetica Neue"/>
              </a:rPr>
              <a:t>Frozen embeddings with a simple classifier is faster and cheaper, and at these data sizes it scored higher. Require the more expensive option to demonstrate an improvement.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42231"/>
            <a:ext cx="10908792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E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7" y="4379975"/>
            <a:ext cx="402336" cy="402336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445312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4315968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Helvetica Neue"/>
              </a:rPr>
              <a:t>Check the class distribution of the training data you selected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4617719"/>
            <a:ext cx="98755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475569"/>
                </a:solidFill>
                <a:latin typeface="Helvetica Neue"/>
              </a:rPr>
              <a:t>The selection rule determines the class mix, and the class mix determines where the model will fail. Inspect the counts per category before training.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184648"/>
            <a:ext cx="10908792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E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7" y="5422392"/>
            <a:ext cx="402336" cy="402336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" y="54955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19" y="5358384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Helvetica Neue"/>
              </a:rPr>
              <a:t>Ask which adaptation methods have already been tried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19" y="5660136"/>
            <a:ext cx="98755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475569"/>
                </a:solidFill>
                <a:latin typeface="Helvetica Neue"/>
              </a:rPr>
              <a:t>When training a model from scratch is proposed, establish first what rungs 1 through 5 scored. Also ask what random selection scored before accepting any clever selection method.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E11D48"/>
                </a:solidFill>
                <a:latin typeface="Helvetica Neue"/>
              </a:rP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Meta moved 6,500 engineers into data annotation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March to June 2026. The same bottleneck we priced tonight, at a scale where it reorganised a company.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d_metaincid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2612966"/>
            <a:ext cx="11521440" cy="318654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