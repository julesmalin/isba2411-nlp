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 spc="260">
                <a:solidFill>
                  <a:srgbClr val="4F46E5"/>
                </a:solidFill>
                <a:latin typeface="Helvetica Neue"/>
              </a:rPr>
              <a:t>WEEK 7 · LECTURE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F172A"/>
                </a:solidFill>
                <a:latin typeface="Helvetica Neue"/>
              </a:rPr>
              <a:t>Making It Yours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475569"/>
                </a:solidFill>
                <a:latin typeface="Helvetica Neue"/>
              </a:rPr>
              <a:t>Part 2: adapting a pretrained model to your own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How much of your own labelled data does each method need,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and what does each one cost?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Helvetica Neue"/>
              </a:rPr>
              <a:t>Rungs 1 and 2 were Lecture 13. Rung 3 is Week 8. Tonight covers rungs 4 to 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WEEK 7 ·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Language Models &amp;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eight concepts for Week 7 and the five models we run. Greyed out was covered in Lecture 13. The four in green are covered tonight.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025280"/>
            <a:ext cx="11430000" cy="4316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LECTURE 13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What the copilot achieved with no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Accuracy 64% on the first guess and 80% within its top two, on the same 160 tickets. Two categories were caught less than half the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3078932"/>
            <a:ext cx="11155680" cy="21631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THE ADAPTATION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Seven ways to adapt a model to your own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Ordered bottom to top by how much of your own data each one requires, with what each costs. Rungs 1 and 2 were Lecture 13; rung 3 is Week 8; rungs 4 to 7 are tonight.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fig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949" y="1874519"/>
            <a:ext cx="903579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MASKED LANGUAGE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How BERT was trained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15% of the words are chosen. Of those, 80% are replaced with a blank, 10% with a wrong word, and 10% are left unchanged. The right-hand panel explains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9015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92055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mlm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098852"/>
            <a:ext cx="11430000" cy="4077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MASKED LANGUAGE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The fill-in-the-blank task, run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bert-base-uncased predicting a hidden word from the words around it. No labelled data is needed for this, which is why it could be run on very large amounts of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9015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92055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m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173672"/>
            <a:ext cx="11155680" cy="383653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906816" y="6345936"/>
            <a:ext cx="3644798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49232" y="6396228"/>
            <a:ext cx="68580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2264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9232" y="6451092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3904" y="6460236"/>
            <a:ext cx="169712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Fill in the blank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MASKED LANGUAGE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The same task on product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same model and the same task, asked to fill a blank whose answer is a vendor name it rarely encountered during pretraining.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9015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92055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jargon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163061"/>
            <a:ext cx="11155680" cy="3857757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772046" y="6345936"/>
            <a:ext cx="4779568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14462" y="6396228"/>
            <a:ext cx="68580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7494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4462" y="6451092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9134" y="6460236"/>
            <a:ext cx="28318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Fill in the blank on Cobalt jargon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ENCODER AND DECODER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Which words each model is allowed to look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Each row is a word doing the looking; each column is a word being looked at. Green is permitted, black is blocked.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02" y="1965960"/>
            <a:ext cx="1008489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ENCODER AND DECODER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What each of the two is used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Both use the transformer block from Lecture 13. The only difference is whether a word may look at the words to its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encd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3077305"/>
            <a:ext cx="11155680" cy="2166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05802" y="6345936"/>
            <a:ext cx="4445812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48218" y="6396228"/>
            <a:ext cx="68580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1250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48218" y="6451092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2890" y="6460236"/>
            <a:ext cx="24981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Why BERT reads and GPT writes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PRETRAINING AND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What fine-tuning actually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 small classifier is added on top of the pretrained encoder. The textbook default is to leave the encoder frozen, or to change only its last few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045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559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0344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ft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035321"/>
            <a:ext cx="11247120" cy="42046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RUNG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50" b="1" i="0">
                <a:solidFill>
                  <a:srgbClr val="0F172A"/>
                </a:solidFill>
                <a:latin typeface="Helvetica Neue"/>
              </a:rPr>
              <a:t>Freeze the encoder, train only the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320 labelled tickets. 3,072 new parameters are trained and 22.7 million are left unchanged. Macro-F1 goes from 0.635 to 0.727.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045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559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0344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run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300822"/>
            <a:ext cx="11155680" cy="358223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772046" y="6345936"/>
            <a:ext cx="4779568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14462" y="6396228"/>
            <a:ext cx="68580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7494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4462" y="6451092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9134" y="6460236"/>
            <a:ext cx="28318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RUNG 4: train a head on 320 labels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RUNG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Fine-tune all 66 million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same 320 tickets, but every weight in the model may change. Write down your prediction before the result is shown.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045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559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92055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85832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0967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run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416617"/>
            <a:ext cx="11155680" cy="335064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772046" y="6345936"/>
            <a:ext cx="4779568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14462" y="6396228"/>
            <a:ext cx="75438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7494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4462" y="6451092"/>
            <a:ext cx="7543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7714" y="6460236"/>
            <a:ext cx="276331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RUNG 5: fine-tune the whole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LABELLING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Helvetica Neue"/>
              </a:rPr>
              <a:t>Accuracy against number of labelled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Both rungs at six budgets, measured on the 160 held-out hand-written tickets. Averaged over several runs per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045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559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0344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fi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96" y="1965960"/>
            <a:ext cx="8140702" cy="40233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773314" y="6345936"/>
            <a:ext cx="3778300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15730" y="6396228"/>
            <a:ext cx="75438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8762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5730" y="6451092"/>
            <a:ext cx="7543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982" y="6460236"/>
            <a:ext cx="17620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The learning curve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Rung 4 scores higher than rung 5 at every budget shown. Both curves flatten: going from 640 to 1,400 labels adds only 0.035 macro-F1.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IN-CLASS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Choose which 240 of 1,400 tickets to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Final project teams. Same budget for every team. Scored on held-out tickets, averaged over 5 seeds.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game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760703"/>
            <a:ext cx="11155680" cy="27996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5548" y="6345936"/>
            <a:ext cx="4646066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47964" y="6396228"/>
            <a:ext cx="75438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0996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7964" y="6451092"/>
            <a:ext cx="7543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1216" y="6460236"/>
            <a:ext cx="262981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THE GAME: your labelling budget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Six selection strategies at the same 240-label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Same model and same training code throughout. Only the choice of which tickets to label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2620080"/>
            <a:ext cx="10424160" cy="26236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Helvetica Neue"/>
              </a:rPr>
              <a:t>A range of 0.247 macro-F1 at identical cost. Only 'cover the space' scored above random plus one standard deviation. Every strategy that ranked tickets by a score scored below random.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How each strategy spent its 240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One bar per strategy, split by category, sorted by score. An even bar means the strategy bought some of every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fig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658" y="1965960"/>
            <a:ext cx="9668377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3314" y="6345936"/>
            <a:ext cx="3778300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15730" y="6396228"/>
            <a:ext cx="75438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8762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5730" y="6451092"/>
            <a:ext cx="7543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982" y="6460236"/>
            <a:ext cx="17620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Why the winner won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No strategy was allowed to balance on the true categories, since those are what the budget buys. Clustering the ticket vectors produced an even spread without using any label.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Lopsided purchases scored lower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Horizontal axis is the largest category count minus the smallest. Correlation with macro-F1 across all six strategies is -0.72.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fig_im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333" y="2011680"/>
            <a:ext cx="7591027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The rule used to select training data also determines its class distribution. Any rule that sorts by a score will skew that distribution, so check the mix before training.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ROBERTA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Helvetica Neue"/>
              </a:rPr>
              <a:t>What RoBERTa changed, and what it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architecture is unchanged. The training recipe changed: one objective dropped, larger batches, more text, longer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045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559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92055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36808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81944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rob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72" y="1965960"/>
            <a:ext cx="944634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RUNGS 6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315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What the top two rungs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Continued pretraining and training from scratch: what each requires, when each is worth doing, and why the answer for Cobalt is neither.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2752" y="593445"/>
            <a:ext cx="2852928" cy="20116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0455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5591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5943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1431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7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92055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7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67543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19" y="457200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06455" y="489204"/>
            <a:ext cx="402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73384" y="493776"/>
            <a:ext cx="219456" cy="219456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489204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EB4BF"/>
                </a:solidFill>
                <a:latin typeface="Helvetica Neue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21" name="Picture 20" descr="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3015360"/>
            <a:ext cx="11155680" cy="229031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04534" y="6345936"/>
            <a:ext cx="5447080" cy="365760"/>
          </a:xfrm>
          <a:prstGeom prst="roundRect">
            <a:avLst>
              <a:gd name="adj" fmla="val 4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46950" y="6396228"/>
            <a:ext cx="754380" cy="265176"/>
          </a:xfrm>
          <a:prstGeom prst="roundRect">
            <a:avLst>
              <a:gd name="adj" fmla="val 44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982" y="6460236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7F3D0"/>
                </a:solidFill>
                <a:latin typeface="Helvetica Neue"/>
              </a:rPr>
              <a:t>▶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6950" y="6451092"/>
            <a:ext cx="7543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STEP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0202" y="6460236"/>
            <a:ext cx="343082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RUNGS 6 and 7: should Cobalt train its own?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Every result from both lectures on one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Macro-F1 with no labels, with 240 labels chosen badly, 240 chosen at random, 240 chosen well, and with all 1,400 labelled.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fig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54" y="2011680"/>
            <a:ext cx="8583385" cy="37947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Helvetica Neue"/>
              </a:rPr>
              <a:t>240 labels chosen well reached 93% of the score obtained by labelling all 1,400 tickets.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Four things you can apply 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295144"/>
            <a:ext cx="402336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6829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23113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Plot the learning curve before committing to a labelling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5328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Helvetica Neue"/>
              </a:rPr>
              <a:t>Label a few hundred examples, plot the score against the number of labels, and find where the curve flattens. That point, not a fixed target, is where labelling should stop.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99815"/>
            <a:ext cx="1090879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7" y="3337559"/>
            <a:ext cx="402336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41071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273551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Test the frozen-encoder option before approving a fine-tune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575303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Helvetica Neue"/>
              </a:rPr>
              <a:t>Frozen embeddings with a simple classifier is faster and cheaper, and at these data sizes it scored higher. Require the more expensive option to demonstrate an improvement.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42231"/>
            <a:ext cx="1090879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4379975"/>
            <a:ext cx="402336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45312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31596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Check the class distribution of the training data you selected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617719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Helvetica Neue"/>
              </a:rPr>
              <a:t>The selection rule determines the class mix, and the class mix determines where the model will fail. Inspect the counts per category before training.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84648"/>
            <a:ext cx="1090879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5422392"/>
            <a:ext cx="402336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495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5358384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Ask which adaptation methods have already been tried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5660136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Helvetica Neue"/>
              </a:rPr>
              <a:t>When training a model from scratch is proposed, establish first what rungs 1 through 5 scored. Also ask what random selection scored before accepting any clever selection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