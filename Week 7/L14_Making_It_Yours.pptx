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 spc="260">
                <a:solidFill>
                  <a:srgbClr val="4F46E5"/>
                </a:solidFill>
                <a:latin typeface="Helvetica Neue"/>
              </a:rPr>
              <a:t>WEEK 7 · LECTURE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0F172A"/>
                </a:solidFill>
                <a:latin typeface="Helvetica Neue"/>
              </a:rPr>
              <a:t>Making It Yours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803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475569"/>
                </a:solidFill>
                <a:latin typeface="Helvetica Neue"/>
              </a:rPr>
              <a:t>Part 2: the layer that learns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We have our own data. What would it actually buy us,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and what would it cost?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74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475569"/>
                </a:solidFill>
                <a:latin typeface="Helvetica Neue"/>
              </a:rPr>
              <a:t>Seven rungs. Tonight we climb four of them and find out where to stop.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WHERE WE LEFT 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Last lecture, with no training data at 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Same company, same inbox, same copilot. Tonight we ask what our own data would add.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rec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55053"/>
            <a:ext cx="11155680" cy="18109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TONIGHT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There are seven ways to make a model yours.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Read it bottom to top. Cost climbs steeply. The payoff flattens early.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949" y="1874519"/>
            <a:ext cx="9035796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WHY ANY OF THIS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0F172A"/>
                </a:solidFill>
                <a:latin typeface="Helvetica Neue"/>
              </a:rPr>
              <a:t>Somebody already paid to teach it English.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This is the exercise they used. It needs no labelled data, which is why it could be done at scale.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83879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9015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m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173672"/>
            <a:ext cx="11155680" cy="383653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906816" y="6345936"/>
            <a:ext cx="364479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49232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6226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9232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3904" y="6460236"/>
            <a:ext cx="169712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Fill in the blank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WHY ANY OF THIS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0F172A"/>
                </a:solidFill>
                <a:latin typeface="Helvetica Neue"/>
              </a:rPr>
              <a:t>And here is exactly what it does not know.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same fill-in-the-blank game, asked about our world instead of the general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83879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9015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jargon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163061"/>
            <a:ext cx="11155680" cy="3857757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772046" y="6345936"/>
            <a:ext cx="477956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14462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749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4462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9134" y="6460236"/>
            <a:ext cx="283189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Fill in the blank on Cobalt jargon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TWO SHAPES OF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Why BERT reads and GPT writes.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Same transformer block from last lecture. One difference: may a word look to its right?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encd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077305"/>
            <a:ext cx="11155680" cy="216642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05802" y="6345936"/>
            <a:ext cx="4445812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48218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61250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48218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2890" y="6460236"/>
            <a:ext cx="24981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Why BERT reads and GPT writes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RUNG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50" b="1" i="0">
                <a:solidFill>
                  <a:srgbClr val="0F172A"/>
                </a:solidFill>
                <a:latin typeface="Helvetica Neue"/>
              </a:rPr>
              <a:t>Freeze the model. Learn one small rule.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cheapest thing you can do with labelled data, and the one almost nobody tries first.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10344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run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300822"/>
            <a:ext cx="11155680" cy="358223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772046" y="6345936"/>
            <a:ext cx="477956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14462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749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4462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9134" y="6460236"/>
            <a:ext cx="283189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RUNG 4: train a head on 320 labels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RUNG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Helvetica Neue"/>
              </a:rPr>
              <a:t>Now spend twenty thousand times more.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Same 320 tickets. Every weight in the model is free to move. Predict before you look.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85832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30967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rung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416617"/>
            <a:ext cx="11155680" cy="3350645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772046" y="6345936"/>
            <a:ext cx="477956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14462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749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4462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7714" y="6460236"/>
            <a:ext cx="276331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RUNG 5: fine-tune the whole 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HOW MANY LABELS?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What your own data actually buys.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Both rungs, every budget, measured on tickets neither of them ever trained 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10344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fi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496" y="1965960"/>
            <a:ext cx="8140702" cy="402336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773314" y="6345936"/>
            <a:ext cx="3778300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815730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8762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15730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88982" y="6460236"/>
            <a:ext cx="176204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The learning curve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1">
                <a:solidFill>
                  <a:srgbClr val="475569"/>
                </a:solidFill>
                <a:latin typeface="Helvetica Neue"/>
              </a:rPr>
              <a:t>The cheap rung is above the expensive one at every budget we can afford. And the curve bends: the next hundred labels is worth less than the last.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THE GAME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You have money for 240 labels. Choose.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Thirty minutes. Same budget for every team. The results are not close.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gamebri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936926"/>
            <a:ext cx="11155680" cy="24471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905548" y="6345936"/>
            <a:ext cx="4646066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47964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60996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47964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1216" y="6460236"/>
            <a:ext cx="2629814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THE GAME: your labelling budget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THE REVEAL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Same budget. Same model. Same code.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Only the choice of WHICH 240 tickets to pay for 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rev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2620080"/>
            <a:ext cx="10424160" cy="26236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F172A"/>
                </a:solidFill>
                <a:latin typeface="Helvetica Neue"/>
              </a:rPr>
              <a:t>0.247 macro-F1 points between best and worst, for exactly the same money. Only one strategy beat random, and every rule that ranked by a score lost to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WHY THE WINNER WON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Cover the space, not the score.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What each strategy actually bought. Flat bars at the top, lopsided ones at the bottom.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658" y="1965960"/>
            <a:ext cx="9668377" cy="397763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3314" y="6345936"/>
            <a:ext cx="3778300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815730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8762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15730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88982" y="6460236"/>
            <a:ext cx="176204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Why the winner won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01675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1">
                <a:solidFill>
                  <a:srgbClr val="475569"/>
                </a:solidFill>
                <a:latin typeface="Helvetica Neue"/>
              </a:rPr>
              <a:t>Nobody could balance on the true labels: that is what we were paying for. Covering the vector space bought an even spread anyway, for free.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WHY THE WINNER WON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And it is not a coincidence.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Every strategy from the reveal, plotted by how lopsided its purchase turned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im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333" y="2011680"/>
            <a:ext cx="7591027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1">
                <a:solidFill>
                  <a:srgbClr val="475569"/>
                </a:solidFill>
                <a:latin typeface="Helvetica Neue"/>
              </a:rPr>
              <a:t>Your selection rule quietly chooses your training distribution. Any rule that sorts by a score will skew it, and nobody notices until the model has a hole in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THE TOP OF THE LADDER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Should Cobalt train its own model?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Somebody in the room is thinking it, so let us price it honestly.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61319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06455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102514"/>
            <a:ext cx="11155680" cy="2116011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04534" y="6345936"/>
            <a:ext cx="5447080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46950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59982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46950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0202" y="6460236"/>
            <a:ext cx="343082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RUNGS 6 and 7: should Cobalt train its own?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FULL CIRCLE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Everything from both lectures, on one axis.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Two evenings, one afternoon of labelling, no GPU bill.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154" y="2011680"/>
            <a:ext cx="8583385" cy="37947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0F172A"/>
                </a:solidFill>
                <a:latin typeface="Helvetica Neue"/>
              </a:rPr>
              <a:t>Adapting a model is mostly a purchasing decision, not an engineering one.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BEFORE YOU 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Four things you can do at work on Monday.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295144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368296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223113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Plot the curve before you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532888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Label a few hundred, plot accuracy against budget, and find where it flattens. Teams routinely label for months past the point it changed a decision.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99815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7" y="3337559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341071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3273551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Try the cheap rung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575303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Frozen embeddings and a simple classifier. Make the expensive option prove it is better before you approve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42231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7" y="4379975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445312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431596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Check the class mix you bought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4617719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Whatever rule chose your training data also chose your blind spots. Look for the zeros.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184648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7" y="5422392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54955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19" y="5358384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Ask what rung they tried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5660136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When somebody proposes training a model from scratch, that is the question that ends the meeting early.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