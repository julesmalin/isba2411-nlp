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eb.stanford.edu/~jurafsky/slp3/" TargetMode="External"/><Relationship Id="rId4" Type="http://schemas.openxmlformats.org/officeDocument/2006/relationships/hyperlink" Target="https://github.com/HandsOnLLM/Hands-On-Large-Language-Models" TargetMode="External"/><Relationship Id="rId5" Type="http://schemas.openxmlformats.org/officeDocument/2006/relationships/hyperlink" Target="https://github.com/nlp-with-transformers/notebooks" TargetMode="External"/><Relationship Id="rId6" Type="http://schemas.openxmlformats.org/officeDocument/2006/relationships/hyperlink" Target="https://arxiv.org/abs/1706.03762" TargetMode="External"/><Relationship Id="rId7" Type="http://schemas.openxmlformats.org/officeDocument/2006/relationships/hyperlink" Target="https://arxiv.org/abs/1810.04805" TargetMode="External"/><Relationship Id="rId8" Type="http://schemas.openxmlformats.org/officeDocument/2006/relationships/hyperlink" Target="https://arxiv.org/abs/1907.1169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468880"/>
            <a:ext cx="7315200" cy="320040"/>
          </a:xfrm>
          <a:prstGeom prst="rect">
            <a:avLst/>
          </a:prstGeom>
          <a:noFill/>
        </p:spPr>
        <p:txBody>
          <a:bodyPr wrap="square" lIns="0" rIns="0" tIns="0" bIns="0">
            <a:spAutoFit/>
          </a:bodyPr>
          <a:lstStyle/>
          <a:p>
            <a:pPr algn="l"/>
            <a:r>
              <a:rPr sz="1300" b="1" i="0" spc="250">
                <a:solidFill>
                  <a:srgbClr val="4F46E5"/>
                </a:solidFill>
                <a:latin typeface="Helvetica Neue"/>
              </a:rPr>
              <a:t>WEEK 7 · LECTURE 13</a:t>
            </a:r>
          </a:p>
        </p:txBody>
      </p:sp>
      <p:sp>
        <p:nvSpPr>
          <p:cNvPr id="3" name="TextBox 2"/>
          <p:cNvSpPr txBox="1"/>
          <p:nvPr/>
        </p:nvSpPr>
        <p:spPr>
          <a:xfrm>
            <a:off x="640080" y="2852928"/>
            <a:ext cx="10972800" cy="914400"/>
          </a:xfrm>
          <a:prstGeom prst="rect">
            <a:avLst/>
          </a:prstGeom>
          <a:noFill/>
        </p:spPr>
        <p:txBody>
          <a:bodyPr wrap="square" lIns="0" rIns="0" tIns="0" bIns="0">
            <a:spAutoFit/>
          </a:bodyPr>
          <a:lstStyle/>
          <a:p>
            <a:pPr algn="l"/>
            <a:r>
              <a:rPr sz="5000" b="1" i="0">
                <a:solidFill>
                  <a:srgbClr val="0F172A"/>
                </a:solidFill>
                <a:latin typeface="Helvetica Neue"/>
              </a:rPr>
              <a:t>Building a Support Copilot</a:t>
            </a:r>
          </a:p>
        </p:txBody>
      </p:sp>
      <p:sp>
        <p:nvSpPr>
          <p:cNvPr id="4" name="TextBox 3"/>
          <p:cNvSpPr txBox="1"/>
          <p:nvPr/>
        </p:nvSpPr>
        <p:spPr>
          <a:xfrm>
            <a:off x="640080" y="3913632"/>
            <a:ext cx="10058400" cy="457200"/>
          </a:xfrm>
          <a:prstGeom prst="rect">
            <a:avLst/>
          </a:prstGeom>
          <a:noFill/>
        </p:spPr>
        <p:txBody>
          <a:bodyPr wrap="square" lIns="0" rIns="0" tIns="0" bIns="0">
            <a:spAutoFit/>
          </a:bodyPr>
          <a:lstStyle/>
          <a:p>
            <a:pPr algn="l"/>
            <a:r>
              <a:rPr sz="2300" b="0" i="0">
                <a:solidFill>
                  <a:srgbClr val="475569"/>
                </a:solidFill>
                <a:latin typeface="Helvetica Neue"/>
              </a:rPr>
              <a:t>Part 1: the layer that reads</a:t>
            </a:r>
          </a:p>
        </p:txBody>
      </p:sp>
      <p:sp>
        <p:nvSpPr>
          <p:cNvPr id="5" name="Rectangle 4"/>
          <p:cNvSpPr/>
          <p:nvPr/>
        </p:nvSpPr>
        <p:spPr>
          <a:xfrm>
            <a:off x="658368" y="4572000"/>
            <a:ext cx="82296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754880"/>
            <a:ext cx="10058400" cy="457200"/>
          </a:xfrm>
          <a:prstGeom prst="rect">
            <a:avLst/>
          </a:prstGeom>
          <a:noFill/>
        </p:spPr>
        <p:txBody>
          <a:bodyPr wrap="square" lIns="0" rIns="0" tIns="0" bIns="0">
            <a:spAutoFit/>
          </a:bodyPr>
          <a:lstStyle/>
          <a:p>
            <a:pPr algn="l"/>
            <a:r>
              <a:rPr sz="1700" b="0" i="1">
                <a:solidFill>
                  <a:srgbClr val="0F172A"/>
                </a:solidFill>
                <a:latin typeface="Helvetica Neue"/>
              </a:rPr>
              <a:t>5,000 tickets a week, three agents, and nothing in the queue has ever been sorted. Let's ship anyway.</a:t>
            </a:r>
          </a:p>
        </p:txBody>
      </p:sp>
      <p:sp>
        <p:nvSpPr>
          <p:cNvPr id="7" name="TextBox 6"/>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WEEK 7 · AT A GLANCE</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Language Models &amp; Transformers</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What we cover across both lectures, the models we actually run, and what to read alongside them.</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week.png"/>
          <p:cNvPicPr>
            <a:picLocks noChangeAspect="1"/>
          </p:cNvPicPr>
          <p:nvPr/>
        </p:nvPicPr>
        <p:blipFill>
          <a:blip r:embed="rId2"/>
          <a:stretch>
            <a:fillRect/>
          </a:stretch>
        </p:blipFill>
        <p:spPr>
          <a:xfrm>
            <a:off x="1500676" y="1810512"/>
            <a:ext cx="9190341" cy="3547872"/>
          </a:xfrm>
          <a:prstGeom prst="rect">
            <a:avLst/>
          </a:prstGeom>
        </p:spPr>
      </p:pic>
      <p:sp>
        <p:nvSpPr>
          <p:cNvPr id="7" name="Rectangle 6"/>
          <p:cNvSpPr/>
          <p:nvPr/>
        </p:nvSpPr>
        <p:spPr>
          <a:xfrm>
            <a:off x="640080" y="5394960"/>
            <a:ext cx="10927080" cy="12801"/>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468112"/>
            <a:ext cx="2743200" cy="219456"/>
          </a:xfrm>
          <a:prstGeom prst="rect">
            <a:avLst/>
          </a:prstGeom>
          <a:noFill/>
        </p:spPr>
        <p:txBody>
          <a:bodyPr wrap="square" lIns="0" rIns="0" tIns="0" bIns="0">
            <a:spAutoFit/>
          </a:bodyPr>
          <a:lstStyle/>
          <a:p>
            <a:pPr algn="l"/>
            <a:r>
              <a:rPr sz="1000" b="1" i="0" spc="180">
                <a:solidFill>
                  <a:srgbClr val="94A3B8"/>
                </a:solidFill>
                <a:latin typeface="Helvetica Neue"/>
              </a:rPr>
              <a:t>READINGS</a:t>
            </a:r>
          </a:p>
        </p:txBody>
      </p:sp>
      <p:sp>
        <p:nvSpPr>
          <p:cNvPr id="9" name="TextBox 8"/>
          <p:cNvSpPr txBox="1"/>
          <p:nvPr/>
        </p:nvSpPr>
        <p:spPr>
          <a:xfrm>
            <a:off x="640080" y="5705856"/>
            <a:ext cx="2724912" cy="292608"/>
          </a:xfrm>
          <a:prstGeom prst="rect">
            <a:avLst/>
          </a:prstGeom>
          <a:noFill/>
        </p:spPr>
        <p:txBody>
          <a:bodyPr wrap="none">
            <a:spAutoFit/>
          </a:bodyPr>
          <a:lstStyle/>
          <a:p>
            <a:r>
              <a:rPr sz="1000" b="1">
                <a:solidFill>
                  <a:srgbClr val="4F46E5"/>
                </a:solidFill>
                <a:latin typeface="Helvetica Neue"/>
              </a:rPr>
              <a:t>J&amp;M Ch. 7  </a:t>
            </a:r>
            <a:r>
              <a:rPr sz="1000" u="sng">
                <a:solidFill>
                  <a:srgbClr val="1D4ED8"/>
                </a:solidFill>
                <a:latin typeface="Helvetica Neue"/>
                <a:hlinkClick r:id="rId3"/>
              </a:rPr>
              <a:t>Large Language Models</a:t>
            </a:r>
          </a:p>
        </p:txBody>
      </p:sp>
      <p:sp>
        <p:nvSpPr>
          <p:cNvPr id="10" name="TextBox 9"/>
          <p:cNvSpPr txBox="1"/>
          <p:nvPr/>
        </p:nvSpPr>
        <p:spPr>
          <a:xfrm>
            <a:off x="3401568" y="5705856"/>
            <a:ext cx="2724912" cy="292608"/>
          </a:xfrm>
          <a:prstGeom prst="rect">
            <a:avLst/>
          </a:prstGeom>
          <a:noFill/>
        </p:spPr>
        <p:txBody>
          <a:bodyPr wrap="none">
            <a:spAutoFit/>
          </a:bodyPr>
          <a:lstStyle/>
          <a:p>
            <a:r>
              <a:rPr sz="1000" b="1">
                <a:solidFill>
                  <a:srgbClr val="4F46E5"/>
                </a:solidFill>
                <a:latin typeface="Helvetica Neue"/>
              </a:rPr>
              <a:t>J&amp;M Ch. 10  </a:t>
            </a:r>
            <a:r>
              <a:rPr sz="1000" u="sng">
                <a:solidFill>
                  <a:srgbClr val="1D4ED8"/>
                </a:solidFill>
                <a:latin typeface="Helvetica Neue"/>
                <a:hlinkClick r:id="rId3"/>
              </a:rPr>
              <a:t>BERT &amp; masked LMs</a:t>
            </a:r>
          </a:p>
        </p:txBody>
      </p:sp>
      <p:sp>
        <p:nvSpPr>
          <p:cNvPr id="11" name="TextBox 10"/>
          <p:cNvSpPr txBox="1"/>
          <p:nvPr/>
        </p:nvSpPr>
        <p:spPr>
          <a:xfrm>
            <a:off x="6163056" y="5705856"/>
            <a:ext cx="2724912" cy="292608"/>
          </a:xfrm>
          <a:prstGeom prst="rect">
            <a:avLst/>
          </a:prstGeom>
          <a:noFill/>
        </p:spPr>
        <p:txBody>
          <a:bodyPr wrap="none">
            <a:spAutoFit/>
          </a:bodyPr>
          <a:lstStyle/>
          <a:p>
            <a:r>
              <a:rPr sz="1000" b="1">
                <a:solidFill>
                  <a:srgbClr val="4F46E5"/>
                </a:solidFill>
                <a:latin typeface="Helvetica Neue"/>
              </a:rPr>
              <a:t>HOLLM Ch. 3  </a:t>
            </a:r>
            <a:r>
              <a:rPr sz="1000" u="sng">
                <a:solidFill>
                  <a:srgbClr val="1D4ED8"/>
                </a:solidFill>
                <a:latin typeface="Helvetica Neue"/>
                <a:hlinkClick r:id="rId4"/>
              </a:rPr>
              <a:t>inside transformer LLMs</a:t>
            </a:r>
          </a:p>
        </p:txBody>
      </p:sp>
      <p:sp>
        <p:nvSpPr>
          <p:cNvPr id="12" name="TextBox 11"/>
          <p:cNvSpPr txBox="1"/>
          <p:nvPr/>
        </p:nvSpPr>
        <p:spPr>
          <a:xfrm>
            <a:off x="8924544" y="5705856"/>
            <a:ext cx="2724912" cy="292608"/>
          </a:xfrm>
          <a:prstGeom prst="rect">
            <a:avLst/>
          </a:prstGeom>
          <a:noFill/>
        </p:spPr>
        <p:txBody>
          <a:bodyPr wrap="none">
            <a:spAutoFit/>
          </a:bodyPr>
          <a:lstStyle/>
          <a:p>
            <a:r>
              <a:rPr sz="1000" b="1">
                <a:solidFill>
                  <a:srgbClr val="4F46E5"/>
                </a:solidFill>
                <a:latin typeface="Helvetica Neue"/>
              </a:rPr>
              <a:t>Tunstall Ch. 10  </a:t>
            </a:r>
            <a:r>
              <a:rPr sz="1000" u="sng">
                <a:solidFill>
                  <a:srgbClr val="1D4ED8"/>
                </a:solidFill>
                <a:latin typeface="Helvetica Neue"/>
                <a:hlinkClick r:id="rId5"/>
              </a:rPr>
              <a:t>training from scratch</a:t>
            </a:r>
          </a:p>
        </p:txBody>
      </p:sp>
      <p:sp>
        <p:nvSpPr>
          <p:cNvPr id="13" name="TextBox 12"/>
          <p:cNvSpPr txBox="1"/>
          <p:nvPr/>
        </p:nvSpPr>
        <p:spPr>
          <a:xfrm>
            <a:off x="640080" y="6016752"/>
            <a:ext cx="2724912" cy="292608"/>
          </a:xfrm>
          <a:prstGeom prst="rect">
            <a:avLst/>
          </a:prstGeom>
          <a:noFill/>
        </p:spPr>
        <p:txBody>
          <a:bodyPr wrap="none">
            <a:spAutoFit/>
          </a:bodyPr>
          <a:lstStyle/>
          <a:p>
            <a:r>
              <a:rPr sz="1000" b="1">
                <a:solidFill>
                  <a:srgbClr val="4F46E5"/>
                </a:solidFill>
                <a:latin typeface="Helvetica Neue"/>
              </a:rPr>
              <a:t>Vaswani 2017  </a:t>
            </a:r>
            <a:r>
              <a:rPr sz="1000" u="sng">
                <a:solidFill>
                  <a:srgbClr val="1D4ED8"/>
                </a:solidFill>
                <a:latin typeface="Helvetica Neue"/>
                <a:hlinkClick r:id="rId6"/>
              </a:rPr>
              <a:t>Attention Is All You Need</a:t>
            </a:r>
          </a:p>
        </p:txBody>
      </p:sp>
      <p:sp>
        <p:nvSpPr>
          <p:cNvPr id="14" name="TextBox 13"/>
          <p:cNvSpPr txBox="1"/>
          <p:nvPr/>
        </p:nvSpPr>
        <p:spPr>
          <a:xfrm>
            <a:off x="3401568" y="6016752"/>
            <a:ext cx="2724912" cy="292608"/>
          </a:xfrm>
          <a:prstGeom prst="rect">
            <a:avLst/>
          </a:prstGeom>
          <a:noFill/>
        </p:spPr>
        <p:txBody>
          <a:bodyPr wrap="none">
            <a:spAutoFit/>
          </a:bodyPr>
          <a:lstStyle/>
          <a:p>
            <a:r>
              <a:rPr sz="1000" b="1">
                <a:solidFill>
                  <a:srgbClr val="4F46E5"/>
                </a:solidFill>
                <a:latin typeface="Helvetica Neue"/>
              </a:rPr>
              <a:t>Devlin 2018  </a:t>
            </a:r>
            <a:r>
              <a:rPr sz="1000" u="sng">
                <a:solidFill>
                  <a:srgbClr val="1D4ED8"/>
                </a:solidFill>
                <a:latin typeface="Helvetica Neue"/>
                <a:hlinkClick r:id="rId7"/>
              </a:rPr>
              <a:t>BERT</a:t>
            </a:r>
          </a:p>
        </p:txBody>
      </p:sp>
      <p:sp>
        <p:nvSpPr>
          <p:cNvPr id="15" name="TextBox 14"/>
          <p:cNvSpPr txBox="1"/>
          <p:nvPr/>
        </p:nvSpPr>
        <p:spPr>
          <a:xfrm>
            <a:off x="6163056" y="6016752"/>
            <a:ext cx="2724912" cy="292608"/>
          </a:xfrm>
          <a:prstGeom prst="rect">
            <a:avLst/>
          </a:prstGeom>
          <a:noFill/>
        </p:spPr>
        <p:txBody>
          <a:bodyPr wrap="none">
            <a:spAutoFit/>
          </a:bodyPr>
          <a:lstStyle/>
          <a:p>
            <a:r>
              <a:rPr sz="1000" b="1">
                <a:solidFill>
                  <a:srgbClr val="4F46E5"/>
                </a:solidFill>
                <a:latin typeface="Helvetica Neue"/>
              </a:rPr>
              <a:t>Liu 2019  </a:t>
            </a:r>
            <a:r>
              <a:rPr sz="1000" u="sng">
                <a:solidFill>
                  <a:srgbClr val="1D4ED8"/>
                </a:solidFill>
                <a:latin typeface="Helvetica Neue"/>
                <a:hlinkClick r:id="rId8"/>
              </a:rPr>
              <a:t>RoBERTa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THE BUSINESS</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First, what company are we walking into?</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Before any technology, you need to be able to picture the job. Here it is in three sentences.</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scene.png"/>
          <p:cNvPicPr>
            <a:picLocks noChangeAspect="1"/>
          </p:cNvPicPr>
          <p:nvPr/>
        </p:nvPicPr>
        <p:blipFill>
          <a:blip r:embed="rId2"/>
          <a:stretch>
            <a:fillRect/>
          </a:stretch>
        </p:blipFill>
        <p:spPr>
          <a:xfrm>
            <a:off x="518007" y="2046394"/>
            <a:ext cx="11155680" cy="3771050"/>
          </a:xfrm>
          <a:prstGeom prst="rect">
            <a:avLst/>
          </a:prstGeom>
        </p:spPr>
      </p:pic>
      <p:sp>
        <p:nvSpPr>
          <p:cNvPr id="7" name="TextBox 6"/>
          <p:cNvSpPr txBox="1"/>
          <p:nvPr/>
        </p:nvSpPr>
        <p:spPr>
          <a:xfrm>
            <a:off x="640080" y="6053328"/>
            <a:ext cx="10881360" cy="365760"/>
          </a:xfrm>
          <a:prstGeom prst="rect">
            <a:avLst/>
          </a:prstGeom>
          <a:noFill/>
        </p:spPr>
        <p:txBody>
          <a:bodyPr wrap="square" lIns="0" rIns="0" tIns="0" bIns="0">
            <a:spAutoFit/>
          </a:bodyPr>
          <a:lstStyle/>
          <a:p>
            <a:pPr algn="ctr"/>
            <a:r>
              <a:rPr sz="1500" b="0" i="1">
                <a:solidFill>
                  <a:srgbClr val="475569"/>
                </a:solidFill>
                <a:latin typeface="Helvetica Neue"/>
              </a:rPr>
              <a:t>Five thousand of these arrive every week. Three people answer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THE PROBLEM</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Every ticket has to be read before it can be answered.</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And that reading is where the three agents lose their day.</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sp>
        <p:nvSpPr>
          <p:cNvPr id="6" name="Rounded Rectangle 5"/>
          <p:cNvSpPr/>
          <p:nvPr/>
        </p:nvSpPr>
        <p:spPr>
          <a:xfrm>
            <a:off x="685800" y="2212848"/>
            <a:ext cx="2615184" cy="1298448"/>
          </a:xfrm>
          <a:prstGeom prst="roundRect">
            <a:avLst/>
          </a:prstGeom>
          <a:solidFill>
            <a:srgbClr val="FFFFFF"/>
          </a:solidFill>
          <a:ln>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395728"/>
            <a:ext cx="2286000" cy="457200"/>
          </a:xfrm>
          <a:prstGeom prst="rect">
            <a:avLst/>
          </a:prstGeom>
          <a:noFill/>
        </p:spPr>
        <p:txBody>
          <a:bodyPr wrap="square" lIns="0" rIns="0" tIns="0" bIns="0">
            <a:spAutoFit/>
          </a:bodyPr>
          <a:lstStyle/>
          <a:p>
            <a:pPr algn="l"/>
            <a:r>
              <a:rPr sz="1750" b="1" i="0">
                <a:solidFill>
                  <a:srgbClr val="0F172A"/>
                </a:solidFill>
                <a:latin typeface="Helvetica Neue"/>
              </a:rPr>
              <a:t>~5,000 tickets a week</a:t>
            </a:r>
          </a:p>
        </p:txBody>
      </p:sp>
      <p:sp>
        <p:nvSpPr>
          <p:cNvPr id="8" name="TextBox 7"/>
          <p:cNvSpPr txBox="1"/>
          <p:nvPr/>
        </p:nvSpPr>
        <p:spPr>
          <a:xfrm>
            <a:off x="886968" y="2871216"/>
            <a:ext cx="2304288" cy="548640"/>
          </a:xfrm>
          <a:prstGeom prst="rect">
            <a:avLst/>
          </a:prstGeom>
          <a:noFill/>
        </p:spPr>
        <p:txBody>
          <a:bodyPr wrap="square" lIns="0" rIns="0" tIns="0" bIns="0">
            <a:spAutoFit/>
          </a:bodyPr>
          <a:lstStyle/>
          <a:p>
            <a:pPr algn="l"/>
            <a:r>
              <a:rPr sz="1350" b="0" i="0">
                <a:solidFill>
                  <a:srgbClr val="475569"/>
                </a:solidFill>
                <a:latin typeface="Helvetica Neue"/>
              </a:rPr>
              <a:t>and three people to answer them</a:t>
            </a:r>
          </a:p>
        </p:txBody>
      </p:sp>
      <p:sp>
        <p:nvSpPr>
          <p:cNvPr id="9" name="Rounded Rectangle 8"/>
          <p:cNvSpPr/>
          <p:nvPr/>
        </p:nvSpPr>
        <p:spPr>
          <a:xfrm>
            <a:off x="3483864" y="2212848"/>
            <a:ext cx="2615184" cy="1298448"/>
          </a:xfrm>
          <a:prstGeom prst="roundRect">
            <a:avLst/>
          </a:prstGeom>
          <a:solidFill>
            <a:srgbClr val="FFFFFF"/>
          </a:solidFill>
          <a:ln>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85032" y="2395728"/>
            <a:ext cx="2286000" cy="457200"/>
          </a:xfrm>
          <a:prstGeom prst="rect">
            <a:avLst/>
          </a:prstGeom>
          <a:noFill/>
        </p:spPr>
        <p:txBody>
          <a:bodyPr wrap="square" lIns="0" rIns="0" tIns="0" bIns="0">
            <a:spAutoFit/>
          </a:bodyPr>
          <a:lstStyle/>
          <a:p>
            <a:pPr algn="l"/>
            <a:r>
              <a:rPr sz="1750" b="1" i="0">
                <a:solidFill>
                  <a:srgbClr val="0F172A"/>
                </a:solidFill>
                <a:latin typeface="Helvetica Neue"/>
              </a:rPr>
              <a:t>~40% are repeats</a:t>
            </a:r>
          </a:p>
        </p:txBody>
      </p:sp>
      <p:sp>
        <p:nvSpPr>
          <p:cNvPr id="11" name="TextBox 10"/>
          <p:cNvSpPr txBox="1"/>
          <p:nvPr/>
        </p:nvSpPr>
        <p:spPr>
          <a:xfrm>
            <a:off x="3685032" y="2871216"/>
            <a:ext cx="2304288" cy="548640"/>
          </a:xfrm>
          <a:prstGeom prst="rect">
            <a:avLst/>
          </a:prstGeom>
          <a:noFill/>
        </p:spPr>
        <p:txBody>
          <a:bodyPr wrap="square" lIns="0" rIns="0" tIns="0" bIns="0">
            <a:spAutoFit/>
          </a:bodyPr>
          <a:lstStyle/>
          <a:p>
            <a:pPr algn="l"/>
            <a:r>
              <a:rPr sz="1350" b="0" i="0">
                <a:solidFill>
                  <a:srgbClr val="475569"/>
                </a:solidFill>
                <a:latin typeface="Helvetica Neue"/>
              </a:rPr>
              <a:t>the same handful of questions</a:t>
            </a:r>
          </a:p>
        </p:txBody>
      </p:sp>
      <p:sp>
        <p:nvSpPr>
          <p:cNvPr id="12" name="Rounded Rectangle 11"/>
          <p:cNvSpPr/>
          <p:nvPr/>
        </p:nvSpPr>
        <p:spPr>
          <a:xfrm>
            <a:off x="6281928" y="2212848"/>
            <a:ext cx="2615184" cy="1298448"/>
          </a:xfrm>
          <a:prstGeom prst="roundRect">
            <a:avLst/>
          </a:prstGeom>
          <a:solidFill>
            <a:srgbClr val="FFFFFF"/>
          </a:solidFill>
          <a:ln>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83096" y="2395728"/>
            <a:ext cx="2286000" cy="457200"/>
          </a:xfrm>
          <a:prstGeom prst="rect">
            <a:avLst/>
          </a:prstGeom>
          <a:noFill/>
        </p:spPr>
        <p:txBody>
          <a:bodyPr wrap="square" lIns="0" rIns="0" tIns="0" bIns="0">
            <a:spAutoFit/>
          </a:bodyPr>
          <a:lstStyle/>
          <a:p>
            <a:pPr algn="l"/>
            <a:r>
              <a:rPr sz="1750" b="1" i="0">
                <a:solidFill>
                  <a:srgbClr val="0F172A"/>
                </a:solidFill>
                <a:latin typeface="Helvetica Neue"/>
              </a:rPr>
              <a:t>Nothing is sorted</a:t>
            </a:r>
          </a:p>
        </p:txBody>
      </p:sp>
      <p:sp>
        <p:nvSpPr>
          <p:cNvPr id="14" name="TextBox 13"/>
          <p:cNvSpPr txBox="1"/>
          <p:nvPr/>
        </p:nvSpPr>
        <p:spPr>
          <a:xfrm>
            <a:off x="6483096" y="2871216"/>
            <a:ext cx="2304288" cy="548640"/>
          </a:xfrm>
          <a:prstGeom prst="rect">
            <a:avLst/>
          </a:prstGeom>
          <a:noFill/>
        </p:spPr>
        <p:txBody>
          <a:bodyPr wrap="square" lIns="0" rIns="0" tIns="0" bIns="0">
            <a:spAutoFit/>
          </a:bodyPr>
          <a:lstStyle/>
          <a:p>
            <a:pPr algn="l"/>
            <a:r>
              <a:rPr sz="1350" b="0" i="0">
                <a:solidFill>
                  <a:srgbClr val="475569"/>
                </a:solidFill>
                <a:latin typeface="Helvetica Neue"/>
              </a:rPr>
              <a:t>no tags, no categories, just text</a:t>
            </a:r>
          </a:p>
        </p:txBody>
      </p:sp>
      <p:sp>
        <p:nvSpPr>
          <p:cNvPr id="15" name="Rounded Rectangle 14"/>
          <p:cNvSpPr/>
          <p:nvPr/>
        </p:nvSpPr>
        <p:spPr>
          <a:xfrm>
            <a:off x="9079992" y="2212848"/>
            <a:ext cx="2615184" cy="1298448"/>
          </a:xfrm>
          <a:prstGeom prst="roundRect">
            <a:avLst/>
          </a:prstGeom>
          <a:solidFill>
            <a:srgbClr val="FFFFFF"/>
          </a:solidFill>
          <a:ln>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60" y="2395728"/>
            <a:ext cx="2286000" cy="457200"/>
          </a:xfrm>
          <a:prstGeom prst="rect">
            <a:avLst/>
          </a:prstGeom>
          <a:noFill/>
        </p:spPr>
        <p:txBody>
          <a:bodyPr wrap="square" lIns="0" rIns="0" tIns="0" bIns="0">
            <a:spAutoFit/>
          </a:bodyPr>
          <a:lstStyle/>
          <a:p>
            <a:pPr algn="l"/>
            <a:r>
              <a:rPr sz="1750" b="1" i="0">
                <a:solidFill>
                  <a:srgbClr val="0F172A"/>
                </a:solidFill>
                <a:latin typeface="Helvetica Neue"/>
              </a:rPr>
              <a:t>Minutes lost per ticket</a:t>
            </a:r>
          </a:p>
        </p:txBody>
      </p:sp>
      <p:sp>
        <p:nvSpPr>
          <p:cNvPr id="17" name="TextBox 16"/>
          <p:cNvSpPr txBox="1"/>
          <p:nvPr/>
        </p:nvSpPr>
        <p:spPr>
          <a:xfrm>
            <a:off x="9281160" y="2871216"/>
            <a:ext cx="2304288" cy="548640"/>
          </a:xfrm>
          <a:prstGeom prst="rect">
            <a:avLst/>
          </a:prstGeom>
          <a:noFill/>
        </p:spPr>
        <p:txBody>
          <a:bodyPr wrap="square" lIns="0" rIns="0" tIns="0" bIns="0">
            <a:spAutoFit/>
          </a:bodyPr>
          <a:lstStyle/>
          <a:p>
            <a:pPr algn="l"/>
            <a:r>
              <a:rPr sz="1350" b="0" i="0">
                <a:solidFill>
                  <a:srgbClr val="475569"/>
                </a:solidFill>
                <a:latin typeface="Helvetica Neue"/>
              </a:rPr>
              <a:t>just working out who should own it</a:t>
            </a:r>
          </a:p>
        </p:txBody>
      </p:sp>
      <p:sp>
        <p:nvSpPr>
          <p:cNvPr id="18" name="Rounded Rectangle 17"/>
          <p:cNvSpPr/>
          <p:nvPr/>
        </p:nvSpPr>
        <p:spPr>
          <a:xfrm>
            <a:off x="640080" y="3703320"/>
            <a:ext cx="10908792" cy="1481328"/>
          </a:xfrm>
          <a:prstGeom prst="roundRect">
            <a:avLst>
              <a:gd name="adj" fmla="val 6000"/>
            </a:avLst>
          </a:prstGeom>
          <a:solidFill>
            <a:srgbClr val="FFFBEB"/>
          </a:solidFill>
          <a:ln>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858768"/>
            <a:ext cx="10424160" cy="274320"/>
          </a:xfrm>
          <a:prstGeom prst="rect">
            <a:avLst/>
          </a:prstGeom>
          <a:noFill/>
        </p:spPr>
        <p:txBody>
          <a:bodyPr wrap="square" lIns="0" rIns="0" tIns="0" bIns="0">
            <a:spAutoFit/>
          </a:bodyPr>
          <a:lstStyle/>
          <a:p>
            <a:pPr algn="l"/>
            <a:r>
              <a:rPr sz="1150" b="1" i="0" spc="180">
                <a:solidFill>
                  <a:srgbClr val="B45309"/>
                </a:solidFill>
                <a:latin typeface="Helvetica Neue"/>
              </a:rPr>
              <a:t>WHY THAT THIRD BOX IS THE HARD ONE</a:t>
            </a:r>
          </a:p>
        </p:txBody>
      </p:sp>
      <p:sp>
        <p:nvSpPr>
          <p:cNvPr id="20" name="TextBox 19"/>
          <p:cNvSpPr txBox="1"/>
          <p:nvPr/>
        </p:nvSpPr>
        <p:spPr>
          <a:xfrm>
            <a:off x="914400" y="4169663"/>
            <a:ext cx="10378440" cy="914400"/>
          </a:xfrm>
          <a:prstGeom prst="rect">
            <a:avLst/>
          </a:prstGeom>
          <a:noFill/>
        </p:spPr>
        <p:txBody>
          <a:bodyPr wrap="square" lIns="0" rIns="0" tIns="0" bIns="0">
            <a:spAutoFit/>
          </a:bodyPr>
          <a:lstStyle/>
          <a:p>
            <a:pPr algn="l"/>
            <a:r>
              <a:rPr sz="1500" b="0" i="0">
                <a:solidFill>
                  <a:srgbClr val="334155"/>
                </a:solidFill>
                <a:latin typeface="Helvetica Neue"/>
              </a:rPr>
              <a:t>The normal way to teach a computer to sort text is to hand it a few thousand examples that a person has already sorted by hand. Those hand-sorted examples are called training data, and most machine learning cannot start without them. Cobalt has none. Building that pile would mean paying people to read and tag thousands of tickets before you could write a line of code.</a:t>
            </a:r>
          </a:p>
        </p:txBody>
      </p:sp>
      <p:sp>
        <p:nvSpPr>
          <p:cNvPr id="21" name="TextBox 20"/>
          <p:cNvSpPr txBox="1"/>
          <p:nvPr/>
        </p:nvSpPr>
        <p:spPr>
          <a:xfrm>
            <a:off x="640080" y="5413248"/>
            <a:ext cx="10881360" cy="457200"/>
          </a:xfrm>
          <a:prstGeom prst="rect">
            <a:avLst/>
          </a:prstGeom>
          <a:noFill/>
        </p:spPr>
        <p:txBody>
          <a:bodyPr wrap="square" lIns="0" rIns="0" tIns="0" bIns="0">
            <a:spAutoFit/>
          </a:bodyPr>
          <a:lstStyle/>
          <a:p>
            <a:pPr algn="l"/>
            <a:r>
              <a:rPr sz="1600" b="0" i="1">
                <a:solidFill>
                  <a:srgbClr val="0F172A"/>
                </a:solidFill>
                <a:latin typeface="Helvetica Neue"/>
              </a:rPr>
              <a:t>So tonight we build something that never needs them. We start with the half that READS the inbox: search it, sort it, and decide what a person actually has to see.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THE PLAN</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Four capabilities, built in order.</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Each one is useful on its own. Together they are a product.</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plan.png"/>
          <p:cNvPicPr>
            <a:picLocks noChangeAspect="1"/>
          </p:cNvPicPr>
          <p:nvPr/>
        </p:nvPicPr>
        <p:blipFill>
          <a:blip r:embed="rId2"/>
          <a:stretch>
            <a:fillRect/>
          </a:stretch>
        </p:blipFill>
        <p:spPr>
          <a:xfrm>
            <a:off x="518007" y="2630057"/>
            <a:ext cx="11155680" cy="310664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EA5E9"/>
                </a:solidFill>
                <a:latin typeface="Helvetica Neue"/>
              </a:rPr>
              <a:t>RETRIEVE</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900" b="1" i="0">
                <a:solidFill>
                  <a:srgbClr val="0F172A"/>
                </a:solidFill>
                <a:latin typeface="Helvetica Neue"/>
              </a:rPr>
              <a:t>Search that finds what you meant.</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Before any theory: watch it find tickets that do not contain a single word you typed.</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49640" y="438912"/>
            <a:ext cx="329184" cy="329184"/>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94776"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d_search.png"/>
          <p:cNvPicPr>
            <a:picLocks noChangeAspect="1"/>
          </p:cNvPicPr>
          <p:nvPr/>
        </p:nvPicPr>
        <p:blipFill>
          <a:blip r:embed="rId2"/>
          <a:stretch>
            <a:fillRect/>
          </a:stretch>
        </p:blipFill>
        <p:spPr>
          <a:xfrm>
            <a:off x="518007" y="2013030"/>
            <a:ext cx="11155680" cy="4157819"/>
          </a:xfrm>
          <a:prstGeom prst="rect">
            <a:avLst/>
          </a:prstGeom>
        </p:spPr>
      </p:pic>
      <p:sp>
        <p:nvSpPr>
          <p:cNvPr id="16" name="Rounded Rectangle 15"/>
          <p:cNvSpPr/>
          <p:nvPr/>
        </p:nvSpPr>
        <p:spPr>
          <a:xfrm>
            <a:off x="6505041" y="6345936"/>
            <a:ext cx="5046573"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547457"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60489"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7547457"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3</a:t>
            </a:r>
          </a:p>
        </p:txBody>
      </p:sp>
      <p:sp>
        <p:nvSpPr>
          <p:cNvPr id="20" name="TextBox 19"/>
          <p:cNvSpPr txBox="1"/>
          <p:nvPr/>
        </p:nvSpPr>
        <p:spPr>
          <a:xfrm>
            <a:off x="8352129" y="6460236"/>
            <a:ext cx="3098901" cy="219456"/>
          </a:xfrm>
          <a:prstGeom prst="rect">
            <a:avLst/>
          </a:prstGeom>
          <a:noFill/>
        </p:spPr>
        <p:txBody>
          <a:bodyPr wrap="none" lIns="0" rIns="0" tIns="0" bIns="0">
            <a:spAutoFit/>
          </a:bodyPr>
          <a:lstStyle/>
          <a:p>
            <a:pPr algn="l"/>
            <a:r>
              <a:rPr sz="1000" b="1" i="0">
                <a:solidFill>
                  <a:srgbClr val="FFFFFF"/>
                </a:solidFill>
                <a:latin typeface="Helvetica Neue"/>
              </a:rPr>
              <a:t>Turn tickets into vectors, then search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EA5E9"/>
                </a:solidFill>
                <a:latin typeface="Helvetica Neue"/>
              </a:rPr>
              <a:t>RETRIEVE</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900" b="1" i="0">
                <a:solidFill>
                  <a:srgbClr val="0F172A"/>
                </a:solidFill>
                <a:latin typeface="Helvetica Neue"/>
              </a:rPr>
              <a:t>Structure was already in the text.</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Nobody sorted these. Plot the tickets and the neighbourhoods appear on their own.</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49640" y="438912"/>
            <a:ext cx="329184" cy="329184"/>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94776"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fig_map.png"/>
          <p:cNvPicPr>
            <a:picLocks noChangeAspect="1"/>
          </p:cNvPicPr>
          <p:nvPr/>
        </p:nvPicPr>
        <p:blipFill>
          <a:blip r:embed="rId2"/>
          <a:stretch>
            <a:fillRect/>
          </a:stretch>
        </p:blipFill>
        <p:spPr>
          <a:xfrm>
            <a:off x="3290383" y="1965960"/>
            <a:ext cx="5610928" cy="4251960"/>
          </a:xfrm>
          <a:prstGeom prst="rect">
            <a:avLst/>
          </a:prstGeom>
        </p:spPr>
      </p:pic>
      <p:sp>
        <p:nvSpPr>
          <p:cNvPr id="16" name="Rounded Rectangle 15"/>
          <p:cNvSpPr/>
          <p:nvPr/>
        </p:nvSpPr>
        <p:spPr>
          <a:xfrm>
            <a:off x="7773314" y="6345936"/>
            <a:ext cx="3778300"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15730"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8762"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815730"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5</a:t>
            </a:r>
          </a:p>
        </p:txBody>
      </p:sp>
      <p:sp>
        <p:nvSpPr>
          <p:cNvPr id="20" name="TextBox 19"/>
          <p:cNvSpPr txBox="1"/>
          <p:nvPr/>
        </p:nvSpPr>
        <p:spPr>
          <a:xfrm>
            <a:off x="9620402" y="6460236"/>
            <a:ext cx="1830628" cy="219456"/>
          </a:xfrm>
          <a:prstGeom prst="rect">
            <a:avLst/>
          </a:prstGeom>
          <a:noFill/>
        </p:spPr>
        <p:txBody>
          <a:bodyPr wrap="none" lIns="0" rIns="0" tIns="0" bIns="0">
            <a:spAutoFit/>
          </a:bodyPr>
          <a:lstStyle/>
          <a:p>
            <a:pPr algn="l"/>
            <a:r>
              <a:rPr sz="1000" b="1" i="0">
                <a:solidFill>
                  <a:srgbClr val="FFFFFF"/>
                </a:solidFill>
                <a:latin typeface="Helvetica Neue"/>
              </a:rPr>
              <a:t>Map the whole inbox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D97706"/>
                </a:solidFill>
                <a:latin typeface="Helvetica Neue"/>
              </a:rPr>
              <a:t>REPRESENT</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900" b="1" i="0">
                <a:solidFill>
                  <a:srgbClr val="0F172A"/>
                </a:solidFill>
                <a:latin typeface="Helvetica Neue"/>
              </a:rPr>
              <a:t>So how did it do that?</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To answer that we go all the way down: a model cannot read, so the text has to become numbers first.</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8" name="Rounded Rectangle 7"/>
          <p:cNvSpPr/>
          <p:nvPr/>
        </p:nvSpPr>
        <p:spPr>
          <a:xfrm>
            <a:off x="9208008" y="438912"/>
            <a:ext cx="329184" cy="329184"/>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53144"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d_tokens.png"/>
          <p:cNvPicPr>
            <a:picLocks noChangeAspect="1"/>
          </p:cNvPicPr>
          <p:nvPr/>
        </p:nvPicPr>
        <p:blipFill>
          <a:blip r:embed="rId2"/>
          <a:stretch>
            <a:fillRect/>
          </a:stretch>
        </p:blipFill>
        <p:spPr>
          <a:xfrm>
            <a:off x="518007" y="2640679"/>
            <a:ext cx="11155680" cy="2902521"/>
          </a:xfrm>
          <a:prstGeom prst="rect">
            <a:avLst/>
          </a:prstGeom>
        </p:spPr>
      </p:pic>
      <p:sp>
        <p:nvSpPr>
          <p:cNvPr id="16" name="Rounded Rectangle 15"/>
          <p:cNvSpPr/>
          <p:nvPr/>
        </p:nvSpPr>
        <p:spPr>
          <a:xfrm>
            <a:off x="7573060" y="6345936"/>
            <a:ext cx="3978554"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15476"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8508"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615476"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6</a:t>
            </a:r>
          </a:p>
        </p:txBody>
      </p:sp>
      <p:sp>
        <p:nvSpPr>
          <p:cNvPr id="20" name="TextBox 19"/>
          <p:cNvSpPr txBox="1"/>
          <p:nvPr/>
        </p:nvSpPr>
        <p:spPr>
          <a:xfrm>
            <a:off x="9420148" y="6460236"/>
            <a:ext cx="2030882" cy="219456"/>
          </a:xfrm>
          <a:prstGeom prst="rect">
            <a:avLst/>
          </a:prstGeom>
          <a:noFill/>
        </p:spPr>
        <p:txBody>
          <a:bodyPr wrap="none" lIns="0" rIns="0" tIns="0" bIns="0">
            <a:spAutoFit/>
          </a:bodyPr>
          <a:lstStyle/>
          <a:p>
            <a:pPr algn="l"/>
            <a:r>
              <a:rPr sz="1000" b="1" i="0">
                <a:solidFill>
                  <a:srgbClr val="FFFFFF"/>
                </a:solidFill>
                <a:latin typeface="Helvetica Neue"/>
              </a:rPr>
              <a:t>Split text into tokens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D97706"/>
                </a:solidFill>
                <a:latin typeface="Helvetica Neue"/>
              </a:rPr>
              <a:t>REPRESENT</a:t>
            </a:r>
          </a:p>
        </p:txBody>
      </p:sp>
      <p:sp>
        <p:nvSpPr>
          <p:cNvPr id="3" name="TextBox 2"/>
          <p:cNvSpPr txBox="1"/>
          <p:nvPr/>
        </p:nvSpPr>
        <p:spPr>
          <a:xfrm>
            <a:off x="640080" y="758952"/>
            <a:ext cx="7680960" cy="1179576"/>
          </a:xfrm>
          <a:prstGeom prst="rect">
            <a:avLst/>
          </a:prstGeom>
          <a:noFill/>
        </p:spPr>
        <p:txBody>
          <a:bodyPr wrap="square" lIns="0" rIns="0" tIns="0" bIns="0">
            <a:spAutoFit/>
          </a:bodyPr>
          <a:lstStyle/>
          <a:p>
            <a:pPr algn="l"/>
            <a:r>
              <a:rPr sz="2900" b="1" i="0">
                <a:solidFill>
                  <a:srgbClr val="0F172A"/>
                </a:solidFill>
                <a:latin typeface="Helvetica Neue"/>
              </a:rPr>
              <a:t>Check what happens to your business vocabulary.</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08008" y="438912"/>
            <a:ext cx="329184" cy="329184"/>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53144"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jargon.png"/>
          <p:cNvPicPr>
            <a:picLocks noChangeAspect="1"/>
          </p:cNvPicPr>
          <p:nvPr/>
        </p:nvPicPr>
        <p:blipFill>
          <a:blip r:embed="rId2"/>
          <a:stretch>
            <a:fillRect/>
          </a:stretch>
        </p:blipFill>
        <p:spPr>
          <a:xfrm>
            <a:off x="518007" y="2436196"/>
            <a:ext cx="11155680" cy="3311487"/>
          </a:xfrm>
          <a:prstGeom prst="rect">
            <a:avLst/>
          </a:prstGeom>
        </p:spPr>
      </p:pic>
      <p:sp>
        <p:nvSpPr>
          <p:cNvPr id="15" name="Rounded Rectangle 14"/>
          <p:cNvSpPr/>
          <p:nvPr/>
        </p:nvSpPr>
        <p:spPr>
          <a:xfrm>
            <a:off x="7172553" y="6345936"/>
            <a:ext cx="4379061"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4969"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28001"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8214969"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7</a:t>
            </a:r>
          </a:p>
        </p:txBody>
      </p:sp>
      <p:sp>
        <p:nvSpPr>
          <p:cNvPr id="19" name="TextBox 18"/>
          <p:cNvSpPr txBox="1"/>
          <p:nvPr/>
        </p:nvSpPr>
        <p:spPr>
          <a:xfrm>
            <a:off x="9019641" y="6460236"/>
            <a:ext cx="2431389" cy="219456"/>
          </a:xfrm>
          <a:prstGeom prst="rect">
            <a:avLst/>
          </a:prstGeom>
          <a:noFill/>
        </p:spPr>
        <p:txBody>
          <a:bodyPr wrap="none" lIns="0" rIns="0" tIns="0" bIns="0">
            <a:spAutoFit/>
          </a:bodyPr>
          <a:lstStyle/>
          <a:p>
            <a:pPr algn="l"/>
            <a:r>
              <a:rPr sz="1000" b="1" i="0">
                <a:solidFill>
                  <a:srgbClr val="FFFFFF"/>
                </a:solidFill>
                <a:latin typeface="Helvetica Neue"/>
              </a:rPr>
              <a:t>Test your product vocabulary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D97706"/>
                </a:solidFill>
                <a:latin typeface="Helvetica Neue"/>
              </a:rPr>
              <a:t>REPRESENT</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500" b="1" i="0">
                <a:solidFill>
                  <a:srgbClr val="0F172A"/>
                </a:solidFill>
                <a:latin typeface="Helvetica Neue"/>
              </a:rPr>
              <a:t>One ticket becomes one vector, by averaging.</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And because every vector has length 1, the similarity behind that search is a plain multiplication.</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8" name="Rounded Rectangle 7"/>
          <p:cNvSpPr/>
          <p:nvPr/>
        </p:nvSpPr>
        <p:spPr>
          <a:xfrm>
            <a:off x="9208008" y="438912"/>
            <a:ext cx="329184" cy="329184"/>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53144"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d_embed.png"/>
          <p:cNvPicPr>
            <a:picLocks noChangeAspect="1"/>
          </p:cNvPicPr>
          <p:nvPr/>
        </p:nvPicPr>
        <p:blipFill>
          <a:blip r:embed="rId2"/>
          <a:stretch>
            <a:fillRect/>
          </a:stretch>
        </p:blipFill>
        <p:spPr>
          <a:xfrm>
            <a:off x="518007" y="2163552"/>
            <a:ext cx="11155680" cy="3856775"/>
          </a:xfrm>
          <a:prstGeom prst="rect">
            <a:avLst/>
          </a:prstGeom>
        </p:spPr>
      </p:pic>
      <p:sp>
        <p:nvSpPr>
          <p:cNvPr id="16" name="Rounded Rectangle 15"/>
          <p:cNvSpPr/>
          <p:nvPr/>
        </p:nvSpPr>
        <p:spPr>
          <a:xfrm>
            <a:off x="7239304" y="6345936"/>
            <a:ext cx="4312310"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81720"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4752"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281720"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8</a:t>
            </a:r>
          </a:p>
        </p:txBody>
      </p:sp>
      <p:sp>
        <p:nvSpPr>
          <p:cNvPr id="20" name="TextBox 19"/>
          <p:cNvSpPr txBox="1"/>
          <p:nvPr/>
        </p:nvSpPr>
        <p:spPr>
          <a:xfrm>
            <a:off x="9086392" y="6460236"/>
            <a:ext cx="2364638" cy="219456"/>
          </a:xfrm>
          <a:prstGeom prst="rect">
            <a:avLst/>
          </a:prstGeom>
          <a:noFill/>
        </p:spPr>
        <p:txBody>
          <a:bodyPr wrap="none" lIns="0" rIns="0" tIns="0" bIns="0">
            <a:spAutoFit/>
          </a:bodyPr>
          <a:lstStyle/>
          <a:p>
            <a:pPr algn="l"/>
            <a:r>
              <a:rPr sz="1000" b="1" i="0">
                <a:solidFill>
                  <a:srgbClr val="FFFFFF"/>
                </a:solidFill>
                <a:latin typeface="Helvetica Neue"/>
              </a:rPr>
              <a:t>Pool tokens into one vector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D97706"/>
                </a:solidFill>
                <a:latin typeface="Helvetica Neue"/>
              </a:rPr>
              <a:t>REPRESENT</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900" b="1" i="0">
                <a:solidFill>
                  <a:srgbClr val="0F172A"/>
                </a:solidFill>
                <a:latin typeface="Helvetica Neue"/>
              </a:rPr>
              <a:t>You built this in Lecture 11.</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Here is the ninety seconds of it that matter today: attention looks around, feed-forward thinks about it.</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8" name="Rounded Rectangle 7"/>
          <p:cNvSpPr/>
          <p:nvPr/>
        </p:nvSpPr>
        <p:spPr>
          <a:xfrm>
            <a:off x="9208008" y="438912"/>
            <a:ext cx="329184" cy="329184"/>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53144"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d_blockonly.png"/>
          <p:cNvPicPr>
            <a:picLocks noChangeAspect="1"/>
          </p:cNvPicPr>
          <p:nvPr/>
        </p:nvPicPr>
        <p:blipFill>
          <a:blip r:embed="rId2"/>
          <a:stretch>
            <a:fillRect/>
          </a:stretch>
        </p:blipFill>
        <p:spPr>
          <a:xfrm>
            <a:off x="566928" y="2011680"/>
            <a:ext cx="6675120" cy="3375971"/>
          </a:xfrm>
          <a:prstGeom prst="rect">
            <a:avLst/>
          </a:prstGeom>
        </p:spPr>
      </p:pic>
      <p:sp>
        <p:nvSpPr>
          <p:cNvPr id="16" name="Rounded Rectangle 15"/>
          <p:cNvSpPr/>
          <p:nvPr/>
        </p:nvSpPr>
        <p:spPr>
          <a:xfrm>
            <a:off x="7635240" y="2286000"/>
            <a:ext cx="3977639" cy="1572768"/>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91271" y="2450592"/>
            <a:ext cx="3566160" cy="237744"/>
          </a:xfrm>
          <a:prstGeom prst="rect">
            <a:avLst/>
          </a:prstGeom>
          <a:noFill/>
        </p:spPr>
        <p:txBody>
          <a:bodyPr wrap="square" lIns="0" rIns="0" tIns="0" bIns="0">
            <a:spAutoFit/>
          </a:bodyPr>
          <a:lstStyle/>
          <a:p>
            <a:pPr algn="l"/>
            <a:r>
              <a:rPr sz="1050" b="1" i="0" spc="160">
                <a:solidFill>
                  <a:srgbClr val="7C3AED"/>
                </a:solidFill>
                <a:latin typeface="Helvetica Neue"/>
              </a:rPr>
              <a:t>ATTENTION MOVES MEANING</a:t>
            </a:r>
          </a:p>
        </p:txBody>
      </p:sp>
      <p:sp>
        <p:nvSpPr>
          <p:cNvPr id="18" name="TextBox 17"/>
          <p:cNvSpPr txBox="1"/>
          <p:nvPr/>
        </p:nvSpPr>
        <p:spPr>
          <a:xfrm>
            <a:off x="7891271" y="2724912"/>
            <a:ext cx="3566160" cy="502920"/>
          </a:xfrm>
          <a:prstGeom prst="rect">
            <a:avLst/>
          </a:prstGeom>
          <a:noFill/>
        </p:spPr>
        <p:txBody>
          <a:bodyPr wrap="square" lIns="0" rIns="0" tIns="0" bIns="0">
            <a:spAutoFit/>
          </a:bodyPr>
          <a:lstStyle/>
          <a:p>
            <a:pPr algn="l"/>
            <a:r>
              <a:rPr sz="2800" b="1" i="0">
                <a:solidFill>
                  <a:srgbClr val="0F172A"/>
                </a:solidFill>
                <a:latin typeface="Helvetica Neue"/>
              </a:rPr>
              <a:t>0.93 → 0.46</a:t>
            </a:r>
          </a:p>
        </p:txBody>
      </p:sp>
      <p:sp>
        <p:nvSpPr>
          <p:cNvPr id="19" name="TextBox 18"/>
          <p:cNvSpPr txBox="1"/>
          <p:nvPr/>
        </p:nvSpPr>
        <p:spPr>
          <a:xfrm>
            <a:off x="7891271" y="3255264"/>
            <a:ext cx="3520440" cy="548640"/>
          </a:xfrm>
          <a:prstGeom prst="rect">
            <a:avLst/>
          </a:prstGeom>
          <a:noFill/>
        </p:spPr>
        <p:txBody>
          <a:bodyPr wrap="square" lIns="0" rIns="0" tIns="0" bIns="0">
            <a:spAutoFit/>
          </a:bodyPr>
          <a:lstStyle/>
          <a:p>
            <a:pPr algn="l"/>
            <a:r>
              <a:rPr sz="1250" b="0" i="0">
                <a:solidFill>
                  <a:srgbClr val="475569"/>
                </a:solidFill>
                <a:latin typeface="Helvetica Neue"/>
              </a:rPr>
              <a:t>the word "plan" in two tickets: nearly identical going in, barely related coming out</a:t>
            </a:r>
          </a:p>
        </p:txBody>
      </p:sp>
      <p:sp>
        <p:nvSpPr>
          <p:cNvPr id="20" name="Rounded Rectangle 19"/>
          <p:cNvSpPr/>
          <p:nvPr/>
        </p:nvSpPr>
        <p:spPr>
          <a:xfrm>
            <a:off x="7635240" y="4160520"/>
            <a:ext cx="3977639" cy="1572768"/>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91271" y="4325112"/>
            <a:ext cx="3566160" cy="237744"/>
          </a:xfrm>
          <a:prstGeom prst="rect">
            <a:avLst/>
          </a:prstGeom>
          <a:noFill/>
        </p:spPr>
        <p:txBody>
          <a:bodyPr wrap="square" lIns="0" rIns="0" tIns="0" bIns="0">
            <a:spAutoFit/>
          </a:bodyPr>
          <a:lstStyle/>
          <a:p>
            <a:pPr algn="l"/>
            <a:r>
              <a:rPr sz="1050" b="1" i="0" spc="160">
                <a:solidFill>
                  <a:srgbClr val="0EA5E9"/>
                </a:solidFill>
                <a:latin typeface="Helvetica Neue"/>
              </a:rPr>
              <a:t>FEED-FORWARD HOLDS KNOWLEDGE</a:t>
            </a:r>
          </a:p>
        </p:txBody>
      </p:sp>
      <p:sp>
        <p:nvSpPr>
          <p:cNvPr id="22" name="TextBox 21"/>
          <p:cNvSpPr txBox="1"/>
          <p:nvPr/>
        </p:nvSpPr>
        <p:spPr>
          <a:xfrm>
            <a:off x="7891271" y="4599431"/>
            <a:ext cx="3566160" cy="502920"/>
          </a:xfrm>
          <a:prstGeom prst="rect">
            <a:avLst/>
          </a:prstGeom>
          <a:noFill/>
        </p:spPr>
        <p:txBody>
          <a:bodyPr wrap="square" lIns="0" rIns="0" tIns="0" bIns="0">
            <a:spAutoFit/>
          </a:bodyPr>
          <a:lstStyle/>
          <a:p>
            <a:pPr algn="l"/>
            <a:r>
              <a:rPr sz="2800" b="1" i="0">
                <a:solidFill>
                  <a:srgbClr val="0F172A"/>
                </a:solidFill>
                <a:latin typeface="Helvetica Neue"/>
              </a:rPr>
              <a:t>67% / 33%</a:t>
            </a:r>
          </a:p>
        </p:txBody>
      </p:sp>
      <p:sp>
        <p:nvSpPr>
          <p:cNvPr id="23" name="TextBox 22"/>
          <p:cNvSpPr txBox="1"/>
          <p:nvPr/>
        </p:nvSpPr>
        <p:spPr>
          <a:xfrm>
            <a:off x="7891271" y="5129783"/>
            <a:ext cx="3520440" cy="548640"/>
          </a:xfrm>
          <a:prstGeom prst="rect">
            <a:avLst/>
          </a:prstGeom>
          <a:noFill/>
        </p:spPr>
        <p:txBody>
          <a:bodyPr wrap="square" lIns="0" rIns="0" tIns="0" bIns="0">
            <a:spAutoFit/>
          </a:bodyPr>
          <a:lstStyle/>
          <a:p>
            <a:pPr algn="l"/>
            <a:r>
              <a:rPr sz="1250" b="0" i="0">
                <a:solidFill>
                  <a:srgbClr val="475569"/>
                </a:solidFill>
                <a:latin typeface="Helvetica Neue"/>
              </a:rPr>
              <a:t>two thirds of every layer is feed-forward, not attention. "billed every ___" → month</a:t>
            </a:r>
          </a:p>
        </p:txBody>
      </p:sp>
      <p:sp>
        <p:nvSpPr>
          <p:cNvPr id="24" name="Rounded Rectangle 23"/>
          <p:cNvSpPr/>
          <p:nvPr/>
        </p:nvSpPr>
        <p:spPr>
          <a:xfrm>
            <a:off x="7105802" y="6345936"/>
            <a:ext cx="4445812"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148218"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1250"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27" name="TextBox 26"/>
          <p:cNvSpPr txBox="1"/>
          <p:nvPr/>
        </p:nvSpPr>
        <p:spPr>
          <a:xfrm>
            <a:off x="8148218"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9</a:t>
            </a:r>
          </a:p>
        </p:txBody>
      </p:sp>
      <p:sp>
        <p:nvSpPr>
          <p:cNvPr id="28" name="TextBox 27"/>
          <p:cNvSpPr txBox="1"/>
          <p:nvPr/>
        </p:nvSpPr>
        <p:spPr>
          <a:xfrm>
            <a:off x="8952890" y="6460236"/>
            <a:ext cx="2498140" cy="219456"/>
          </a:xfrm>
          <a:prstGeom prst="rect">
            <a:avLst/>
          </a:prstGeom>
          <a:noFill/>
        </p:spPr>
        <p:txBody>
          <a:bodyPr wrap="none" lIns="0" rIns="0" tIns="0" bIns="0">
            <a:spAutoFit/>
          </a:bodyPr>
          <a:lstStyle/>
          <a:p>
            <a:pPr algn="l"/>
            <a:r>
              <a:rPr sz="1000" b="1" i="0">
                <a:solidFill>
                  <a:srgbClr val="FFFFFF"/>
                </a:solidFill>
                <a:latin typeface="Helvetica Neue"/>
              </a:rPr>
              <a:t>Watch attention change a word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7C3AED"/>
                </a:solidFill>
                <a:latin typeface="Helvetica Neue"/>
              </a:rPr>
              <a:t>ROUTE</a:t>
            </a:r>
          </a:p>
        </p:txBody>
      </p:sp>
      <p:sp>
        <p:nvSpPr>
          <p:cNvPr id="3" name="TextBox 2"/>
          <p:cNvSpPr txBox="1"/>
          <p:nvPr/>
        </p:nvSpPr>
        <p:spPr>
          <a:xfrm>
            <a:off x="640080" y="758952"/>
            <a:ext cx="7680960" cy="1179576"/>
          </a:xfrm>
          <a:prstGeom prst="rect">
            <a:avLst/>
          </a:prstGeom>
          <a:noFill/>
        </p:spPr>
        <p:txBody>
          <a:bodyPr wrap="square" lIns="0" rIns="0" tIns="0" bIns="0">
            <a:spAutoFit/>
          </a:bodyPr>
          <a:lstStyle/>
          <a:p>
            <a:pPr algn="l"/>
            <a:r>
              <a:rPr sz="2900" b="1" i="0">
                <a:solidFill>
                  <a:srgbClr val="0F172A"/>
                </a:solidFill>
                <a:latin typeface="Helvetica Neue"/>
              </a:rPr>
              <a:t>Sort the inbox with no training data at all.</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9" name="Rounded Rectangle 8"/>
          <p:cNvSpPr/>
          <p:nvPr/>
        </p:nvSpPr>
        <p:spPr>
          <a:xfrm>
            <a:off x="9866376" y="438912"/>
            <a:ext cx="329184" cy="329184"/>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1511"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zs.png"/>
          <p:cNvPicPr>
            <a:picLocks noChangeAspect="1"/>
          </p:cNvPicPr>
          <p:nvPr/>
        </p:nvPicPr>
        <p:blipFill>
          <a:blip r:embed="rId2"/>
          <a:stretch>
            <a:fillRect/>
          </a:stretch>
        </p:blipFill>
        <p:spPr>
          <a:xfrm>
            <a:off x="1473370" y="1965960"/>
            <a:ext cx="9244954" cy="4297679"/>
          </a:xfrm>
          <a:prstGeom prst="rect">
            <a:avLst/>
          </a:prstGeom>
        </p:spPr>
      </p:pic>
      <p:sp>
        <p:nvSpPr>
          <p:cNvPr id="15" name="Rounded Rectangle 14"/>
          <p:cNvSpPr/>
          <p:nvPr/>
        </p:nvSpPr>
        <p:spPr>
          <a:xfrm>
            <a:off x="6505041" y="6345936"/>
            <a:ext cx="5046573"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47457"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60489"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7547457"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13</a:t>
            </a:r>
          </a:p>
        </p:txBody>
      </p:sp>
      <p:sp>
        <p:nvSpPr>
          <p:cNvPr id="19" name="TextBox 18"/>
          <p:cNvSpPr txBox="1"/>
          <p:nvPr/>
        </p:nvSpPr>
        <p:spPr>
          <a:xfrm>
            <a:off x="8420709" y="6460236"/>
            <a:ext cx="3030321" cy="219456"/>
          </a:xfrm>
          <a:prstGeom prst="rect">
            <a:avLst/>
          </a:prstGeom>
          <a:noFill/>
        </p:spPr>
        <p:txBody>
          <a:bodyPr wrap="none" lIns="0" rIns="0" tIns="0" bIns="0">
            <a:spAutoFit/>
          </a:bodyPr>
          <a:lstStyle/>
          <a:p>
            <a:pPr algn="l"/>
            <a:r>
              <a:rPr sz="1000" b="1" i="0">
                <a:solidFill>
                  <a:srgbClr val="FFFFFF"/>
                </a:solidFill>
                <a:latin typeface="Helvetica Neue"/>
              </a:rPr>
              <a:t>Route the inbox with no training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7C3AED"/>
                </a:solidFill>
                <a:latin typeface="Helvetica Neue"/>
              </a:rPr>
              <a:t>ROUTE</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450" b="1" i="0">
                <a:solidFill>
                  <a:srgbClr val="0F172A"/>
                </a:solidFill>
                <a:latin typeface="Helvetica Neue"/>
              </a:rPr>
              <a:t>It is not a classifier. It is a fact-checker.</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The model judges whether a sentence YOU wrote is true of the ticket.</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10" name="Rounded Rectangle 9"/>
          <p:cNvSpPr/>
          <p:nvPr/>
        </p:nvSpPr>
        <p:spPr>
          <a:xfrm>
            <a:off x="9866376" y="438912"/>
            <a:ext cx="329184" cy="329184"/>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11511"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d_nli.png"/>
          <p:cNvPicPr>
            <a:picLocks noChangeAspect="1"/>
          </p:cNvPicPr>
          <p:nvPr/>
        </p:nvPicPr>
        <p:blipFill>
          <a:blip r:embed="rId2"/>
          <a:stretch>
            <a:fillRect/>
          </a:stretch>
        </p:blipFill>
        <p:spPr>
          <a:xfrm>
            <a:off x="518007" y="2596680"/>
            <a:ext cx="11155680" cy="2350438"/>
          </a:xfrm>
          <a:prstGeom prst="rect">
            <a:avLst/>
          </a:prstGeom>
        </p:spPr>
      </p:pic>
      <p:sp>
        <p:nvSpPr>
          <p:cNvPr id="16" name="Rounded Rectangle 15"/>
          <p:cNvSpPr/>
          <p:nvPr/>
        </p:nvSpPr>
        <p:spPr>
          <a:xfrm>
            <a:off x="7306056" y="6345936"/>
            <a:ext cx="4245559"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48472"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1504"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348472"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17</a:t>
            </a:r>
          </a:p>
        </p:txBody>
      </p:sp>
      <p:sp>
        <p:nvSpPr>
          <p:cNvPr id="20" name="TextBox 19"/>
          <p:cNvSpPr txBox="1"/>
          <p:nvPr/>
        </p:nvSpPr>
        <p:spPr>
          <a:xfrm>
            <a:off x="9221724" y="6460236"/>
            <a:ext cx="2229307" cy="219456"/>
          </a:xfrm>
          <a:prstGeom prst="rect">
            <a:avLst/>
          </a:prstGeom>
          <a:noFill/>
        </p:spPr>
        <p:txBody>
          <a:bodyPr wrap="none" lIns="0" rIns="0" tIns="0" bIns="0">
            <a:spAutoFit/>
          </a:bodyPr>
          <a:lstStyle/>
          <a:p>
            <a:pPr algn="l"/>
            <a:r>
              <a:rPr sz="1000" b="1" i="0">
                <a:solidFill>
                  <a:srgbClr val="FFFFFF"/>
                </a:solidFill>
                <a:latin typeface="Helvetica Neue"/>
              </a:rPr>
              <a:t>See the entailment scores</a:t>
            </a:r>
          </a:p>
        </p:txBody>
      </p:sp>
      <p:sp>
        <p:nvSpPr>
          <p:cNvPr id="21" name="TextBox 20"/>
          <p:cNvSpPr txBox="1"/>
          <p:nvPr/>
        </p:nvSpPr>
        <p:spPr>
          <a:xfrm>
            <a:off x="640080" y="5532120"/>
            <a:ext cx="10881360" cy="640080"/>
          </a:xfrm>
          <a:prstGeom prst="rect">
            <a:avLst/>
          </a:prstGeom>
          <a:noFill/>
        </p:spPr>
        <p:txBody>
          <a:bodyPr wrap="square" lIns="0" rIns="0" tIns="0" bIns="0">
            <a:spAutoFit/>
          </a:bodyPr>
          <a:lstStyle/>
          <a:p>
            <a:pPr algn="ctr"/>
            <a:r>
              <a:rPr sz="1500" b="0" i="1">
                <a:solidFill>
                  <a:srgbClr val="475569"/>
                </a:solidFill>
                <a:latin typeface="Helvetica Neue"/>
              </a:rPr>
              <a:t>Every category becomes a sentence: "This example is {your description}." The model scores all eight and picks whichever it most believes.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7C3AED"/>
                </a:solidFill>
                <a:latin typeface="Helvetica Neue"/>
              </a:rPr>
              <a:t>ROUTE</a:t>
            </a:r>
          </a:p>
        </p:txBody>
      </p:sp>
      <p:sp>
        <p:nvSpPr>
          <p:cNvPr id="3" name="TextBox 2"/>
          <p:cNvSpPr txBox="1"/>
          <p:nvPr/>
        </p:nvSpPr>
        <p:spPr>
          <a:xfrm>
            <a:off x="640080" y="758952"/>
            <a:ext cx="7680960" cy="1179576"/>
          </a:xfrm>
          <a:prstGeom prst="rect">
            <a:avLst/>
          </a:prstGeom>
          <a:noFill/>
        </p:spPr>
        <p:txBody>
          <a:bodyPr wrap="square" lIns="0" rIns="0" tIns="0" bIns="0">
            <a:spAutoFit/>
          </a:bodyPr>
          <a:lstStyle/>
          <a:p>
            <a:pPr algn="l"/>
            <a:r>
              <a:rPr sz="2900" b="1" i="0">
                <a:solidFill>
                  <a:srgbClr val="0F172A"/>
                </a:solidFill>
                <a:latin typeface="Helvetica Neue"/>
              </a:rPr>
              <a:t>The descriptions you write ARE the program.</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9" name="Rounded Rectangle 8"/>
          <p:cNvSpPr/>
          <p:nvPr/>
        </p:nvSpPr>
        <p:spPr>
          <a:xfrm>
            <a:off x="9866376" y="438912"/>
            <a:ext cx="329184" cy="329184"/>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1511"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wording.png"/>
          <p:cNvPicPr>
            <a:picLocks noChangeAspect="1"/>
          </p:cNvPicPr>
          <p:nvPr/>
        </p:nvPicPr>
        <p:blipFill>
          <a:blip r:embed="rId2"/>
          <a:stretch>
            <a:fillRect/>
          </a:stretch>
        </p:blipFill>
        <p:spPr>
          <a:xfrm>
            <a:off x="518007" y="2769342"/>
            <a:ext cx="11155680" cy="2599474"/>
          </a:xfrm>
          <a:prstGeom prst="rect">
            <a:avLst/>
          </a:prstGeom>
        </p:spPr>
      </p:pic>
      <p:sp>
        <p:nvSpPr>
          <p:cNvPr id="15" name="Rounded Rectangle 14"/>
          <p:cNvSpPr/>
          <p:nvPr/>
        </p:nvSpPr>
        <p:spPr>
          <a:xfrm>
            <a:off x="6638544" y="6345936"/>
            <a:ext cx="4913071"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680960"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93992"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7680960"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16</a:t>
            </a:r>
          </a:p>
        </p:txBody>
      </p:sp>
      <p:sp>
        <p:nvSpPr>
          <p:cNvPr id="19" name="TextBox 18"/>
          <p:cNvSpPr txBox="1"/>
          <p:nvPr/>
        </p:nvSpPr>
        <p:spPr>
          <a:xfrm>
            <a:off x="8554212" y="6460236"/>
            <a:ext cx="2896819" cy="219456"/>
          </a:xfrm>
          <a:prstGeom prst="rect">
            <a:avLst/>
          </a:prstGeom>
          <a:noFill/>
        </p:spPr>
        <p:txBody>
          <a:bodyPr wrap="none" lIns="0" rIns="0" tIns="0" bIns="0">
            <a:spAutoFit/>
          </a:bodyPr>
          <a:lstStyle/>
          <a:p>
            <a:pPr algn="l"/>
            <a:r>
              <a:rPr sz="1000" b="1" i="0">
                <a:solidFill>
                  <a:srgbClr val="FFFFFF"/>
                </a:solidFill>
                <a:latin typeface="Helvetica Neue"/>
              </a:rPr>
              <a:t>YOUR KNOB: rewrite the descriptions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59669"/>
                </a:solidFill>
                <a:latin typeface="Helvetica Neue"/>
              </a:rPr>
              <a:t>DECIDE</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650" b="1" i="0">
                <a:solidFill>
                  <a:srgbClr val="0F172A"/>
                </a:solidFill>
                <a:latin typeface="Helvetica Neue"/>
              </a:rPr>
              <a:t>An average is a bad way to run a product.</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Ask WHICH tickets it gets wrong. The weak buckets are the ones whose descriptions overlap.</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3</a:t>
            </a:r>
          </a:p>
        </p:txBody>
      </p:sp>
      <p:sp>
        <p:nvSpPr>
          <p:cNvPr id="12" name="Rounded Rectangle 11"/>
          <p:cNvSpPr/>
          <p:nvPr/>
        </p:nvSpPr>
        <p:spPr>
          <a:xfrm>
            <a:off x="10524744" y="438912"/>
            <a:ext cx="329184" cy="329184"/>
          </a:xfrm>
          <a:prstGeom prst="roundRect">
            <a:avLst>
              <a:gd name="adj" fmla="val 3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69880"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fig_recall.png"/>
          <p:cNvPicPr>
            <a:picLocks noChangeAspect="1"/>
          </p:cNvPicPr>
          <p:nvPr/>
        </p:nvPicPr>
        <p:blipFill>
          <a:blip r:embed="rId2"/>
          <a:stretch>
            <a:fillRect/>
          </a:stretch>
        </p:blipFill>
        <p:spPr>
          <a:xfrm>
            <a:off x="2205165" y="2057400"/>
            <a:ext cx="7781363" cy="3977639"/>
          </a:xfrm>
          <a:prstGeom prst="rect">
            <a:avLst/>
          </a:prstGeom>
        </p:spPr>
      </p:pic>
      <p:sp>
        <p:nvSpPr>
          <p:cNvPr id="16" name="Rounded Rectangle 15"/>
          <p:cNvSpPr/>
          <p:nvPr/>
        </p:nvSpPr>
        <p:spPr>
          <a:xfrm>
            <a:off x="7573060" y="6345936"/>
            <a:ext cx="3978554"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15476"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8508"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615476"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18</a:t>
            </a:r>
          </a:p>
        </p:txBody>
      </p:sp>
      <p:sp>
        <p:nvSpPr>
          <p:cNvPr id="20" name="TextBox 19"/>
          <p:cNvSpPr txBox="1"/>
          <p:nvPr/>
        </p:nvSpPr>
        <p:spPr>
          <a:xfrm>
            <a:off x="9488728" y="6460236"/>
            <a:ext cx="1962302" cy="219456"/>
          </a:xfrm>
          <a:prstGeom prst="rect">
            <a:avLst/>
          </a:prstGeom>
          <a:noFill/>
        </p:spPr>
        <p:txBody>
          <a:bodyPr wrap="none" lIns="0" rIns="0" tIns="0" bIns="0">
            <a:spAutoFit/>
          </a:bodyPr>
          <a:lstStyle/>
          <a:p>
            <a:pPr algn="l"/>
            <a:r>
              <a:rPr sz="1000" b="1" i="0">
                <a:solidFill>
                  <a:srgbClr val="FFFFFF"/>
                </a:solidFill>
                <a:latin typeface="Helvetica Neue"/>
              </a:rPr>
              <a:t>Find the weak buckets</a:t>
            </a:r>
          </a:p>
        </p:txBody>
      </p:sp>
      <p:sp>
        <p:nvSpPr>
          <p:cNvPr id="21" name="TextBox 20"/>
          <p:cNvSpPr txBox="1"/>
          <p:nvPr/>
        </p:nvSpPr>
        <p:spPr>
          <a:xfrm>
            <a:off x="640080" y="6080760"/>
            <a:ext cx="10881360" cy="365760"/>
          </a:xfrm>
          <a:prstGeom prst="rect">
            <a:avLst/>
          </a:prstGeom>
          <a:noFill/>
        </p:spPr>
        <p:txBody>
          <a:bodyPr wrap="square" lIns="0" rIns="0" tIns="0" bIns="0">
            <a:spAutoFit/>
          </a:bodyPr>
          <a:lstStyle/>
          <a:p>
            <a:pPr algn="ctr"/>
            <a:r>
              <a:rPr sz="1500" b="0" i="1">
                <a:solidFill>
                  <a:srgbClr val="475569"/>
                </a:solidFill>
                <a:latin typeface="Helvetica Neue"/>
              </a:rPr>
              <a:t>When a classifier underperforms, look at your taxonomy before you look at your 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59669"/>
                </a:solidFill>
                <a:latin typeface="Helvetica Neue"/>
              </a:rPr>
              <a:t>DECIDE</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900" b="1" i="0">
                <a:solidFill>
                  <a:srgbClr val="0F172A"/>
                </a:solidFill>
                <a:latin typeface="Helvetica Neue"/>
              </a:rPr>
              <a:t>Confident is not the same as correct.</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3</a:t>
            </a:r>
          </a:p>
        </p:txBody>
      </p:sp>
      <p:sp>
        <p:nvSpPr>
          <p:cNvPr id="11" name="Rounded Rectangle 10"/>
          <p:cNvSpPr/>
          <p:nvPr/>
        </p:nvSpPr>
        <p:spPr>
          <a:xfrm>
            <a:off x="10524744" y="438912"/>
            <a:ext cx="329184" cy="329184"/>
          </a:xfrm>
          <a:prstGeom prst="roundRect">
            <a:avLst>
              <a:gd name="adj" fmla="val 3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69880"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softmax.png"/>
          <p:cNvPicPr>
            <a:picLocks noChangeAspect="1"/>
          </p:cNvPicPr>
          <p:nvPr/>
        </p:nvPicPr>
        <p:blipFill>
          <a:blip r:embed="rId2"/>
          <a:stretch>
            <a:fillRect/>
          </a:stretch>
        </p:blipFill>
        <p:spPr>
          <a:xfrm>
            <a:off x="518007" y="2197772"/>
            <a:ext cx="11155680" cy="3834054"/>
          </a:xfrm>
          <a:prstGeom prst="rect">
            <a:avLst/>
          </a:prstGeom>
        </p:spPr>
      </p:pic>
      <p:sp>
        <p:nvSpPr>
          <p:cNvPr id="15" name="Rounded Rectangle 14"/>
          <p:cNvSpPr/>
          <p:nvPr/>
        </p:nvSpPr>
        <p:spPr>
          <a:xfrm>
            <a:off x="7172553" y="6345936"/>
            <a:ext cx="4379061"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4969"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28001"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8214969"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19</a:t>
            </a:r>
          </a:p>
        </p:txBody>
      </p:sp>
      <p:sp>
        <p:nvSpPr>
          <p:cNvPr id="19" name="TextBox 18"/>
          <p:cNvSpPr txBox="1"/>
          <p:nvPr/>
        </p:nvSpPr>
        <p:spPr>
          <a:xfrm>
            <a:off x="9088221" y="6460236"/>
            <a:ext cx="2362809" cy="219456"/>
          </a:xfrm>
          <a:prstGeom prst="rect">
            <a:avLst/>
          </a:prstGeom>
          <a:noFill/>
        </p:spPr>
        <p:txBody>
          <a:bodyPr wrap="none" lIns="0" rIns="0" tIns="0" bIns="0">
            <a:spAutoFit/>
          </a:bodyPr>
          <a:lstStyle/>
          <a:p>
            <a:pPr algn="l"/>
            <a:r>
              <a:rPr sz="1000" b="1" i="0">
                <a:solidFill>
                  <a:srgbClr val="FFFFFF"/>
                </a:solidFill>
                <a:latin typeface="Helvetica Neue"/>
              </a:rPr>
              <a:t>Feed it an off-topic ticket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59669"/>
                </a:solidFill>
                <a:latin typeface="Helvetica Neue"/>
              </a:rPr>
              <a:t>YOUR TURN</a:t>
            </a:r>
          </a:p>
        </p:txBody>
      </p:sp>
      <p:sp>
        <p:nvSpPr>
          <p:cNvPr id="3" name="TextBox 2"/>
          <p:cNvSpPr txBox="1"/>
          <p:nvPr/>
        </p:nvSpPr>
        <p:spPr>
          <a:xfrm>
            <a:off x="640080" y="758952"/>
            <a:ext cx="7680960" cy="704088"/>
          </a:xfrm>
          <a:prstGeom prst="rect">
            <a:avLst/>
          </a:prstGeom>
          <a:noFill/>
        </p:spPr>
        <p:txBody>
          <a:bodyPr wrap="square" lIns="0" rIns="0" tIns="0" bIns="0">
            <a:spAutoFit/>
          </a:bodyPr>
          <a:lstStyle/>
          <a:p>
            <a:pPr algn="l"/>
            <a:r>
              <a:rPr sz="2900" b="1" i="0">
                <a:solidFill>
                  <a:srgbClr val="0F172A"/>
                </a:solidFill>
                <a:latin typeface="Helvetica Neue"/>
              </a:rPr>
              <a:t>The Shipping Decision.</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Same copilot. Same tickets. Your team runs it for a different company. Find the best setting for yours.</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3</a:t>
            </a:r>
          </a:p>
        </p:txBody>
      </p:sp>
      <p:sp>
        <p:nvSpPr>
          <p:cNvPr id="12" name="Rounded Rectangle 11"/>
          <p:cNvSpPr/>
          <p:nvPr/>
        </p:nvSpPr>
        <p:spPr>
          <a:xfrm>
            <a:off x="10524744" y="438912"/>
            <a:ext cx="329184" cy="329184"/>
          </a:xfrm>
          <a:prstGeom prst="roundRect">
            <a:avLst>
              <a:gd name="adj" fmla="val 3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69880"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d_gamebrief.png"/>
          <p:cNvPicPr>
            <a:picLocks noChangeAspect="1"/>
          </p:cNvPicPr>
          <p:nvPr/>
        </p:nvPicPr>
        <p:blipFill>
          <a:blip r:embed="rId2"/>
          <a:stretch>
            <a:fillRect/>
          </a:stretch>
        </p:blipFill>
        <p:spPr>
          <a:xfrm>
            <a:off x="518007" y="2286328"/>
            <a:ext cx="11155680" cy="3336902"/>
          </a:xfrm>
          <a:prstGeom prst="rect">
            <a:avLst/>
          </a:prstGeom>
        </p:spPr>
      </p:pic>
      <p:sp>
        <p:nvSpPr>
          <p:cNvPr id="16" name="TextBox 15"/>
          <p:cNvSpPr txBox="1"/>
          <p:nvPr/>
        </p:nvSpPr>
        <p:spPr>
          <a:xfrm>
            <a:off x="640080" y="5989320"/>
            <a:ext cx="10881360" cy="365760"/>
          </a:xfrm>
          <a:prstGeom prst="rect">
            <a:avLst/>
          </a:prstGeom>
          <a:noFill/>
        </p:spPr>
        <p:txBody>
          <a:bodyPr wrap="square" lIns="0" rIns="0" tIns="0" bIns="0">
            <a:spAutoFit/>
          </a:bodyPr>
          <a:lstStyle/>
          <a:p>
            <a:pPr algn="ctr"/>
            <a:r>
              <a:rPr sz="1500" b="0" i="1">
                <a:solidFill>
                  <a:srgbClr val="475569"/>
                </a:solidFill>
                <a:latin typeface="Helvetica Neue"/>
              </a:rPr>
              <a:t>Open L13_Game_Shipping_Decision.ipynb   ·   12 minutes   ·   scored on how close you get to the best setting for YOUR company, not on raw dollars.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59669"/>
                </a:solidFill>
                <a:latin typeface="Helvetica Neue"/>
              </a:rPr>
              <a:t>THE REVEAL</a:t>
            </a:r>
          </a:p>
        </p:txBody>
      </p:sp>
      <p:sp>
        <p:nvSpPr>
          <p:cNvPr id="3" name="TextBox 2"/>
          <p:cNvSpPr txBox="1"/>
          <p:nvPr/>
        </p:nvSpPr>
        <p:spPr>
          <a:xfrm>
            <a:off x="640080" y="758952"/>
            <a:ext cx="7680960" cy="1179576"/>
          </a:xfrm>
          <a:prstGeom prst="rect">
            <a:avLst/>
          </a:prstGeom>
          <a:noFill/>
        </p:spPr>
        <p:txBody>
          <a:bodyPr wrap="square" lIns="0" rIns="0" tIns="0" bIns="0">
            <a:spAutoFit/>
          </a:bodyPr>
          <a:lstStyle/>
          <a:p>
            <a:pPr algn="l"/>
            <a:r>
              <a:rPr sz="2900" b="1" i="0">
                <a:solidFill>
                  <a:srgbClr val="0F172A"/>
                </a:solidFill>
                <a:latin typeface="Helvetica Neue"/>
              </a:rPr>
              <a:t>Every team optimised correctly. Every team got a different answer.</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3</a:t>
            </a:r>
          </a:p>
        </p:txBody>
      </p:sp>
      <p:sp>
        <p:nvSpPr>
          <p:cNvPr id="11" name="Rounded Rectangle 10"/>
          <p:cNvSpPr/>
          <p:nvPr/>
        </p:nvSpPr>
        <p:spPr>
          <a:xfrm>
            <a:off x="10524744" y="438912"/>
            <a:ext cx="329184" cy="329184"/>
          </a:xfrm>
          <a:prstGeom prst="roundRect">
            <a:avLst>
              <a:gd name="adj" fmla="val 3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69880"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fig_game.png"/>
          <p:cNvPicPr>
            <a:picLocks noChangeAspect="1"/>
          </p:cNvPicPr>
          <p:nvPr/>
        </p:nvPicPr>
        <p:blipFill>
          <a:blip r:embed="rId2"/>
          <a:stretch>
            <a:fillRect/>
          </a:stretch>
        </p:blipFill>
        <p:spPr>
          <a:xfrm>
            <a:off x="2207847" y="2011680"/>
            <a:ext cx="7775999" cy="3931920"/>
          </a:xfrm>
          <a:prstGeom prst="rect">
            <a:avLst/>
          </a:prstGeom>
        </p:spPr>
      </p:pic>
      <p:sp>
        <p:nvSpPr>
          <p:cNvPr id="15" name="TextBox 14"/>
          <p:cNvSpPr txBox="1"/>
          <p:nvPr/>
        </p:nvSpPr>
        <p:spPr>
          <a:xfrm>
            <a:off x="640080" y="6016752"/>
            <a:ext cx="10881360" cy="365760"/>
          </a:xfrm>
          <a:prstGeom prst="rect">
            <a:avLst/>
          </a:prstGeom>
          <a:noFill/>
        </p:spPr>
        <p:txBody>
          <a:bodyPr wrap="square" lIns="0" rIns="0" tIns="0" bIns="0">
            <a:spAutoFit/>
          </a:bodyPr>
          <a:lstStyle/>
          <a:p>
            <a:pPr algn="ctr"/>
            <a:r>
              <a:rPr sz="1500" b="0" i="1">
                <a:solidFill>
                  <a:srgbClr val="475569"/>
                </a:solidFill>
                <a:latin typeface="Helvetica Neue"/>
              </a:rPr>
              <a:t>Nobody had a better model. The only thing that changed was what a mistake costs.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FULL CIRCLE</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What we shipped today, for $0.</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No training data. No training run. No GPU bill. One afternoon.</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shipped.png"/>
          <p:cNvPicPr>
            <a:picLocks noChangeAspect="1"/>
          </p:cNvPicPr>
          <p:nvPr/>
        </p:nvPicPr>
        <p:blipFill>
          <a:blip r:embed="rId2"/>
          <a:stretch>
            <a:fillRect/>
          </a:stretch>
        </p:blipFill>
        <p:spPr>
          <a:xfrm>
            <a:off x="518007" y="2897590"/>
            <a:ext cx="11155680" cy="1885778"/>
          </a:xfrm>
          <a:prstGeom prst="rect">
            <a:avLst/>
          </a:prstGeom>
        </p:spPr>
      </p:pic>
      <p:sp>
        <p:nvSpPr>
          <p:cNvPr id="7" name="TextBox 6"/>
          <p:cNvSpPr txBox="1"/>
          <p:nvPr/>
        </p:nvSpPr>
        <p:spPr>
          <a:xfrm>
            <a:off x="640080" y="5669280"/>
            <a:ext cx="10881360" cy="548640"/>
          </a:xfrm>
          <a:prstGeom prst="rect">
            <a:avLst/>
          </a:prstGeom>
          <a:noFill/>
        </p:spPr>
        <p:txBody>
          <a:bodyPr wrap="square" lIns="0" rIns="0" tIns="0" bIns="0">
            <a:spAutoFit/>
          </a:bodyPr>
          <a:lstStyle/>
          <a:p>
            <a:pPr algn="ctr"/>
            <a:r>
              <a:rPr sz="1700" b="0" i="1">
                <a:solidFill>
                  <a:srgbClr val="0F172A"/>
                </a:solidFill>
                <a:latin typeface="Helvetica Neue"/>
              </a:rPr>
              <a:t>Accuracy is a property of the model. The right threshold is a property of the business.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WHY THIS MATTERS AT WORK</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Six instincts, not six tools.</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Every row is a call your future team needs someone in the room able to make.</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work.png"/>
          <p:cNvPicPr>
            <a:picLocks noChangeAspect="1"/>
          </p:cNvPicPr>
          <p:nvPr/>
        </p:nvPicPr>
        <p:blipFill>
          <a:blip r:embed="rId2"/>
          <a:stretch>
            <a:fillRect/>
          </a:stretch>
        </p:blipFill>
        <p:spPr>
          <a:xfrm>
            <a:off x="518007" y="2507640"/>
            <a:ext cx="11155680" cy="3305759"/>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NEXT TIME</a:t>
            </a:r>
          </a:p>
        </p:txBody>
      </p:sp>
      <p:sp>
        <p:nvSpPr>
          <p:cNvPr id="3" name="TextBox 2"/>
          <p:cNvSpPr txBox="1"/>
          <p:nvPr/>
        </p:nvSpPr>
        <p:spPr>
          <a:xfrm>
            <a:off x="640080" y="758952"/>
            <a:ext cx="10972800" cy="704088"/>
          </a:xfrm>
          <a:prstGeom prst="rect">
            <a:avLst/>
          </a:prstGeom>
          <a:noFill/>
        </p:spPr>
        <p:txBody>
          <a:bodyPr wrap="square" lIns="0" rIns="0" tIns="0" bIns="0">
            <a:spAutoFit/>
          </a:bodyPr>
          <a:lstStyle/>
          <a:p>
            <a:pPr algn="l"/>
            <a:r>
              <a:rPr sz="2900" b="1" i="0">
                <a:solidFill>
                  <a:srgbClr val="0F172A"/>
                </a:solidFill>
                <a:latin typeface="Helvetica Neue"/>
              </a:rPr>
              <a:t>The layer that acts.</a:t>
            </a:r>
          </a:p>
        </p:txBody>
      </p:sp>
      <p:sp>
        <p:nvSpPr>
          <p:cNvPr id="4" name="TextBox 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sp>
        <p:nvSpPr>
          <p:cNvPr id="5" name="Rectangle 4"/>
          <p:cNvSpPr/>
          <p:nvPr/>
        </p:nvSpPr>
        <p:spPr>
          <a:xfrm>
            <a:off x="640080" y="2148840"/>
            <a:ext cx="50292" cy="78638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130552"/>
            <a:ext cx="9601200" cy="384048"/>
          </a:xfrm>
          <a:prstGeom prst="rect">
            <a:avLst/>
          </a:prstGeom>
          <a:noFill/>
        </p:spPr>
        <p:txBody>
          <a:bodyPr wrap="square" lIns="0" rIns="0" tIns="0" bIns="0">
            <a:spAutoFit/>
          </a:bodyPr>
          <a:lstStyle/>
          <a:p>
            <a:pPr algn="l"/>
            <a:r>
              <a:rPr sz="2100" b="1" i="0">
                <a:solidFill>
                  <a:srgbClr val="0F172A"/>
                </a:solidFill>
                <a:latin typeface="Helvetica Neue"/>
              </a:rPr>
              <a:t>What if we DO sort them by hand?</a:t>
            </a:r>
          </a:p>
        </p:txBody>
      </p:sp>
      <p:sp>
        <p:nvSpPr>
          <p:cNvPr id="7" name="TextBox 6"/>
          <p:cNvSpPr txBox="1"/>
          <p:nvPr/>
        </p:nvSpPr>
        <p:spPr>
          <a:xfrm>
            <a:off x="896112" y="2532888"/>
            <a:ext cx="9875520" cy="365760"/>
          </a:xfrm>
          <a:prstGeom prst="rect">
            <a:avLst/>
          </a:prstGeom>
          <a:noFill/>
        </p:spPr>
        <p:txBody>
          <a:bodyPr wrap="square" lIns="0" rIns="0" tIns="0" bIns="0">
            <a:spAutoFit/>
          </a:bodyPr>
          <a:lstStyle/>
          <a:p>
            <a:pPr algn="l"/>
            <a:r>
              <a:rPr sz="1500" b="0" i="0">
                <a:solidFill>
                  <a:srgbClr val="475569"/>
                </a:solidFill>
                <a:latin typeface="Helvetica Neue"/>
              </a:rPr>
              <a:t>a few hundred examples, and what they buy you</a:t>
            </a:r>
          </a:p>
        </p:txBody>
      </p:sp>
      <p:sp>
        <p:nvSpPr>
          <p:cNvPr id="8" name="Rectangle 7"/>
          <p:cNvSpPr/>
          <p:nvPr/>
        </p:nvSpPr>
        <p:spPr>
          <a:xfrm>
            <a:off x="640080" y="3172968"/>
            <a:ext cx="50292" cy="78638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154680"/>
            <a:ext cx="9601200" cy="384048"/>
          </a:xfrm>
          <a:prstGeom prst="rect">
            <a:avLst/>
          </a:prstGeom>
          <a:noFill/>
        </p:spPr>
        <p:txBody>
          <a:bodyPr wrap="square" lIns="0" rIns="0" tIns="0" bIns="0">
            <a:spAutoFit/>
          </a:bodyPr>
          <a:lstStyle/>
          <a:p>
            <a:pPr algn="l"/>
            <a:r>
              <a:rPr sz="2100" b="1" i="0">
                <a:solidFill>
                  <a:srgbClr val="0F172A"/>
                </a:solidFill>
                <a:latin typeface="Helvetica Neue"/>
              </a:rPr>
              <a:t>Where the reading came from</a:t>
            </a:r>
          </a:p>
        </p:txBody>
      </p:sp>
      <p:sp>
        <p:nvSpPr>
          <p:cNvPr id="10" name="TextBox 9"/>
          <p:cNvSpPr txBox="1"/>
          <p:nvPr/>
        </p:nvSpPr>
        <p:spPr>
          <a:xfrm>
            <a:off x="896112" y="3557016"/>
            <a:ext cx="9875520" cy="365760"/>
          </a:xfrm>
          <a:prstGeom prst="rect">
            <a:avLst/>
          </a:prstGeom>
          <a:noFill/>
        </p:spPr>
        <p:txBody>
          <a:bodyPr wrap="square" lIns="0" rIns="0" tIns="0" bIns="0">
            <a:spAutoFit/>
          </a:bodyPr>
          <a:lstStyle/>
          <a:p>
            <a:pPr algn="l"/>
            <a:r>
              <a:rPr sz="1500" b="0" i="0">
                <a:solidFill>
                  <a:srgbClr val="475569"/>
                </a:solidFill>
                <a:latin typeface="Helvetica Neue"/>
              </a:rPr>
              <a:t>BERT, and how pretraining actually worked</a:t>
            </a:r>
          </a:p>
        </p:txBody>
      </p:sp>
      <p:sp>
        <p:nvSpPr>
          <p:cNvPr id="11" name="Rectangle 10"/>
          <p:cNvSpPr/>
          <p:nvPr/>
        </p:nvSpPr>
        <p:spPr>
          <a:xfrm>
            <a:off x="640080" y="4197096"/>
            <a:ext cx="50292" cy="78638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178808"/>
            <a:ext cx="9601200" cy="384048"/>
          </a:xfrm>
          <a:prstGeom prst="rect">
            <a:avLst/>
          </a:prstGeom>
          <a:noFill/>
        </p:spPr>
        <p:txBody>
          <a:bodyPr wrap="square" lIns="0" rIns="0" tIns="0" bIns="0">
            <a:spAutoFit/>
          </a:bodyPr>
          <a:lstStyle/>
          <a:p>
            <a:pPr algn="l"/>
            <a:r>
              <a:rPr sz="2100" b="1" i="0">
                <a:solidFill>
                  <a:srgbClr val="0F172A"/>
                </a:solidFill>
                <a:latin typeface="Helvetica Neue"/>
              </a:rPr>
              <a:t>Pull out the specifics</a:t>
            </a:r>
          </a:p>
        </p:txBody>
      </p:sp>
      <p:sp>
        <p:nvSpPr>
          <p:cNvPr id="13" name="TextBox 12"/>
          <p:cNvSpPr txBox="1"/>
          <p:nvPr/>
        </p:nvSpPr>
        <p:spPr>
          <a:xfrm>
            <a:off x="896112" y="4581144"/>
            <a:ext cx="9875520" cy="365760"/>
          </a:xfrm>
          <a:prstGeom prst="rect">
            <a:avLst/>
          </a:prstGeom>
          <a:noFill/>
        </p:spPr>
        <p:txBody>
          <a:bodyPr wrap="square" lIns="0" rIns="0" tIns="0" bIns="0">
            <a:spAutoFit/>
          </a:bodyPr>
          <a:lstStyle/>
          <a:p>
            <a:pPr algn="l"/>
            <a:r>
              <a:rPr sz="1500" b="0" i="0">
                <a:solidFill>
                  <a:srgbClr val="475569"/>
                </a:solidFill>
                <a:latin typeface="Helvetica Neue"/>
              </a:rPr>
              <a:t>which feature, what error, which plan</a:t>
            </a:r>
          </a:p>
        </p:txBody>
      </p:sp>
      <p:sp>
        <p:nvSpPr>
          <p:cNvPr id="14" name="Rectangle 13"/>
          <p:cNvSpPr/>
          <p:nvPr/>
        </p:nvSpPr>
        <p:spPr>
          <a:xfrm>
            <a:off x="640080" y="5221224"/>
            <a:ext cx="50292" cy="786384"/>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202936"/>
            <a:ext cx="9601200" cy="384048"/>
          </a:xfrm>
          <a:prstGeom prst="rect">
            <a:avLst/>
          </a:prstGeom>
          <a:noFill/>
        </p:spPr>
        <p:txBody>
          <a:bodyPr wrap="square" lIns="0" rIns="0" tIns="0" bIns="0">
            <a:spAutoFit/>
          </a:bodyPr>
          <a:lstStyle/>
          <a:p>
            <a:pPr algn="l"/>
            <a:r>
              <a:rPr sz="2100" b="1" i="0">
                <a:solidFill>
                  <a:srgbClr val="0F172A"/>
                </a:solidFill>
                <a:latin typeface="Helvetica Neue"/>
              </a:rPr>
              <a:t>Watch it make things up</a:t>
            </a:r>
          </a:p>
        </p:txBody>
      </p:sp>
      <p:sp>
        <p:nvSpPr>
          <p:cNvPr id="16" name="TextBox 15"/>
          <p:cNvSpPr txBox="1"/>
          <p:nvPr/>
        </p:nvSpPr>
        <p:spPr>
          <a:xfrm>
            <a:off x="896112" y="5605272"/>
            <a:ext cx="9875520" cy="365760"/>
          </a:xfrm>
          <a:prstGeom prst="rect">
            <a:avLst/>
          </a:prstGeom>
          <a:noFill/>
        </p:spPr>
        <p:txBody>
          <a:bodyPr wrap="square" lIns="0" rIns="0" tIns="0" bIns="0">
            <a:spAutoFit/>
          </a:bodyPr>
          <a:lstStyle/>
          <a:p>
            <a:pPr algn="l"/>
            <a:r>
              <a:rPr sz="1500" b="0" i="0">
                <a:solidFill>
                  <a:srgbClr val="475569"/>
                </a:solidFill>
                <a:latin typeface="Helvetica Neue"/>
              </a:rPr>
              <a:t>and why that sets up Week 8</a:t>
            </a:r>
          </a:p>
        </p:txBody>
      </p:sp>
      <p:sp>
        <p:nvSpPr>
          <p:cNvPr id="17" name="TextBox 16"/>
          <p:cNvSpPr txBox="1"/>
          <p:nvPr/>
        </p:nvSpPr>
        <p:spPr>
          <a:xfrm>
            <a:off x="640080" y="6263640"/>
            <a:ext cx="10881360" cy="365760"/>
          </a:xfrm>
          <a:prstGeom prst="rect">
            <a:avLst/>
          </a:prstGeom>
          <a:noFill/>
        </p:spPr>
        <p:txBody>
          <a:bodyPr wrap="square" lIns="0" rIns="0" tIns="0" bIns="0">
            <a:spAutoFit/>
          </a:bodyPr>
          <a:lstStyle/>
          <a:p>
            <a:pPr algn="l"/>
            <a:r>
              <a:rPr sz="1400" b="0" i="1">
                <a:solidFill>
                  <a:srgbClr val="475569"/>
                </a:solidFill>
                <a:latin typeface="Helvetica Neue"/>
              </a:rPr>
              <a:t>Notebook: L13_Cobalt_Support_Copilot.ipynb. Run it, turn the knobs, break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