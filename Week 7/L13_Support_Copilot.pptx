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eb.stanford.edu/~jurafsky/slp3/" TargetMode="External"/><Relationship Id="rId4" Type="http://schemas.openxmlformats.org/officeDocument/2006/relationships/hyperlink" Target="https://github.com/HandsOnLLM/Hands-On-Large-Language-Models" TargetMode="External"/><Relationship Id="rId5" Type="http://schemas.openxmlformats.org/officeDocument/2006/relationships/hyperlink" Target="https://github.com/nlp-with-transformers/notebooks" TargetMode="External"/><Relationship Id="rId6" Type="http://schemas.openxmlformats.org/officeDocument/2006/relationships/hyperlink" Target="https://arxiv.org/abs/1706.03762" TargetMode="External"/><Relationship Id="rId7" Type="http://schemas.openxmlformats.org/officeDocument/2006/relationships/hyperlink" Target="https://arxiv.org/abs/1810.04805" TargetMode="External"/><Relationship Id="rId8" Type="http://schemas.openxmlformats.org/officeDocument/2006/relationships/hyperlink" Target="https://arxiv.org/abs/1907.1169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spc="250">
                <a:solidFill>
                  <a:srgbClr val="4F46E5"/>
                </a:solidFill>
                <a:latin typeface="Helvetica Neue"/>
              </a:rPr>
              <a:t>WEEK 7 · 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0F172A"/>
                </a:solidFill>
                <a:latin typeface="Helvetica Neue"/>
              </a:rPr>
              <a:t>Building a Support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13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475569"/>
                </a:solidFill>
                <a:latin typeface="Helvetica Neue"/>
              </a:rPr>
              <a:t>Part 1: the layer that reads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72000"/>
            <a:ext cx="8229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F172A"/>
                </a:solidFill>
                <a:latin typeface="Helvetica Neue"/>
              </a:rPr>
              <a:t>5,000 tickets a week, three agents, and not one labelled example. Let's ship something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What we cover across both lectures, the models we actually run, and what to read alongside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676" y="1810512"/>
            <a:ext cx="9190341" cy="35478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5394960"/>
            <a:ext cx="10927080" cy="1280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6811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spc="180">
                <a:solidFill>
                  <a:srgbClr val="94A3B8"/>
                </a:solidFill>
                <a:latin typeface="Helvetica Neue"/>
              </a:rPr>
              <a:t>READINGS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05856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J&amp;M Ch. 7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3"/>
              </a:rPr>
              <a:t>Large Language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5705856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J&amp;M Ch. 10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3"/>
              </a:rPr>
              <a:t>BERT &amp; masked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5705856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HOLLM Ch. 3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4"/>
              </a:rPr>
              <a:t>inside transformer 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544" y="5705856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Tunstall Ch. 10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5"/>
              </a:rPr>
              <a:t>training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Vaswani 2017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6"/>
              </a:rPr>
              <a:t>Attention Is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6016752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Devlin 2018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7"/>
              </a:rPr>
              <a:t>BERT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6016752"/>
            <a:ext cx="272491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Helvetica Neue"/>
              </a:rPr>
              <a:t>Liu 2019  </a:t>
            </a:r>
            <a:r>
              <a:rPr sz="1000" u="sng">
                <a:solidFill>
                  <a:srgbClr val="1D4ED8"/>
                </a:solidFill>
                <a:latin typeface="Helvetica Neue"/>
                <a:hlinkClick r:id="rId8"/>
              </a:rPr>
              <a:t>RoBERTa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You just took over support at Cobalt.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B2B analytics platform. The inbox is the product problem, and nobody has ever labelled a single ticket.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~5,000 tickets a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three agents to answer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~40% are repeats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the same handful of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No labelled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and no budget for it this quarter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9992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Agents burn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just working out who owns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  <a:latin typeface="Helvetica Neue"/>
              </a:rPr>
              <a:t>Today we build the part that READS the inbox: search it, sort it, and decide what a human actually needs to see. Next lecture we make it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  <a:latin typeface="Helvetica Neue"/>
              </a:rPr>
              <a:t>Every technique today is one you can point at any pile of text: tickets, reviews, resumes, survey answers.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capabilities, built in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one is useful on its own. Together they are a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30057"/>
            <a:ext cx="11155680" cy="3106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 model cannot read. It can only do arithmetic.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40679"/>
            <a:ext cx="11155680" cy="290252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30568" y="6382512"/>
            <a:ext cx="4721047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6432804"/>
            <a:ext cx="472104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Under the hood · “text → tokens → ids”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Check what happens to your business vocabulary.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jar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36196"/>
            <a:ext cx="11155680" cy="331148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31052" y="6382512"/>
            <a:ext cx="5420563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1052" y="6432804"/>
            <a:ext cx="542056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Under the hood · “does your vocabulary survive?”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One ticket becomes one vector, by averaging.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emb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552"/>
            <a:ext cx="11155680" cy="385677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10858" y="6382512"/>
            <a:ext cx="5140756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0858" y="6432804"/>
            <a:ext cx="51407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Under the hood · “from tokens to ONE vector”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Similarity is a multiplication.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cos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58318"/>
            <a:ext cx="11155680" cy="3067243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851245" y="6382512"/>
            <a:ext cx="5700369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1245" y="6432804"/>
            <a:ext cx="570036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Under the hood · “similarity is just multiplication”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Search that finds what you meant.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013030"/>
            <a:ext cx="11155680" cy="41578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970471" y="6382512"/>
            <a:ext cx="4581144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471" y="6432804"/>
            <a:ext cx="4581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1 · “Teach the computer to read”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Structure was already in the 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Nobody labelled these. Plot the vectors and the neighbourhoods appear on their 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216" y="1965960"/>
            <a:ext cx="5671261" cy="429767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30568" y="6382512"/>
            <a:ext cx="4721047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6432804"/>
            <a:ext cx="472104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1 · “The shape of the whole inbox”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Sort the inbox with zero labelled examples.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z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370" y="1965960"/>
            <a:ext cx="9244954" cy="429767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80810" y="6382512"/>
            <a:ext cx="5070805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810" y="6432804"/>
            <a:ext cx="507080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2 · “Route with zero labelled examples”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It is not a classifier. It is a fact-checker.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model judges whether a sentence YOU wrote is true of the ticket.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d_n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96680"/>
            <a:ext cx="11155680" cy="235043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571439" y="6382512"/>
            <a:ext cx="5980176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1439" y="6432804"/>
            <a:ext cx="59801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2 · “Under the hood: zero-shot isn't classification”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Every category becomes a sentence: "This example is {your description}." The model scores all eight and picks whichever it most believes.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Underneath the one-line pipeline.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nli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12278"/>
            <a:ext cx="11155680" cy="295932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110374" y="6382512"/>
            <a:ext cx="4441240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0374" y="6432804"/>
            <a:ext cx="4441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2 · same cell, read the logits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words you write ARE the program.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wo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769342"/>
            <a:ext cx="11155680" cy="259947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80810" y="6382512"/>
            <a:ext cx="5070805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0810" y="6432804"/>
            <a:ext cx="507080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2 · YOUR KNOB: rewrite the descriptions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An average is a bad way to run a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Ask WHICH tickets it gets wrong. The weak buckets are the ones whose descriptions overlap.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165" y="2057400"/>
            <a:ext cx="7781363" cy="397763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739938" y="6382512"/>
            <a:ext cx="3811676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39938" y="6432804"/>
            <a:ext cx="38116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3 · “Where v1 breaks”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When a classifier underperforms, look at your taxonomy before you look at your model.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Confident is not the same as correct.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97772"/>
            <a:ext cx="11155680" cy="383405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690664" y="6382512"/>
            <a:ext cx="4860950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664" y="6432804"/>
            <a:ext cx="486095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3 · “Why was it 99% sure and wrong?”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Give the model a way to say "I don't know".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5052"/>
            <a:ext cx="11155680" cy="387949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180326" y="6382512"/>
            <a:ext cx="4371289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80326" y="6432804"/>
            <a:ext cx="437128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3 · the two one-line defences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This curve is the business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There is no setting that maximises both. Where you stand on it is a judgement about cost.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902" y="2057400"/>
            <a:ext cx="5917889" cy="39319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180326" y="6382512"/>
            <a:ext cx="4371289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80326" y="6432804"/>
            <a:ext cx="437128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3 · YOUR KNOB: move THRESHOLD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"We can automate 39% of the inbox at 87% accuracy, or cover far more, and be less right." That is a decision an executive can actually make.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One number, and you have a product.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884922"/>
            <a:ext cx="11155680" cy="241403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10858" y="6382512"/>
            <a:ext cx="5140756" cy="310896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0858" y="6432804"/>
            <a:ext cx="51407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▶  TO THE NOTEBOOK      Act 3 · same cell, read the business numbers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FULL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we shipped today, for $0.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No labelled data. No training. No GPU bill. One 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shi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920450"/>
            <a:ext cx="11155680" cy="1885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0F172A"/>
                </a:solidFill>
                <a:latin typeface="Helvetica Neue"/>
              </a:rPr>
              <a:t>Someone else already spent millions teaching a model to read English. Your job is not to build intelligence. It is to point it at your problem, cheaply, and know where it breaks.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WHY THIS MATTERS AT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instincts, not six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row is a call your future team needs someone in the room able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07640"/>
            <a:ext cx="11155680" cy="330575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NEXT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layer that 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50292" cy="7863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What if we DO label?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32888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few hundred examples, and what they buy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72968"/>
            <a:ext cx="50292" cy="78638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15468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Where the reading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557016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BERT, and how pretraining actually worked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97096"/>
            <a:ext cx="50292" cy="78638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788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Pull out the specifics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581144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which feature, what error, which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21224"/>
            <a:ext cx="50292" cy="78638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0293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Watch it make things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60527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and why that sets up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Helvetica Neue"/>
              </a:rPr>
              <a:t>Notebook: L13_Cobalt_Support_Copilot.ipynb. Run it, turn the knobs, break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