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nothing in that inbox has ever been sorted or tagged by anyone. The standard advice is that you cannot use AI on a pile like that until somebody hand-sorts thousands of examples first. We are going to ship something useful tonight without sorting a single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5:54 PM  ~4 min]</a:t>
            </a:r>
          </a:p>
          <a:p/>
          <a:p>
            <a:r>
              <a:t>Before we touch any technology, you need to be able to picture the job. Three sentences.</a:t>
            </a:r>
          </a:p>
          <a:p>
            <a:r>
              <a:t>First, what Cobalt actually sells. It is a software company. About six hundred other businesses pay Cobalt a monthly subscription to use its product, and that product plugs into their company databases and turns the raw numbers into charts and dashboards that their staff look at every morning. Think of the dashboard your manager checks to see how the week is going. Cobalt builds those.</a:t>
            </a:r>
          </a:p>
          <a:p>
            <a:r>
              <a:t>Second, why customers write in. When something breaks for one of those six hundred companies, and something always breaks, they need help. A chart is showing a number they know is wrong. Nobody on their team can sign in. An invoice looks strange. So they click Help, then Contact support, right inside the product, or they email support at cobalt dot com. And they type out what went wrong, in their own words, the way you would write to a colleague.</a:t>
            </a:r>
          </a:p>
          <a:p>
            <a:r>
              <a:t>Third, where that message lands. Each one becomes what the industry calls a ticket. It is not a physical thing; it is just their message, plus a note of who sent it, when, and which plan they are on. And every ticket drops into one shared work queue that the three support agents grind through, oldest first.</a:t>
            </a:r>
          </a:p>
          <a:p>
            <a:r>
              <a:t>That queue is what I am going to call the inbox for the rest of tonight. Not your email inbox. This one specific queue of customer problems waiting to be answered.</a:t>
            </a:r>
          </a:p>
          <a:p>
            <a:r>
              <a:t>Look at the two real examples on the right, because this is the whole data set in miniature. "Dashboards take forty plus seconds to load since yesterday." "We were charged twice this month for the same seats." That is all a ticket is: a couple of sentences of ordinary human writing. There is no form, no dropdown, no category. Just what somebody typed while they were annoyed.</a:t>
            </a:r>
          </a:p>
          <a:p>
            <a:r>
              <a:t>Five thousand of these arrive every week. Three people answer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[5:54 PM to 5:57 PM  ~3 min]</a:t>
            </a:r>
          </a:p>
          <a:p/>
          <a:p>
            <a:r>
              <a:t>Now the problem. Every one of those five thousand tickets has to be read by a person before it can be answered, and that reading is where the day goes.</a:t>
            </a:r>
          </a:p>
          <a:p>
            <a:r>
              <a:t>About forty percent of them are variations of the same handful of questions. And before an agent can do anything useful, they have to read the ticket, work out what it is even about, and decide who should own it. Billing or engineering? Urgent or not? That triage is a few minutes on every single ticket, five thousand times a week. That is the waste we are going after.</a:t>
            </a:r>
          </a:p>
          <a:p>
            <a:r>
              <a:t>Now the constraint, and this is the one that makes it interesting. Look at the third box: nothing in this queue is sorted.</a:t>
            </a:r>
          </a:p>
          <a:p>
            <a:r>
              <a:t>Here is why that matters, and if you have never done machine learning this is the sentence to hold onto. The normal way to teach a computer to sort text is to hand it a few thousand examples that a person has already sorted by hand. Somebody sits down, reads ticket one, and writes "billing". Reads ticket two, writes "login problem". A few thousand times. That pile of hand-sorted examples is called training data, and almost everything you have heard about machine learning assumes you have it.</a:t>
            </a:r>
          </a:p>
          <a:p>
            <a:r>
              <a:t>Cobalt does not. Building it would mean paying people to read and tag thousands of tickets before you could write a single line of code. That is weeks of work and a budget nobody approved.</a:t>
            </a:r>
          </a:p>
          <a:p>
            <a:r>
              <a:t>So the textbook answer is off the table, and that is the whole point of tonight. We are going to build something useful anyway. We start with the half of the product that reads the inbox. Thursday we make it act. And everything we do tonight works on any pile of text you have: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[5:57 PM to 6:00 PM  ~3 min]</a:t>
            </a:r>
          </a:p>
          <a:p/>
          <a:p>
            <a:r>
              <a:t>Four capabilities, built in order.</a:t>
            </a:r>
          </a:p>
          <a:p>
            <a:r>
              <a:t>Represent: turn each ticket into numbers, because a model cannot read.</a:t>
            </a:r>
          </a:p>
          <a:p>
            <a:r>
              <a:t>Retrieve: find tickets by meaning instead of by keyword.</a:t>
            </a:r>
          </a:p>
          <a:p>
            <a:r>
              <a:t>Route: sort the inbox into buckets without any of that hand-sorted training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[6:00 PM to 6:04 PM  ~4 min]</a:t>
            </a:r>
          </a:p>
          <a:p>
            <a:r>
              <a:t>TO THE NOTEBOOK: CELL 6  ·  text to tokens to ids</a:t>
            </a:r>
          </a:p>
          <a:p/>
          <a:p>
            <a:r>
              <a:t>Step one, and it starts with the least glamorous fact in machine learning: a model cannot read. It does arithmetic. So the first job is turning text into numbers.</a:t>
            </a:r>
          </a:p>
          <a:p>
            <a:r>
              <a:t>Watch what happens to this sentence. The model does not see words. It sees tokens, which are chunks from a fixed vocabulary of about thirty thousand pieces. "Our", "connector" and "failed" survive whole because they are common. But "Postgres" gets broken into "post", "gre", "s". Three fragments.</a:t>
            </a:r>
          </a:p>
          <a:p>
            <a:r>
              <a:t>Why? Because Postgres was not common enough to earn its own slot in the vocabulary, so the model spells it out from pieces. That is how a fixed vocabulary can represent any word you throw at it, including words that were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[6:04 PM to 6:08 PM  ~4 min]</a:t>
            </a:r>
          </a:p>
          <a:p>
            <a:r>
              <a:t>TO THE NOTEBOOK: CELL 7  ·  does your vocabulary survive?</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[6:08 PM to 6:12 PM  ~4 min]</a:t>
            </a:r>
          </a:p>
          <a:p>
            <a:r>
              <a:t>TO THE NOTEBOOK: CELL 8  ·  from tokens 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[6:12 PM to 6:15 PM  ~3 min]</a:t>
            </a:r>
          </a:p>
          <a:p>
            <a:r>
              <a:t>TO THE NOTEBOOK: CELL 9  ·  what happened inside bert(...)</a:t>
            </a:r>
          </a:p>
          <a:p/>
          <a:p>
            <a:r>
              <a:t>Stop for a second, because we just used a transformer and I have not told you what one is.</a:t>
            </a:r>
          </a:p>
          <a:p>
            <a:r>
              <a:t>Look back at that line: bert of batch, dot last hidden state. Tokens went in, vectors came out. What happened in between? It is two things, repeated. That is genuinely all a transformer is.</a:t>
            </a:r>
          </a:p>
          <a:p>
            <a:r>
              <a:t>The first half is called attention, and its job is to let the words look at each other. Every word reads every other word in the ticket and pulls in whatever it needs. So the word "charged" reads "twice" and "seats" and comes out carrying a piece of both. Information moves sideways, between words.</a:t>
            </a:r>
          </a:p>
          <a:p>
            <a:r>
              <a:t>The second half is the feed-forward network, and it does the opposite. Each word now goes off on its own, through a small network, with no looking sideways at all. This is where the model applies what it knows about that word.</a:t>
            </a:r>
          </a:p>
          <a:p>
            <a:r>
              <a:t>So: look around, then think about it. Attention gathers the context, feed-forward applies the knowledge. That pair is one block, and BERT stacks twelve of them. When you hear somebody say a model is "twelve layers deep", that is what they mean. Twelve rounds of look around, then think about it.</a:t>
            </a:r>
          </a:p>
          <a:p>
            <a:r>
              <a:t>That is the whole architecture. Everything else you may have heard, the queries and keys and the square roots, is detail inside the first half.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[6:15 PM to 6:19 PM  ~4 min]</a:t>
            </a:r>
          </a:p>
          <a:p>
            <a:r>
              <a:t>TO THE NOTEBOOK: CELL 9  ·  the same word in two tickets</a:t>
            </a:r>
          </a:p>
          <a:p/>
          <a:p>
            <a:r>
              <a:t>Let me prove the attention half actually does what I just claimed, because it is easy to say "words look at each other" and hard to believe.</a:t>
            </a:r>
          </a:p>
          <a:p>
            <a:r>
              <a:t>Here is the word "plan" in two of our tickets. In the first, "we want to move to the Team plan next month", plan means a subscription tier. In the second, "we plan to migrate our database next week", plan means an intention. Completely different meanings, identical spelling.</a:t>
            </a:r>
          </a:p>
          <a:p>
            <a:r>
              <a:t>Now watch the chart. On the left, before any layers run, the two vectors for "plan" are zero point nine three alike. Almost identical, because at that point it is literally the same word looking up the same row in the same table. The model has no idea there is a difference.</a:t>
            </a:r>
          </a:p>
          <a:p>
            <a:r>
              <a:t>Then each round of attention lets it read the neighbours. "Team" and "month" pull the first one one way. "migrate" and "database" pull the other one the other way. And the line falls. Layer four, zero point six nine. Layer eight, zero point five five. By layer twelve, zero point four six. They are barely related any more.</a:t>
            </a:r>
          </a:p>
          <a:p>
            <a:r>
              <a:t>That gap, from zero point nine three down to zero point four six, is attention doing its job. The model figured out that these are two different words that happen to be spelled the same, and nobody told it. It read the neighbours.</a:t>
            </a:r>
          </a:p>
          <a:p>
            <a:r>
              <a:t>And now you know why the search from earlier worked. It was never matching spellings. It was matching vectors that already knew what the sentence was about.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[6:19 PM to 6:22 PM  ~3 min]</a:t>
            </a:r>
          </a:p>
          <a:p>
            <a:r>
              <a:t>TO THE NOTEBOOK: CELL 10 ·  fill-mask, and where the weights sit</a:t>
            </a:r>
          </a:p>
          <a:p/>
          <a:p>
            <a:r>
              <a:t>Now the other half, and this is the part almost nobody talks about.</a:t>
            </a:r>
          </a:p>
          <a:p>
            <a:r>
              <a:t>After attention has mixed the words together, each word goes through a small network on its own. No looking sideways. This is where the model applies what it has stored.</a:t>
            </a:r>
          </a:p>
          <a:p>
            <a:r>
              <a:t>Let me show you that it has stored something. I am going to blank out a word and ask it to fill in the gap. "Our subscription is billed every blank." I never trained it on Cobalt. I never told it anything about subscriptions.</a:t>
            </a:r>
          </a:p>
          <a:p>
            <a:r>
              <a:t>[run it] Month, at sixty nine percent. Then year, then week. It knows how subscriptions work, because it read most of the internet and subscriptions get billed monthly. That knowledge is not in the attention half. It is sitting in the feed-forward weights.</a:t>
            </a:r>
          </a:p>
          <a:p>
            <a:r>
              <a:t>And here is the fact that surprises people, including me the first time. Look at the bar. Two thirds of every layer is feed-forward. Only a third is attention. Attention gets all the headlines and all the papers and the famous title, but the majority of the model, by weight, is the boring part that stores knowledge.</a:t>
            </a:r>
          </a:p>
          <a:p>
            <a:r>
              <a:t>So keep both halves in your head. Attention decides what to mix. Feed-forward supplies what it knows. You need both, and the second one is bigger.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[6:22 PM to 6:25 PM  ~3 min]</a:t>
            </a:r>
          </a:p>
          <a:p>
            <a:r>
              <a:t>TO THE NOTEBOOK: CELL 11 ·  similarity is just multiplication</a:t>
            </a:r>
          </a:p>
          <a:p/>
          <a:p>
            <a:r>
              <a:t>So every ticket is now a point in space. How do we measure whether two tickets are about the same thing? We multiply and add.</a:t>
            </a:r>
          </a:p>
          <a:p>
            <a:r>
              <a:t>Because every vector was scaled to length one, similarity is just the dot product: multiply the matching numbers, sum them up. "I can't log in" and "password reset failed" score zero point six two. "I can't log in" and "please add dark mode" score zero point zero nine.</a:t>
            </a:r>
          </a:p>
          <a:p>
            <a:r>
              <a:t>That number is the entire search engine. No keywords, no rules, no if-statements, no training. One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 PM to 6:29 PM  ~4 min]</a:t>
            </a:r>
          </a:p>
          <a:p>
            <a:r>
              <a:t>TO THE NOTEBOOK: CELL 3  ·  keyword vs semantic search   (scroll back up)</a:t>
            </a:r>
          </a:p>
          <a:p/>
          <a:p>
            <a:r>
              <a:t>Let me show you why that matters.</a:t>
            </a:r>
          </a:p>
          <a:p>
            <a:r>
              <a:t>I am going to search the inbox for "we are being charged wrong". First, keyword search. Zero results. Not one ticket contains that phrase, because real customers do not write the phrase you happened to think of.</a:t>
            </a:r>
          </a:p>
          <a:p>
            <a:r>
              <a:t>Now semantic search, same query.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thinking about it. Every help centre search that actually works, every "related tickets" sidebar, every internal wiki that finds the right document. It is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[6:29 PM to 6:32 PM  ~3 min]</a:t>
            </a:r>
          </a:p>
          <a:p>
            <a:r>
              <a:t>TO THE NOTEBOOK: CELL 5  ·  the inbox map</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sorted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hand-sorting.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[6:32 PM to 6:37 PM  ~5 min]</a:t>
            </a:r>
          </a:p>
          <a:p>
            <a:r>
              <a:t>TO THE NOTEBOOK: CELL 13 ·  route with no training data</a:t>
            </a:r>
          </a:p>
          <a:p/>
          <a:p>
            <a:r>
              <a:t>Now the interesting part. We want to sort the inbox into the buckets our support team actually uses. The textbook answer is: hand-sort a few thousand tickets, then train a classifier. That is weeks of work and money Cobalt does not have.</a:t>
            </a:r>
          </a:p>
          <a:p>
            <a:r>
              <a:t>One thing to head off before it confuses somebody. In the code you will see an argument called candidate underscore labels. Those are not the hand-sorted labels I just told you we do not have. Nobody sorted a ticket. They are the sentences we write, in English, in about a minute. The library just picked an unfortunate name.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Nobody sorted a ticket. Nothing was trained.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[6:37 PM to 6:42 PM  ~5 min]</a:t>
            </a:r>
          </a:p>
          <a:p>
            <a:r>
              <a:t>TO THE NOTEBOOK: CELL 17 ·  the entailment scores</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[6:42 PM to 6:45 PM  ~3 min]</a:t>
            </a:r>
          </a:p>
          <a:p>
            <a:r>
              <a:t>TO THE NOTEBOOK: CELL 17 ·  same cell, read the logits</a:t>
            </a:r>
          </a:p>
          <a:p/>
          <a:p>
            <a:r>
              <a:t>Here is what that looks like underneath the one-line pipeline. You tokenize the ticket and the hypothesis together as a pair, run the model, and read two numbers. The model's own output labels are literally "entailment" and "not entailment".</a:t>
            </a:r>
          </a:p>
          <a:p>
            <a:r>
              <a:t>That is the whole mechanism.</a:t>
            </a:r>
          </a:p>
          <a:p>
            <a:r>
              <a:t>So when you meet one of those "just describe what you want" AI tools, and there are a lot of them now, this is usually what is happening underneath. A model is scoring your words.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[6:45 PM to 6:49 PM  ~4 min]</a:t>
            </a:r>
          </a:p>
          <a:p>
            <a:r>
              <a:t>TO THE NOTEBOOK: CELL 16 ·  YOUR KNOB,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descriptions.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[6:49 PM to 6:53 PM  ~4 min]</a:t>
            </a:r>
          </a:p>
          <a:p>
            <a:r>
              <a:t>TO THE NOTEBOOK: CELL 18 ·  per-bucket recall</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[6:53 PM to 6:58 PM  ~5 min]</a:t>
            </a:r>
          </a:p>
          <a:p>
            <a:r>
              <a:t>TO THE NOTEBOOK: CELL 19 ·  the off-topic ticket</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[6:58 PM to 7:02 PM  ~4 min]</a:t>
            </a:r>
          </a:p>
          <a:p>
            <a:r>
              <a:t>TO THE NOTEBOOK: CELL 20 ·  the two defences</a:t>
            </a:r>
          </a:p>
          <a:p/>
          <a:p>
            <a:r>
              <a:t>Two fixes, one line each.</a:t>
            </a:r>
          </a:p>
          <a:p>
            <a:r>
              <a:t>First, give the model somewhere honest to go. I add an "other" bucket, described as "unrelated to the product, such as sales or careers". Re-run the job application and it lands in "other" at seventy five percent. Fixed.</a:t>
            </a:r>
          </a:p>
          <a:p>
            <a:r>
              <a:t>Second, and this one is subtler: stop making it choose. Switch to multi-label, which scores every category independently instead of forcing them to compete. Now the job application scores thirteen percent on its best category, and the total is zero point one four. Low on everything. That is the model saying "I do not know", which is enormously more useful than a confident wrong answer.</a:t>
            </a:r>
          </a:p>
          <a:p>
            <a:r>
              <a:t>The difference between a demo and a product is very often just this: deciding what happens when the model is out of its depth. Good question to ask any vendor: what does your system do with an input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[7:02 PM to 7:07 PM  ~5 min]</a:t>
            </a:r>
          </a:p>
          <a:p>
            <a:r>
              <a:t>TO THE NOTEBOOK: CELL 21 ·  YOUR KNOB, the threshold</a:t>
            </a:r>
          </a:p>
          <a:p/>
          <a:p>
            <a:r>
              <a:t>Last capability. You do not have to route everything. Route only what the model is sure about, and send the rest to a human. That is one number, and this curve is what it does.</a:t>
            </a:r>
          </a:p>
          <a:p>
            <a:r>
              <a:t>Purple is the share of the inbox you auto-route. Green is how accurate those decisions are. They move in opposite directions, and there is no setting that maximises both. Set the bar low and you automate almost everything, badly. Set it high and you automate a little, very well.</a:t>
            </a:r>
          </a:p>
          <a:p>
            <a:r>
              <a:t>This curve, not an accuracy number, is what you take into the room. "We can automate thirty nine percent of the inbox at eighty seven percent accuracy, or cover far more and be less right." That is a sentence an executive can actually make a decision about.</a:t>
            </a:r>
          </a:p>
          <a:p>
            <a:r>
              <a:t>And notice: the right answer depends entirely on what a misroute costs you versus what an agent's hour is worth. That is a business question, not a modelling question.</a:t>
            </a:r>
          </a:p>
          <a:p>
            <a:r>
              <a:t>And let us put a number on it. Threshold at zero point nine. Thirty nine percent of the queue auto-routed, eighty seven percent accurate on those. At five thousand tickets a week that is about nineteen hundred a week that nobody has to touch. With no training data, no training run, and no GPU bill.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 PM to 7:10 PM  ~3 min]</a:t>
            </a:r>
          </a:p>
          <a:p/>
          <a:p>
            <a:r>
              <a:t>Full circle. Here is what we built tonight.</a:t>
            </a:r>
          </a:p>
          <a:p>
            <a:r>
              <a:t>Semantic search across the whole inbox. An eight-way router built with no training data at all. A confidence policy that decides what ships automatically. And an escalation path, so the system can admit when it does not know.</a:t>
            </a:r>
          </a:p>
          <a:p>
            <a:r>
              <a:t>Total cost of hand-sorting tickets: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[7:10 PM to 7:14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[7:14 PM to 7:16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lIns="0" rIns="0" tIns="0" bIns="0">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lIns="0" rIns="0" tIns="0" bIns="0">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lIns="0" rIns="0" tIns="0" bIns="0">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lIns="0" rIns="0" tIns="0" bIns="0">
            <a:spAutoFit/>
          </a:bodyPr>
          <a:lstStyle/>
          <a:p>
            <a:pPr algn="l"/>
            <a:r>
              <a:rPr sz="1700" b="0" i="1">
                <a:solidFill>
                  <a:srgbClr val="0F172A"/>
                </a:solidFill>
                <a:latin typeface="Helvetica Neue"/>
              </a:rPr>
              <a:t>5,000 tickets a week, three agents, and nothing in the queue has ever been sorted. Let's ship anyway.</a:t>
            </a:r>
          </a:p>
        </p:txBody>
      </p:sp>
      <p:sp>
        <p:nvSpPr>
          <p:cNvPr id="7" name="TextBox 6"/>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lIns="0" rIns="0" tIns="0" bIns="0">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BUSINESS</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First, what company are we walking into?</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Before any technology, you need to be able to picture the job. Here it is in three sentences.</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cene.png"/>
          <p:cNvPicPr>
            <a:picLocks noChangeAspect="1"/>
          </p:cNvPicPr>
          <p:nvPr/>
        </p:nvPicPr>
        <p:blipFill>
          <a:blip r:embed="rId2"/>
          <a:stretch>
            <a:fillRect/>
          </a:stretch>
        </p:blipFill>
        <p:spPr>
          <a:xfrm>
            <a:off x="518007" y="2046394"/>
            <a:ext cx="11155680" cy="3771050"/>
          </a:xfrm>
          <a:prstGeom prst="rect">
            <a:avLst/>
          </a:prstGeom>
        </p:spPr>
      </p:pic>
      <p:sp>
        <p:nvSpPr>
          <p:cNvPr id="7" name="TextBox 6"/>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Five thousand of these arrive every week. Three people answer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PROBLEM</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Every ticket has to be read before it can be answered.</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And that reading is where the three agents lose their day.</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~5,000 tickets a week</a:t>
            </a:r>
          </a:p>
        </p:txBody>
      </p:sp>
      <p:sp>
        <p:nvSpPr>
          <p:cNvPr id="8" name="TextBox 7"/>
          <p:cNvSpPr txBox="1"/>
          <p:nvPr/>
        </p:nvSpPr>
        <p:spPr>
          <a:xfrm>
            <a:off x="886968"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and three people to answer them</a:t>
            </a:r>
          </a:p>
        </p:txBody>
      </p:sp>
      <p:sp>
        <p:nvSpPr>
          <p:cNvPr id="9" name="Rounded Rectangle 8"/>
          <p:cNvSpPr/>
          <p:nvPr/>
        </p:nvSpPr>
        <p:spPr>
          <a:xfrm>
            <a:off x="3483864"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~40% are repeats</a:t>
            </a:r>
          </a:p>
        </p:txBody>
      </p:sp>
      <p:sp>
        <p:nvSpPr>
          <p:cNvPr id="11" name="TextBox 10"/>
          <p:cNvSpPr txBox="1"/>
          <p:nvPr/>
        </p:nvSpPr>
        <p:spPr>
          <a:xfrm>
            <a:off x="3685032"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the same handful of questions</a:t>
            </a:r>
          </a:p>
        </p:txBody>
      </p:sp>
      <p:sp>
        <p:nvSpPr>
          <p:cNvPr id="12" name="Rounded Rectangle 11"/>
          <p:cNvSpPr/>
          <p:nvPr/>
        </p:nvSpPr>
        <p:spPr>
          <a:xfrm>
            <a:off x="6281928"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Nothing is sorted</a:t>
            </a:r>
          </a:p>
        </p:txBody>
      </p:sp>
      <p:sp>
        <p:nvSpPr>
          <p:cNvPr id="14" name="TextBox 13"/>
          <p:cNvSpPr txBox="1"/>
          <p:nvPr/>
        </p:nvSpPr>
        <p:spPr>
          <a:xfrm>
            <a:off x="6483096"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no tags, no categories, just text</a:t>
            </a:r>
          </a:p>
        </p:txBody>
      </p:sp>
      <p:sp>
        <p:nvSpPr>
          <p:cNvPr id="15" name="Rounded Rectangle 14"/>
          <p:cNvSpPr/>
          <p:nvPr/>
        </p:nvSpPr>
        <p:spPr>
          <a:xfrm>
            <a:off x="9079992" y="2212848"/>
            <a:ext cx="2615184" cy="1298448"/>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395728"/>
            <a:ext cx="2286000" cy="457200"/>
          </a:xfrm>
          <a:prstGeom prst="rect">
            <a:avLst/>
          </a:prstGeom>
          <a:noFill/>
        </p:spPr>
        <p:txBody>
          <a:bodyPr wrap="square" lIns="0" rIns="0" tIns="0" bIns="0">
            <a:spAutoFit/>
          </a:bodyPr>
          <a:lstStyle/>
          <a:p>
            <a:pPr algn="l"/>
            <a:r>
              <a:rPr sz="1750" b="1" i="0">
                <a:solidFill>
                  <a:srgbClr val="0F172A"/>
                </a:solidFill>
                <a:latin typeface="Helvetica Neue"/>
              </a:rPr>
              <a:t>Minutes lost per ticket</a:t>
            </a:r>
          </a:p>
        </p:txBody>
      </p:sp>
      <p:sp>
        <p:nvSpPr>
          <p:cNvPr id="17" name="TextBox 16"/>
          <p:cNvSpPr txBox="1"/>
          <p:nvPr/>
        </p:nvSpPr>
        <p:spPr>
          <a:xfrm>
            <a:off x="9281160" y="2871216"/>
            <a:ext cx="2304288" cy="548640"/>
          </a:xfrm>
          <a:prstGeom prst="rect">
            <a:avLst/>
          </a:prstGeom>
          <a:noFill/>
        </p:spPr>
        <p:txBody>
          <a:bodyPr wrap="square" lIns="0" rIns="0" tIns="0" bIns="0">
            <a:spAutoFit/>
          </a:bodyPr>
          <a:lstStyle/>
          <a:p>
            <a:pPr algn="l"/>
            <a:r>
              <a:rPr sz="1350" b="0" i="0">
                <a:solidFill>
                  <a:srgbClr val="475569"/>
                </a:solidFill>
                <a:latin typeface="Helvetica Neue"/>
              </a:rPr>
              <a:t>just working out who should own it</a:t>
            </a:r>
          </a:p>
        </p:txBody>
      </p:sp>
      <p:sp>
        <p:nvSpPr>
          <p:cNvPr id="18" name="Rounded Rectangle 17"/>
          <p:cNvSpPr/>
          <p:nvPr/>
        </p:nvSpPr>
        <p:spPr>
          <a:xfrm>
            <a:off x="640080" y="3703320"/>
            <a:ext cx="10908792" cy="1481328"/>
          </a:xfrm>
          <a:prstGeom prst="roundRect">
            <a:avLst>
              <a:gd name="adj" fmla="val 6000"/>
            </a:avLst>
          </a:prstGeom>
          <a:solidFill>
            <a:srgbClr val="FFFBEB"/>
          </a:solidFill>
          <a:ln>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858768"/>
            <a:ext cx="10424160" cy="274320"/>
          </a:xfrm>
          <a:prstGeom prst="rect">
            <a:avLst/>
          </a:prstGeom>
          <a:noFill/>
        </p:spPr>
        <p:txBody>
          <a:bodyPr wrap="square" lIns="0" rIns="0" tIns="0" bIns="0">
            <a:spAutoFit/>
          </a:bodyPr>
          <a:lstStyle/>
          <a:p>
            <a:pPr algn="l"/>
            <a:r>
              <a:rPr sz="1150" b="1" i="0" spc="180">
                <a:solidFill>
                  <a:srgbClr val="B45309"/>
                </a:solidFill>
                <a:latin typeface="Helvetica Neue"/>
              </a:rPr>
              <a:t>WHY THAT THIRD BOX IS THE HARD ONE</a:t>
            </a:r>
          </a:p>
        </p:txBody>
      </p:sp>
      <p:sp>
        <p:nvSpPr>
          <p:cNvPr id="20" name="TextBox 19"/>
          <p:cNvSpPr txBox="1"/>
          <p:nvPr/>
        </p:nvSpPr>
        <p:spPr>
          <a:xfrm>
            <a:off x="914400" y="4169663"/>
            <a:ext cx="10378440" cy="914400"/>
          </a:xfrm>
          <a:prstGeom prst="rect">
            <a:avLst/>
          </a:prstGeom>
          <a:noFill/>
        </p:spPr>
        <p:txBody>
          <a:bodyPr wrap="square" lIns="0" rIns="0" tIns="0" bIns="0">
            <a:spAutoFit/>
          </a:bodyPr>
          <a:lstStyle/>
          <a:p>
            <a:pPr algn="l"/>
            <a:r>
              <a:rPr sz="1500" b="0" i="0">
                <a:solidFill>
                  <a:srgbClr val="334155"/>
                </a:solidFill>
                <a:latin typeface="Helvetica Neue"/>
              </a:rPr>
              <a:t>The normal way to teach a computer to sort text is to hand it a few thousand examples that a person has already sorted by hand. Those hand-sorted examples are called training data, and most machine learning cannot start without them. Cobalt has none. Building that pile would mean paying people to read and tag thousands of tickets before you could write a line of code.</a:t>
            </a:r>
          </a:p>
        </p:txBody>
      </p:sp>
      <p:sp>
        <p:nvSpPr>
          <p:cNvPr id="21" name="TextBox 20"/>
          <p:cNvSpPr txBox="1"/>
          <p:nvPr/>
        </p:nvSpPr>
        <p:spPr>
          <a:xfrm>
            <a:off x="640080" y="5413248"/>
            <a:ext cx="10881360" cy="457200"/>
          </a:xfrm>
          <a:prstGeom prst="rect">
            <a:avLst/>
          </a:prstGeom>
          <a:noFill/>
        </p:spPr>
        <p:txBody>
          <a:bodyPr wrap="square" lIns="0" rIns="0" tIns="0" bIns="0">
            <a:spAutoFit/>
          </a:bodyPr>
          <a:lstStyle/>
          <a:p>
            <a:pPr algn="l"/>
            <a:r>
              <a:rPr sz="1600" b="0" i="1">
                <a:solidFill>
                  <a:srgbClr val="0F172A"/>
                </a:solidFill>
                <a:latin typeface="Helvetica Neue"/>
              </a:rPr>
              <a:t>So tonight we build something that never needs them. We start with the half that READS the inbox: search it, sort it, and decide what a person actually has to see.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A model cannot read. It can only do arithmetic.</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tokens.png"/>
          <p:cNvPicPr>
            <a:picLocks noChangeAspect="1"/>
          </p:cNvPicPr>
          <p:nvPr/>
        </p:nvPicPr>
        <p:blipFill>
          <a:blip r:embed="rId2"/>
          <a:stretch>
            <a:fillRect/>
          </a:stretch>
        </p:blipFill>
        <p:spPr>
          <a:xfrm>
            <a:off x="518007" y="2640679"/>
            <a:ext cx="11155680" cy="2902521"/>
          </a:xfrm>
          <a:prstGeom prst="rect">
            <a:avLst/>
          </a:prstGeom>
        </p:spPr>
      </p:pic>
      <p:sp>
        <p:nvSpPr>
          <p:cNvPr id="15" name="Rounded Rectangle 14"/>
          <p:cNvSpPr/>
          <p:nvPr/>
        </p:nvSpPr>
        <p:spPr>
          <a:xfrm>
            <a:off x="7316114" y="6345936"/>
            <a:ext cx="423550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31682" y="6396228"/>
            <a:ext cx="7607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1562"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8431682" y="6451092"/>
            <a:ext cx="760780" cy="219456"/>
          </a:xfrm>
          <a:prstGeom prst="rect">
            <a:avLst/>
          </a:prstGeom>
          <a:noFill/>
        </p:spPr>
        <p:txBody>
          <a:bodyPr wrap="none" lIns="0" rIns="0" tIns="0" bIns="0">
            <a:spAutoFit/>
          </a:bodyPr>
          <a:lstStyle/>
          <a:p>
            <a:pPr algn="ctr"/>
            <a:r>
              <a:rPr sz="1150" b="1" i="0">
                <a:solidFill>
                  <a:srgbClr val="FFFFFF"/>
                </a:solidFill>
                <a:latin typeface="Helvetica Neue"/>
              </a:rPr>
              <a:t>CELL 6</a:t>
            </a:r>
          </a:p>
        </p:txBody>
      </p:sp>
      <p:sp>
        <p:nvSpPr>
          <p:cNvPr id="19" name="TextBox 18"/>
          <p:cNvSpPr txBox="1"/>
          <p:nvPr/>
        </p:nvSpPr>
        <p:spPr>
          <a:xfrm>
            <a:off x="9320479" y="6460236"/>
            <a:ext cx="2121408" cy="219456"/>
          </a:xfrm>
          <a:prstGeom prst="rect">
            <a:avLst/>
          </a:prstGeom>
          <a:noFill/>
        </p:spPr>
        <p:txBody>
          <a:bodyPr wrap="none" lIns="0" rIns="0" tIns="0" bIns="0">
            <a:spAutoFit/>
          </a:bodyPr>
          <a:lstStyle/>
          <a:p>
            <a:pPr algn="l"/>
            <a:r>
              <a:rPr sz="1050" b="1" i="0">
                <a:solidFill>
                  <a:srgbClr val="FFFFFF"/>
                </a:solidFill>
                <a:latin typeface="Helvetica Neue"/>
              </a:rPr>
              <a:t>text to tokens to ids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6716268" y="6345936"/>
            <a:ext cx="4835347"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831836" y="6396228"/>
            <a:ext cx="7607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71716"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7831836" y="6451092"/>
            <a:ext cx="760780" cy="219456"/>
          </a:xfrm>
          <a:prstGeom prst="rect">
            <a:avLst/>
          </a:prstGeom>
          <a:noFill/>
        </p:spPr>
        <p:txBody>
          <a:bodyPr wrap="none" lIns="0" rIns="0" tIns="0" bIns="0">
            <a:spAutoFit/>
          </a:bodyPr>
          <a:lstStyle/>
          <a:p>
            <a:pPr algn="ctr"/>
            <a:r>
              <a:rPr sz="1150" b="1" i="0">
                <a:solidFill>
                  <a:srgbClr val="FFFFFF"/>
                </a:solidFill>
                <a:latin typeface="Helvetica Neue"/>
              </a:rPr>
              <a:t>CELL 7</a:t>
            </a:r>
          </a:p>
        </p:txBody>
      </p:sp>
      <p:sp>
        <p:nvSpPr>
          <p:cNvPr id="19" name="TextBox 18"/>
          <p:cNvSpPr txBox="1"/>
          <p:nvPr/>
        </p:nvSpPr>
        <p:spPr>
          <a:xfrm>
            <a:off x="8720632" y="6460236"/>
            <a:ext cx="2721254" cy="219456"/>
          </a:xfrm>
          <a:prstGeom prst="rect">
            <a:avLst/>
          </a:prstGeom>
          <a:noFill/>
        </p:spPr>
        <p:txBody>
          <a:bodyPr wrap="none" lIns="0" rIns="0" tIns="0" bIns="0">
            <a:spAutoFit/>
          </a:bodyPr>
          <a:lstStyle/>
          <a:p>
            <a:pPr algn="l"/>
            <a:r>
              <a:rPr sz="1050" b="1" i="0">
                <a:solidFill>
                  <a:srgbClr val="FFFFFF"/>
                </a:solidFill>
                <a:latin typeface="Helvetica Neue"/>
              </a:rPr>
              <a:t>does your vocabulary survive?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One ticket becomes one vector, by averaging.</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embed.png"/>
          <p:cNvPicPr>
            <a:picLocks noChangeAspect="1"/>
          </p:cNvPicPr>
          <p:nvPr/>
        </p:nvPicPr>
        <p:blipFill>
          <a:blip r:embed="rId2"/>
          <a:stretch>
            <a:fillRect/>
          </a:stretch>
        </p:blipFill>
        <p:spPr>
          <a:xfrm>
            <a:off x="518007" y="2163552"/>
            <a:ext cx="11155680" cy="3856775"/>
          </a:xfrm>
          <a:prstGeom prst="rect">
            <a:avLst/>
          </a:prstGeom>
        </p:spPr>
      </p:pic>
      <p:sp>
        <p:nvSpPr>
          <p:cNvPr id="15" name="Rounded Rectangle 14"/>
          <p:cNvSpPr/>
          <p:nvPr/>
        </p:nvSpPr>
        <p:spPr>
          <a:xfrm>
            <a:off x="7016191" y="6345936"/>
            <a:ext cx="453542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31759" y="6396228"/>
            <a:ext cx="7607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1639"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8131759" y="6451092"/>
            <a:ext cx="760780" cy="219456"/>
          </a:xfrm>
          <a:prstGeom prst="rect">
            <a:avLst/>
          </a:prstGeom>
          <a:noFill/>
        </p:spPr>
        <p:txBody>
          <a:bodyPr wrap="none" lIns="0" rIns="0" tIns="0" bIns="0">
            <a:spAutoFit/>
          </a:bodyPr>
          <a:lstStyle/>
          <a:p>
            <a:pPr algn="ctr"/>
            <a:r>
              <a:rPr sz="1150" b="1" i="0">
                <a:solidFill>
                  <a:srgbClr val="FFFFFF"/>
                </a:solidFill>
                <a:latin typeface="Helvetica Neue"/>
              </a:rPr>
              <a:t>CELL 8</a:t>
            </a:r>
          </a:p>
        </p:txBody>
      </p:sp>
      <p:sp>
        <p:nvSpPr>
          <p:cNvPr id="19" name="TextBox 18"/>
          <p:cNvSpPr txBox="1"/>
          <p:nvPr/>
        </p:nvSpPr>
        <p:spPr>
          <a:xfrm>
            <a:off x="9020556" y="6460236"/>
            <a:ext cx="2421331" cy="219456"/>
          </a:xfrm>
          <a:prstGeom prst="rect">
            <a:avLst/>
          </a:prstGeom>
          <a:noFill/>
        </p:spPr>
        <p:txBody>
          <a:bodyPr wrap="none" lIns="0" rIns="0" tIns="0" bIns="0">
            <a:spAutoFit/>
          </a:bodyPr>
          <a:lstStyle/>
          <a:p>
            <a:pPr algn="l"/>
            <a:r>
              <a:rPr sz="1050" b="1" i="0">
                <a:solidFill>
                  <a:srgbClr val="FFFFFF"/>
                </a:solidFill>
                <a:latin typeface="Helvetica Neue"/>
              </a:rPr>
              <a:t>from tokens to ONE vector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INSIDE THAT ONE LINE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What actually happened inside bert(...)?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You just called a transformer and got vectors back. Ninety seconds on what it did with them.</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block.png"/>
          <p:cNvPicPr>
            <a:picLocks noChangeAspect="1"/>
          </p:cNvPicPr>
          <p:nvPr/>
        </p:nvPicPr>
        <p:blipFill>
          <a:blip r:embed="rId2"/>
          <a:stretch>
            <a:fillRect/>
          </a:stretch>
        </p:blipFill>
        <p:spPr>
          <a:xfrm>
            <a:off x="518007" y="2527701"/>
            <a:ext cx="11155680" cy="3146765"/>
          </a:xfrm>
          <a:prstGeom prst="rect">
            <a:avLst/>
          </a:prstGeom>
        </p:spPr>
      </p:pic>
      <p:sp>
        <p:nvSpPr>
          <p:cNvPr id="16" name="Rounded Rectangle 15"/>
          <p:cNvSpPr/>
          <p:nvPr/>
        </p:nvSpPr>
        <p:spPr>
          <a:xfrm>
            <a:off x="6641287" y="6345936"/>
            <a:ext cx="4910328"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56855" y="6396228"/>
            <a:ext cx="7607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96735"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9" name="TextBox 18"/>
          <p:cNvSpPr txBox="1"/>
          <p:nvPr/>
        </p:nvSpPr>
        <p:spPr>
          <a:xfrm>
            <a:off x="7756855" y="6451092"/>
            <a:ext cx="760780" cy="219456"/>
          </a:xfrm>
          <a:prstGeom prst="rect">
            <a:avLst/>
          </a:prstGeom>
          <a:noFill/>
        </p:spPr>
        <p:txBody>
          <a:bodyPr wrap="none" lIns="0" rIns="0" tIns="0" bIns="0">
            <a:spAutoFit/>
          </a:bodyPr>
          <a:lstStyle/>
          <a:p>
            <a:pPr algn="ctr"/>
            <a:r>
              <a:rPr sz="1150" b="1" i="0">
                <a:solidFill>
                  <a:srgbClr val="FFFFFF"/>
                </a:solidFill>
                <a:latin typeface="Helvetica Neue"/>
              </a:rPr>
              <a:t>CELL 9</a:t>
            </a:r>
          </a:p>
        </p:txBody>
      </p:sp>
      <p:sp>
        <p:nvSpPr>
          <p:cNvPr id="20" name="TextBox 19"/>
          <p:cNvSpPr txBox="1"/>
          <p:nvPr/>
        </p:nvSpPr>
        <p:spPr>
          <a:xfrm>
            <a:off x="8645652" y="6460236"/>
            <a:ext cx="2796235" cy="219456"/>
          </a:xfrm>
          <a:prstGeom prst="rect">
            <a:avLst/>
          </a:prstGeom>
          <a:noFill/>
        </p:spPr>
        <p:txBody>
          <a:bodyPr wrap="none" lIns="0" rIns="0" tIns="0" bIns="0">
            <a:spAutoFit/>
          </a:bodyPr>
          <a:lstStyle/>
          <a:p>
            <a:pPr algn="l"/>
            <a:r>
              <a:rPr sz="1050" b="1" i="0">
                <a:solidFill>
                  <a:srgbClr val="FFFFFF"/>
                </a:solidFill>
                <a:latin typeface="Helvetica Neue"/>
              </a:rPr>
              <a:t>what happened inside bert(...)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THE ATTENTION HALF</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A word absorbs the words around it.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"Plan" is a subscription tier in one ticket and an intention in another. Same word, same starting vector.</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context.png"/>
          <p:cNvPicPr>
            <a:picLocks noChangeAspect="1"/>
          </p:cNvPicPr>
          <p:nvPr/>
        </p:nvPicPr>
        <p:blipFill>
          <a:blip r:embed="rId2"/>
          <a:stretch>
            <a:fillRect/>
          </a:stretch>
        </p:blipFill>
        <p:spPr>
          <a:xfrm>
            <a:off x="2359116" y="2057400"/>
            <a:ext cx="7473461" cy="3886200"/>
          </a:xfrm>
          <a:prstGeom prst="rect">
            <a:avLst/>
          </a:prstGeom>
        </p:spPr>
      </p:pic>
      <p:sp>
        <p:nvSpPr>
          <p:cNvPr id="16" name="Rounded Rectangle 15"/>
          <p:cNvSpPr/>
          <p:nvPr/>
        </p:nvSpPr>
        <p:spPr>
          <a:xfrm>
            <a:off x="6941210" y="6345936"/>
            <a:ext cx="461040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056778" y="6396228"/>
            <a:ext cx="7607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96658"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9" name="TextBox 18"/>
          <p:cNvSpPr txBox="1"/>
          <p:nvPr/>
        </p:nvSpPr>
        <p:spPr>
          <a:xfrm>
            <a:off x="8056778" y="6451092"/>
            <a:ext cx="760780" cy="219456"/>
          </a:xfrm>
          <a:prstGeom prst="rect">
            <a:avLst/>
          </a:prstGeom>
          <a:noFill/>
        </p:spPr>
        <p:txBody>
          <a:bodyPr wrap="none" lIns="0" rIns="0" tIns="0" bIns="0">
            <a:spAutoFit/>
          </a:bodyPr>
          <a:lstStyle/>
          <a:p>
            <a:pPr algn="ctr"/>
            <a:r>
              <a:rPr sz="1150" b="1" i="0">
                <a:solidFill>
                  <a:srgbClr val="FFFFFF"/>
                </a:solidFill>
                <a:latin typeface="Helvetica Neue"/>
              </a:rPr>
              <a:t>CELL 9</a:t>
            </a:r>
          </a:p>
        </p:txBody>
      </p:sp>
      <p:sp>
        <p:nvSpPr>
          <p:cNvPr id="20" name="TextBox 19"/>
          <p:cNvSpPr txBox="1"/>
          <p:nvPr/>
        </p:nvSpPr>
        <p:spPr>
          <a:xfrm>
            <a:off x="8945575" y="6460236"/>
            <a:ext cx="2496312" cy="219456"/>
          </a:xfrm>
          <a:prstGeom prst="rect">
            <a:avLst/>
          </a:prstGeom>
          <a:noFill/>
        </p:spPr>
        <p:txBody>
          <a:bodyPr wrap="none" lIns="0" rIns="0" tIns="0" bIns="0">
            <a:spAutoFit/>
          </a:bodyPr>
          <a:lstStyle/>
          <a:p>
            <a:pPr algn="l"/>
            <a:r>
              <a:rPr sz="1050" b="1" i="0">
                <a:solidFill>
                  <a:srgbClr val="FFFFFF"/>
                </a:solidFill>
                <a:latin typeface="Helvetica Neue"/>
              </a:rPr>
              <a:t>the same word, two tickets</a:t>
            </a:r>
          </a:p>
        </p:txBody>
      </p:sp>
      <p:sp>
        <p:nvSpPr>
          <p:cNvPr id="21" name="TextBox 20"/>
          <p:cNvSpPr txBox="1"/>
          <p:nvPr/>
        </p:nvSpPr>
        <p:spPr>
          <a:xfrm>
            <a:off x="640080" y="5989320"/>
            <a:ext cx="10881360" cy="365760"/>
          </a:xfrm>
          <a:prstGeom prst="rect">
            <a:avLst/>
          </a:prstGeom>
          <a:noFill/>
        </p:spPr>
        <p:txBody>
          <a:bodyPr wrap="square" lIns="0" rIns="0" tIns="0" bIns="0">
            <a:spAutoFit/>
          </a:bodyPr>
          <a:lstStyle/>
          <a:p>
            <a:pPr algn="ctr"/>
            <a:r>
              <a:rPr sz="1500" b="0" i="1">
                <a:solidFill>
                  <a:srgbClr val="475569"/>
                </a:solidFill>
                <a:latin typeface="Helvetica Neue"/>
              </a:rPr>
              <a:t>Going in they are 0.93 alike. Twelve rounds later, 0.46. That gap is attention doing its job.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D97706"/>
                </a:solidFill>
                <a:latin typeface="Helvetica Neue"/>
              </a:rPr>
              <a:t>THE FEED-FORWARD HALF</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Where the model keeps what it knows.</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ffnknow.png"/>
          <p:cNvPicPr>
            <a:picLocks noChangeAspect="1"/>
          </p:cNvPicPr>
          <p:nvPr/>
        </p:nvPicPr>
        <p:blipFill>
          <a:blip r:embed="rId2"/>
          <a:stretch>
            <a:fillRect/>
          </a:stretch>
        </p:blipFill>
        <p:spPr>
          <a:xfrm>
            <a:off x="595740" y="1965960"/>
            <a:ext cx="11000214" cy="2862072"/>
          </a:xfrm>
          <a:prstGeom prst="rect">
            <a:avLst/>
          </a:prstGeom>
        </p:spPr>
      </p:pic>
      <p:sp>
        <p:nvSpPr>
          <p:cNvPr id="15" name="Rounded Rectangle 14"/>
          <p:cNvSpPr/>
          <p:nvPr/>
        </p:nvSpPr>
        <p:spPr>
          <a:xfrm>
            <a:off x="6341364" y="6345936"/>
            <a:ext cx="521025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456932"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6812"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7456932"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10</a:t>
            </a:r>
          </a:p>
        </p:txBody>
      </p:sp>
      <p:sp>
        <p:nvSpPr>
          <p:cNvPr id="19" name="TextBox 18"/>
          <p:cNvSpPr txBox="1"/>
          <p:nvPr/>
        </p:nvSpPr>
        <p:spPr>
          <a:xfrm>
            <a:off x="8420709" y="6460236"/>
            <a:ext cx="3021177" cy="219456"/>
          </a:xfrm>
          <a:prstGeom prst="rect">
            <a:avLst/>
          </a:prstGeom>
          <a:noFill/>
        </p:spPr>
        <p:txBody>
          <a:bodyPr wrap="none" lIns="0" rIns="0" tIns="0" bIns="0">
            <a:spAutoFit/>
          </a:bodyPr>
          <a:lstStyle/>
          <a:p>
            <a:pPr algn="l"/>
            <a:r>
              <a:rPr sz="1050" b="1" i="0">
                <a:solidFill>
                  <a:srgbClr val="FFFFFF"/>
                </a:solidFill>
                <a:latin typeface="Helvetica Neue"/>
              </a:rPr>
              <a:t>fill-mask + where the weights sit</a:t>
            </a:r>
          </a:p>
        </p:txBody>
      </p:sp>
      <p:pic>
        <p:nvPicPr>
          <p:cNvPr id="20" name="Picture 19" descr="fig_params.png"/>
          <p:cNvPicPr>
            <a:picLocks noChangeAspect="1"/>
          </p:cNvPicPr>
          <p:nvPr/>
        </p:nvPicPr>
        <p:blipFill>
          <a:blip r:embed="rId3"/>
          <a:stretch>
            <a:fillRect/>
          </a:stretch>
        </p:blipFill>
        <p:spPr>
          <a:xfrm>
            <a:off x="2209647" y="4956048"/>
            <a:ext cx="7772400" cy="1295400"/>
          </a:xfrm>
          <a:prstGeom prst="rect">
            <a:avLst/>
          </a:prstGeom>
        </p:spPr>
      </p:pic>
      <p:sp>
        <p:nvSpPr>
          <p:cNvPr id="21" name="TextBox 20"/>
          <p:cNvSpPr txBox="1"/>
          <p:nvPr/>
        </p:nvSpPr>
        <p:spPr>
          <a:xfrm>
            <a:off x="640080" y="6053328"/>
            <a:ext cx="10881360" cy="365760"/>
          </a:xfrm>
          <a:prstGeom prst="rect">
            <a:avLst/>
          </a:prstGeom>
          <a:noFill/>
        </p:spPr>
        <p:txBody>
          <a:bodyPr wrap="square" lIns="0" rIns="0" tIns="0" bIns="0">
            <a:spAutoFit/>
          </a:bodyPr>
          <a:lstStyle/>
          <a:p>
            <a:pPr algn="ctr"/>
            <a:r>
              <a:rPr sz="1500" b="0" i="1">
                <a:solidFill>
                  <a:srgbClr val="475569"/>
                </a:solidFill>
                <a:latin typeface="Helvetica Neue"/>
              </a:rPr>
              <a:t>Two thirds of every layer is feed-forward, only a third is attention. Attention gets the headlines; the knowledge lives next door.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Similarity is a multiplication.</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cosine.png"/>
          <p:cNvPicPr>
            <a:picLocks noChangeAspect="1"/>
          </p:cNvPicPr>
          <p:nvPr/>
        </p:nvPicPr>
        <p:blipFill>
          <a:blip r:embed="rId2"/>
          <a:stretch>
            <a:fillRect/>
          </a:stretch>
        </p:blipFill>
        <p:spPr>
          <a:xfrm>
            <a:off x="518007" y="2558318"/>
            <a:ext cx="11155680" cy="3067243"/>
          </a:xfrm>
          <a:prstGeom prst="rect">
            <a:avLst/>
          </a:prstGeom>
        </p:spPr>
      </p:pic>
      <p:sp>
        <p:nvSpPr>
          <p:cNvPr id="15" name="Rounded Rectangle 14"/>
          <p:cNvSpPr/>
          <p:nvPr/>
        </p:nvSpPr>
        <p:spPr>
          <a:xfrm>
            <a:off x="6341364" y="6345936"/>
            <a:ext cx="521025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456932"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6812"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7456932"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11</a:t>
            </a:r>
          </a:p>
        </p:txBody>
      </p:sp>
      <p:sp>
        <p:nvSpPr>
          <p:cNvPr id="19" name="TextBox 18"/>
          <p:cNvSpPr txBox="1"/>
          <p:nvPr/>
        </p:nvSpPr>
        <p:spPr>
          <a:xfrm>
            <a:off x="8420709" y="6460236"/>
            <a:ext cx="3021177" cy="219456"/>
          </a:xfrm>
          <a:prstGeom prst="rect">
            <a:avLst/>
          </a:prstGeom>
          <a:noFill/>
        </p:spPr>
        <p:txBody>
          <a:bodyPr wrap="none" lIns="0" rIns="0" tIns="0" bIns="0">
            <a:spAutoFit/>
          </a:bodyPr>
          <a:lstStyle/>
          <a:p>
            <a:pPr algn="l"/>
            <a:r>
              <a:rPr sz="1050" b="1" i="0">
                <a:solidFill>
                  <a:srgbClr val="FFFFFF"/>
                </a:solidFill>
                <a:latin typeface="Helvetica Neue"/>
              </a:rPr>
              <a:t>similarity is just multiplication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Search that finds what you meant.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earch.png"/>
          <p:cNvPicPr>
            <a:picLocks noChangeAspect="1"/>
          </p:cNvPicPr>
          <p:nvPr/>
        </p:nvPicPr>
        <p:blipFill>
          <a:blip r:embed="rId2"/>
          <a:stretch>
            <a:fillRect/>
          </a:stretch>
        </p:blipFill>
        <p:spPr>
          <a:xfrm>
            <a:off x="518007" y="2013030"/>
            <a:ext cx="11155680" cy="4157819"/>
          </a:xfrm>
          <a:prstGeom prst="rect">
            <a:avLst/>
          </a:prstGeom>
        </p:spPr>
      </p:pic>
      <p:sp>
        <p:nvSpPr>
          <p:cNvPr id="15" name="Rounded Rectangle 14"/>
          <p:cNvSpPr/>
          <p:nvPr/>
        </p:nvSpPr>
        <p:spPr>
          <a:xfrm>
            <a:off x="6941210" y="6345936"/>
            <a:ext cx="461040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56778" y="6396228"/>
            <a:ext cx="7607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96658"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8056778" y="6451092"/>
            <a:ext cx="760780" cy="219456"/>
          </a:xfrm>
          <a:prstGeom prst="rect">
            <a:avLst/>
          </a:prstGeom>
          <a:noFill/>
        </p:spPr>
        <p:txBody>
          <a:bodyPr wrap="none" lIns="0" rIns="0" tIns="0" bIns="0">
            <a:spAutoFit/>
          </a:bodyPr>
          <a:lstStyle/>
          <a:p>
            <a:pPr algn="ctr"/>
            <a:r>
              <a:rPr sz="1150" b="1" i="0">
                <a:solidFill>
                  <a:srgbClr val="FFFFFF"/>
                </a:solidFill>
                <a:latin typeface="Helvetica Neue"/>
              </a:rPr>
              <a:t>CELL 3</a:t>
            </a:r>
          </a:p>
        </p:txBody>
      </p:sp>
      <p:sp>
        <p:nvSpPr>
          <p:cNvPr id="19" name="TextBox 18"/>
          <p:cNvSpPr txBox="1"/>
          <p:nvPr/>
        </p:nvSpPr>
        <p:spPr>
          <a:xfrm>
            <a:off x="8945575" y="6460236"/>
            <a:ext cx="2496312" cy="219456"/>
          </a:xfrm>
          <a:prstGeom prst="rect">
            <a:avLst/>
          </a:prstGeom>
          <a:noFill/>
        </p:spPr>
        <p:txBody>
          <a:bodyPr wrap="none" lIns="0" rIns="0" tIns="0" bIns="0">
            <a:spAutoFit/>
          </a:bodyPr>
          <a:lstStyle/>
          <a:p>
            <a:pPr algn="l"/>
            <a:r>
              <a:rPr sz="1050" b="1" i="0">
                <a:solidFill>
                  <a:srgbClr val="FFFFFF"/>
                </a:solidFill>
                <a:latin typeface="Helvetica Neue"/>
              </a:rPr>
              <a:t>keyword vs semantic search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Nobody sorted these. Plot the vectors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60216" y="1965960"/>
            <a:ext cx="5671261" cy="4297679"/>
          </a:xfrm>
          <a:prstGeom prst="rect">
            <a:avLst/>
          </a:prstGeom>
        </p:spPr>
      </p:pic>
      <p:sp>
        <p:nvSpPr>
          <p:cNvPr id="16" name="Rounded Rectangle 15"/>
          <p:cNvSpPr/>
          <p:nvPr/>
        </p:nvSpPr>
        <p:spPr>
          <a:xfrm>
            <a:off x="7915960" y="6345936"/>
            <a:ext cx="363565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031528" y="6396228"/>
            <a:ext cx="760780"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71408"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9" name="TextBox 18"/>
          <p:cNvSpPr txBox="1"/>
          <p:nvPr/>
        </p:nvSpPr>
        <p:spPr>
          <a:xfrm>
            <a:off x="9031528" y="6451092"/>
            <a:ext cx="760780" cy="219456"/>
          </a:xfrm>
          <a:prstGeom prst="rect">
            <a:avLst/>
          </a:prstGeom>
          <a:noFill/>
        </p:spPr>
        <p:txBody>
          <a:bodyPr wrap="none" lIns="0" rIns="0" tIns="0" bIns="0">
            <a:spAutoFit/>
          </a:bodyPr>
          <a:lstStyle/>
          <a:p>
            <a:pPr algn="ctr"/>
            <a:r>
              <a:rPr sz="1150" b="1" i="0">
                <a:solidFill>
                  <a:srgbClr val="FFFFFF"/>
                </a:solidFill>
                <a:latin typeface="Helvetica Neue"/>
              </a:rPr>
              <a:t>CELL 5</a:t>
            </a:r>
          </a:p>
        </p:txBody>
      </p:sp>
      <p:sp>
        <p:nvSpPr>
          <p:cNvPr id="20" name="TextBox 19"/>
          <p:cNvSpPr txBox="1"/>
          <p:nvPr/>
        </p:nvSpPr>
        <p:spPr>
          <a:xfrm>
            <a:off x="9920325" y="6460236"/>
            <a:ext cx="1521561" cy="219456"/>
          </a:xfrm>
          <a:prstGeom prst="rect">
            <a:avLst/>
          </a:prstGeom>
          <a:noFill/>
        </p:spPr>
        <p:txBody>
          <a:bodyPr wrap="none" lIns="0" rIns="0" tIns="0" bIns="0">
            <a:spAutoFit/>
          </a:bodyPr>
          <a:lstStyle/>
          <a:p>
            <a:pPr algn="l"/>
            <a:r>
              <a:rPr sz="1050" b="1" i="0">
                <a:solidFill>
                  <a:srgbClr val="FFFFFF"/>
                </a:solidFill>
                <a:latin typeface="Helvetica Neue"/>
              </a:rPr>
              <a:t>the inbox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Sort the inbox with no training data at all.</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791248" y="6345936"/>
            <a:ext cx="4760366"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06816"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6696"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7906816"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13</a:t>
            </a:r>
          </a:p>
        </p:txBody>
      </p:sp>
      <p:sp>
        <p:nvSpPr>
          <p:cNvPr id="19" name="TextBox 18"/>
          <p:cNvSpPr txBox="1"/>
          <p:nvPr/>
        </p:nvSpPr>
        <p:spPr>
          <a:xfrm>
            <a:off x="8870594" y="6460236"/>
            <a:ext cx="2571292" cy="219456"/>
          </a:xfrm>
          <a:prstGeom prst="rect">
            <a:avLst/>
          </a:prstGeom>
          <a:noFill/>
        </p:spPr>
        <p:txBody>
          <a:bodyPr wrap="none" lIns="0" rIns="0" tIns="0" bIns="0">
            <a:spAutoFit/>
          </a:bodyPr>
          <a:lstStyle/>
          <a:p>
            <a:pPr algn="l"/>
            <a:r>
              <a:rPr sz="1050" b="1" i="0">
                <a:solidFill>
                  <a:srgbClr val="FFFFFF"/>
                </a:solidFill>
                <a:latin typeface="Helvetica Neue"/>
              </a:rPr>
              <a:t>route with no training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7241133" y="6345936"/>
            <a:ext cx="4310481"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56701"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96581"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9" name="TextBox 18"/>
          <p:cNvSpPr txBox="1"/>
          <p:nvPr/>
        </p:nvSpPr>
        <p:spPr>
          <a:xfrm>
            <a:off x="8356701"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17</a:t>
            </a:r>
          </a:p>
        </p:txBody>
      </p:sp>
      <p:sp>
        <p:nvSpPr>
          <p:cNvPr id="20" name="TextBox 19"/>
          <p:cNvSpPr txBox="1"/>
          <p:nvPr/>
        </p:nvSpPr>
        <p:spPr>
          <a:xfrm>
            <a:off x="9320479" y="6460236"/>
            <a:ext cx="2121408" cy="219456"/>
          </a:xfrm>
          <a:prstGeom prst="rect">
            <a:avLst/>
          </a:prstGeom>
          <a:noFill/>
        </p:spPr>
        <p:txBody>
          <a:bodyPr wrap="none" lIns="0" rIns="0" tIns="0" bIns="0">
            <a:spAutoFit/>
          </a:bodyPr>
          <a:lstStyle/>
          <a:p>
            <a:pPr algn="l"/>
            <a:r>
              <a:rPr sz="1050" b="1" i="0">
                <a:solidFill>
                  <a:srgbClr val="FFFFFF"/>
                </a:solidFill>
                <a:latin typeface="Helvetica Neue"/>
              </a:rPr>
              <a:t>the entailment scores</a:t>
            </a:r>
          </a:p>
        </p:txBody>
      </p:sp>
      <p:sp>
        <p:nvSpPr>
          <p:cNvPr id="21" name="TextBox 20"/>
          <p:cNvSpPr txBox="1"/>
          <p:nvPr/>
        </p:nvSpPr>
        <p:spPr>
          <a:xfrm>
            <a:off x="640080" y="5532120"/>
            <a:ext cx="10881360" cy="640080"/>
          </a:xfrm>
          <a:prstGeom prst="rect">
            <a:avLst/>
          </a:prstGeom>
          <a:noFill/>
        </p:spPr>
        <p:txBody>
          <a:bodyPr wrap="square" lIns="0" rIns="0" tIns="0" bIns="0">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Underneath the one-line pipeline.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nlicode.png"/>
          <p:cNvPicPr>
            <a:picLocks noChangeAspect="1"/>
          </p:cNvPicPr>
          <p:nvPr/>
        </p:nvPicPr>
        <p:blipFill>
          <a:blip r:embed="rId2"/>
          <a:stretch>
            <a:fillRect/>
          </a:stretch>
        </p:blipFill>
        <p:spPr>
          <a:xfrm>
            <a:off x="518007" y="2612278"/>
            <a:ext cx="11155680" cy="2959322"/>
          </a:xfrm>
          <a:prstGeom prst="rect">
            <a:avLst/>
          </a:prstGeom>
        </p:spPr>
      </p:pic>
      <p:sp>
        <p:nvSpPr>
          <p:cNvPr id="15" name="Rounded Rectangle 14"/>
          <p:cNvSpPr/>
          <p:nvPr/>
        </p:nvSpPr>
        <p:spPr>
          <a:xfrm>
            <a:off x="6866229" y="6345936"/>
            <a:ext cx="4685385"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81797"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21677"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7981797"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17</a:t>
            </a:r>
          </a:p>
        </p:txBody>
      </p:sp>
      <p:sp>
        <p:nvSpPr>
          <p:cNvPr id="19" name="TextBox 18"/>
          <p:cNvSpPr txBox="1"/>
          <p:nvPr/>
        </p:nvSpPr>
        <p:spPr>
          <a:xfrm>
            <a:off x="8945575" y="6460236"/>
            <a:ext cx="2496312" cy="219456"/>
          </a:xfrm>
          <a:prstGeom prst="rect">
            <a:avLst/>
          </a:prstGeom>
          <a:noFill/>
        </p:spPr>
        <p:txBody>
          <a:bodyPr wrap="none" lIns="0" rIns="0" tIns="0" bIns="0">
            <a:spAutoFit/>
          </a:bodyPr>
          <a:lstStyle/>
          <a:p>
            <a:pPr algn="l"/>
            <a:r>
              <a:rPr sz="1050" b="1" i="0">
                <a:solidFill>
                  <a:srgbClr val="FFFFFF"/>
                </a:solidFill>
                <a:latin typeface="Helvetica Neue"/>
              </a:rPr>
              <a:t>same cell, read the logits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The descriptions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lIns="0" rIns="0" tIns="0" bIns="0">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791248" y="6345936"/>
            <a:ext cx="4760366"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06816"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6696"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7906816"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16</a:t>
            </a:r>
          </a:p>
        </p:txBody>
      </p:sp>
      <p:sp>
        <p:nvSpPr>
          <p:cNvPr id="19" name="TextBox 18"/>
          <p:cNvSpPr txBox="1"/>
          <p:nvPr/>
        </p:nvSpPr>
        <p:spPr>
          <a:xfrm>
            <a:off x="8870594" y="6460236"/>
            <a:ext cx="2571292" cy="219456"/>
          </a:xfrm>
          <a:prstGeom prst="rect">
            <a:avLst/>
          </a:prstGeom>
          <a:noFill/>
        </p:spPr>
        <p:txBody>
          <a:bodyPr wrap="none" lIns="0" rIns="0" tIns="0" bIns="0">
            <a:spAutoFit/>
          </a:bodyPr>
          <a:lstStyle/>
          <a:p>
            <a:pPr algn="l"/>
            <a:r>
              <a:rPr sz="1050" b="1" i="0">
                <a:solidFill>
                  <a:srgbClr val="FFFFFF"/>
                </a:solidFill>
                <a:latin typeface="Helvetica Neue"/>
              </a:rPr>
              <a:t>YOUR KNOB: the descriptions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541056" y="6345936"/>
            <a:ext cx="4010558"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56624"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6504"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9" name="TextBox 18"/>
          <p:cNvSpPr txBox="1"/>
          <p:nvPr/>
        </p:nvSpPr>
        <p:spPr>
          <a:xfrm>
            <a:off x="8656624"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18</a:t>
            </a:r>
          </a:p>
        </p:txBody>
      </p:sp>
      <p:sp>
        <p:nvSpPr>
          <p:cNvPr id="20" name="TextBox 19"/>
          <p:cNvSpPr txBox="1"/>
          <p:nvPr/>
        </p:nvSpPr>
        <p:spPr>
          <a:xfrm>
            <a:off x="9620402" y="6460236"/>
            <a:ext cx="1821484" cy="219456"/>
          </a:xfrm>
          <a:prstGeom prst="rect">
            <a:avLst/>
          </a:prstGeom>
          <a:noFill/>
        </p:spPr>
        <p:txBody>
          <a:bodyPr wrap="none" lIns="0" rIns="0" tIns="0" bIns="0">
            <a:spAutoFit/>
          </a:bodyPr>
          <a:lstStyle/>
          <a:p>
            <a:pPr algn="l"/>
            <a:r>
              <a:rPr sz="1050" b="1" i="0">
                <a:solidFill>
                  <a:srgbClr val="FFFFFF"/>
                </a:solidFill>
                <a:latin typeface="Helvetica Neue"/>
              </a:rPr>
              <a:t>per-bucket recall</a:t>
            </a:r>
          </a:p>
        </p:txBody>
      </p:sp>
      <p:sp>
        <p:nvSpPr>
          <p:cNvPr id="21" name="TextBox 20"/>
          <p:cNvSpPr txBox="1"/>
          <p:nvPr/>
        </p:nvSpPr>
        <p:spPr>
          <a:xfrm>
            <a:off x="640080" y="6080760"/>
            <a:ext cx="10881360" cy="365760"/>
          </a:xfrm>
          <a:prstGeom prst="rect">
            <a:avLst/>
          </a:prstGeom>
          <a:noFill/>
        </p:spPr>
        <p:txBody>
          <a:bodyPr wrap="square" lIns="0" rIns="0" tIns="0" bIns="0">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7316114" y="6345936"/>
            <a:ext cx="4235500"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31682"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1562"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8431682"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19</a:t>
            </a:r>
          </a:p>
        </p:txBody>
      </p:sp>
      <p:sp>
        <p:nvSpPr>
          <p:cNvPr id="19" name="TextBox 18"/>
          <p:cNvSpPr txBox="1"/>
          <p:nvPr/>
        </p:nvSpPr>
        <p:spPr>
          <a:xfrm>
            <a:off x="9395460" y="6460236"/>
            <a:ext cx="2046427" cy="219456"/>
          </a:xfrm>
          <a:prstGeom prst="rect">
            <a:avLst/>
          </a:prstGeom>
          <a:noFill/>
        </p:spPr>
        <p:txBody>
          <a:bodyPr wrap="none" lIns="0" rIns="0" tIns="0" bIns="0">
            <a:spAutoFit/>
          </a:bodyPr>
          <a:lstStyle/>
          <a:p>
            <a:pPr algn="l"/>
            <a:r>
              <a:rPr sz="1050" b="1" i="0">
                <a:solidFill>
                  <a:srgbClr val="FFFFFF"/>
                </a:solidFill>
                <a:latin typeface="Helvetica Neue"/>
              </a:rPr>
              <a:t>the off-topic ticket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Give the model a way to say "I don't know".</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4" name="Picture 13" descr="d_fixes.png"/>
          <p:cNvPicPr>
            <a:picLocks noChangeAspect="1"/>
          </p:cNvPicPr>
          <p:nvPr/>
        </p:nvPicPr>
        <p:blipFill>
          <a:blip r:embed="rId2"/>
          <a:stretch>
            <a:fillRect/>
          </a:stretch>
        </p:blipFill>
        <p:spPr>
          <a:xfrm>
            <a:off x="518007" y="2175052"/>
            <a:ext cx="11155680" cy="3879495"/>
          </a:xfrm>
          <a:prstGeom prst="rect">
            <a:avLst/>
          </a:prstGeom>
        </p:spPr>
      </p:pic>
      <p:sp>
        <p:nvSpPr>
          <p:cNvPr id="15" name="Rounded Rectangle 14"/>
          <p:cNvSpPr/>
          <p:nvPr/>
        </p:nvSpPr>
        <p:spPr>
          <a:xfrm>
            <a:off x="7616037" y="6345936"/>
            <a:ext cx="3935577"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731605"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1485"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18" name="TextBox 17"/>
          <p:cNvSpPr txBox="1"/>
          <p:nvPr/>
        </p:nvSpPr>
        <p:spPr>
          <a:xfrm>
            <a:off x="8731605"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20</a:t>
            </a:r>
          </a:p>
        </p:txBody>
      </p:sp>
      <p:sp>
        <p:nvSpPr>
          <p:cNvPr id="19" name="TextBox 18"/>
          <p:cNvSpPr txBox="1"/>
          <p:nvPr/>
        </p:nvSpPr>
        <p:spPr>
          <a:xfrm>
            <a:off x="9695383" y="6460236"/>
            <a:ext cx="1746504" cy="219456"/>
          </a:xfrm>
          <a:prstGeom prst="rect">
            <a:avLst/>
          </a:prstGeom>
          <a:noFill/>
        </p:spPr>
        <p:txBody>
          <a:bodyPr wrap="none" lIns="0" rIns="0" tIns="0" bIns="0">
            <a:spAutoFit/>
          </a:bodyPr>
          <a:lstStyle/>
          <a:p>
            <a:pPr algn="l"/>
            <a:r>
              <a:rPr sz="1050" b="1" i="0">
                <a:solidFill>
                  <a:srgbClr val="FFFFFF"/>
                </a:solidFill>
                <a:latin typeface="Helvetica Neue"/>
              </a:rPr>
              <a:t>the two defences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lIns="0" rIns="0" tIns="0" bIns="0">
            <a:spAutoFit/>
          </a:bodyPr>
          <a:lstStyle/>
          <a:p>
            <a:pPr algn="l"/>
            <a:r>
              <a:rPr sz="2900" b="1" i="0">
                <a:solidFill>
                  <a:srgbClr val="0F172A"/>
                </a:solidFill>
                <a:latin typeface="Helvetica Neue"/>
              </a:rPr>
              <a:t>This curve is the business decision.</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There is no setting that maximises both. Where you stand on it is a judgement about cost.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lIns="0" rIns="0" tIns="0" bIns="0">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lIns="0" rIns="0" tIns="0" bIns="0">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15" name="Picture 14" descr="fig_threshold.png"/>
          <p:cNvPicPr>
            <a:picLocks noChangeAspect="1"/>
          </p:cNvPicPr>
          <p:nvPr/>
        </p:nvPicPr>
        <p:blipFill>
          <a:blip r:embed="rId2"/>
          <a:stretch>
            <a:fillRect/>
          </a:stretch>
        </p:blipFill>
        <p:spPr>
          <a:xfrm>
            <a:off x="566928" y="2057400"/>
            <a:ext cx="5505013" cy="3657600"/>
          </a:xfrm>
          <a:prstGeom prst="rect">
            <a:avLst/>
          </a:prstGeom>
        </p:spPr>
      </p:pic>
      <p:sp>
        <p:nvSpPr>
          <p:cNvPr id="16" name="Rounded Rectangle 15"/>
          <p:cNvSpPr/>
          <p:nvPr/>
        </p:nvSpPr>
        <p:spPr>
          <a:xfrm>
            <a:off x="7269480" y="2377440"/>
            <a:ext cx="4297680" cy="2944368"/>
          </a:xfrm>
          <a:prstGeom prst="roundRect">
            <a:avLst/>
          </a:prstGeom>
          <a:solidFill>
            <a:srgbClr val="F8FA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43800" y="2578608"/>
            <a:ext cx="3840480" cy="274320"/>
          </a:xfrm>
          <a:prstGeom prst="rect">
            <a:avLst/>
          </a:prstGeom>
          <a:noFill/>
        </p:spPr>
        <p:txBody>
          <a:bodyPr wrap="square" lIns="0" rIns="0" tIns="0" bIns="0">
            <a:spAutoFit/>
          </a:bodyPr>
          <a:lstStyle/>
          <a:p>
            <a:pPr algn="l"/>
            <a:r>
              <a:rPr sz="1150" b="1" i="0" spc="180">
                <a:solidFill>
                  <a:srgbClr val="047857"/>
                </a:solidFill>
                <a:latin typeface="Helvetica Neue"/>
              </a:rPr>
              <a:t>SET IT AT 0.90 AND SHIP</a:t>
            </a:r>
          </a:p>
        </p:txBody>
      </p:sp>
      <p:sp>
        <p:nvSpPr>
          <p:cNvPr id="18" name="TextBox 17"/>
          <p:cNvSpPr txBox="1"/>
          <p:nvPr/>
        </p:nvSpPr>
        <p:spPr>
          <a:xfrm>
            <a:off x="7543800" y="2926080"/>
            <a:ext cx="3840480" cy="438912"/>
          </a:xfrm>
          <a:prstGeom prst="rect">
            <a:avLst/>
          </a:prstGeom>
          <a:noFill/>
        </p:spPr>
        <p:txBody>
          <a:bodyPr wrap="square" lIns="0" rIns="0" tIns="0" bIns="0">
            <a:spAutoFit/>
          </a:bodyPr>
          <a:lstStyle/>
          <a:p>
            <a:pPr algn="l"/>
            <a:r>
              <a:rPr sz="2900" b="1" i="0">
                <a:solidFill>
                  <a:srgbClr val="0F172A"/>
                </a:solidFill>
                <a:latin typeface="Helvetica Neue"/>
              </a:rPr>
              <a:t>39%</a:t>
            </a:r>
          </a:p>
        </p:txBody>
      </p:sp>
      <p:sp>
        <p:nvSpPr>
          <p:cNvPr id="19" name="TextBox 18"/>
          <p:cNvSpPr txBox="1"/>
          <p:nvPr/>
        </p:nvSpPr>
        <p:spPr>
          <a:xfrm>
            <a:off x="7543800" y="3310128"/>
            <a:ext cx="3886200" cy="365760"/>
          </a:xfrm>
          <a:prstGeom prst="rect">
            <a:avLst/>
          </a:prstGeom>
          <a:noFill/>
        </p:spPr>
        <p:txBody>
          <a:bodyPr wrap="square" lIns="0" rIns="0" tIns="0" bIns="0">
            <a:spAutoFit/>
          </a:bodyPr>
          <a:lstStyle/>
          <a:p>
            <a:pPr algn="l"/>
            <a:r>
              <a:rPr sz="1300" b="0" i="0">
                <a:solidFill>
                  <a:srgbClr val="475569"/>
                </a:solidFill>
                <a:latin typeface="Helvetica Neue"/>
              </a:rPr>
              <a:t>of the inbox handled automatically</a:t>
            </a:r>
          </a:p>
        </p:txBody>
      </p:sp>
      <p:sp>
        <p:nvSpPr>
          <p:cNvPr id="20" name="TextBox 19"/>
          <p:cNvSpPr txBox="1"/>
          <p:nvPr/>
        </p:nvSpPr>
        <p:spPr>
          <a:xfrm>
            <a:off x="7543800" y="3730752"/>
            <a:ext cx="3840480" cy="438912"/>
          </a:xfrm>
          <a:prstGeom prst="rect">
            <a:avLst/>
          </a:prstGeom>
          <a:noFill/>
        </p:spPr>
        <p:txBody>
          <a:bodyPr wrap="square" lIns="0" rIns="0" tIns="0" bIns="0">
            <a:spAutoFit/>
          </a:bodyPr>
          <a:lstStyle/>
          <a:p>
            <a:pPr algn="l"/>
            <a:r>
              <a:rPr sz="2900" b="1" i="0">
                <a:solidFill>
                  <a:srgbClr val="0F172A"/>
                </a:solidFill>
                <a:latin typeface="Helvetica Neue"/>
              </a:rPr>
              <a:t>87%</a:t>
            </a:r>
          </a:p>
        </p:txBody>
      </p:sp>
      <p:sp>
        <p:nvSpPr>
          <p:cNvPr id="21" name="TextBox 20"/>
          <p:cNvSpPr txBox="1"/>
          <p:nvPr/>
        </p:nvSpPr>
        <p:spPr>
          <a:xfrm>
            <a:off x="7543800" y="4114800"/>
            <a:ext cx="3886200" cy="365760"/>
          </a:xfrm>
          <a:prstGeom prst="rect">
            <a:avLst/>
          </a:prstGeom>
          <a:noFill/>
        </p:spPr>
        <p:txBody>
          <a:bodyPr wrap="square" lIns="0" rIns="0" tIns="0" bIns="0">
            <a:spAutoFit/>
          </a:bodyPr>
          <a:lstStyle/>
          <a:p>
            <a:pPr algn="l"/>
            <a:r>
              <a:rPr sz="1300" b="0" i="0">
                <a:solidFill>
                  <a:srgbClr val="475569"/>
                </a:solidFill>
                <a:latin typeface="Helvetica Neue"/>
              </a:rPr>
              <a:t>accurate on those decisions</a:t>
            </a:r>
          </a:p>
        </p:txBody>
      </p:sp>
      <p:sp>
        <p:nvSpPr>
          <p:cNvPr id="22" name="TextBox 21"/>
          <p:cNvSpPr txBox="1"/>
          <p:nvPr/>
        </p:nvSpPr>
        <p:spPr>
          <a:xfrm>
            <a:off x="7543800" y="4535424"/>
            <a:ext cx="3840480" cy="438912"/>
          </a:xfrm>
          <a:prstGeom prst="rect">
            <a:avLst/>
          </a:prstGeom>
          <a:noFill/>
        </p:spPr>
        <p:txBody>
          <a:bodyPr wrap="square" lIns="0" rIns="0" tIns="0" bIns="0">
            <a:spAutoFit/>
          </a:bodyPr>
          <a:lstStyle/>
          <a:p>
            <a:pPr algn="l"/>
            <a:r>
              <a:rPr sz="2900" b="1" i="0">
                <a:solidFill>
                  <a:srgbClr val="0F172A"/>
                </a:solidFill>
                <a:latin typeface="Helvetica Neue"/>
              </a:rPr>
              <a:t>~1,937</a:t>
            </a:r>
          </a:p>
        </p:txBody>
      </p:sp>
      <p:sp>
        <p:nvSpPr>
          <p:cNvPr id="23" name="TextBox 22"/>
          <p:cNvSpPr txBox="1"/>
          <p:nvPr/>
        </p:nvSpPr>
        <p:spPr>
          <a:xfrm>
            <a:off x="7543800" y="4919472"/>
            <a:ext cx="3886200" cy="365760"/>
          </a:xfrm>
          <a:prstGeom prst="rect">
            <a:avLst/>
          </a:prstGeom>
          <a:noFill/>
        </p:spPr>
        <p:txBody>
          <a:bodyPr wrap="square" lIns="0" rIns="0" tIns="0" bIns="0">
            <a:spAutoFit/>
          </a:bodyPr>
          <a:lstStyle/>
          <a:p>
            <a:pPr algn="l"/>
            <a:r>
              <a:rPr sz="1300" b="0" i="0">
                <a:solidFill>
                  <a:srgbClr val="475569"/>
                </a:solidFill>
                <a:latin typeface="Helvetica Neue"/>
              </a:rPr>
              <a:t>tickets a week nobody has to touch</a:t>
            </a:r>
          </a:p>
        </p:txBody>
      </p:sp>
      <p:sp>
        <p:nvSpPr>
          <p:cNvPr id="24" name="Rounded Rectangle 23"/>
          <p:cNvSpPr/>
          <p:nvPr/>
        </p:nvSpPr>
        <p:spPr>
          <a:xfrm>
            <a:off x="7016191" y="6345936"/>
            <a:ext cx="4535424" cy="365760"/>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131759" y="6396228"/>
            <a:ext cx="835761" cy="265176"/>
          </a:xfrm>
          <a:prstGeom prst="roundRect">
            <a:avLst>
              <a:gd name="adj" fmla="val 44000"/>
            </a:avLst>
          </a:prstGeom>
          <a:solidFill>
            <a:srgbClr val="064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1639" y="6460236"/>
            <a:ext cx="1024128" cy="219456"/>
          </a:xfrm>
          <a:prstGeom prst="rect">
            <a:avLst/>
          </a:prstGeom>
          <a:noFill/>
        </p:spPr>
        <p:txBody>
          <a:bodyPr wrap="none" lIns="0" rIns="0" tIns="0" bIns="0">
            <a:spAutoFit/>
          </a:bodyPr>
          <a:lstStyle/>
          <a:p>
            <a:pPr algn="l"/>
            <a:r>
              <a:rPr sz="1000" b="1" i="0">
                <a:solidFill>
                  <a:srgbClr val="A7F3D0"/>
                </a:solidFill>
                <a:latin typeface="Helvetica Neue"/>
              </a:rPr>
              <a:t>▶ NOTEBOOK</a:t>
            </a:r>
          </a:p>
        </p:txBody>
      </p:sp>
      <p:sp>
        <p:nvSpPr>
          <p:cNvPr id="27" name="TextBox 26"/>
          <p:cNvSpPr txBox="1"/>
          <p:nvPr/>
        </p:nvSpPr>
        <p:spPr>
          <a:xfrm>
            <a:off x="8131759" y="6451092"/>
            <a:ext cx="835761" cy="219456"/>
          </a:xfrm>
          <a:prstGeom prst="rect">
            <a:avLst/>
          </a:prstGeom>
          <a:noFill/>
        </p:spPr>
        <p:txBody>
          <a:bodyPr wrap="none" lIns="0" rIns="0" tIns="0" bIns="0">
            <a:spAutoFit/>
          </a:bodyPr>
          <a:lstStyle/>
          <a:p>
            <a:pPr algn="ctr"/>
            <a:r>
              <a:rPr sz="1150" b="1" i="0">
                <a:solidFill>
                  <a:srgbClr val="FFFFFF"/>
                </a:solidFill>
                <a:latin typeface="Helvetica Neue"/>
              </a:rPr>
              <a:t>CELL 21</a:t>
            </a:r>
          </a:p>
        </p:txBody>
      </p:sp>
      <p:sp>
        <p:nvSpPr>
          <p:cNvPr id="28" name="TextBox 27"/>
          <p:cNvSpPr txBox="1"/>
          <p:nvPr/>
        </p:nvSpPr>
        <p:spPr>
          <a:xfrm>
            <a:off x="9095536" y="6460236"/>
            <a:ext cx="2346350" cy="219456"/>
          </a:xfrm>
          <a:prstGeom prst="rect">
            <a:avLst/>
          </a:prstGeom>
          <a:noFill/>
        </p:spPr>
        <p:txBody>
          <a:bodyPr wrap="none" lIns="0" rIns="0" tIns="0" bIns="0">
            <a:spAutoFit/>
          </a:bodyPr>
          <a:lstStyle/>
          <a:p>
            <a:pPr algn="l"/>
            <a:r>
              <a:rPr sz="1050" b="1" i="0">
                <a:solidFill>
                  <a:srgbClr val="FFFFFF"/>
                </a:solidFill>
                <a:latin typeface="Helvetica Neue"/>
              </a:rPr>
              <a:t>YOUR KNOB: the threshold</a:t>
            </a:r>
          </a:p>
        </p:txBody>
      </p:sp>
      <p:sp>
        <p:nvSpPr>
          <p:cNvPr id="29" name="TextBox 28"/>
          <p:cNvSpPr txBox="1"/>
          <p:nvPr/>
        </p:nvSpPr>
        <p:spPr>
          <a:xfrm>
            <a:off x="640080" y="6035040"/>
            <a:ext cx="10881360" cy="365760"/>
          </a:xfrm>
          <a:prstGeom prst="rect">
            <a:avLst/>
          </a:prstGeom>
          <a:noFill/>
        </p:spPr>
        <p:txBody>
          <a:bodyPr wrap="square" lIns="0" rIns="0" tIns="0" bIns="0">
            <a:spAutoFit/>
          </a:bodyPr>
          <a:lstStyle/>
          <a:p>
            <a:pPr algn="ctr"/>
            <a:r>
              <a:rPr sz="1500" b="0" i="1">
                <a:solidFill>
                  <a:srgbClr val="475569"/>
                </a:solidFill>
                <a:latin typeface="Helvetica Neue"/>
              </a:rPr>
              <a:t>"We can automate 39% of the inbox at 87% accuracy, or cover far more and be less right." That is a decision an executive can actually make.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No training data. No training run. No GPU bill. One afternoon.</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20450"/>
            <a:ext cx="11155680" cy="1885778"/>
          </a:xfrm>
          <a:prstGeom prst="rect">
            <a:avLst/>
          </a:prstGeom>
        </p:spPr>
      </p:pic>
      <p:sp>
        <p:nvSpPr>
          <p:cNvPr id="7" name="TextBox 6"/>
          <p:cNvSpPr txBox="1"/>
          <p:nvPr/>
        </p:nvSpPr>
        <p:spPr>
          <a:xfrm>
            <a:off x="640080" y="5715000"/>
            <a:ext cx="10881360" cy="548640"/>
          </a:xfrm>
          <a:prstGeom prst="rect">
            <a:avLst/>
          </a:prstGeom>
          <a:noFill/>
        </p:spPr>
        <p:txBody>
          <a:bodyPr wrap="square" lIns="0" rIns="0" tIns="0" bIns="0">
            <a:spAutoFit/>
          </a:bodyPr>
          <a:lstStyle/>
          <a:p>
            <a:pPr algn="ctr"/>
            <a:r>
              <a:rPr sz="1700" b="0" i="1">
                <a:solidFill>
                  <a:srgbClr val="0F172A"/>
                </a:solidFill>
                <a:latin typeface="Helvetica Neue"/>
              </a:rPr>
              <a:t>Someone else already spent millions teaching a model to read English. Your job is not to build intelligence. It is to point it at your problem, cheaply, and know where it breaks.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lIns="0" rIns="0" tIns="0" bIns="0">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lIns="0" rIns="0" tIns="0" bIns="0">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685800"/>
          </a:xfrm>
          <a:prstGeom prst="rect">
            <a:avLst/>
          </a:prstGeom>
          <a:noFill/>
        </p:spPr>
        <p:txBody>
          <a:bodyPr wrap="square" lIns="0" rIns="0" tIns="0" bIns="0">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lIns="0" rIns="0" tIns="0" bIns="0">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lIns="0" rIns="0" tIns="0" bIns="0">
            <a:spAutoFit/>
          </a:bodyPr>
          <a:lstStyle/>
          <a:p>
            <a:pPr algn="l"/>
            <a:r>
              <a:rPr sz="2100" b="1" i="0">
                <a:solidFill>
                  <a:srgbClr val="0F172A"/>
                </a:solidFill>
                <a:latin typeface="Helvetica Neue"/>
              </a:rPr>
              <a:t>What if we DO sort them by hand?</a:t>
            </a:r>
          </a:p>
        </p:txBody>
      </p:sp>
      <p:sp>
        <p:nvSpPr>
          <p:cNvPr id="7" name="TextBox 6"/>
          <p:cNvSpPr txBox="1"/>
          <p:nvPr/>
        </p:nvSpPr>
        <p:spPr>
          <a:xfrm>
            <a:off x="896112" y="2532888"/>
            <a:ext cx="9875520" cy="365760"/>
          </a:xfrm>
          <a:prstGeom prst="rect">
            <a:avLst/>
          </a:prstGeom>
          <a:noFill/>
        </p:spPr>
        <p:txBody>
          <a:bodyPr wrap="square" lIns="0" rIns="0" tIns="0" bIns="0">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lIns="0" rIns="0" tIns="0" bIns="0">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lIns="0" rIns="0" tIns="0" bIns="0">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lIns="0" rIns="0" tIns="0" bIns="0">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lIns="0" rIns="0" tIns="0" bIns="0">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lIns="0" rIns="0" tIns="0" bIns="0">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lIns="0" rIns="0" tIns="0" bIns="0">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lIns="0" rIns="0" tIns="0" bIns="0">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