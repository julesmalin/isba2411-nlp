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eb.stanford.edu/~jurafsky/slp3/" TargetMode="External"/><Relationship Id="rId4" Type="http://schemas.openxmlformats.org/officeDocument/2006/relationships/hyperlink" Target="https://github.com/HandsOnLLM/Hands-On-Large-Language-Models" TargetMode="External"/><Relationship Id="rId5" Type="http://schemas.openxmlformats.org/officeDocument/2006/relationships/hyperlink" Target="https://github.com/nlp-with-transformers/notebooks" TargetMode="External"/><Relationship Id="rId6" Type="http://schemas.openxmlformats.org/officeDocument/2006/relationships/hyperlink" Target="https://arxiv.org/abs/1706.03762" TargetMode="External"/><Relationship Id="rId7" Type="http://schemas.openxmlformats.org/officeDocument/2006/relationships/hyperlink" Target="https://arxiv.org/abs/1810.04805" TargetMode="External"/><Relationship Id="rId8" Type="http://schemas.openxmlformats.org/officeDocument/2006/relationships/hyperlink" Target="https://arxiv.org/abs/1907.11692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468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250">
                <a:solidFill>
                  <a:srgbClr val="4F46E5"/>
                </a:solidFill>
                <a:latin typeface="Helvetica Neue"/>
              </a:rPr>
              <a:t>WEEK 7 · 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F172A"/>
                </a:solidFill>
                <a:latin typeface="Helvetica Neue"/>
              </a:rPr>
              <a:t>Building a Support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13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475569"/>
                </a:solidFill>
                <a:latin typeface="Helvetica Neue"/>
              </a:rPr>
              <a:t>Part 1 — the layer that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572000"/>
            <a:ext cx="8229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F172A"/>
                </a:solidFill>
                <a:latin typeface="Helvetica Neue"/>
              </a:rPr>
              <a:t>5,000 tickets a week, three agents, and not one labelled example. Let's ship something anyway.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WEEK 7 ·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Language Models &amp; Transformers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What we cover across both lectures, the models we actually run, and what to read alongside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676" y="1810512"/>
            <a:ext cx="9190341" cy="35478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5394960"/>
            <a:ext cx="10927080" cy="1280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468112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180">
                <a:solidFill>
                  <a:srgbClr val="94A3B8"/>
                </a:solidFill>
                <a:latin typeface="Helvetica Neue"/>
              </a:rPr>
              <a:t>READINGS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05856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J&amp;M Ch. 7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3"/>
              </a:rPr>
              <a:t>Large Language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5705856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J&amp;M Ch. 10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3"/>
              </a:rPr>
              <a:t>BERT &amp; masked 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3056" y="5705856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HOLLM Ch. 3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4"/>
              </a:rPr>
              <a:t>inside transformer LLMs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544" y="5705856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Tunstall Ch. 10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5"/>
              </a:rPr>
              <a:t>training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16752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Vaswani 2017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6"/>
              </a:rPr>
              <a:t>Attention Is All You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6016752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Devlin 2018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7"/>
              </a:rPr>
              <a:t>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6016752"/>
            <a:ext cx="272491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Helvetica Neue"/>
              </a:rPr>
              <a:t>Liu 2019  </a:t>
            </a:r>
            <a:r>
              <a:rPr sz="1000" u="sng">
                <a:solidFill>
                  <a:srgbClr val="1D4ED8"/>
                </a:solidFill>
                <a:latin typeface="Helvetica Neue"/>
                <a:hlinkClick r:id="rId8"/>
              </a:rPr>
              <a:t>RoBERTa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THE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You just took over support at Cobalt.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 B2B analytics platform. The inbox is the product problem — and nobody has ever labelled a single ticket.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77440"/>
            <a:ext cx="2615184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~5,000 tickets a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Helvetica Neue"/>
              </a:rPr>
              <a:t>three agents to answer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377440"/>
            <a:ext cx="2615184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~40% are repeats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Helvetica Neue"/>
              </a:rPr>
              <a:t>the same handful of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377440"/>
            <a:ext cx="2615184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No labelled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Helvetica Neue"/>
              </a:rPr>
              <a:t>and no budget for it this quarter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9992" y="2377440"/>
            <a:ext cx="2615184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EF1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5786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172A"/>
                </a:solidFill>
                <a:latin typeface="Helvetica Neue"/>
              </a:rPr>
              <a:t>Agents burn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Helvetica Neue"/>
              </a:rPr>
              <a:t>just working out who owns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34155"/>
                </a:solidFill>
                <a:latin typeface="Helvetica Neue"/>
              </a:rPr>
              <a:t>Today we build the part that READS the inbox — search it, sort it, and decide what a human actually needs to see. Next lecture we make it 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  <a:latin typeface="Helvetica Neue"/>
              </a:rPr>
              <a:t>Every technique today is one you can point at any pile of text: tickets, reviews, resumes, survey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Four capabilities, built in order.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Each one is useful on its own. Together they are a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630057"/>
            <a:ext cx="11155680" cy="3106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REPRESENT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A model cannot read. It can only do arithmetic.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94776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640679"/>
            <a:ext cx="11155680" cy="29025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REPRESENT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Check what happens to your business vocabulary.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94776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jar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436196"/>
            <a:ext cx="11155680" cy="3311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D97706"/>
                </a:solidFill>
                <a:latin typeface="Helvetica Neue"/>
              </a:rPr>
              <a:t>REPRESENT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One ticket becomes one vector — by averaging.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94776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63552"/>
            <a:ext cx="11155680" cy="3856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RETRIEVE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Similarity is a multiplication.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8008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53144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558318"/>
            <a:ext cx="11155680" cy="3067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RETRIEVE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Search that finds what you meant.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8008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53144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013030"/>
            <a:ext cx="11155680" cy="4157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EA5E9"/>
                </a:solidFill>
                <a:latin typeface="Helvetica Neue"/>
              </a:rPr>
              <a:t>RETRIEVE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Structure was already in the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Nobody labelled these. Plot the vectors and the neighbourhoods appear on their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08008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5" name="Picture 14" descr="fig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216" y="1965960"/>
            <a:ext cx="5671261" cy="42976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Sort the inbox with zero labelled examples.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66376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1511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z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370" y="1965960"/>
            <a:ext cx="9244954" cy="4297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It is not a classifier. It is a fact-checker.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 model judges whether a sentence YOU wrote is true of the ticket.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66376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1511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5" name="Picture 14" descr="d_n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596680"/>
            <a:ext cx="11155680" cy="23504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  <a:latin typeface="Helvetica Neue"/>
              </a:rPr>
              <a:t>Every category becomes a sentence: "This example is {your description}." The model scores all eight and picks whichever it most believes.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Underneath the one-line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66376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1511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nli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612278"/>
            <a:ext cx="11155680" cy="29593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7C3AED"/>
                </a:solidFill>
                <a:latin typeface="Helvetica Neue"/>
              </a:rPr>
              <a:t>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words you write ARE the program.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66376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1511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19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06455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EB4B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wo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769342"/>
            <a:ext cx="11155680" cy="2599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An average is a bad way to run a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Ask WHICH tickets it gets wrong. The weak buckets are the ones whose descriptions overlap.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5" name="Picture 14" descr="fig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165" y="2057400"/>
            <a:ext cx="7781363" cy="39776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  <a:latin typeface="Helvetica Neue"/>
              </a:rPr>
              <a:t>When a classifier underperforms, look at your taxonomy before you look at your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Confident is not the same as correct.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24744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97772"/>
            <a:ext cx="11155680" cy="38340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Give the model a way to say "I don't know".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24744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175052"/>
            <a:ext cx="11155680" cy="38794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This curve is the business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There is no setting that maximises both. Where you stand on it is a judgement about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24744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69880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5" name="Picture 14" descr="fig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2" y="2057400"/>
            <a:ext cx="5917889" cy="393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475569"/>
                </a:solidFill>
                <a:latin typeface="Helvetica Neue"/>
              </a:rPr>
              <a:t>"We can automate 39% of the inbox at 87% accuracy — or cover far more, and be less right." That is a decision an executive can actually make.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059669"/>
                </a:solidFill>
                <a:latin typeface="Helvetica Neue"/>
              </a:rPr>
              <a:t>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One number, and you have a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05088" y="591616"/>
            <a:ext cx="1975104" cy="23774"/>
          </a:xfrm>
          <a:prstGeom prst="roundRect">
            <a:avLst/>
          </a:prstGeom>
          <a:solidFill>
            <a:srgbClr val="E9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86215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1351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44584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89719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2951" y="475488"/>
            <a:ext cx="256032" cy="256032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8087" y="475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24744" y="438912"/>
            <a:ext cx="329184" cy="329184"/>
          </a:xfrm>
          <a:prstGeom prst="roundRect">
            <a:avLst>
              <a:gd name="adj" fmla="val 3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0" y="475488"/>
            <a:ext cx="438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14" name="Picture 13" descr="d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884922"/>
            <a:ext cx="11155680" cy="24140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FULL CIRCLE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What we shipped today — for $0.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No labelled data. No training. No GPU bill. One afternoon.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shi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920450"/>
            <a:ext cx="11155680" cy="1885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0F172A"/>
                </a:solidFill>
                <a:latin typeface="Helvetica Neue"/>
              </a:rPr>
              <a:t>Someone else already spent millions teaching a model to read English. Your job is not to build intelligence — it is to point it at your problem, cheaply, and know where it breaks.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WHY THIS MATTERS AT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Six instincts, not six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Every row is a call your future team needs someone in the room able to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pic>
        <p:nvPicPr>
          <p:cNvPr id="6" name="Picture 5" descr="d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2507640"/>
            <a:ext cx="11155680" cy="33057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spc="220">
                <a:solidFill>
                  <a:srgbClr val="4F46E5"/>
                </a:solidFill>
                <a:latin typeface="Helvetica Neue"/>
              </a:rPr>
              <a:t>NEXT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0F172A"/>
                </a:solidFill>
                <a:latin typeface="Helvetica Neue"/>
              </a:rPr>
              <a:t>The layer that 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C1CC"/>
                </a:solidFill>
                <a:latin typeface="Helvetica Neue"/>
              </a:rPr>
              <a:t>ISBA 2411 · Natural Language Processing &amp; AI · Summer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0292" cy="7863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3055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Helvetica Neue"/>
              </a:rPr>
              <a:t>What if we DO label?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3288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 few hundred examples, and what they buy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72968"/>
            <a:ext cx="50292" cy="78638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Helvetica Neue"/>
              </a:rPr>
              <a:t>Where the reading came 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57016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BERT, and how pretraining actually worked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97096"/>
            <a:ext cx="50292" cy="7863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7880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Helvetica Neue"/>
              </a:rPr>
              <a:t>Pull out the specifics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58114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which feature, what error, which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21224"/>
            <a:ext cx="50292" cy="78638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202936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Helvetica Neue"/>
              </a:rPr>
              <a:t>Watch it make things 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6052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569"/>
                </a:solidFill>
                <a:latin typeface="Helvetica Neue"/>
              </a:rPr>
              <a:t>and why that sets up Week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  <a:latin typeface="Helvetica Neue"/>
              </a:rPr>
              <a:t>Notebook: L13_Cobalt_Support_Copilot.ipynb — run it, turn the knobs, break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