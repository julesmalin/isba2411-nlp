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46888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spc="250">
                <a:solidFill>
                  <a:srgbClr val="4F46E5"/>
                </a:solidFill>
                <a:latin typeface="Helvetica Neue"/>
              </a:rPr>
              <a:t>WEEK 7 · LECTURE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852928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0" b="1" i="0">
                <a:solidFill>
                  <a:srgbClr val="0F172A"/>
                </a:solidFill>
                <a:latin typeface="Helvetica Neue"/>
              </a:rPr>
              <a:t>Building a Support Copilot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913632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0" i="0">
                <a:solidFill>
                  <a:srgbClr val="475569"/>
                </a:solidFill>
                <a:latin typeface="Helvetica Neue"/>
              </a:rPr>
              <a:t>Part 1 — the layer that reads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4572000"/>
            <a:ext cx="822960" cy="5486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1">
                <a:solidFill>
                  <a:srgbClr val="0F172A"/>
                </a:solidFill>
                <a:latin typeface="Helvetica Neue"/>
              </a:rPr>
              <a:t>5,000 tickets a week, three agents, and not one labelled example. Let's ship something anyway.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6766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 spc="220">
                <a:solidFill>
                  <a:srgbClr val="4F46E5"/>
                </a:solidFill>
                <a:latin typeface="Helvetica Neue"/>
              </a:rPr>
              <a:t>THE BRIEF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You just took over support at Cobalt.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424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A B2B analytics platform. The inbox is the product problem — and nobody has ever labelled a single ticket.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377440"/>
            <a:ext cx="2615184" cy="1371600"/>
          </a:xfrm>
          <a:prstGeom prst="roundRect">
            <a:avLst/>
          </a:prstGeom>
          <a:solidFill>
            <a:srgbClr val="FFFFFF"/>
          </a:solidFill>
          <a:ln>
            <a:solidFill>
              <a:srgbClr val="EEF1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2578608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F172A"/>
                </a:solidFill>
                <a:latin typeface="Helvetica Neue"/>
              </a:rPr>
              <a:t>~5,000 tickets a week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306324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75569"/>
                </a:solidFill>
                <a:latin typeface="Helvetica Neue"/>
              </a:rPr>
              <a:t>three agents to answer them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83864" y="2377440"/>
            <a:ext cx="2615184" cy="1371600"/>
          </a:xfrm>
          <a:prstGeom prst="roundRect">
            <a:avLst/>
          </a:prstGeom>
          <a:solidFill>
            <a:srgbClr val="FFFFFF"/>
          </a:solidFill>
          <a:ln>
            <a:solidFill>
              <a:srgbClr val="EEF1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85032" y="2578608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F172A"/>
                </a:solidFill>
                <a:latin typeface="Helvetica Neue"/>
              </a:rPr>
              <a:t>~40% are repeats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85032" y="306324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75569"/>
                </a:solidFill>
                <a:latin typeface="Helvetica Neue"/>
              </a:rPr>
              <a:t>the same handful of questions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81928" y="2377440"/>
            <a:ext cx="2615184" cy="1371600"/>
          </a:xfrm>
          <a:prstGeom prst="roundRect">
            <a:avLst/>
          </a:prstGeom>
          <a:solidFill>
            <a:srgbClr val="FFFFFF"/>
          </a:solidFill>
          <a:ln>
            <a:solidFill>
              <a:srgbClr val="EEF1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83096" y="2578608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F172A"/>
                </a:solidFill>
                <a:latin typeface="Helvetica Neue"/>
              </a:rPr>
              <a:t>No labelled data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83096" y="306324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75569"/>
                </a:solidFill>
                <a:latin typeface="Helvetica Neue"/>
              </a:rPr>
              <a:t>and no budget for it this quarter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79992" y="2377440"/>
            <a:ext cx="2615184" cy="1371600"/>
          </a:xfrm>
          <a:prstGeom prst="roundRect">
            <a:avLst/>
          </a:prstGeom>
          <a:solidFill>
            <a:srgbClr val="FFFFFF"/>
          </a:solidFill>
          <a:ln>
            <a:solidFill>
              <a:srgbClr val="EEF1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81160" y="2578608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F172A"/>
                </a:solidFill>
                <a:latin typeface="Helvetica Neue"/>
              </a:rPr>
              <a:t>Agents burn minutes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81160" y="306324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75569"/>
                </a:solidFill>
                <a:latin typeface="Helvetica Neue"/>
              </a:rPr>
              <a:t>just working out who owns 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16052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334155"/>
                </a:solidFill>
                <a:latin typeface="Helvetica Neue"/>
              </a:rPr>
              <a:t>Today we build the part that READS the inbox — search it, sort it, and decide what a human actually needs to see. Next lecture we make it act.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2578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475569"/>
                </a:solidFill>
                <a:latin typeface="Helvetica Neue"/>
              </a:rPr>
              <a:t>Every technique today is one you can point at any pile of text: tickets, reviews, resumes, survey answers.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6766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 spc="220">
                <a:solidFill>
                  <a:srgbClr val="4F46E5"/>
                </a:solidFill>
                <a:latin typeface="Helvetica Neue"/>
              </a:rPr>
              <a:t>THE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Four capabilities, built in order.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424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Each one is useful on its own. Together they are a product.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6" name="Picture 5" descr="d_pl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2630057"/>
            <a:ext cx="11155680" cy="310664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6766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 spc="220">
                <a:solidFill>
                  <a:srgbClr val="D97706"/>
                </a:solidFill>
                <a:latin typeface="Helvetica Neue"/>
              </a:rPr>
              <a:t>REPRESENT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7680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A model cannot read. It can only do arithmetic.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705088" y="591616"/>
            <a:ext cx="1975104" cy="23774"/>
          </a:xfrm>
          <a:prstGeom prst="roundRect">
            <a:avLst/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549640" y="438912"/>
            <a:ext cx="329184" cy="329184"/>
          </a:xfrm>
          <a:prstGeom prst="roundRect">
            <a:avLst>
              <a:gd name="adj" fmla="val 32000"/>
            </a:avLst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94776" y="475488"/>
            <a:ext cx="4389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Helvetica Neue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244584" y="475488"/>
            <a:ext cx="256032" cy="256032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89719" y="475488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AEB4BF"/>
                </a:solidFill>
                <a:latin typeface="Helvetica Neue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902951" y="475488"/>
            <a:ext cx="256032" cy="256032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48087" y="475488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AEB4BF"/>
                </a:solidFill>
                <a:latin typeface="Helvetica Neue"/>
              </a:rPr>
              <a:t>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561319" y="475488"/>
            <a:ext cx="256032" cy="256032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06455" y="475488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AEB4BF"/>
                </a:solidFill>
                <a:latin typeface="Helvetica Neue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14" name="Picture 13" descr="d_toke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2640679"/>
            <a:ext cx="11155680" cy="2902521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6766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 spc="220">
                <a:solidFill>
                  <a:srgbClr val="D97706"/>
                </a:solidFill>
                <a:latin typeface="Helvetica Neue"/>
              </a:rPr>
              <a:t>REPRESENT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7680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Check what happens to your business vocabulary.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705088" y="591616"/>
            <a:ext cx="1975104" cy="23774"/>
          </a:xfrm>
          <a:prstGeom prst="roundRect">
            <a:avLst/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549640" y="438912"/>
            <a:ext cx="329184" cy="329184"/>
          </a:xfrm>
          <a:prstGeom prst="roundRect">
            <a:avLst>
              <a:gd name="adj" fmla="val 32000"/>
            </a:avLst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94776" y="475488"/>
            <a:ext cx="4389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Helvetica Neue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244584" y="475488"/>
            <a:ext cx="256032" cy="256032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89719" y="475488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AEB4BF"/>
                </a:solidFill>
                <a:latin typeface="Helvetica Neue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902951" y="475488"/>
            <a:ext cx="256032" cy="256032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48087" y="475488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AEB4BF"/>
                </a:solidFill>
                <a:latin typeface="Helvetica Neue"/>
              </a:rPr>
              <a:t>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561319" y="475488"/>
            <a:ext cx="256032" cy="256032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06455" y="475488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AEB4BF"/>
                </a:solidFill>
                <a:latin typeface="Helvetica Neue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14" name="Picture 13" descr="d_jarg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2436196"/>
            <a:ext cx="11155680" cy="331148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6766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 spc="220">
                <a:solidFill>
                  <a:srgbClr val="D97706"/>
                </a:solidFill>
                <a:latin typeface="Helvetica Neue"/>
              </a:rPr>
              <a:t>REPRESENT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7680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One ticket becomes one vector — by averaging.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705088" y="591616"/>
            <a:ext cx="1975104" cy="23774"/>
          </a:xfrm>
          <a:prstGeom prst="roundRect">
            <a:avLst/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549640" y="438912"/>
            <a:ext cx="329184" cy="329184"/>
          </a:xfrm>
          <a:prstGeom prst="roundRect">
            <a:avLst>
              <a:gd name="adj" fmla="val 32000"/>
            </a:avLst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94776" y="475488"/>
            <a:ext cx="4389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Helvetica Neue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244584" y="475488"/>
            <a:ext cx="256032" cy="256032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89719" y="475488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AEB4BF"/>
                </a:solidFill>
                <a:latin typeface="Helvetica Neue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902951" y="475488"/>
            <a:ext cx="256032" cy="256032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48087" y="475488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AEB4BF"/>
                </a:solidFill>
                <a:latin typeface="Helvetica Neue"/>
              </a:rPr>
              <a:t>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561319" y="475488"/>
            <a:ext cx="256032" cy="256032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06455" y="475488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AEB4BF"/>
                </a:solidFill>
                <a:latin typeface="Helvetica Neue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14" name="Picture 13" descr="d_emb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2163552"/>
            <a:ext cx="11155680" cy="385677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6766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 spc="220">
                <a:solidFill>
                  <a:srgbClr val="0EA5E9"/>
                </a:solidFill>
                <a:latin typeface="Helvetica Neue"/>
              </a:rPr>
              <a:t>RETRIEVE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7680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Similarity is a multiplication.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705088" y="591616"/>
            <a:ext cx="1975104" cy="23774"/>
          </a:xfrm>
          <a:prstGeom prst="roundRect">
            <a:avLst/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586215" y="475488"/>
            <a:ext cx="256032" cy="256032"/>
          </a:xfrm>
          <a:prstGeom prst="roundRect">
            <a:avLst>
              <a:gd name="adj" fmla="val 32000"/>
            </a:avLst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31351" y="475488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Helvetica Neue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208008" y="438912"/>
            <a:ext cx="329184" cy="329184"/>
          </a:xfrm>
          <a:prstGeom prst="roundRect">
            <a:avLst>
              <a:gd name="adj" fmla="val 32000"/>
            </a:avLst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53144" y="475488"/>
            <a:ext cx="4389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Helvetica Neue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902951" y="475488"/>
            <a:ext cx="256032" cy="256032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48087" y="475488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AEB4BF"/>
                </a:solidFill>
                <a:latin typeface="Helvetica Neue"/>
              </a:rPr>
              <a:t>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561319" y="475488"/>
            <a:ext cx="256032" cy="256032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06455" y="475488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AEB4BF"/>
                </a:solidFill>
                <a:latin typeface="Helvetica Neue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14" name="Picture 13" descr="d_cos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2558318"/>
            <a:ext cx="11155680" cy="3067243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6766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 spc="220">
                <a:solidFill>
                  <a:srgbClr val="0EA5E9"/>
                </a:solidFill>
                <a:latin typeface="Helvetica Neue"/>
              </a:rPr>
              <a:t>RETRIEVE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7680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Search that finds what you meant.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705088" y="591616"/>
            <a:ext cx="1975104" cy="23774"/>
          </a:xfrm>
          <a:prstGeom prst="roundRect">
            <a:avLst/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586215" y="475488"/>
            <a:ext cx="256032" cy="256032"/>
          </a:xfrm>
          <a:prstGeom prst="roundRect">
            <a:avLst>
              <a:gd name="adj" fmla="val 32000"/>
            </a:avLst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31351" y="475488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Helvetica Neue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208008" y="438912"/>
            <a:ext cx="329184" cy="329184"/>
          </a:xfrm>
          <a:prstGeom prst="roundRect">
            <a:avLst>
              <a:gd name="adj" fmla="val 32000"/>
            </a:avLst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53144" y="475488"/>
            <a:ext cx="4389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Helvetica Neue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902951" y="475488"/>
            <a:ext cx="256032" cy="256032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48087" y="475488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AEB4BF"/>
                </a:solidFill>
                <a:latin typeface="Helvetica Neue"/>
              </a:rPr>
              <a:t>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561319" y="475488"/>
            <a:ext cx="256032" cy="256032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06455" y="475488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AEB4BF"/>
                </a:solidFill>
                <a:latin typeface="Helvetica Neue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14" name="Picture 13" descr="d_se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2013030"/>
            <a:ext cx="11155680" cy="415781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6766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 spc="220">
                <a:solidFill>
                  <a:srgbClr val="0EA5E9"/>
                </a:solidFill>
                <a:latin typeface="Helvetica Neue"/>
              </a:rPr>
              <a:t>RETRIEVE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7680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Structure was already in the text.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424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Nobody labelled these. Plot the vectors and the neighbourhoods appear on their own.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705088" y="591616"/>
            <a:ext cx="1975104" cy="23774"/>
          </a:xfrm>
          <a:prstGeom prst="roundRect">
            <a:avLst/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586215" y="475488"/>
            <a:ext cx="256032" cy="256032"/>
          </a:xfrm>
          <a:prstGeom prst="roundRect">
            <a:avLst>
              <a:gd name="adj" fmla="val 32000"/>
            </a:avLst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31351" y="475488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Helvetica Neue"/>
              </a:rPr>
              <a:t>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208008" y="438912"/>
            <a:ext cx="329184" cy="329184"/>
          </a:xfrm>
          <a:prstGeom prst="roundRect">
            <a:avLst>
              <a:gd name="adj" fmla="val 32000"/>
            </a:avLst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53144" y="475488"/>
            <a:ext cx="4389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Helvetica Neue"/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02951" y="475488"/>
            <a:ext cx="256032" cy="256032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48087" y="475488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AEB4BF"/>
                </a:solidFill>
                <a:latin typeface="Helvetica Neue"/>
              </a:rPr>
              <a:t>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61319" y="475488"/>
            <a:ext cx="256032" cy="256032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06455" y="475488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AEB4BF"/>
                </a:solidFill>
                <a:latin typeface="Helvetica Neue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15" name="Picture 14" descr="fig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0216" y="1965960"/>
            <a:ext cx="5671261" cy="4297679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6766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 spc="220">
                <a:solidFill>
                  <a:srgbClr val="7C3AED"/>
                </a:solidFill>
                <a:latin typeface="Helvetica Neue"/>
              </a:rPr>
              <a:t>ROUTE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7680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Sort the inbox with zero labelled examples.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705088" y="591616"/>
            <a:ext cx="1975104" cy="23774"/>
          </a:xfrm>
          <a:prstGeom prst="roundRect">
            <a:avLst/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586215" y="475488"/>
            <a:ext cx="256032" cy="256032"/>
          </a:xfrm>
          <a:prstGeom prst="roundRect">
            <a:avLst>
              <a:gd name="adj" fmla="val 32000"/>
            </a:avLst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31351" y="475488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Helvetica Neue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244584" y="475488"/>
            <a:ext cx="256032" cy="256032"/>
          </a:xfrm>
          <a:prstGeom prst="roundRect">
            <a:avLst>
              <a:gd name="adj" fmla="val 32000"/>
            </a:avLst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89719" y="475488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Helvetica Neue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66376" y="438912"/>
            <a:ext cx="329184" cy="329184"/>
          </a:xfrm>
          <a:prstGeom prst="roundRect">
            <a:avLst>
              <a:gd name="adj" fmla="val 32000"/>
            </a:avLst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11511" y="475488"/>
            <a:ext cx="4389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Helvetica Neue"/>
              </a:rPr>
              <a:t>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561319" y="475488"/>
            <a:ext cx="256032" cy="256032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06455" y="475488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AEB4BF"/>
                </a:solidFill>
                <a:latin typeface="Helvetica Neue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14" name="Picture 13" descr="d_z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3370" y="1965960"/>
            <a:ext cx="9244954" cy="4297679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6766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 spc="220">
                <a:solidFill>
                  <a:srgbClr val="7C3AED"/>
                </a:solidFill>
                <a:latin typeface="Helvetica Neue"/>
              </a:rPr>
              <a:t>ROUTE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7680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It is not a classifier. It is a fact-checker.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424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The model judges whether a sentence YOU wrote is true of the ticket.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705088" y="591616"/>
            <a:ext cx="1975104" cy="23774"/>
          </a:xfrm>
          <a:prstGeom prst="roundRect">
            <a:avLst/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586215" y="475488"/>
            <a:ext cx="256032" cy="256032"/>
          </a:xfrm>
          <a:prstGeom prst="roundRect">
            <a:avLst>
              <a:gd name="adj" fmla="val 32000"/>
            </a:avLst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31351" y="475488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Helvetica Neue"/>
              </a:rPr>
              <a:t>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244584" y="475488"/>
            <a:ext cx="256032" cy="256032"/>
          </a:xfrm>
          <a:prstGeom prst="roundRect">
            <a:avLst>
              <a:gd name="adj" fmla="val 32000"/>
            </a:avLst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89719" y="475488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Helvetica Neue"/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866376" y="438912"/>
            <a:ext cx="329184" cy="329184"/>
          </a:xfrm>
          <a:prstGeom prst="roundRect">
            <a:avLst>
              <a:gd name="adj" fmla="val 32000"/>
            </a:avLst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11511" y="475488"/>
            <a:ext cx="4389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Helvetica Neue"/>
              </a:rPr>
              <a:t>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61319" y="475488"/>
            <a:ext cx="256032" cy="256032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06455" y="475488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AEB4BF"/>
                </a:solidFill>
                <a:latin typeface="Helvetica Neue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15" name="Picture 14" descr="d_nl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2596680"/>
            <a:ext cx="11155680" cy="235043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40080" y="553212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1">
                <a:solidFill>
                  <a:srgbClr val="475569"/>
                </a:solidFill>
                <a:latin typeface="Helvetica Neue"/>
              </a:rPr>
              <a:t>Every category becomes a sentence: "This example is {your description}." The model scores all eight and picks whichever it most believes.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6766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 spc="220">
                <a:solidFill>
                  <a:srgbClr val="7C3AED"/>
                </a:solidFill>
                <a:latin typeface="Helvetica Neue"/>
              </a:rPr>
              <a:t>ROUTE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7680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Underneath the one-line pipeline.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705088" y="591616"/>
            <a:ext cx="1975104" cy="23774"/>
          </a:xfrm>
          <a:prstGeom prst="roundRect">
            <a:avLst/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586215" y="475488"/>
            <a:ext cx="256032" cy="256032"/>
          </a:xfrm>
          <a:prstGeom prst="roundRect">
            <a:avLst>
              <a:gd name="adj" fmla="val 32000"/>
            </a:avLst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31351" y="475488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Helvetica Neue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244584" y="475488"/>
            <a:ext cx="256032" cy="256032"/>
          </a:xfrm>
          <a:prstGeom prst="roundRect">
            <a:avLst>
              <a:gd name="adj" fmla="val 32000"/>
            </a:avLst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89719" y="475488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Helvetica Neue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66376" y="438912"/>
            <a:ext cx="329184" cy="329184"/>
          </a:xfrm>
          <a:prstGeom prst="roundRect">
            <a:avLst>
              <a:gd name="adj" fmla="val 32000"/>
            </a:avLst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11511" y="475488"/>
            <a:ext cx="4389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Helvetica Neue"/>
              </a:rPr>
              <a:t>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561319" y="475488"/>
            <a:ext cx="256032" cy="256032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06455" y="475488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AEB4BF"/>
                </a:solidFill>
                <a:latin typeface="Helvetica Neue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14" name="Picture 13" descr="d_nlico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2612278"/>
            <a:ext cx="11155680" cy="2959322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6766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 spc="220">
                <a:solidFill>
                  <a:srgbClr val="7C3AED"/>
                </a:solidFill>
                <a:latin typeface="Helvetica Neue"/>
              </a:rPr>
              <a:t>ROUTE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7680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The words you write ARE the program.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705088" y="591616"/>
            <a:ext cx="1975104" cy="23774"/>
          </a:xfrm>
          <a:prstGeom prst="roundRect">
            <a:avLst/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586215" y="475488"/>
            <a:ext cx="256032" cy="256032"/>
          </a:xfrm>
          <a:prstGeom prst="roundRect">
            <a:avLst>
              <a:gd name="adj" fmla="val 32000"/>
            </a:avLst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31351" y="475488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Helvetica Neue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244584" y="475488"/>
            <a:ext cx="256032" cy="256032"/>
          </a:xfrm>
          <a:prstGeom prst="roundRect">
            <a:avLst>
              <a:gd name="adj" fmla="val 32000"/>
            </a:avLst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89719" y="475488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Helvetica Neue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66376" y="438912"/>
            <a:ext cx="329184" cy="329184"/>
          </a:xfrm>
          <a:prstGeom prst="roundRect">
            <a:avLst>
              <a:gd name="adj" fmla="val 32000"/>
            </a:avLst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11511" y="475488"/>
            <a:ext cx="4389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Helvetica Neue"/>
              </a:rPr>
              <a:t>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561319" y="475488"/>
            <a:ext cx="256032" cy="256032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06455" y="475488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AEB4BF"/>
                </a:solidFill>
                <a:latin typeface="Helvetica Neue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14" name="Picture 13" descr="d_word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2769342"/>
            <a:ext cx="11155680" cy="2599474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6766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 spc="220">
                <a:solidFill>
                  <a:srgbClr val="059669"/>
                </a:solidFill>
                <a:latin typeface="Helvetica Neue"/>
              </a:rPr>
              <a:t>DECIDE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7680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An average is a bad way to run a product.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424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Ask WHICH tickets it gets wrong. The weak buckets are the ones whose descriptions overlap.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705088" y="591616"/>
            <a:ext cx="1975104" cy="23774"/>
          </a:xfrm>
          <a:prstGeom prst="roundRect">
            <a:avLst/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586215" y="475488"/>
            <a:ext cx="256032" cy="256032"/>
          </a:xfrm>
          <a:prstGeom prst="roundRect">
            <a:avLst>
              <a:gd name="adj" fmla="val 32000"/>
            </a:avLst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31351" y="475488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Helvetica Neue"/>
              </a:rPr>
              <a:t>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244584" y="475488"/>
            <a:ext cx="256032" cy="256032"/>
          </a:xfrm>
          <a:prstGeom prst="roundRect">
            <a:avLst>
              <a:gd name="adj" fmla="val 32000"/>
            </a:avLst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89719" y="475488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Helvetica Neue"/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02951" y="475488"/>
            <a:ext cx="256032" cy="256032"/>
          </a:xfrm>
          <a:prstGeom prst="roundRect">
            <a:avLst>
              <a:gd name="adj" fmla="val 32000"/>
            </a:avLst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48087" y="475488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Helvetica Neue"/>
              </a:rPr>
              <a:t>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24744" y="438912"/>
            <a:ext cx="329184" cy="329184"/>
          </a:xfrm>
          <a:prstGeom prst="roundRect">
            <a:avLst>
              <a:gd name="adj" fmla="val 32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469880" y="475488"/>
            <a:ext cx="4389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Helvetica Neue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15" name="Picture 14" descr="fig_rec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5165" y="2057400"/>
            <a:ext cx="7781363" cy="3977639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40080" y="608076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1">
                <a:solidFill>
                  <a:srgbClr val="475569"/>
                </a:solidFill>
                <a:latin typeface="Helvetica Neue"/>
              </a:rPr>
              <a:t>When a classifier underperforms, look at your taxonomy before you look at your model.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6766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 spc="220">
                <a:solidFill>
                  <a:srgbClr val="059669"/>
                </a:solidFill>
                <a:latin typeface="Helvetica Neue"/>
              </a:rPr>
              <a:t>DECIDE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7680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Confident is not the same as correct.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705088" y="591616"/>
            <a:ext cx="1975104" cy="23774"/>
          </a:xfrm>
          <a:prstGeom prst="roundRect">
            <a:avLst/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586215" y="475488"/>
            <a:ext cx="256032" cy="256032"/>
          </a:xfrm>
          <a:prstGeom prst="roundRect">
            <a:avLst>
              <a:gd name="adj" fmla="val 32000"/>
            </a:avLst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31351" y="475488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Helvetica Neue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244584" y="475488"/>
            <a:ext cx="256032" cy="256032"/>
          </a:xfrm>
          <a:prstGeom prst="roundRect">
            <a:avLst>
              <a:gd name="adj" fmla="val 32000"/>
            </a:avLst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89719" y="475488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Helvetica Neue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902951" y="475488"/>
            <a:ext cx="256032" cy="256032"/>
          </a:xfrm>
          <a:prstGeom prst="roundRect">
            <a:avLst>
              <a:gd name="adj" fmla="val 32000"/>
            </a:avLst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48087" y="475488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Helvetica Neue"/>
              </a:rPr>
              <a:t>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524744" y="438912"/>
            <a:ext cx="329184" cy="329184"/>
          </a:xfrm>
          <a:prstGeom prst="roundRect">
            <a:avLst>
              <a:gd name="adj" fmla="val 32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69880" y="475488"/>
            <a:ext cx="4389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Helvetica Neue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14" name="Picture 13" descr="d_softma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2197772"/>
            <a:ext cx="11155680" cy="3834054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6766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 spc="220">
                <a:solidFill>
                  <a:srgbClr val="059669"/>
                </a:solidFill>
                <a:latin typeface="Helvetica Neue"/>
              </a:rPr>
              <a:t>DECIDE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7680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Give the model a way to say "I don't know".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705088" y="591616"/>
            <a:ext cx="1975104" cy="23774"/>
          </a:xfrm>
          <a:prstGeom prst="roundRect">
            <a:avLst/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586215" y="475488"/>
            <a:ext cx="256032" cy="256032"/>
          </a:xfrm>
          <a:prstGeom prst="roundRect">
            <a:avLst>
              <a:gd name="adj" fmla="val 32000"/>
            </a:avLst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31351" y="475488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Helvetica Neue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244584" y="475488"/>
            <a:ext cx="256032" cy="256032"/>
          </a:xfrm>
          <a:prstGeom prst="roundRect">
            <a:avLst>
              <a:gd name="adj" fmla="val 32000"/>
            </a:avLst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89719" y="475488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Helvetica Neue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902951" y="475488"/>
            <a:ext cx="256032" cy="256032"/>
          </a:xfrm>
          <a:prstGeom prst="roundRect">
            <a:avLst>
              <a:gd name="adj" fmla="val 32000"/>
            </a:avLst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48087" y="475488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Helvetica Neue"/>
              </a:rPr>
              <a:t>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524744" y="438912"/>
            <a:ext cx="329184" cy="329184"/>
          </a:xfrm>
          <a:prstGeom prst="roundRect">
            <a:avLst>
              <a:gd name="adj" fmla="val 32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69880" y="475488"/>
            <a:ext cx="4389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Helvetica Neue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14" name="Picture 13" descr="d_fix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2175052"/>
            <a:ext cx="11155680" cy="3879495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6766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 spc="220">
                <a:solidFill>
                  <a:srgbClr val="059669"/>
                </a:solidFill>
                <a:latin typeface="Helvetica Neue"/>
              </a:rPr>
              <a:t>DECIDE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7680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This curve is the business decision.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424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There is no setting that maximises both. Where you stand on it is a judgement about cost.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705088" y="591616"/>
            <a:ext cx="1975104" cy="23774"/>
          </a:xfrm>
          <a:prstGeom prst="roundRect">
            <a:avLst/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586215" y="475488"/>
            <a:ext cx="256032" cy="256032"/>
          </a:xfrm>
          <a:prstGeom prst="roundRect">
            <a:avLst>
              <a:gd name="adj" fmla="val 32000"/>
            </a:avLst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31351" y="475488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Helvetica Neue"/>
              </a:rPr>
              <a:t>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244584" y="475488"/>
            <a:ext cx="256032" cy="256032"/>
          </a:xfrm>
          <a:prstGeom prst="roundRect">
            <a:avLst>
              <a:gd name="adj" fmla="val 32000"/>
            </a:avLst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89719" y="475488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Helvetica Neue"/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02951" y="475488"/>
            <a:ext cx="256032" cy="256032"/>
          </a:xfrm>
          <a:prstGeom prst="roundRect">
            <a:avLst>
              <a:gd name="adj" fmla="val 32000"/>
            </a:avLst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48087" y="475488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Helvetica Neue"/>
              </a:rPr>
              <a:t>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24744" y="438912"/>
            <a:ext cx="329184" cy="329184"/>
          </a:xfrm>
          <a:prstGeom prst="roundRect">
            <a:avLst>
              <a:gd name="adj" fmla="val 32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469880" y="475488"/>
            <a:ext cx="4389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Helvetica Neue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15" name="Picture 14" descr="fig_thresh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6902" y="2057400"/>
            <a:ext cx="5917889" cy="39319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40080" y="60350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1">
                <a:solidFill>
                  <a:srgbClr val="475569"/>
                </a:solidFill>
                <a:latin typeface="Helvetica Neue"/>
              </a:rPr>
              <a:t>"We can automate 39% of the inbox at 87% accuracy — or cover far more, and be less right." That is a decision an executive can actually make.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6766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 spc="220">
                <a:solidFill>
                  <a:srgbClr val="059669"/>
                </a:solidFill>
                <a:latin typeface="Helvetica Neue"/>
              </a:rPr>
              <a:t>DECIDE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7680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One number, and you have a product.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705088" y="591616"/>
            <a:ext cx="1975104" cy="23774"/>
          </a:xfrm>
          <a:prstGeom prst="roundRect">
            <a:avLst/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586215" y="475488"/>
            <a:ext cx="256032" cy="256032"/>
          </a:xfrm>
          <a:prstGeom prst="roundRect">
            <a:avLst>
              <a:gd name="adj" fmla="val 32000"/>
            </a:avLst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31351" y="475488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Helvetica Neue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244584" y="475488"/>
            <a:ext cx="256032" cy="256032"/>
          </a:xfrm>
          <a:prstGeom prst="roundRect">
            <a:avLst>
              <a:gd name="adj" fmla="val 32000"/>
            </a:avLst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89719" y="475488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Helvetica Neue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902951" y="475488"/>
            <a:ext cx="256032" cy="256032"/>
          </a:xfrm>
          <a:prstGeom prst="roundRect">
            <a:avLst>
              <a:gd name="adj" fmla="val 32000"/>
            </a:avLst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48087" y="475488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Helvetica Neue"/>
              </a:rPr>
              <a:t>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524744" y="438912"/>
            <a:ext cx="329184" cy="329184"/>
          </a:xfrm>
          <a:prstGeom prst="roundRect">
            <a:avLst>
              <a:gd name="adj" fmla="val 32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69880" y="475488"/>
            <a:ext cx="4389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Helvetica Neue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14" name="Picture 13" descr="d_deci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2884922"/>
            <a:ext cx="11155680" cy="2414034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6766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 spc="220">
                <a:solidFill>
                  <a:srgbClr val="4F46E5"/>
                </a:solidFill>
                <a:latin typeface="Helvetica Neue"/>
              </a:rPr>
              <a:t>FULL CIRCLE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What we shipped today — for $0.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424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No labelled data. No training. No GPU bill. One afternoon.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6" name="Picture 5" descr="d_shipp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2920450"/>
            <a:ext cx="11155680" cy="188577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57150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1">
                <a:solidFill>
                  <a:srgbClr val="0F172A"/>
                </a:solidFill>
                <a:latin typeface="Helvetica Neue"/>
              </a:rPr>
              <a:t>Someone else already spent millions teaching a model to read English. Your job is not to build intelligence — it is to point it at your problem, cheaply, and know where it breaks.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6766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 spc="220">
                <a:solidFill>
                  <a:srgbClr val="4F46E5"/>
                </a:solidFill>
                <a:latin typeface="Helvetica Neue"/>
              </a:rPr>
              <a:t>WHY THIS MATTERS AT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Six instincts, not six tools.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424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Every row is a call your future team needs someone in the room able to make.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6" name="Picture 5" descr="d_wo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2507640"/>
            <a:ext cx="11155680" cy="3305759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6766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 spc="220">
                <a:solidFill>
                  <a:srgbClr val="4F46E5"/>
                </a:solidFill>
                <a:latin typeface="Helvetica Neue"/>
              </a:rPr>
              <a:t>NEXT TIME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The layer that acts.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148840"/>
            <a:ext cx="50292" cy="78638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130552"/>
            <a:ext cx="9601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 i="0">
                <a:solidFill>
                  <a:srgbClr val="0F172A"/>
                </a:solidFill>
                <a:latin typeface="Helvetica Neue"/>
              </a:rPr>
              <a:t>What if we DO label?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532888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a few hundred examples, and what they buy you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172968"/>
            <a:ext cx="50292" cy="786384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3154680"/>
            <a:ext cx="9601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 i="0">
                <a:solidFill>
                  <a:srgbClr val="0F172A"/>
                </a:solidFill>
                <a:latin typeface="Helvetica Neue"/>
              </a:rPr>
              <a:t>Where the reading came from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3557016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BERT, and how pretraining actually worked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197096"/>
            <a:ext cx="50292" cy="78638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4178808"/>
            <a:ext cx="9601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 i="0">
                <a:solidFill>
                  <a:srgbClr val="0F172A"/>
                </a:solidFill>
                <a:latin typeface="Helvetica Neue"/>
              </a:rPr>
              <a:t>Pull out the specifics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4581144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which feature, what error, which plan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5221224"/>
            <a:ext cx="50292" cy="786384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5202936"/>
            <a:ext cx="9601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 i="0">
                <a:solidFill>
                  <a:srgbClr val="0F172A"/>
                </a:solidFill>
                <a:latin typeface="Helvetica Neue"/>
              </a:rPr>
              <a:t>Watch it make things up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6112" y="5605272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and why that sets up Week 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2636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475569"/>
                </a:solidFill>
                <a:latin typeface="Helvetica Neue"/>
              </a:rPr>
              <a:t>Notebook: L13_Cobalt_Support_Copilot.ipynb — run it, turn the knobs, break it.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