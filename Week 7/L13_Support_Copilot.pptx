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5:58 PM  ~4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[5:58 PM to 6:01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[6:01 PM to 6:05 PM  ~4 min]</a:t>
            </a:r>
          </a:p>
          <a:p>
            <a:r>
              <a:t>TO THE NOTEBOOK: Under the hood: "text to tokens to ids"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[6:05 PM to 6:09 PM  ~4 min]</a:t>
            </a:r>
          </a:p>
          <a:p>
            <a:r>
              <a:t>TO THE NOTEBOOK: Under the hood: "does your vocabulary survive?"</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[6:09 PM to 6:14 PM  ~5 min]</a:t>
            </a:r>
          </a:p>
          <a:p>
            <a:r>
              <a:t>TO THE NOTEBOOK: Under the hood: "from tokens 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[6:14 PM to 6:17 PM  ~3 min]</a:t>
            </a:r>
          </a:p>
          <a:p>
            <a:r>
              <a:t>TO THE NOTEBOOK: Under the hood: "similarity is just multiplication"</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[6:17 PM to 6:22 PM  ~5 min]</a:t>
            </a:r>
          </a:p>
          <a:p>
            <a:r>
              <a:t>TO THE NOTEBOOK: Act 1: "Teach the computer to read"</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[6:22 PM to 6:26 PM  ~4 min]</a:t>
            </a:r>
          </a:p>
          <a:p>
            <a:r>
              <a:t>TO THE NOTEBOOK: Act 1: "The shape of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labelled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labelling.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 PM to 6:32 PM  ~6 min]</a:t>
            </a:r>
          </a:p>
          <a:p>
            <a:r>
              <a:t>TO THE NOTEBOOK: Act 2: "Route with zero labelled examples"</a:t>
            </a:r>
          </a:p>
          <a:p/>
          <a:p>
            <a:r>
              <a:t>Now the interesting part. We want to sort the inbox into the buckets our support team actually uses. The textbook answer is: label a few thousand tickets, then train a classifier. That is weeks of work and money Cobalt does not have.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Zero labelled examples. Zero training.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[6:32 PM to 6:37 PM  ~5 min]</a:t>
            </a:r>
          </a:p>
          <a:p>
            <a:r>
              <a:t>TO THE NOTEBOOK: Act 2: "Under the hood: zero-shot isn't classification"</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6:40 PM  ~3 min]</a:t>
            </a:r>
          </a:p>
          <a:p>
            <a:r>
              <a:t>TO THE NOTEBOOK: Act 2: same cell, read the logits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[6:40 PM to 6:44 PM  ~4 min]</a:t>
            </a:r>
          </a:p>
          <a:p>
            <a:r>
              <a:t>TO THE NOTEBOOK: Act 2: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labels.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[6:44 PM to 6:49 PM  ~5 min]</a:t>
            </a:r>
          </a:p>
          <a:p>
            <a:r>
              <a:t>TO THE NOTEBOOK: Act 3: "Where v1 breaks"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6:54 PM  ~5 min]</a:t>
            </a:r>
          </a:p>
          <a:p>
            <a:r>
              <a:t>TO THE NOTEBOOK: Act 3: "Why was it 99% sure and wrong?"</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[6:54 PM to 6:58 PM  ~4 min]</a:t>
            </a:r>
          </a:p>
          <a:p>
            <a:r>
              <a:t>TO THE NOTEBOOK: Act 3: the two one-line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[6:58 PM to 7:03 PM  ~5 min]</a:t>
            </a:r>
          </a:p>
          <a:p>
            <a:r>
              <a:t>TO THE NOTEBOOK: Act 3: YOUR KNOB, move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[7:03 PM to 7:06 PM  ~3 min]</a:t>
            </a:r>
          </a:p>
          <a:p>
            <a:r>
              <a:t>TO THE NOTEBOOK: Act 3: same cell, read the business numbers</a:t>
            </a:r>
          </a:p>
          <a:p/>
          <a:p>
            <a:r>
              <a:t>So let us put a number on it. Threshold at zero point nine. Thirty nine percent of the inbox auto-routed, and eighty seven percent accurate on those. Sixty one percent still goes to a human.</a:t>
            </a:r>
          </a:p>
          <a:p>
            <a:r>
              <a:t>At five thousand tickets a week, that is roughly nineteen hundred tickets a week handled without anyone touching them.</a:t>
            </a:r>
          </a:p>
          <a:p>
            <a:r>
              <a:t>Nineteen hundred. With no labelled data, no training, and no GPU bill. That is a real thing you could ship on Monday.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[7:06 PM to 7:10 PM  ~4 min]</a:t>
            </a:r>
          </a:p>
          <a:p/>
          <a:p>
            <a:r>
              <a:t>Full circle. Here is what we built tonight.</a:t>
            </a:r>
          </a:p>
          <a:p>
            <a:r>
              <a:t>Semantic search across the whole inbox. An eight-way router built with zero labelled examples. A confidence policy that decides what ships automatically. And an escalation path, so the system can admit when it does not know.</a:t>
            </a:r>
          </a:p>
          <a:p>
            <a:r>
              <a:t>Total labelling cost: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 PM to 7:14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[7:14 PM to 7:16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5,000 tickets a week, three agents, and not one labelled example. Let's ship something anyway.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Under the hood · “text → tokens → ids”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6131052" y="6382512"/>
            <a:ext cx="5420563"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31052" y="6432804"/>
            <a:ext cx="5420563" cy="237744"/>
          </a:xfrm>
          <a:prstGeom prst="rect">
            <a:avLst/>
          </a:prstGeom>
          <a:noFill/>
        </p:spPr>
        <p:txBody>
          <a:bodyPr wrap="square">
            <a:spAutoFit/>
          </a:bodyPr>
          <a:lstStyle/>
          <a:p>
            <a:pPr algn="ctr"/>
            <a:r>
              <a:rPr sz="1050" b="1" i="0">
                <a:solidFill>
                  <a:srgbClr val="FFFFFF"/>
                </a:solidFill>
                <a:latin typeface="Helvetica Neue"/>
              </a:rPr>
              <a:t>▶  TO THE NOTEBOOK      Under the hood · “does your vocabulary survive?”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5851245" y="6382512"/>
            <a:ext cx="570036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1245" y="6432804"/>
            <a:ext cx="5700369" cy="237744"/>
          </a:xfrm>
          <a:prstGeom prst="rect">
            <a:avLst/>
          </a:prstGeom>
          <a:noFill/>
        </p:spPr>
        <p:txBody>
          <a:bodyPr wrap="square">
            <a:spAutoFit/>
          </a:bodyPr>
          <a:lstStyle/>
          <a:p>
            <a:pPr algn="ctr"/>
            <a:r>
              <a:rPr sz="1050" b="1" i="0">
                <a:solidFill>
                  <a:srgbClr val="FFFFFF"/>
                </a:solidFill>
                <a:latin typeface="Helvetica Neue"/>
              </a:rPr>
              <a:t>▶  TO THE NOTEBOOK      Under the hood · “similarity is just multiplication”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970471" y="6382512"/>
            <a:ext cx="4581144"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70471" y="6432804"/>
            <a:ext cx="4581144" cy="237744"/>
          </a:xfrm>
          <a:prstGeom prst="rect">
            <a:avLst/>
          </a:prstGeom>
          <a:noFill/>
        </p:spPr>
        <p:txBody>
          <a:bodyPr wrap="square">
            <a:spAutoFit/>
          </a:bodyPr>
          <a:lstStyle/>
          <a:p>
            <a:pPr algn="ctr"/>
            <a:r>
              <a:rPr sz="1050" b="1" i="0">
                <a:solidFill>
                  <a:srgbClr val="FFFFFF"/>
                </a:solidFill>
                <a:latin typeface="Helvetica Neue"/>
              </a:rPr>
              <a:t>▶  TO THE NOTEBOOK      Act 1 · “Teach the computer to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Nobody labelled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Act 1 · “The shape of the whole inbox”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Sort the inbox with zero labelled examples.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“Route with zero labelled examples”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5571439" y="6382512"/>
            <a:ext cx="59801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1439" y="6432804"/>
            <a:ext cx="5980176" cy="237744"/>
          </a:xfrm>
          <a:prstGeom prst="rect">
            <a:avLst/>
          </a:prstGeom>
          <a:noFill/>
        </p:spPr>
        <p:txBody>
          <a:bodyPr wrap="square">
            <a:spAutoFit/>
          </a:bodyPr>
          <a:lstStyle/>
          <a:p>
            <a:pPr algn="ctr"/>
            <a:r>
              <a:rPr sz="1050" b="1" i="0">
                <a:solidFill>
                  <a:srgbClr val="FFFFFF"/>
                </a:solidFill>
                <a:latin typeface="Helvetica Neue"/>
              </a:rPr>
              <a:t>▶  TO THE NOTEBOOK      Act 2 · “Under the hood: zero-shot isn't classification”</a:t>
            </a:r>
          </a:p>
        </p:txBody>
      </p:sp>
      <p:sp>
        <p:nvSpPr>
          <p:cNvPr id="18" name="TextBox 17"/>
          <p:cNvSpPr txBox="1"/>
          <p:nvPr/>
        </p:nvSpPr>
        <p:spPr>
          <a:xfrm>
            <a:off x="640080" y="5532120"/>
            <a:ext cx="10881360" cy="640080"/>
          </a:xfrm>
          <a:prstGeom prst="rect">
            <a:avLst/>
          </a:prstGeom>
          <a:noFill/>
        </p:spPr>
        <p:txBody>
          <a:bodyPr wrap="square">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7110374" y="6382512"/>
            <a:ext cx="444124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10374" y="6432804"/>
            <a:ext cx="4441240" cy="237744"/>
          </a:xfrm>
          <a:prstGeom prst="rect">
            <a:avLst/>
          </a:prstGeom>
          <a:noFill/>
        </p:spPr>
        <p:txBody>
          <a:bodyPr wrap="square">
            <a:spAutoFit/>
          </a:bodyPr>
          <a:lstStyle/>
          <a:p>
            <a:pPr algn="ctr"/>
            <a:r>
              <a:rPr sz="1050" b="1" i="0">
                <a:solidFill>
                  <a:srgbClr val="FFFFFF"/>
                </a:solidFill>
                <a:latin typeface="Helvetica Neue"/>
              </a:rPr>
              <a:t>▶  TO THE NOTEBOOK      Act 2 · same cell, read the logits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The words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YOUR KNOB: rewrite the descriptions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739938" y="6382512"/>
            <a:ext cx="38116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39938" y="6432804"/>
            <a:ext cx="3811676" cy="237744"/>
          </a:xfrm>
          <a:prstGeom prst="rect">
            <a:avLst/>
          </a:prstGeom>
          <a:noFill/>
        </p:spPr>
        <p:txBody>
          <a:bodyPr wrap="square">
            <a:spAutoFit/>
          </a:bodyPr>
          <a:lstStyle/>
          <a:p>
            <a:pPr algn="ctr"/>
            <a:r>
              <a:rPr sz="1050" b="1" i="0">
                <a:solidFill>
                  <a:srgbClr val="FFFFFF"/>
                </a:solidFill>
                <a:latin typeface="Helvetica Neue"/>
              </a:rPr>
              <a:t>▶  TO THE NOTEBOOK      Act 3 · “Where v1 breaks”</a:t>
            </a:r>
          </a:p>
        </p:txBody>
      </p:sp>
      <p:sp>
        <p:nvSpPr>
          <p:cNvPr id="18" name="TextBox 17"/>
          <p:cNvSpPr txBox="1"/>
          <p:nvPr/>
        </p:nvSpPr>
        <p:spPr>
          <a:xfrm>
            <a:off x="640080" y="6080760"/>
            <a:ext cx="10881360" cy="365760"/>
          </a:xfrm>
          <a:prstGeom prst="rect">
            <a:avLst/>
          </a:prstGeom>
          <a:noFill/>
        </p:spPr>
        <p:txBody>
          <a:bodyPr wrap="square">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6690664" y="6382512"/>
            <a:ext cx="486095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0664" y="6432804"/>
            <a:ext cx="4860950" cy="237744"/>
          </a:xfrm>
          <a:prstGeom prst="rect">
            <a:avLst/>
          </a:prstGeom>
          <a:noFill/>
        </p:spPr>
        <p:txBody>
          <a:bodyPr wrap="square">
            <a:spAutoFit/>
          </a:bodyPr>
          <a:lstStyle/>
          <a:p>
            <a:pPr algn="ctr"/>
            <a:r>
              <a:rPr sz="1050" b="1" i="0">
                <a:solidFill>
                  <a:srgbClr val="FFFFFF"/>
                </a:solidFill>
                <a:latin typeface="Helvetica Neue"/>
              </a:rPr>
              <a:t>▶  TO THE NOTEBOOK      Act 3 · “Why was it 99% sure and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the two one-line defences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3136902" y="2057400"/>
            <a:ext cx="5917889" cy="3931920"/>
          </a:xfrm>
          <a:prstGeom prst="rect">
            <a:avLst/>
          </a:prstGeom>
        </p:spPr>
      </p:pic>
      <p:sp>
        <p:nvSpPr>
          <p:cNvPr id="16" name="Rounded Rectangle 15"/>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YOUR KNOB: move THRESHOLD</a:t>
            </a:r>
          </a:p>
        </p:txBody>
      </p:sp>
      <p:sp>
        <p:nvSpPr>
          <p:cNvPr id="18" name="TextBox 17"/>
          <p:cNvSpPr txBox="1"/>
          <p:nvPr/>
        </p:nvSpPr>
        <p:spPr>
          <a:xfrm>
            <a:off x="640080" y="6035040"/>
            <a:ext cx="10881360" cy="365760"/>
          </a:xfrm>
          <a:prstGeom prst="rect">
            <a:avLst/>
          </a:prstGeom>
          <a:noFill/>
        </p:spPr>
        <p:txBody>
          <a:bodyPr wrap="square">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number, and you have a product.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decision.png"/>
          <p:cNvPicPr>
            <a:picLocks noChangeAspect="1"/>
          </p:cNvPicPr>
          <p:nvPr/>
        </p:nvPicPr>
        <p:blipFill>
          <a:blip r:embed="rId2"/>
          <a:stretch>
            <a:fillRect/>
          </a:stretch>
        </p:blipFill>
        <p:spPr>
          <a:xfrm>
            <a:off x="518007" y="2884922"/>
            <a:ext cx="11155680" cy="2414034"/>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Act 3 · same cell, read the business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 labelled data. No training. No GPU bill. One afternoon.</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a:spAutoFit/>
          </a:bodyPr>
          <a:lstStyle/>
          <a:p>
            <a:pPr algn="l"/>
            <a:r>
              <a:rPr sz="2100" b="1" i="0">
                <a:solidFill>
                  <a:srgbClr val="0F172A"/>
                </a:solidFill>
                <a:latin typeface="Helvetica Neue"/>
              </a:rPr>
              <a:t>What if we DO label?</a:t>
            </a:r>
          </a:p>
        </p:txBody>
      </p:sp>
      <p:sp>
        <p:nvSpPr>
          <p:cNvPr id="7" name="TextBox 6"/>
          <p:cNvSpPr txBox="1"/>
          <p:nvPr/>
        </p:nvSpPr>
        <p:spPr>
          <a:xfrm>
            <a:off x="896112" y="2532888"/>
            <a:ext cx="9875520" cy="365760"/>
          </a:xfrm>
          <a:prstGeom prst="rect">
            <a:avLst/>
          </a:prstGeom>
          <a:noFill/>
        </p:spPr>
        <p:txBody>
          <a:bodyPr wrap="square">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