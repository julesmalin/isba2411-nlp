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6:04 PM  ~4 min]</a:t>
            </a:r>
          </a:p>
          <a:p>
            <a:r>
              <a:t>TO THE NOTEBOOK: STEP 6 · Split text into tokens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[6:04 PM to 6:08 PM  ~4 min]</a:t>
            </a:r>
          </a:p>
          <a:p>
            <a:r>
              <a:t>TO THE NOTEBOOK: STEP 7 · Test your product vocabulary</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[6:08 PM to 6:12 PM  ~4 min]</a:t>
            </a:r>
          </a:p>
          <a:p>
            <a:r>
              <a:t>TO THE NOTEBOOK: STEP 8 · Pool tokens into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[6:12 PM to 6:15 PM  ~3 min]</a:t>
            </a:r>
          </a:p>
          <a:p>
            <a:r>
              <a:t>TO THE NOTEBOOK: STEP 9 · Watch attention change a word</a:t>
            </a:r>
          </a:p>
          <a:p/>
          <a:p>
            <a:r>
              <a:t>Stop for a second, because we just used a transformer and I have not told you what one is.</a:t>
            </a:r>
          </a:p>
          <a:p>
            <a:r>
              <a:t>Look back at that line: bert of batch, dot last hidden state. Tokens went in, vectors came out. What happened in between? It is two things, repeated. That is genuinely all a transformer is.</a:t>
            </a:r>
          </a:p>
          <a:p>
            <a:r>
              <a:t>The first half is called attention, and its job is to let the words look at each other. Every word reads every other word in the ticket and pulls in whatever it needs. So the word "charged" reads "twice" and "seats" and comes out carrying a piece of both. Information moves sideways, between words.</a:t>
            </a:r>
          </a:p>
          <a:p>
            <a:r>
              <a:t>The second half is the feed-forward network, and it does the opposite. Each word now goes off on its own, through a small network, with no looking sideways at all. This is where the model applies what it knows about that word.</a:t>
            </a:r>
          </a:p>
          <a:p>
            <a:r>
              <a:t>So: look around, then think about it. Attention gathers the context, feed-forward applies the knowledge. That pair is one block, and BERT stacks twelve of them. When you hear somebody say a model is "twelve layers deep", that is what they mean. Twelve rounds of look around, then think about it.</a:t>
            </a:r>
          </a:p>
          <a:p>
            <a:r>
              <a:t>That is the whole architecture. Everything else you may have heard, the queries and keys and the square roots,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 PM to 6:19 PM  ~4 min]</a:t>
            </a:r>
          </a:p>
          <a:p>
            <a:r>
              <a:t>TO THE NOTEBOOK: STEP 9 · Watch attention change a word</a:t>
            </a:r>
          </a:p>
          <a:p/>
          <a:p>
            <a:r>
              <a:t>Let me prove the attention half actually does what I just claimed, because it is easy to say "words look at each other" and hard to believe.</a:t>
            </a:r>
          </a:p>
          <a:p>
            <a:r>
              <a:t>Here is the word "plan" in two of our tickets. In the first, "we want to move to the Team plan next month", plan means a subscription tier. In the second, "we plan to migrate our database next week", plan means an intention. Completely different meanings, identical spelling.</a:t>
            </a:r>
          </a:p>
          <a:p>
            <a:r>
              <a:t>Now watch the chart. On the left, before any layers run, the two vectors for "plan" are zero point nine three alike. Almost identical, because at that point it is literally the same word looking up the same row in the same table. The model has no idea there is a difference.</a:t>
            </a:r>
          </a:p>
          <a:p>
            <a:r>
              <a:t>Then each round of attention lets it read the neighbours. "Team" and "month" pull the first one one way. "migrate" and "database" pull the other one the other way. And the line falls. Layer four, zero point six nine. Layer eight, zero point five five. By layer twelve, zero point four six. They are barely related any more.</a:t>
            </a:r>
          </a:p>
          <a:p>
            <a:r>
              <a:t>That gap, from zero point nine three down to zero point four six, is attention doing its job. The model figured out that these are two different words that happen to be spelled the same, and nobody told it. It read the neighbours.</a:t>
            </a:r>
          </a:p>
          <a:p>
            <a:r>
              <a:t>And now you know why the search from earlier worked. It was never matching spellings. It was matching vectors that already knew what the sentence was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6:22 PM  ~3 min]</a:t>
            </a:r>
          </a:p>
          <a:p>
            <a:r>
              <a:t>TO THE NOTEBOOK: STEP 10 · Find where the knowledge is stored</a:t>
            </a:r>
          </a:p>
          <a:p/>
          <a:p>
            <a:r>
              <a:t>Now the other half, and this is the part almost nobody talks about.</a:t>
            </a:r>
          </a:p>
          <a:p>
            <a:r>
              <a:t>After attention has mixed the words together, each word goes through a small network on its own. No looking sideways. This is where the model applies what it has stored.</a:t>
            </a:r>
          </a:p>
          <a:p>
            <a:r>
              <a:t>Let me show you that it has stored something. I am going to blank out a word and ask it to fill in the gap. "Our subscription is billed every blank." I never trained it on Cobalt. I never told it anything about subscriptions.</a:t>
            </a:r>
          </a:p>
          <a:p>
            <a:r>
              <a:t>[run it] Month, at sixty nine percent. Then year, then week. It knows how subscriptions work, because it read most of the internet and subscriptions get billed monthly. That knowledge is not in the attention half. It is sitting in the feed-forward weights.</a:t>
            </a:r>
          </a:p>
          <a:p>
            <a:r>
              <a:t>And here is the fact that surprises people, including me the first time. Look at the bar. Two thirds of every layer is feed-forward. Only a third is attention. Attention gets all the headlines and all the papers and the famous title, but the majority of the model, by weight, is the boring part that stores knowledge.</a:t>
            </a:r>
          </a:p>
          <a:p>
            <a:r>
              <a:t>So keep both halves in your head. Attention decides what to mix. Feed-forward supplies what it knows. You need both, and the second one is bigger.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[6:22 PM to 6:25 PM  ~3 min]</a:t>
            </a:r>
          </a:p>
          <a:p>
            <a:r>
              <a:t>TO THE NOTEBOOK: STEP 11 · Measure similarity by hand</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6:29 PM  ~4 min]</a:t>
            </a:r>
          </a:p>
          <a:p>
            <a:r>
              <a:t>TO THE NOTEBOOK: STEP 3 · Turn tickets into vectors, then search   (scroll back up)</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6:32 PM  ~3 min]</a:t>
            </a:r>
          </a:p>
          <a:p>
            <a:r>
              <a:t>TO THE NOTEBOOK: STEP 5 · Map the whole inbox   (scroll back up)</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sorted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hand-sorting.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[6:32 PM to 6:37 PM  ~5 min]</a:t>
            </a:r>
          </a:p>
          <a:p>
            <a:r>
              <a:t>TO THE NOTEBOOK: STEP 13 · Route the inbox with no training data</a:t>
            </a:r>
          </a:p>
          <a:p/>
          <a:p>
            <a:r>
              <a:t>Now the interesting part. We want to sort the inbox into the buckets our support team actually uses. The textbook answer is: hand-sort a few thousand tickets, then train a classifier. That is weeks of work and money Cobalt does not have.</a:t>
            </a:r>
          </a:p>
          <a:p>
            <a:r>
              <a:t>One thing to head off before it confuses somebody. In the code you will see an argument called candidate underscore labels. Those are not the hand-sorted labels I just told you we do not have. Nobody sorted a ticket. They are the sentences we write, in English, in about a minute. The library just picked an unfortunate name.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Nobody sorted a ticket. Nothing was trained.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6:42 PM  ~5 min]</a:t>
            </a:r>
          </a:p>
          <a:p>
            <a:r>
              <a:t>TO THE NOTEBOOK: STEP 17 · See the entailment scores</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[6:42 PM to 6:45 PM  ~3 min]</a:t>
            </a:r>
          </a:p>
          <a:p>
            <a:r>
              <a:t>TO THE NOTEBOOK: STEP 17 · See the entailment scores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 PM to 6:49 PM  ~4 min]</a:t>
            </a:r>
          </a:p>
          <a:p>
            <a:r>
              <a:t>TO THE NOTEBOOK: STEP 16 ·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descriptions.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6:53 PM  ~4 min]</a:t>
            </a:r>
          </a:p>
          <a:p>
            <a:r>
              <a:t>TO THE NOTEBOOK: STEP 18 · Find the weak buckets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[6:53 PM to 6:58 PM  ~5 min]</a:t>
            </a:r>
          </a:p>
          <a:p>
            <a:r>
              <a:t>TO THE NOTEBOOK: STEP 19 · Feed it an off-topic ticket</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[6:58 PM to 7:02 PM  ~4 min]</a:t>
            </a:r>
          </a:p>
          <a:p>
            <a:r>
              <a:t>TO THE NOTEBOOK: STEP 20 · Add the two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7:07 PM  ~5 min]</a:t>
            </a:r>
          </a:p>
          <a:p>
            <a:r>
              <a:t>TO THE NOTEBOOK: STEP 21 · YOUR KNOB: set the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a:p>
            <a:r>
              <a:t>And let us put a number on it. Threshold at zero point nine. Thirty nine percent of the queue auto-routed, eighty seven percent accurate on those. At five thousand tickets a week that is about nineteen hundred a week that nobody has to touch. With no training data, no training run, and no GPU bill.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7:10 PM  ~3 min]</a:t>
            </a:r>
          </a:p>
          <a:p/>
          <a:p>
            <a:r>
              <a:t>Full circle. Here is what we built tonight.</a:t>
            </a:r>
          </a:p>
          <a:p>
            <a:r>
              <a:t>Semantic search across the whole inbox. An eight-way router built with no training data at all. A confidence policy that decides what ships automatically. And an escalation path, so the system can admit when it does not know.</a:t>
            </a:r>
          </a:p>
          <a:p>
            <a:r>
              <a:t>Total cost of hand-sorting tickets: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PM to 7:14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[7:14 PM to 7:16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15476"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615476"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6</a:t>
            </a:r>
          </a:p>
        </p:txBody>
      </p:sp>
      <p:sp>
        <p:nvSpPr>
          <p:cNvPr id="19" name="TextBox 18"/>
          <p:cNvSpPr txBox="1"/>
          <p:nvPr/>
        </p:nvSpPr>
        <p:spPr>
          <a:xfrm>
            <a:off x="9420148" y="6460236"/>
            <a:ext cx="2030882" cy="219456"/>
          </a:xfrm>
          <a:prstGeom prst="rect">
            <a:avLst/>
          </a:prstGeom>
          <a:noFill/>
        </p:spPr>
        <p:txBody>
          <a:bodyPr wrap="none" lIns="0" rIns="0" tIns="0" bIns="0">
            <a:spAutoFit/>
          </a:bodyPr>
          <a:lstStyle/>
          <a:p>
            <a:pPr algn="l"/>
            <a:r>
              <a:rPr sz="1000" b="1" i="0">
                <a:solidFill>
                  <a:srgbClr val="FFFFFF"/>
                </a:solidFill>
                <a:latin typeface="Helvetica Neue"/>
              </a:rPr>
              <a:t>Split text into tokens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19" name="TextBox 18"/>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7239304" y="6345936"/>
            <a:ext cx="431231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8172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475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8172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8</a:t>
            </a:r>
          </a:p>
        </p:txBody>
      </p:sp>
      <p:sp>
        <p:nvSpPr>
          <p:cNvPr id="19" name="TextBox 18"/>
          <p:cNvSpPr txBox="1"/>
          <p:nvPr/>
        </p:nvSpPr>
        <p:spPr>
          <a:xfrm>
            <a:off x="9086392" y="6460236"/>
            <a:ext cx="2364638" cy="219456"/>
          </a:xfrm>
          <a:prstGeom prst="rect">
            <a:avLst/>
          </a:prstGeom>
          <a:noFill/>
        </p:spPr>
        <p:txBody>
          <a:bodyPr wrap="none" lIns="0" rIns="0" tIns="0" bIns="0">
            <a:spAutoFit/>
          </a:bodyPr>
          <a:lstStyle/>
          <a:p>
            <a:pPr algn="l"/>
            <a:r>
              <a:rPr sz="1000" b="1" i="0">
                <a:solidFill>
                  <a:srgbClr val="FFFFFF"/>
                </a:solidFill>
                <a:latin typeface="Helvetica Neue"/>
              </a:rPr>
              <a:t>Pool tokens into one vector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INSIDE THAT ONE LINE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What actually happened inside bert(...)?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just called a transformer and got vectors back. Ninety seconds on what it did with them.</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block.png"/>
          <p:cNvPicPr>
            <a:picLocks noChangeAspect="1"/>
          </p:cNvPicPr>
          <p:nvPr/>
        </p:nvPicPr>
        <p:blipFill>
          <a:blip r:embed="rId2"/>
          <a:stretch>
            <a:fillRect/>
          </a:stretch>
        </p:blipFill>
        <p:spPr>
          <a:xfrm>
            <a:off x="518007" y="2527701"/>
            <a:ext cx="11155680" cy="3146765"/>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0" name="TextBox 19"/>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THE ATTENTION HALF</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 word absorbs the words around it.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"Plan" is a subscription tier in one ticket and an intention in another. Same word, same starting vector.</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context.png"/>
          <p:cNvPicPr>
            <a:picLocks noChangeAspect="1"/>
          </p:cNvPicPr>
          <p:nvPr/>
        </p:nvPicPr>
        <p:blipFill>
          <a:blip r:embed="rId2"/>
          <a:stretch>
            <a:fillRect/>
          </a:stretch>
        </p:blipFill>
        <p:spPr>
          <a:xfrm>
            <a:off x="2359116" y="2057400"/>
            <a:ext cx="7473461" cy="388620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0" name="TextBox 19"/>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
        <p:nvSpPr>
          <p:cNvPr id="21" name="TextBox 20"/>
          <p:cNvSpPr txBox="1"/>
          <p:nvPr/>
        </p:nvSpPr>
        <p:spPr>
          <a:xfrm>
            <a:off x="640080" y="5989320"/>
            <a:ext cx="10881360" cy="365760"/>
          </a:xfrm>
          <a:prstGeom prst="rect">
            <a:avLst/>
          </a:prstGeom>
          <a:noFill/>
        </p:spPr>
        <p:txBody>
          <a:bodyPr wrap="square" lIns="0" rIns="0" tIns="0" bIns="0">
            <a:spAutoFit/>
          </a:bodyPr>
          <a:lstStyle/>
          <a:p>
            <a:pPr algn="ctr"/>
            <a:r>
              <a:rPr sz="1500" b="0" i="1">
                <a:solidFill>
                  <a:srgbClr val="475569"/>
                </a:solidFill>
                <a:latin typeface="Helvetica Neue"/>
              </a:rPr>
              <a:t>Going in they are 0.93 alike. Twelve rounds later, 0.46. That gap is attention doing its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THE FEED-FORWARD HALF</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Where the model keeps what it knows.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ffnknow.png"/>
          <p:cNvPicPr>
            <a:picLocks noChangeAspect="1"/>
          </p:cNvPicPr>
          <p:nvPr/>
        </p:nvPicPr>
        <p:blipFill>
          <a:blip r:embed="rId2"/>
          <a:stretch>
            <a:fillRect/>
          </a:stretch>
        </p:blipFill>
        <p:spPr>
          <a:xfrm>
            <a:off x="595740" y="1965960"/>
            <a:ext cx="11000214" cy="2862072"/>
          </a:xfrm>
          <a:prstGeom prst="rect">
            <a:avLst/>
          </a:prstGeom>
        </p:spPr>
      </p:pic>
      <p:sp>
        <p:nvSpPr>
          <p:cNvPr id="15" name="Rounded Rectangle 14"/>
          <p:cNvSpPr/>
          <p:nvPr/>
        </p:nvSpPr>
        <p:spPr>
          <a:xfrm>
            <a:off x="6705295" y="6345936"/>
            <a:ext cx="484632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47711"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0743"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747711"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10</a:t>
            </a:r>
          </a:p>
        </p:txBody>
      </p:sp>
      <p:sp>
        <p:nvSpPr>
          <p:cNvPr id="19" name="TextBox 18"/>
          <p:cNvSpPr txBox="1"/>
          <p:nvPr/>
        </p:nvSpPr>
        <p:spPr>
          <a:xfrm>
            <a:off x="8620963" y="6460236"/>
            <a:ext cx="2830068" cy="219456"/>
          </a:xfrm>
          <a:prstGeom prst="rect">
            <a:avLst/>
          </a:prstGeom>
          <a:noFill/>
        </p:spPr>
        <p:txBody>
          <a:bodyPr wrap="none" lIns="0" rIns="0" tIns="0" bIns="0">
            <a:spAutoFit/>
          </a:bodyPr>
          <a:lstStyle/>
          <a:p>
            <a:pPr algn="l"/>
            <a:r>
              <a:rPr sz="1000" b="1" i="0">
                <a:solidFill>
                  <a:srgbClr val="FFFFFF"/>
                </a:solidFill>
                <a:latin typeface="Helvetica Neue"/>
              </a:rPr>
              <a:t>Find where the knowledge is stored</a:t>
            </a:r>
          </a:p>
        </p:txBody>
      </p:sp>
      <p:pic>
        <p:nvPicPr>
          <p:cNvPr id="20" name="Picture 19" descr="fig_params.png"/>
          <p:cNvPicPr>
            <a:picLocks noChangeAspect="1"/>
          </p:cNvPicPr>
          <p:nvPr/>
        </p:nvPicPr>
        <p:blipFill>
          <a:blip r:embed="rId3"/>
          <a:stretch>
            <a:fillRect/>
          </a:stretch>
        </p:blipFill>
        <p:spPr>
          <a:xfrm>
            <a:off x="2209647" y="4956048"/>
            <a:ext cx="7772400" cy="1295400"/>
          </a:xfrm>
          <a:prstGeom prst="rect">
            <a:avLst/>
          </a:prstGeom>
        </p:spPr>
      </p:pic>
      <p:sp>
        <p:nvSpPr>
          <p:cNvPr id="21" name="TextBox 20"/>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Two thirds of every layer is feed-forward, only a third is attention. Attention gets the headlines; the knowledge lives next 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7239304" y="6345936"/>
            <a:ext cx="431231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8172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475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8172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11</a:t>
            </a:r>
          </a:p>
        </p:txBody>
      </p:sp>
      <p:sp>
        <p:nvSpPr>
          <p:cNvPr id="19" name="TextBox 18"/>
          <p:cNvSpPr txBox="1"/>
          <p:nvPr/>
        </p:nvSpPr>
        <p:spPr>
          <a:xfrm>
            <a:off x="9154972" y="6460236"/>
            <a:ext cx="2296058" cy="219456"/>
          </a:xfrm>
          <a:prstGeom prst="rect">
            <a:avLst/>
          </a:prstGeom>
          <a:noFill/>
        </p:spPr>
        <p:txBody>
          <a:bodyPr wrap="none" lIns="0" rIns="0" tIns="0" bIns="0">
            <a:spAutoFit/>
          </a:bodyPr>
          <a:lstStyle/>
          <a:p>
            <a:pPr algn="l"/>
            <a:r>
              <a:rPr sz="1000" b="1" i="0">
                <a:solidFill>
                  <a:srgbClr val="FFFFFF"/>
                </a:solidFill>
                <a:latin typeface="Helvetica Neue"/>
              </a:rPr>
              <a:t>Measure similarity by hand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19" name="TextBox 18"/>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19" name="TextBox 18"/>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639812" y="6345936"/>
            <a:ext cx="391180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222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9526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68222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20</a:t>
            </a:r>
          </a:p>
        </p:txBody>
      </p:sp>
      <p:sp>
        <p:nvSpPr>
          <p:cNvPr id="19" name="TextBox 18"/>
          <p:cNvSpPr txBox="1"/>
          <p:nvPr/>
        </p:nvSpPr>
        <p:spPr>
          <a:xfrm>
            <a:off x="9555480" y="6460236"/>
            <a:ext cx="1895551" cy="219456"/>
          </a:xfrm>
          <a:prstGeom prst="rect">
            <a:avLst/>
          </a:prstGeom>
          <a:noFill/>
        </p:spPr>
        <p:txBody>
          <a:bodyPr wrap="none" lIns="0" rIns="0" tIns="0" bIns="0">
            <a:spAutoFit/>
          </a:bodyPr>
          <a:lstStyle/>
          <a:p>
            <a:pPr algn="l"/>
            <a:r>
              <a:rPr sz="1000" b="1" i="0">
                <a:solidFill>
                  <a:srgbClr val="FFFFFF"/>
                </a:solidFill>
                <a:latin typeface="Helvetica Neue"/>
              </a:rPr>
              <a:t>Add the two defences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566928" y="2057400"/>
            <a:ext cx="5505013" cy="3657600"/>
          </a:xfrm>
          <a:prstGeom prst="rect">
            <a:avLst/>
          </a:prstGeom>
        </p:spPr>
      </p:pic>
      <p:sp>
        <p:nvSpPr>
          <p:cNvPr id="16" name="Rounded Rectangle 15"/>
          <p:cNvSpPr/>
          <p:nvPr/>
        </p:nvSpPr>
        <p:spPr>
          <a:xfrm>
            <a:off x="7269480" y="2377440"/>
            <a:ext cx="4297680" cy="294436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578608"/>
            <a:ext cx="3840480" cy="274320"/>
          </a:xfrm>
          <a:prstGeom prst="rect">
            <a:avLst/>
          </a:prstGeom>
          <a:noFill/>
        </p:spPr>
        <p:txBody>
          <a:bodyPr wrap="square" lIns="0" rIns="0" tIns="0" bIns="0">
            <a:spAutoFit/>
          </a:bodyPr>
          <a:lstStyle/>
          <a:p>
            <a:pPr algn="l"/>
            <a:r>
              <a:rPr sz="1150" b="1" i="0" spc="180">
                <a:solidFill>
                  <a:srgbClr val="047857"/>
                </a:solidFill>
                <a:latin typeface="Helvetica Neue"/>
              </a:rPr>
              <a:t>SET IT AT 0.90 AND SHIP</a:t>
            </a:r>
          </a:p>
        </p:txBody>
      </p:sp>
      <p:sp>
        <p:nvSpPr>
          <p:cNvPr id="18" name="TextBox 17"/>
          <p:cNvSpPr txBox="1"/>
          <p:nvPr/>
        </p:nvSpPr>
        <p:spPr>
          <a:xfrm>
            <a:off x="7543800" y="2926080"/>
            <a:ext cx="3840480" cy="438912"/>
          </a:xfrm>
          <a:prstGeom prst="rect">
            <a:avLst/>
          </a:prstGeom>
          <a:noFill/>
        </p:spPr>
        <p:txBody>
          <a:bodyPr wrap="square" lIns="0" rIns="0" tIns="0" bIns="0">
            <a:spAutoFit/>
          </a:bodyPr>
          <a:lstStyle/>
          <a:p>
            <a:pPr algn="l"/>
            <a:r>
              <a:rPr sz="2900" b="1" i="0">
                <a:solidFill>
                  <a:srgbClr val="0F172A"/>
                </a:solidFill>
                <a:latin typeface="Helvetica Neue"/>
              </a:rPr>
              <a:t>39%</a:t>
            </a:r>
          </a:p>
        </p:txBody>
      </p:sp>
      <p:sp>
        <p:nvSpPr>
          <p:cNvPr id="19" name="TextBox 18"/>
          <p:cNvSpPr txBox="1"/>
          <p:nvPr/>
        </p:nvSpPr>
        <p:spPr>
          <a:xfrm>
            <a:off x="7543800" y="3310128"/>
            <a:ext cx="3886200" cy="365760"/>
          </a:xfrm>
          <a:prstGeom prst="rect">
            <a:avLst/>
          </a:prstGeom>
          <a:noFill/>
        </p:spPr>
        <p:txBody>
          <a:bodyPr wrap="square" lIns="0" rIns="0" tIns="0" bIns="0">
            <a:spAutoFit/>
          </a:bodyPr>
          <a:lstStyle/>
          <a:p>
            <a:pPr algn="l"/>
            <a:r>
              <a:rPr sz="1300" b="0" i="0">
                <a:solidFill>
                  <a:srgbClr val="475569"/>
                </a:solidFill>
                <a:latin typeface="Helvetica Neue"/>
              </a:rPr>
              <a:t>of the inbox handled automatically</a:t>
            </a:r>
          </a:p>
        </p:txBody>
      </p:sp>
      <p:sp>
        <p:nvSpPr>
          <p:cNvPr id="20" name="TextBox 19"/>
          <p:cNvSpPr txBox="1"/>
          <p:nvPr/>
        </p:nvSpPr>
        <p:spPr>
          <a:xfrm>
            <a:off x="7543800" y="3730752"/>
            <a:ext cx="3840480" cy="438912"/>
          </a:xfrm>
          <a:prstGeom prst="rect">
            <a:avLst/>
          </a:prstGeom>
          <a:noFill/>
        </p:spPr>
        <p:txBody>
          <a:bodyPr wrap="square" lIns="0" rIns="0" tIns="0" bIns="0">
            <a:spAutoFit/>
          </a:bodyPr>
          <a:lstStyle/>
          <a:p>
            <a:pPr algn="l"/>
            <a:r>
              <a:rPr sz="2900" b="1" i="0">
                <a:solidFill>
                  <a:srgbClr val="0F172A"/>
                </a:solidFill>
                <a:latin typeface="Helvetica Neue"/>
              </a:rPr>
              <a:t>87%</a:t>
            </a:r>
          </a:p>
        </p:txBody>
      </p:sp>
      <p:sp>
        <p:nvSpPr>
          <p:cNvPr id="21" name="TextBox 20"/>
          <p:cNvSpPr txBox="1"/>
          <p:nvPr/>
        </p:nvSpPr>
        <p:spPr>
          <a:xfrm>
            <a:off x="7543800" y="4114800"/>
            <a:ext cx="3886200" cy="365760"/>
          </a:xfrm>
          <a:prstGeom prst="rect">
            <a:avLst/>
          </a:prstGeom>
          <a:noFill/>
        </p:spPr>
        <p:txBody>
          <a:bodyPr wrap="square" lIns="0" rIns="0" tIns="0" bIns="0">
            <a:spAutoFit/>
          </a:bodyPr>
          <a:lstStyle/>
          <a:p>
            <a:pPr algn="l"/>
            <a:r>
              <a:rPr sz="1300" b="0" i="0">
                <a:solidFill>
                  <a:srgbClr val="475569"/>
                </a:solidFill>
                <a:latin typeface="Helvetica Neue"/>
              </a:rPr>
              <a:t>accurate on those decisions</a:t>
            </a:r>
          </a:p>
        </p:txBody>
      </p:sp>
      <p:sp>
        <p:nvSpPr>
          <p:cNvPr id="22" name="TextBox 21"/>
          <p:cNvSpPr txBox="1"/>
          <p:nvPr/>
        </p:nvSpPr>
        <p:spPr>
          <a:xfrm>
            <a:off x="7543800" y="4535424"/>
            <a:ext cx="3840480" cy="438912"/>
          </a:xfrm>
          <a:prstGeom prst="rect">
            <a:avLst/>
          </a:prstGeom>
          <a:noFill/>
        </p:spPr>
        <p:txBody>
          <a:bodyPr wrap="square" lIns="0" rIns="0" tIns="0" bIns="0">
            <a:spAutoFit/>
          </a:bodyPr>
          <a:lstStyle/>
          <a:p>
            <a:pPr algn="l"/>
            <a:r>
              <a:rPr sz="2900" b="1" i="0">
                <a:solidFill>
                  <a:srgbClr val="0F172A"/>
                </a:solidFill>
                <a:latin typeface="Helvetica Neue"/>
              </a:rPr>
              <a:t>~1,937</a:t>
            </a:r>
          </a:p>
        </p:txBody>
      </p:sp>
      <p:sp>
        <p:nvSpPr>
          <p:cNvPr id="23" name="TextBox 22"/>
          <p:cNvSpPr txBox="1"/>
          <p:nvPr/>
        </p:nvSpPr>
        <p:spPr>
          <a:xfrm>
            <a:off x="7543800" y="4919472"/>
            <a:ext cx="3886200" cy="365760"/>
          </a:xfrm>
          <a:prstGeom prst="rect">
            <a:avLst/>
          </a:prstGeom>
          <a:noFill/>
        </p:spPr>
        <p:txBody>
          <a:bodyPr wrap="square" lIns="0" rIns="0" tIns="0" bIns="0">
            <a:spAutoFit/>
          </a:bodyPr>
          <a:lstStyle/>
          <a:p>
            <a:pPr algn="l"/>
            <a:r>
              <a:rPr sz="1300" b="0" i="0">
                <a:solidFill>
                  <a:srgbClr val="475569"/>
                </a:solidFill>
                <a:latin typeface="Helvetica Neue"/>
              </a:rPr>
              <a:t>tickets a week nobody has to touch</a:t>
            </a:r>
          </a:p>
        </p:txBody>
      </p:sp>
      <p:sp>
        <p:nvSpPr>
          <p:cNvPr id="24" name="Rounded Rectangle 23"/>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7" name="TextBox 26"/>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8" name="TextBox 27"/>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9" name="TextBox 28"/>
          <p:cNvSpPr txBox="1"/>
          <p:nvPr/>
        </p:nvSpPr>
        <p:spPr>
          <a:xfrm>
            <a:off x="640080" y="6035040"/>
            <a:ext cx="10881360" cy="365760"/>
          </a:xfrm>
          <a:prstGeom prst="rect">
            <a:avLst/>
          </a:prstGeom>
          <a:noFill/>
        </p:spPr>
        <p:txBody>
          <a:bodyPr wrap="square" lIns="0" rIns="0" tIns="0" bIns="0">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lIns="0" rIns="0" tIns="0" bIns="0">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lIns="0" rIns="0" tIns="0" bIns="0">
            <a:spAutoFit/>
          </a:bodyPr>
          <a:lstStyle/>
          <a:p>
            <a:pPr algn="l"/>
            <a:r>
              <a:rPr sz="2100" b="1" i="0">
                <a:solidFill>
                  <a:srgbClr val="0F172A"/>
                </a:solidFill>
                <a:latin typeface="Helvetica Neue"/>
              </a:rPr>
              <a:t>What if we DO sort them by hand?</a:t>
            </a:r>
          </a:p>
        </p:txBody>
      </p:sp>
      <p:sp>
        <p:nvSpPr>
          <p:cNvPr id="7" name="TextBox 6"/>
          <p:cNvSpPr txBox="1"/>
          <p:nvPr/>
        </p:nvSpPr>
        <p:spPr>
          <a:xfrm>
            <a:off x="896112" y="2532888"/>
            <a:ext cx="9875520" cy="365760"/>
          </a:xfrm>
          <a:prstGeom prst="rect">
            <a:avLst/>
          </a:prstGeom>
          <a:noFill/>
        </p:spPr>
        <p:txBody>
          <a:bodyPr wrap="square" lIns="0" rIns="0" tIns="0" bIns="0">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lIns="0" rIns="0" tIns="0" bIns="0">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lIns="0" rIns="0" tIns="0" bIns="0">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lIns="0" rIns="0" tIns="0" bIns="0">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lIns="0" rIns="0" tIns="0" bIns="0">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lIns="0" rIns="0" tIns="0" bIns="0">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lIns="0" rIns="0" tIns="0" bIns="0">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lIns="0" rIns="0" tIns="0" bIns="0">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