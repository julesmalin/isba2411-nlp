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 PM to 5:47 PM  ~2 min]</a:t>
            </a:r>
          </a:p>
          <a:p/>
          <a:p>
            <a:r>
              <a:t>Good evening. Last week we took a transformer apart to see how it works. Tonight we do the opposite: we build something with one.</a:t>
            </a:r>
          </a:p>
          <a:p>
            <a:r>
              <a:t>By the end of these two lectures you will have a working support copilot, and more importantly you will know which parts of it you can trust.</a:t>
            </a:r>
          </a:p>
          <a:p>
            <a:r>
              <a:t>Here is the situation we are walking into. Five thousand support tickets a week, three agents, and nothing in that inbox has ever been sorted or tagged by anyone. The standard advice is that you cannot use AI on a pile like that until somebody hand-sorts thousands of examples first. We are going to ship something useful tonight without sorting a single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[5:47 PM to 5:50 PM  ~3 min]</a:t>
            </a:r>
          </a:p>
          <a:p/>
          <a:p>
            <a:r>
              <a:t>Before we build anything, here is the map of the week so you always know where you are.</a:t>
            </a:r>
          </a:p>
          <a:p>
            <a:r>
              <a:t>On the left are the concepts. The ones tagged L13 are tonight. The ones tagged L14 are Thursday. Notice the split: tonight is about *using* models that already exist, and Thursday is about how they got that way and what happens when you adapt one to your own data.</a:t>
            </a:r>
          </a:p>
          <a:p>
            <a:r>
              <a:t>On the right are the five models we actually run. Look at the sizes. Twenty three million parameters for the small one, a hundred and eighty four million for the biggest. These are tiny by modern standards, and every one of them runs free in Colab. And every single one was pretrained by somebody else. We just download them. That fact is the entire reason this week works.</a:t>
            </a:r>
          </a:p>
          <a:p>
            <a:r>
              <a:t>At the bottom are the readings. Jurafsky and Martin chapter seven is generalised language models, chapter ten is BERT. Those two are the core. The titles are live links in the PDF on Canvas.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[5:50 PM to 5:54 PM  ~4 min]</a:t>
            </a:r>
          </a:p>
          <a:p/>
          <a:p>
            <a:r>
              <a:t>Before we touch any technology, you need to be able to picture the job. Three sentences.</a:t>
            </a:r>
          </a:p>
          <a:p>
            <a:r>
              <a:t>First, what Cobalt actually sells. It is a software company. About six hundred other businesses pay Cobalt a monthly subscription to use its product, and that product plugs into their company databases and turns the raw numbers into charts and dashboards that their staff look at every morning. Think of the dashboard your manager checks to see how the week is going. Cobalt builds those.</a:t>
            </a:r>
          </a:p>
          <a:p>
            <a:r>
              <a:t>Second, why customers write in. When something breaks for one of those six hundred companies, and something always breaks, they need help. A chart is showing a number they know is wrong. Nobody on their team can sign in. An invoice looks strange. So they click Help, then Contact support, right inside the product, or they email support at cobalt dot com. And they type out what went wrong, in their own words, the way you would write to a colleague.</a:t>
            </a:r>
          </a:p>
          <a:p>
            <a:r>
              <a:t>Third, where that message lands. Each one becomes what the industry calls a ticket. It is not a physical thing; it is just their message, plus a note of who sent it, when, and which plan they are on. And every ticket drops into one shared work queue that the three support agents grind through, oldest first.</a:t>
            </a:r>
          </a:p>
          <a:p>
            <a:r>
              <a:t>That queue is what I am going to call the inbox for the rest of tonight. Not your email inbox. This one specific queue of customer problems waiting to be answered.</a:t>
            </a:r>
          </a:p>
          <a:p>
            <a:r>
              <a:t>Look at the two real examples on the right, because this is the whole data set in miniature. "Dashboards take forty plus seconds to load since yesterday." "We were charged twice this month for the same seats." That is all a ticket is: a couple of sentences of ordinary human writing. There is no form, no dropdown, no category. Just what somebody typed while they were annoyed.</a:t>
            </a:r>
          </a:p>
          <a:p>
            <a:r>
              <a:t>Five thousand of these arrive every week. Three people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[5:54 PM to 5:57 PM  ~3 min]</a:t>
            </a:r>
          </a:p>
          <a:p/>
          <a:p>
            <a:r>
              <a:t>Now the problem. Every one of those five thousand tickets has to be read by a person before it can be answered, and that reading is where the day goes.</a:t>
            </a:r>
          </a:p>
          <a:p>
            <a:r>
              <a:t>About forty percent of them are variations of the same handful of questions. And before an agent can do anything useful, they have to read the ticket, work out what it is even about, and decide who should own it. Billing or engineering? Urgent or not? That triage is a few minutes on every single ticket, five thousand times a week. That is the waste we are going after.</a:t>
            </a:r>
          </a:p>
          <a:p>
            <a:r>
              <a:t>Now the constraint, and this is the one that makes it interesting. Look at the third box: nothing in this queue is sorted.</a:t>
            </a:r>
          </a:p>
          <a:p>
            <a:r>
              <a:t>Here is why that matters, and if you have never done machine learning this is the sentence to hold onto. The normal way to teach a computer to sort text is to hand it a few thousand examples that a person has already sorted by hand. Somebody sits down, reads ticket one, and writes "billing". Reads ticket two, writes "login problem". A few thousand times. That pile of hand-sorted examples is called training data, and almost everything you have heard about machine learning assumes you have it.</a:t>
            </a:r>
          </a:p>
          <a:p>
            <a:r>
              <a:t>Cobalt does not. Building it would mean paying people to read and tag thousands of tickets before you could write a single line of code. That is weeks of work and a budget nobody approved.</a:t>
            </a:r>
          </a:p>
          <a:p>
            <a:r>
              <a:t>So the textbook answer is off the table, and that is the whole point of tonight. We are going to build something useful anyway. We start with the half of the product that reads the inbox. Thursday we make it act. And everything we do tonight works on any pile of text you have: tickets, reviews, resumes, survey answers, sales call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[5:57 PM to 6:00 PM  ~3 min]</a:t>
            </a:r>
          </a:p>
          <a:p/>
          <a:p>
            <a:r>
              <a:t>Four capabilities, built in order.</a:t>
            </a:r>
          </a:p>
          <a:p>
            <a:r>
              <a:t>Represent: turn each ticket into numbers, because a model cannot read.</a:t>
            </a:r>
          </a:p>
          <a:p>
            <a:r>
              <a:t>Retrieve: find tickets by meaning instead of by keyword.</a:t>
            </a:r>
          </a:p>
          <a:p>
            <a:r>
              <a:t>Route: sort the inbox into buckets without any of that hand-sorted training data.</a:t>
            </a:r>
          </a:p>
          <a:p>
            <a:r>
              <a:t>Decide: work out which decisions the system is allowed to make on its own.</a:t>
            </a:r>
          </a:p>
          <a:p>
            <a:r>
              <a:t>Each one is useful by itself. You could stop after step two and have shipped something your support team would thank you for. Together they are a product.</a:t>
            </a:r>
          </a:p>
          <a:p>
            <a:r>
              <a:t>Watch the numbered strip in the top right corner. It tells you which rung we are standing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[6:00 PM to 6:05 PM  ~5 min]</a:t>
            </a:r>
          </a:p>
          <a:p>
            <a:r>
              <a:t>TO THE NOTEBOOK: STEP 3 · Turn tickets into vectors, then search</a:t>
            </a:r>
          </a:p>
          <a:p/>
          <a:p>
            <a:r>
              <a:t>Before any theory at all, let me show you the thing working. I am going to search this queue for "we are being charged wrong".</a:t>
            </a:r>
          </a:p>
          <a:p>
            <a:r>
              <a:t>First, keyword search. Zero results. Not one ticket contains that phrase, because real customers do not write the phrase you happened to think of.</a:t>
            </a:r>
          </a:p>
          <a:p>
            <a:r>
              <a:t>Now the same query, semantic search. Back come "we got charged for a trial I understood to be free", "invoice does not match the amount that hit our card", "we were charged twice this month for the same seats". None of those contain the words I typed. Meaning matched. Spelling did not.</a:t>
            </a:r>
          </a:p>
          <a:p>
            <a:r>
              <a:t>This is a feature you have used a hundred times without noticing. Every help centre search that actually works, every "related tickets" sidebar, every internal wiki that finds the right document. It is this. And we have not trained anything.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[6:05 PM to 6:09 PM  ~4 min]</a:t>
            </a:r>
          </a:p>
          <a:p>
            <a:r>
              <a:t>TO THE NOTEBOOK: STEP 5 · Map the whole inbox</a:t>
            </a:r>
          </a:p>
          <a:p/>
          <a:p>
            <a:r>
              <a:t>One more thing before we move on. If every ticket is a point, we can flatten those points onto a page and look at the entire inbox at once.</a:t>
            </a:r>
          </a:p>
          <a:p>
            <a:r>
              <a:t>Here are all one hundred and sixty. The grey dots are every ticket. Then I asked for the fourteen nearest neighbours of four different phrases and coloured those in.</a:t>
            </a:r>
          </a:p>
          <a:p>
            <a:r>
              <a:t>Look at what happened. The billing tickets cluster together. The sign-in tickets cluster. The slow-and-broken tickets cluster. Nobody sorted any of this. I never told the model these categories existed. That structure was already sitting in the text, and all we did was make it visible.</a:t>
            </a:r>
          </a:p>
          <a:p>
            <a:r>
              <a:t>The practical version: you can walk into a leadership meeting and show them what is inside a pile of feedback before spending one dollar on hand-sorting.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[6:09 PM to 6:13 PM  ~4 min]</a:t>
            </a:r>
          </a:p>
          <a:p>
            <a:r>
              <a:t>TO THE NOTEBOOK: STEP 6 · Split text into tokens</a:t>
            </a:r>
          </a:p>
          <a:p/>
          <a:p>
            <a:r>
              <a:t>So how did that work? To answer that we have to go all the way down to the smallest piece, because a model cannot read. It does arithmetic. The first job is turning text into numbers.</a:t>
            </a:r>
          </a:p>
          <a:p>
            <a:r>
              <a:t>Watch what happens to this sentence. The model does not see words. It sees tokens, chunks from a fixed vocabulary of about thirty thousand pieces. "Our", "connector" and "failed" survive whole because they are common. But "Postgres" gets broken into "post", "gre", "s". Three fragments.</a:t>
            </a:r>
          </a:p>
          <a:p>
            <a:r>
              <a:t>Why? Because Postgres was not common enough to earn its own slot, so the model spells it out from pieces. That is how a fixed vocabulary can represent any word you throw at it, including words invented after the model was trained.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[6:13 PM to 6:17 PM  ~4 min]</a:t>
            </a:r>
          </a:p>
          <a:p>
            <a:r>
              <a:t>TO THE NOTEBOOK: STEP 7 · Test your product vocabulary</a:t>
            </a:r>
          </a:p>
          <a:p/>
          <a:p>
            <a:r>
              <a:t>Now here is why you should care, and this is the first genuinely useful thing you can take to work.</a:t>
            </a:r>
          </a:p>
          <a:p>
            <a:r>
              <a:t>Let me run your product vocabulary through that same tokenizer. Okta becomes "ok" plus "ta". SAML becomes "sam" plus "l". Webhook becomes three pieces. Kubernetes shatters into four.</a:t>
            </a:r>
          </a:p>
          <a:p>
            <a:r>
              <a:t>Look at what just happened. The model has never seen your industry's words. It is sounding them out phonetically, like somebody reading a foreign name off a page. Snowflake is not a data warehouse to this model. It is snow, plus fl, plus ake.</a:t>
            </a:r>
          </a:p>
          <a:p>
            <a:r>
              <a:t>So when a vendor tells you semantic search will work beautifully on your data, this is the two minute test that tells you whether they are right. It degrades exactly where your business is most specific: product names, error codes, part numbers, drug names, legal citations. Run the tokenizer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[6:17 PM to 6:21 PM  ~4 min]</a:t>
            </a:r>
          </a:p>
          <a:p>
            <a:r>
              <a:t>TO THE NOTEBOOK: STEP 8 · Pool tokens into one vector</a:t>
            </a:r>
          </a:p>
          <a:p/>
          <a:p>
            <a:r>
              <a:t>Tokens become vectors, one per token. But we need one vector per ticket, not one per token. So how do we get from twelve token vectors down to one?</a:t>
            </a:r>
          </a:p>
          <a:p>
            <a:r>
              <a:t>We average them. That is genuinely it. Add them up, divide by how many there are, scale the result to length one.</a:t>
            </a:r>
          </a:p>
          <a:p>
            <a:r>
              <a:t>When we do that by hand in the notebook and compare it to the library's one-line function, the difference is exactly zero. Not approximately zero. Zero. It is the same arithmetic, just written out.</a:t>
            </a:r>
          </a:p>
          <a:p>
            <a:r>
              <a:t>And notice the weakness that exposes. A ticket's vector is an average. If a customer writes three unrelated complaints in one ticket, all three blend into a single mushy point that is not really about any of them. That is why long documents get chopped into chunks before you embed them, and it is going to matter a great deal when we get to retrieval next week.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[6:21 PM to 6:25 PM  ~4 min]</a:t>
            </a:r>
          </a:p>
          <a:p>
            <a:r>
              <a:t>TO THE NOTEBOOK: STEP 9 · Watch attention change a word</a:t>
            </a:r>
          </a:p>
          <a:p/>
          <a:p>
            <a:r>
              <a:t>One more piece and then we move on, and this is a callback rather than new material. You built the transformer in Lecture 11. I am not going to rebuild it. I want the ninety seconds of it that actually matter for what we are doing tonight.</a:t>
            </a:r>
          </a:p>
          <a:p>
            <a:r>
              <a:t>Inside that one line, bert of batch, two things happen, over and over.</a:t>
            </a:r>
          </a:p>
          <a:p>
            <a:r>
              <a:t>The first is attention. Every word looks at every other word in the ticket and pulls in what it needs. So "charged" reads "twice" and "seats" and comes out carrying a piece of both. Information moves sideways, between words.</a:t>
            </a:r>
          </a:p>
          <a:p>
            <a:r>
              <a:t>The second is the feed-forward network, and it does the opposite. Each word goes off on its own through a small network, no looking sideways, and that is where the model applies what it already knows.</a:t>
            </a:r>
          </a:p>
          <a:p>
            <a:r>
              <a:t>Look around, then think about it. That pair is one block, and this model stacks six of them.</a:t>
            </a:r>
          </a:p>
          <a:p>
            <a:r>
              <a:t>Two numbers prove both halves are real. On the right: the word "plan" in two different tickets. Going in, the two vectors are zero point nine three alike, because it is literally the same word. Coming out, zero point four six. That gap is attention reading the neighbours. And underneath: two thirds of every layer is feed-forward, not attention. Attention gets the headlines, but most of the model by weight is the part that stores what it knows.</a:t>
            </a:r>
          </a:p>
          <a:p>
            <a:r>
              <a:t>That is the whole architecture. Everything else you may have heard is detail inside the first half.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[6:25 PM to 6:31 PM  ~6 min]</a:t>
            </a:r>
          </a:p>
          <a:p>
            <a:r>
              <a:t>TO THE NOTEBOOK: STEP 13 · Route the inbox with no training data</a:t>
            </a:r>
          </a:p>
          <a:p/>
          <a:p>
            <a:r>
              <a:t>Now the interesting part. We want to sort the inbox into the buckets our support team actually uses. The textbook answer is: hand-sort a few thousand tickets, then train a classifier. That is weeks of work and money Cobalt does not have.</a:t>
            </a:r>
          </a:p>
          <a:p>
            <a:r>
              <a:t>One thing to head off before it confuses somebody. In the code you will see an argument called candidate underscore labels. Those are not the hand-sorted labels I just told you we do not have. Nobody sorted a ticket. They are the sentences we write, in English, in about a minute. The library just picked an unfortunate name.</a:t>
            </a:r>
          </a:p>
          <a:p>
            <a:r>
              <a:t>So we do it differently. Watch what the program looks like. I write out each bucket as a description in plain English. "An invoice, payment, refund or pricing question." "The product being slow, timing out or hanging." That is the code. That is the whole program. Then one pipeline call. There is no training step anywhere.</a:t>
            </a:r>
          </a:p>
          <a:p>
            <a:r>
              <a:t>Before I run it, commit to a prediction. Eight buckets, so random guessing is twelve and a half percent. What would you bet on?</a:t>
            </a:r>
          </a:p>
          <a:p>
            <a:r>
              <a:t>[run it] Sixty four percent on its single best guess, and eighty percent if you let it offer two. Nobody sorted a ticket. Nothing was trained. Zero dollars.</a:t>
            </a:r>
          </a:p>
          <a:p>
            <a:r>
              <a:t>Now read that eighty percent as a product instead of a metric. It means you show your agent two buttons instead of eight.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[6:31 PM to 6:36 PM  ~5 min]</a:t>
            </a:r>
          </a:p>
          <a:p>
            <a:r>
              <a:t>TO THE NOTEBOOK: STEP 17 · See the entailment scores</a:t>
            </a:r>
          </a:p>
          <a:p/>
          <a:p>
            <a:r>
              <a:t>You should be slightly suspicious right now. How can a model sort tickets into categories it has never seen before? Here is the answer, and it is my favourite thing in this lecture.</a:t>
            </a:r>
          </a:p>
          <a:p>
            <a:r>
              <a:t>It is not a classifier. It is a fact-checker.</a:t>
            </a:r>
          </a:p>
          <a:p>
            <a:r>
              <a:t>This model was trained on a task called natural language inference. You give it two sentences and it decides whether the first one makes the second one true. Entailment, or not. That is all it does.</a:t>
            </a:r>
          </a:p>
          <a:p>
            <a:r>
              <a:t>The zero-shot trick is to smuggle classification into that format. The premise is the ticket. The hypothesis is a sentence we build: "This example is", plus your description. Then it just answers true or false.</a:t>
            </a:r>
          </a:p>
          <a:p>
            <a:r>
              <a:t>Look at the two rows. For the billing description the entailment score is plus three point two nine, strongly true. For the slow-and-timing-out description it is minus three point eight six. The sign flips. It scores all eight sentences and picks whichever one it believes most.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[6:36 PM to 6:40 PM  ~4 min]</a:t>
            </a:r>
          </a:p>
          <a:p>
            <a:r>
              <a:t>TO THE NOTEBOOK: STEP 16 · YOUR KNOB: rewrite the descriptions</a:t>
            </a:r>
          </a:p>
          <a:p/>
          <a:p>
            <a:r>
              <a:t>Which brings us to the single most practical thing tonight. If the descriptions are the program, then how you write them is engineering.</a:t>
            </a:r>
          </a:p>
          <a:p>
            <a:r>
              <a:t>Watch. On the left, careful descriptions: sixty four percent. On the right, I replaced them with lazy one-word descriptions. Just "billing". Just "bug". Forty seven percent.</a:t>
            </a:r>
          </a:p>
          <a:p>
            <a:r>
              <a:t>Same model. Same tickets. Same code. Only the wording changed, and it cost seventeen points of accuracy.</a:t>
            </a:r>
          </a:p>
          <a:p>
            <a:r>
              <a:t>Why? Because you are not naming a category. You are writing a sentence the model has to judge true or false, and "billing" is much harder to judge than "an invoice, payment, refund or pricing question".</a:t>
            </a:r>
          </a:p>
          <a:p>
            <a:r>
              <a:t>This is exactly the same skill as writing a good prompt. Precision in writing is not a soft skill here. It is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[6:40 PM to 6:44 PM  ~4 min]</a:t>
            </a:r>
          </a:p>
          <a:p>
            <a:r>
              <a:t>TO THE NOTEBOOK: STEP 18 · Find the weak buckets</a:t>
            </a:r>
          </a:p>
          <a:p/>
          <a:p>
            <a:r>
              <a:t>Now let us be honest about sixty four percent, because an average is a terrible way to run a product. The question is not "how accurate is it". The question is "which tickets does it get wrong, and do I care".</a:t>
            </a:r>
          </a:p>
          <a:p>
            <a:r>
              <a:t>Here is the per-bucket breakdown. Green is fine, red is broken. How-to and feature requests are strong. Data sync is the worst by a mile.</a:t>
            </a:r>
          </a:p>
          <a:p>
            <a:r>
              <a:t>And when I pull up the actual mistakes, the pattern is obvious. Data sync tickets are being sent to the UI bug bucket. Look at why. "The row counts do not match our warehouse." Is that a data sync problem, or is that something displaying the wrong number? Honestly, it is both. My two descriptions overlap.</a:t>
            </a:r>
          </a:p>
          <a:p>
            <a:r>
              <a:t>The model is not confused. My categories are.</a:t>
            </a:r>
          </a:p>
          <a:p>
            <a:r>
              <a:t>So write this one down: when a classifier underperforms, look at your taxonomy before you look at your model. Categories should describe what the customer wants done, not which internal component broke.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[6:44 PM to 6:49 PM  ~5 min]</a:t>
            </a:r>
          </a:p>
          <a:p>
            <a:r>
              <a:t>TO THE NOTEBOOK: STEP 19 · Feed it an off-topic ticket</a:t>
            </a:r>
          </a:p>
          <a:p/>
          <a:p>
            <a:r>
              <a:t>Here is the thing that should genuinely worry you, and it is the most important slide tonight.</a:t>
            </a:r>
          </a:p>
          <a:p>
            <a:r>
              <a:t>Those data sync tickets were not misrouted with a shrug. The model was ninety four percent, ninety nine percent confident, and wrong. Confidently wrong is far more dangerous than uncertain.</a:t>
            </a:r>
          </a:p>
          <a:p>
            <a:r>
              <a:t>Let me show you why that happens. I am going to feed it a ticket that belongs in none of our eight buckets: somebody applying for a job. Predict what happens.</a:t>
            </a:r>
          </a:p>
          <a:p>
            <a:r>
              <a:t>[run it] It says "feature request", sixty one percent confident. And look at the bottom line: the scores sum to one point zero zero.</a:t>
            </a:r>
          </a:p>
          <a:p>
            <a:r>
              <a:t>There it is. The final step is a softmax, and a softmax spreads one hundred percent of the belief across the options you supplied. It has to pick a winner. There is no "none of these" unless you build one.</a:t>
            </a:r>
          </a:p>
          <a:p>
            <a:r>
              <a:t>So that confidence number does not mean "how likely am I to be right". It means "of the choices you gave me, this one fits best". A confident wrong answer is exactly what you get when every option is bad.</a:t>
            </a:r>
          </a:p>
          <a:p>
            <a:r>
              <a:t>Practical rule: never show a raw confidence score to a user as if it were a probability of correctness, and never let one gate an action you cannot undo.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[6:49 PM to 7:02 PM  ~13 min]</a:t>
            </a:r>
          </a:p>
          <a:p>
            <a:r>
              <a:t>TO THE NOTEBOOK: GAME NOTEBOOK · L13_Game_Shipping_Decision.ipynb</a:t>
            </a:r>
          </a:p>
          <a:p/>
          <a:p>
            <a:r>
              <a:t>Right. Your turn, and this is a competition.</a:t>
            </a:r>
          </a:p>
          <a:p>
            <a:r>
              <a:t>You have all built the same copilot. It is right about sixty four percent of the time and it tells you how confident it is on every ticket. Now you have to ship it, and shipping means answering one question: how sure does it have to be before we let it route a ticket without a human?</a:t>
            </a:r>
          </a:p>
          <a:p>
            <a:r>
              <a:t>Here is the twist. Each team runs that same copilot for a different company, and the six companies are on the screen. Look at the two right-hand columns, because that is the whole game. For Pixelbloom, a consumer photo app, a wrong route costs seven dollars and a human sorting costs six. Almost the same. For Halcyon Health, a wrong route means patient data went to the wrong team, and that is a hundred and ten dollars against eleven.</a:t>
            </a:r>
          </a:p>
          <a:p>
            <a:r>
              <a:t>Open the game notebook. Put in your team number, and you get your company and your costs. Then turn the confidence bar and watch your weekly bill move.</a:t>
            </a:r>
          </a:p>
          <a:p>
            <a:r>
              <a:t>Two rules. Do not copy another team's number, it will be wrong for you. And you are not scored on raw dollars, because Halcyon's cheapest week costs more than Pixelbloom's worst. You are scored on how close you get to the best possible setting for your own company. Lowest percentage left on the table wins.</a:t>
            </a:r>
          </a:p>
          <a:p>
            <a:r>
              <a:t>Twelve minutes. 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[7:02 PM to 7:06 PM  ~4 min]</a:t>
            </a:r>
          </a:p>
          <a:p>
            <a:r>
              <a:t>TO THE NOTEBOOK: GAME NOTEBOOK · STEP 6, everyone's answer at once</a:t>
            </a:r>
          </a:p>
          <a:p/>
          <a:p>
            <a:r>
              <a:t>Everybody stop. Read out your line.</a:t>
            </a:r>
          </a:p>
          <a:p>
            <a:r>
              <a:t>[collect the answers, write the thresholds on the board]</a:t>
            </a:r>
          </a:p>
          <a:p>
            <a:r>
              <a:t>Now look at this. Six curves, one per company, and the dot on each is the best possible setting.</a:t>
            </a:r>
          </a:p>
          <a:p>
            <a:r>
              <a:t>Pixelbloom's best answer is zero point three one. Automate ninety six percent of the queue. Halcyon Health's best answer is zero point nine seven. Automate twelve percent.</a:t>
            </a:r>
          </a:p>
          <a:p>
            <a:r>
              <a:t>Same copilot. Same one hundred and sixty tickets. Same sixty four percent accuracy. Nobody had a better model, nobody had more data, and nobody was wrong. The answers range from automate almost everything to automate almost nothing, and the only thing that changed was what a mistake costs.</a:t>
            </a:r>
          </a:p>
          <a:p>
            <a:r>
              <a:t>So here is the thing to take out of the room. There is no best setting for an AI system. There is only the best setting for a specific business. Anyone who quotes you a single accuracy number has not told you enough to make a decision.</a:t>
            </a:r>
          </a:p>
          <a:p>
            <a:r>
              <a:t>And the question that unlocks it is not "how accurate is it". It is "what does a wrong answer cost us here". You just watched that one question move the right answer across the entire range. Vendors will almost never ask it for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[7:06 PM to 7:09 PM  ~3 min]</a:t>
            </a:r>
          </a:p>
          <a:p/>
          <a:p>
            <a:r>
              <a:t>Full circle. Here is what we built tonight.</a:t>
            </a:r>
          </a:p>
          <a:p>
            <a:r>
              <a:t>Semantic search across the whole inbox. An eight-way router built with no training data at all. A confidence policy that decides what ships automatically. And an escalation path, so the system can admit when it does not know.</a:t>
            </a:r>
          </a:p>
          <a:p>
            <a:r>
              <a:t>Total cost of hand-sorting tickets: zero dollars.</a:t>
            </a:r>
          </a:p>
          <a:p>
            <a:r>
              <a:t>And here is the one idea I want you to leave with. Somebody else already spent millions of dollars teaching a model to read English. You do not have to build intelligence. Your job is to point it at your problem, cheaply, and know where it breaks.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[7:09 PM to 7:13 PM  ~4 min]</a:t>
            </a:r>
          </a:p>
          <a:p/>
          <a:p>
            <a:r>
              <a:t>Let me translate all of that into sentences you can actually say in a meeting, because that is the part that gets you hired.</a:t>
            </a:r>
          </a:p>
          <a:p>
            <a:r>
              <a:t>Take the third row. You now know you can ship a useful classifier with no training data. So when somebody says "we cannot start until we have labelled data", you know that is often just not true.</a:t>
            </a:r>
          </a:p>
          <a:p>
            <a:r>
              <a:t>Or the fifth row: a confident answer can be completely wrong, so you never wire a confidence score to an irreversible action.</a:t>
            </a:r>
          </a:p>
          <a:p>
            <a:r>
              <a:t>Or the last one: coverage and accuracy trade off against each other, so what you hand your boss is a curve, not a number.</a:t>
            </a:r>
          </a:p>
          <a:p>
            <a:r>
              <a:t>None of these are facts about transformers. They are instincts about building products with them, and this morning you did not have them.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[7:13 PM to 7:15 PM  ~2 min]</a:t>
            </a:r>
          </a:p>
          <a:p/>
          <a:p>
            <a:r>
              <a:t>Thursday we build the other half. Four things.</a:t>
            </a:r>
          </a:p>
          <a:p>
            <a:r>
              <a:t>First: what actually happens if we do invest in labelling a few hundred tickets. Is it worth it?</a:t>
            </a:r>
          </a:p>
          <a:p>
            <a:r>
              <a:t>Second: where tonight's reading ability came from, which is BERT and masked language modelling.</a:t>
            </a:r>
          </a:p>
          <a:p>
            <a:r>
              <a:t>Third: pulling out specifics, so instead of "this is a data problem" we get "the Postgres connector, error code SYNC_TIMEOUT, on the Business plan".</a:t>
            </a:r>
          </a:p>
          <a:p>
            <a:r>
              <a:t>And fourth, the one that sets up Week 8: we watch the model invent a refund policy that does not exist, with total confidence.</a:t>
            </a:r>
          </a:p>
          <a:p>
            <a:r>
              <a:t>The notebook is on Canvas and on GitHub. Run it, turn the knobs, and try to break it. That is where this goes from "I watched it" to "I get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lIns="0" rIns="0" tIns="0" bIns="0">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lIns="0" rIns="0" tIns="0" bIns="0">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lIns="0" rIns="0" tIns="0" bIns="0">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lIns="0" rIns="0" tIns="0" bIns="0">
            <a:spAutoFit/>
          </a:bodyPr>
          <a:lstStyle/>
          <a:p>
            <a:pPr algn="l"/>
            <a:r>
              <a:rPr sz="1700" b="0" i="1">
                <a:solidFill>
                  <a:srgbClr val="0F172A"/>
                </a:solidFill>
                <a:latin typeface="Helvetica Neue"/>
              </a:rPr>
              <a:t>5,000 tickets a week, three agents, and nothing in the queue has ever been sorted. Let's ship anyway.</a:t>
            </a:r>
          </a:p>
        </p:txBody>
      </p:sp>
      <p:sp>
        <p:nvSpPr>
          <p:cNvPr id="7" name="TextBox 6"/>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lIns="0" rIns="0" tIns="0" bIns="0">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that reading is where the three agents lose their day.</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lIns="0" rIns="0" tIns="0" bIns="0">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lIns="0" rIns="0" tIns="0" bIns="0">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lIns="0" rIns="0" tIns="0" bIns="0">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Search that finds what you meant.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theory: watch it find tickets that do not contain a single word you typed.</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search.png"/>
          <p:cNvPicPr>
            <a:picLocks noChangeAspect="1"/>
          </p:cNvPicPr>
          <p:nvPr/>
        </p:nvPicPr>
        <p:blipFill>
          <a:blip r:embed="rId2"/>
          <a:stretch>
            <a:fillRect/>
          </a:stretch>
        </p:blipFill>
        <p:spPr>
          <a:xfrm>
            <a:off x="518007" y="2013030"/>
            <a:ext cx="11155680" cy="4157819"/>
          </a:xfrm>
          <a:prstGeom prst="rect">
            <a:avLst/>
          </a:prstGeom>
        </p:spPr>
      </p:pic>
      <p:sp>
        <p:nvSpPr>
          <p:cNvPr id="16" name="Rounded Rectangle 15"/>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47457"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7547457"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3</a:t>
            </a:r>
          </a:p>
        </p:txBody>
      </p:sp>
      <p:sp>
        <p:nvSpPr>
          <p:cNvPr id="20" name="TextBox 19"/>
          <p:cNvSpPr txBox="1"/>
          <p:nvPr/>
        </p:nvSpPr>
        <p:spPr>
          <a:xfrm>
            <a:off x="8352129" y="6460236"/>
            <a:ext cx="3098901" cy="219456"/>
          </a:xfrm>
          <a:prstGeom prst="rect">
            <a:avLst/>
          </a:prstGeom>
          <a:noFill/>
        </p:spPr>
        <p:txBody>
          <a:bodyPr wrap="none" lIns="0" rIns="0" tIns="0" bIns="0">
            <a:spAutoFit/>
          </a:bodyPr>
          <a:lstStyle/>
          <a:p>
            <a:pPr algn="l"/>
            <a:r>
              <a:rPr sz="1000" b="1" i="0">
                <a:solidFill>
                  <a:srgbClr val="FFFFFF"/>
                </a:solidFill>
                <a:latin typeface="Helvetica Neue"/>
              </a:rPr>
              <a:t>Turn tickets into vectors, then search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Nobody sorted these. Plot the tickets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90383" y="1965960"/>
            <a:ext cx="5610928" cy="4251960"/>
          </a:xfrm>
          <a:prstGeom prst="rect">
            <a:avLst/>
          </a:prstGeom>
        </p:spPr>
      </p:pic>
      <p:sp>
        <p:nvSpPr>
          <p:cNvPr id="16" name="Rounded Rectangle 15"/>
          <p:cNvSpPr/>
          <p:nvPr/>
        </p:nvSpPr>
        <p:spPr>
          <a:xfrm>
            <a:off x="7773314" y="6345936"/>
            <a:ext cx="377830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815730"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876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815730"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5</a:t>
            </a:r>
          </a:p>
        </p:txBody>
      </p:sp>
      <p:sp>
        <p:nvSpPr>
          <p:cNvPr id="20" name="TextBox 19"/>
          <p:cNvSpPr txBox="1"/>
          <p:nvPr/>
        </p:nvSpPr>
        <p:spPr>
          <a:xfrm>
            <a:off x="9620402" y="6460236"/>
            <a:ext cx="1830628" cy="219456"/>
          </a:xfrm>
          <a:prstGeom prst="rect">
            <a:avLst/>
          </a:prstGeom>
          <a:noFill/>
        </p:spPr>
        <p:txBody>
          <a:bodyPr wrap="none" lIns="0" rIns="0" tIns="0" bIns="0">
            <a:spAutoFit/>
          </a:bodyPr>
          <a:lstStyle/>
          <a:p>
            <a:pPr algn="l"/>
            <a:r>
              <a:rPr sz="1000" b="1" i="0">
                <a:solidFill>
                  <a:srgbClr val="FFFFFF"/>
                </a:solidFill>
                <a:latin typeface="Helvetica Neue"/>
              </a:rPr>
              <a:t>Map the whole inbox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So how did it do that? Start with the smallest piece.</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 model cannot read. It can only do arithmetic, so the text has to become numbers.</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tokens.png"/>
          <p:cNvPicPr>
            <a:picLocks noChangeAspect="1"/>
          </p:cNvPicPr>
          <p:nvPr/>
        </p:nvPicPr>
        <p:blipFill>
          <a:blip r:embed="rId2"/>
          <a:stretch>
            <a:fillRect/>
          </a:stretch>
        </p:blipFill>
        <p:spPr>
          <a:xfrm>
            <a:off x="518007" y="2640679"/>
            <a:ext cx="11155680" cy="2902521"/>
          </a:xfrm>
          <a:prstGeom prst="rect">
            <a:avLst/>
          </a:prstGeom>
        </p:spPr>
      </p:pic>
      <p:sp>
        <p:nvSpPr>
          <p:cNvPr id="16" name="Rounded Rectangle 15"/>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15476"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615476"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6</a:t>
            </a:r>
          </a:p>
        </p:txBody>
      </p:sp>
      <p:sp>
        <p:nvSpPr>
          <p:cNvPr id="20" name="TextBox 19"/>
          <p:cNvSpPr txBox="1"/>
          <p:nvPr/>
        </p:nvSpPr>
        <p:spPr>
          <a:xfrm>
            <a:off x="9420148" y="6460236"/>
            <a:ext cx="2030882" cy="219456"/>
          </a:xfrm>
          <a:prstGeom prst="rect">
            <a:avLst/>
          </a:prstGeom>
          <a:noFill/>
        </p:spPr>
        <p:txBody>
          <a:bodyPr wrap="none" lIns="0" rIns="0" tIns="0" bIns="0">
            <a:spAutoFit/>
          </a:bodyPr>
          <a:lstStyle/>
          <a:p>
            <a:pPr algn="l"/>
            <a:r>
              <a:rPr sz="1000" b="1" i="0">
                <a:solidFill>
                  <a:srgbClr val="FFFFFF"/>
                </a:solidFill>
                <a:latin typeface="Helvetica Neue"/>
              </a:rPr>
              <a:t>Split text into tokens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Check what happens to your business vocabulary.</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jargon.png"/>
          <p:cNvPicPr>
            <a:picLocks noChangeAspect="1"/>
          </p:cNvPicPr>
          <p:nvPr/>
        </p:nvPicPr>
        <p:blipFill>
          <a:blip r:embed="rId2"/>
          <a:stretch>
            <a:fillRect/>
          </a:stretch>
        </p:blipFill>
        <p:spPr>
          <a:xfrm>
            <a:off x="518007" y="2436196"/>
            <a:ext cx="11155680" cy="3311487"/>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7</a:t>
            </a:r>
          </a:p>
        </p:txBody>
      </p:sp>
      <p:sp>
        <p:nvSpPr>
          <p:cNvPr id="19" name="TextBox 18"/>
          <p:cNvSpPr txBox="1"/>
          <p:nvPr/>
        </p:nvSpPr>
        <p:spPr>
          <a:xfrm>
            <a:off x="9019641" y="6460236"/>
            <a:ext cx="2431389" cy="219456"/>
          </a:xfrm>
          <a:prstGeom prst="rect">
            <a:avLst/>
          </a:prstGeom>
          <a:noFill/>
        </p:spPr>
        <p:txBody>
          <a:bodyPr wrap="none" lIns="0" rIns="0" tIns="0" bIns="0">
            <a:spAutoFit/>
          </a:bodyPr>
          <a:lstStyle/>
          <a:p>
            <a:pPr algn="l"/>
            <a:r>
              <a:rPr sz="1000" b="1" i="0">
                <a:solidFill>
                  <a:srgbClr val="FFFFFF"/>
                </a:solidFill>
                <a:latin typeface="Helvetica Neue"/>
              </a:rPr>
              <a:t>Test your product vocabulary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One ticket becomes one vector, by averaging.</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because every vector has length 1, the similarity behind that search is a plain multiplication.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embed.png"/>
          <p:cNvPicPr>
            <a:picLocks noChangeAspect="1"/>
          </p:cNvPicPr>
          <p:nvPr/>
        </p:nvPicPr>
        <p:blipFill>
          <a:blip r:embed="rId2"/>
          <a:stretch>
            <a:fillRect/>
          </a:stretch>
        </p:blipFill>
        <p:spPr>
          <a:xfrm>
            <a:off x="518007" y="2163552"/>
            <a:ext cx="11155680" cy="3856775"/>
          </a:xfrm>
          <a:prstGeom prst="rect">
            <a:avLst/>
          </a:prstGeom>
        </p:spPr>
      </p:pic>
      <p:sp>
        <p:nvSpPr>
          <p:cNvPr id="16" name="Rounded Rectangle 15"/>
          <p:cNvSpPr/>
          <p:nvPr/>
        </p:nvSpPr>
        <p:spPr>
          <a:xfrm>
            <a:off x="7239304" y="6345936"/>
            <a:ext cx="431231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81720"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9475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281720"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8</a:t>
            </a:r>
          </a:p>
        </p:txBody>
      </p:sp>
      <p:sp>
        <p:nvSpPr>
          <p:cNvPr id="20" name="TextBox 19"/>
          <p:cNvSpPr txBox="1"/>
          <p:nvPr/>
        </p:nvSpPr>
        <p:spPr>
          <a:xfrm>
            <a:off x="9086392" y="6460236"/>
            <a:ext cx="2364638" cy="219456"/>
          </a:xfrm>
          <a:prstGeom prst="rect">
            <a:avLst/>
          </a:prstGeom>
          <a:noFill/>
        </p:spPr>
        <p:txBody>
          <a:bodyPr wrap="none" lIns="0" rIns="0" tIns="0" bIns="0">
            <a:spAutoFit/>
          </a:bodyPr>
          <a:lstStyle/>
          <a:p>
            <a:pPr algn="l"/>
            <a:r>
              <a:rPr sz="1000" b="1" i="0">
                <a:solidFill>
                  <a:srgbClr val="FFFFFF"/>
                </a:solidFill>
                <a:latin typeface="Helvetica Neue"/>
              </a:rPr>
              <a:t>Pool tokens into one vector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You built this in Lecture 11.</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Here is the ninety seconds of it that matter today: attention looks around, feed-forward thinks about it.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blockonly.png"/>
          <p:cNvPicPr>
            <a:picLocks noChangeAspect="1"/>
          </p:cNvPicPr>
          <p:nvPr/>
        </p:nvPicPr>
        <p:blipFill>
          <a:blip r:embed="rId2"/>
          <a:stretch>
            <a:fillRect/>
          </a:stretch>
        </p:blipFill>
        <p:spPr>
          <a:xfrm>
            <a:off x="566928" y="2011680"/>
            <a:ext cx="6675120" cy="3375971"/>
          </a:xfrm>
          <a:prstGeom prst="rect">
            <a:avLst/>
          </a:prstGeom>
        </p:spPr>
      </p:pic>
      <p:sp>
        <p:nvSpPr>
          <p:cNvPr id="16" name="Rounded Rectangle 15"/>
          <p:cNvSpPr/>
          <p:nvPr/>
        </p:nvSpPr>
        <p:spPr>
          <a:xfrm>
            <a:off x="7635240" y="2286000"/>
            <a:ext cx="3977639" cy="1572768"/>
          </a:xfrm>
          <a:prstGeom prst="roundRect">
            <a:avLst/>
          </a:prstGeom>
          <a:solidFill>
            <a:srgbClr val="FFFFFF"/>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91271" y="2450592"/>
            <a:ext cx="3566160" cy="237744"/>
          </a:xfrm>
          <a:prstGeom prst="rect">
            <a:avLst/>
          </a:prstGeom>
          <a:noFill/>
        </p:spPr>
        <p:txBody>
          <a:bodyPr wrap="square" lIns="0" rIns="0" tIns="0" bIns="0">
            <a:spAutoFit/>
          </a:bodyPr>
          <a:lstStyle/>
          <a:p>
            <a:pPr algn="l"/>
            <a:r>
              <a:rPr sz="1050" b="1" i="0" spc="160">
                <a:solidFill>
                  <a:srgbClr val="7C3AED"/>
                </a:solidFill>
                <a:latin typeface="Helvetica Neue"/>
              </a:rPr>
              <a:t>ATTENTION MOVES MEANING</a:t>
            </a:r>
          </a:p>
        </p:txBody>
      </p:sp>
      <p:sp>
        <p:nvSpPr>
          <p:cNvPr id="18" name="TextBox 17"/>
          <p:cNvSpPr txBox="1"/>
          <p:nvPr/>
        </p:nvSpPr>
        <p:spPr>
          <a:xfrm>
            <a:off x="7891271" y="2724912"/>
            <a:ext cx="3566160" cy="502920"/>
          </a:xfrm>
          <a:prstGeom prst="rect">
            <a:avLst/>
          </a:prstGeom>
          <a:noFill/>
        </p:spPr>
        <p:txBody>
          <a:bodyPr wrap="square" lIns="0" rIns="0" tIns="0" bIns="0">
            <a:spAutoFit/>
          </a:bodyPr>
          <a:lstStyle/>
          <a:p>
            <a:pPr algn="l"/>
            <a:r>
              <a:rPr sz="2800" b="1" i="0">
                <a:solidFill>
                  <a:srgbClr val="0F172A"/>
                </a:solidFill>
                <a:latin typeface="Helvetica Neue"/>
              </a:rPr>
              <a:t>0.93 → 0.46</a:t>
            </a:r>
          </a:p>
        </p:txBody>
      </p:sp>
      <p:sp>
        <p:nvSpPr>
          <p:cNvPr id="19" name="TextBox 18"/>
          <p:cNvSpPr txBox="1"/>
          <p:nvPr/>
        </p:nvSpPr>
        <p:spPr>
          <a:xfrm>
            <a:off x="7891271" y="3255264"/>
            <a:ext cx="3520440" cy="548640"/>
          </a:xfrm>
          <a:prstGeom prst="rect">
            <a:avLst/>
          </a:prstGeom>
          <a:noFill/>
        </p:spPr>
        <p:txBody>
          <a:bodyPr wrap="square" lIns="0" rIns="0" tIns="0" bIns="0">
            <a:spAutoFit/>
          </a:bodyPr>
          <a:lstStyle/>
          <a:p>
            <a:pPr algn="l"/>
            <a:r>
              <a:rPr sz="1250" b="0" i="0">
                <a:solidFill>
                  <a:srgbClr val="475569"/>
                </a:solidFill>
                <a:latin typeface="Helvetica Neue"/>
              </a:rPr>
              <a:t>the word "plan" in two tickets: nearly identical going in, barely related coming out</a:t>
            </a:r>
          </a:p>
        </p:txBody>
      </p:sp>
      <p:sp>
        <p:nvSpPr>
          <p:cNvPr id="20" name="Rounded Rectangle 19"/>
          <p:cNvSpPr/>
          <p:nvPr/>
        </p:nvSpPr>
        <p:spPr>
          <a:xfrm>
            <a:off x="7635240" y="4160520"/>
            <a:ext cx="3977639" cy="1572768"/>
          </a:xfrm>
          <a:prstGeom prst="roundRect">
            <a:avLst/>
          </a:prstGeom>
          <a:solidFill>
            <a:srgbClr val="FFFFFF"/>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91271" y="4325112"/>
            <a:ext cx="3566160" cy="237744"/>
          </a:xfrm>
          <a:prstGeom prst="rect">
            <a:avLst/>
          </a:prstGeom>
          <a:noFill/>
        </p:spPr>
        <p:txBody>
          <a:bodyPr wrap="square" lIns="0" rIns="0" tIns="0" bIns="0">
            <a:spAutoFit/>
          </a:bodyPr>
          <a:lstStyle/>
          <a:p>
            <a:pPr algn="l"/>
            <a:r>
              <a:rPr sz="1050" b="1" i="0" spc="160">
                <a:solidFill>
                  <a:srgbClr val="0EA5E9"/>
                </a:solidFill>
                <a:latin typeface="Helvetica Neue"/>
              </a:rPr>
              <a:t>FEED-FORWARD HOLDS KNOWLEDGE</a:t>
            </a:r>
          </a:p>
        </p:txBody>
      </p:sp>
      <p:sp>
        <p:nvSpPr>
          <p:cNvPr id="22" name="TextBox 21"/>
          <p:cNvSpPr txBox="1"/>
          <p:nvPr/>
        </p:nvSpPr>
        <p:spPr>
          <a:xfrm>
            <a:off x="7891271" y="4599431"/>
            <a:ext cx="3566160" cy="502920"/>
          </a:xfrm>
          <a:prstGeom prst="rect">
            <a:avLst/>
          </a:prstGeom>
          <a:noFill/>
        </p:spPr>
        <p:txBody>
          <a:bodyPr wrap="square" lIns="0" rIns="0" tIns="0" bIns="0">
            <a:spAutoFit/>
          </a:bodyPr>
          <a:lstStyle/>
          <a:p>
            <a:pPr algn="l"/>
            <a:r>
              <a:rPr sz="2800" b="1" i="0">
                <a:solidFill>
                  <a:srgbClr val="0F172A"/>
                </a:solidFill>
                <a:latin typeface="Helvetica Neue"/>
              </a:rPr>
              <a:t>67% / 33%</a:t>
            </a:r>
          </a:p>
        </p:txBody>
      </p:sp>
      <p:sp>
        <p:nvSpPr>
          <p:cNvPr id="23" name="TextBox 22"/>
          <p:cNvSpPr txBox="1"/>
          <p:nvPr/>
        </p:nvSpPr>
        <p:spPr>
          <a:xfrm>
            <a:off x="7891271" y="5129783"/>
            <a:ext cx="3520440" cy="548640"/>
          </a:xfrm>
          <a:prstGeom prst="rect">
            <a:avLst/>
          </a:prstGeom>
          <a:noFill/>
        </p:spPr>
        <p:txBody>
          <a:bodyPr wrap="square" lIns="0" rIns="0" tIns="0" bIns="0">
            <a:spAutoFit/>
          </a:bodyPr>
          <a:lstStyle/>
          <a:p>
            <a:pPr algn="l"/>
            <a:r>
              <a:rPr sz="1250" b="0" i="0">
                <a:solidFill>
                  <a:srgbClr val="475569"/>
                </a:solidFill>
                <a:latin typeface="Helvetica Neue"/>
              </a:rPr>
              <a:t>two thirds of every layer is feed-forward, not attention. "billed every ___" → month</a:t>
            </a:r>
          </a:p>
        </p:txBody>
      </p:sp>
      <p:sp>
        <p:nvSpPr>
          <p:cNvPr id="24" name="Rounded Rectangle 23"/>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148218"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27" name="TextBox 26"/>
          <p:cNvSpPr txBox="1"/>
          <p:nvPr/>
        </p:nvSpPr>
        <p:spPr>
          <a:xfrm>
            <a:off x="8148218"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9</a:t>
            </a:r>
          </a:p>
        </p:txBody>
      </p:sp>
      <p:sp>
        <p:nvSpPr>
          <p:cNvPr id="28" name="TextBox 27"/>
          <p:cNvSpPr txBox="1"/>
          <p:nvPr/>
        </p:nvSpPr>
        <p:spPr>
          <a:xfrm>
            <a:off x="8952890" y="6460236"/>
            <a:ext cx="2498140" cy="219456"/>
          </a:xfrm>
          <a:prstGeom prst="rect">
            <a:avLst/>
          </a:prstGeom>
          <a:noFill/>
        </p:spPr>
        <p:txBody>
          <a:bodyPr wrap="none" lIns="0" rIns="0" tIns="0" bIns="0">
            <a:spAutoFit/>
          </a:bodyPr>
          <a:lstStyle/>
          <a:p>
            <a:pPr algn="l"/>
            <a:r>
              <a:rPr sz="1000" b="1" i="0">
                <a:solidFill>
                  <a:srgbClr val="FFFFFF"/>
                </a:solidFill>
                <a:latin typeface="Helvetica Neue"/>
              </a:rPr>
              <a:t>Watch attention change a word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Sort the inbox with no training data at all.</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547457"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547457"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13</a:t>
            </a:r>
          </a:p>
        </p:txBody>
      </p:sp>
      <p:sp>
        <p:nvSpPr>
          <p:cNvPr id="19" name="TextBox 18"/>
          <p:cNvSpPr txBox="1"/>
          <p:nvPr/>
        </p:nvSpPr>
        <p:spPr>
          <a:xfrm>
            <a:off x="8420709" y="6460236"/>
            <a:ext cx="3030321" cy="219456"/>
          </a:xfrm>
          <a:prstGeom prst="rect">
            <a:avLst/>
          </a:prstGeom>
          <a:noFill/>
        </p:spPr>
        <p:txBody>
          <a:bodyPr wrap="none" lIns="0" rIns="0" tIns="0" bIns="0">
            <a:spAutoFit/>
          </a:bodyPr>
          <a:lstStyle/>
          <a:p>
            <a:pPr algn="l"/>
            <a:r>
              <a:rPr sz="1000" b="1" i="0">
                <a:solidFill>
                  <a:srgbClr val="FFFFFF"/>
                </a:solidFill>
                <a:latin typeface="Helvetica Neue"/>
              </a:rPr>
              <a:t>Route the inbox with no training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7306056" y="6345936"/>
            <a:ext cx="4245559"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48472"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1504"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348472"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17</a:t>
            </a:r>
          </a:p>
        </p:txBody>
      </p:sp>
      <p:sp>
        <p:nvSpPr>
          <p:cNvPr id="20" name="TextBox 19"/>
          <p:cNvSpPr txBox="1"/>
          <p:nvPr/>
        </p:nvSpPr>
        <p:spPr>
          <a:xfrm>
            <a:off x="9221724" y="6460236"/>
            <a:ext cx="2229307" cy="219456"/>
          </a:xfrm>
          <a:prstGeom prst="rect">
            <a:avLst/>
          </a:prstGeom>
          <a:noFill/>
        </p:spPr>
        <p:txBody>
          <a:bodyPr wrap="none" lIns="0" rIns="0" tIns="0" bIns="0">
            <a:spAutoFit/>
          </a:bodyPr>
          <a:lstStyle/>
          <a:p>
            <a:pPr algn="l"/>
            <a:r>
              <a:rPr sz="1000" b="1" i="0">
                <a:solidFill>
                  <a:srgbClr val="FFFFFF"/>
                </a:solidFill>
                <a:latin typeface="Helvetica Neue"/>
              </a:rPr>
              <a:t>See the entailment scores</a:t>
            </a:r>
          </a:p>
        </p:txBody>
      </p:sp>
      <p:sp>
        <p:nvSpPr>
          <p:cNvPr id="21" name="TextBox 20"/>
          <p:cNvSpPr txBox="1"/>
          <p:nvPr/>
        </p:nvSpPr>
        <p:spPr>
          <a:xfrm>
            <a:off x="640080" y="5532120"/>
            <a:ext cx="10881360" cy="640080"/>
          </a:xfrm>
          <a:prstGeom prst="rect">
            <a:avLst/>
          </a:prstGeom>
          <a:noFill/>
        </p:spPr>
        <p:txBody>
          <a:bodyPr wrap="square" lIns="0" rIns="0" tIns="0" bIns="0">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The descriptions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638544" y="6345936"/>
            <a:ext cx="491307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80960"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399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680960"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16</a:t>
            </a:r>
          </a:p>
        </p:txBody>
      </p:sp>
      <p:sp>
        <p:nvSpPr>
          <p:cNvPr id="19" name="TextBox 18"/>
          <p:cNvSpPr txBox="1"/>
          <p:nvPr/>
        </p:nvSpPr>
        <p:spPr>
          <a:xfrm>
            <a:off x="8554212" y="6460236"/>
            <a:ext cx="2896819" cy="219456"/>
          </a:xfrm>
          <a:prstGeom prst="rect">
            <a:avLst/>
          </a:prstGeom>
          <a:noFill/>
        </p:spPr>
        <p:txBody>
          <a:bodyPr wrap="none" lIns="0" rIns="0" tIns="0" bIns="0">
            <a:spAutoFit/>
          </a:bodyPr>
          <a:lstStyle/>
          <a:p>
            <a:pPr algn="l"/>
            <a:r>
              <a:rPr sz="1000" b="1" i="0">
                <a:solidFill>
                  <a:srgbClr val="FFFFFF"/>
                </a:solidFill>
                <a:latin typeface="Helvetica Neue"/>
              </a:rPr>
              <a:t>YOUR KNOB: rewrite the descriptions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15476"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615476"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18</a:t>
            </a:r>
          </a:p>
        </p:txBody>
      </p:sp>
      <p:sp>
        <p:nvSpPr>
          <p:cNvPr id="20" name="TextBox 19"/>
          <p:cNvSpPr txBox="1"/>
          <p:nvPr/>
        </p:nvSpPr>
        <p:spPr>
          <a:xfrm>
            <a:off x="9488728" y="6460236"/>
            <a:ext cx="1962302" cy="219456"/>
          </a:xfrm>
          <a:prstGeom prst="rect">
            <a:avLst/>
          </a:prstGeom>
          <a:noFill/>
        </p:spPr>
        <p:txBody>
          <a:bodyPr wrap="none" lIns="0" rIns="0" tIns="0" bIns="0">
            <a:spAutoFit/>
          </a:bodyPr>
          <a:lstStyle/>
          <a:p>
            <a:pPr algn="l"/>
            <a:r>
              <a:rPr sz="1000" b="1" i="0">
                <a:solidFill>
                  <a:srgbClr val="FFFFFF"/>
                </a:solidFill>
                <a:latin typeface="Helvetica Neue"/>
              </a:rPr>
              <a:t>Find the weak buckets</a:t>
            </a:r>
          </a:p>
        </p:txBody>
      </p:sp>
      <p:sp>
        <p:nvSpPr>
          <p:cNvPr id="21" name="TextBox 20"/>
          <p:cNvSpPr txBox="1"/>
          <p:nvPr/>
        </p:nvSpPr>
        <p:spPr>
          <a:xfrm>
            <a:off x="640080" y="6080760"/>
            <a:ext cx="10881360" cy="365760"/>
          </a:xfrm>
          <a:prstGeom prst="rect">
            <a:avLst/>
          </a:prstGeom>
          <a:noFill/>
        </p:spPr>
        <p:txBody>
          <a:bodyPr wrap="square" lIns="0" rIns="0" tIns="0" bIns="0">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19</a:t>
            </a:r>
          </a:p>
        </p:txBody>
      </p:sp>
      <p:sp>
        <p:nvSpPr>
          <p:cNvPr id="19" name="TextBox 18"/>
          <p:cNvSpPr txBox="1"/>
          <p:nvPr/>
        </p:nvSpPr>
        <p:spPr>
          <a:xfrm>
            <a:off x="9088221" y="6460236"/>
            <a:ext cx="2362809" cy="219456"/>
          </a:xfrm>
          <a:prstGeom prst="rect">
            <a:avLst/>
          </a:prstGeom>
          <a:noFill/>
        </p:spPr>
        <p:txBody>
          <a:bodyPr wrap="none" lIns="0" rIns="0" tIns="0" bIns="0">
            <a:spAutoFit/>
          </a:bodyPr>
          <a:lstStyle/>
          <a:p>
            <a:pPr algn="l"/>
            <a:r>
              <a:rPr sz="1000" b="1" i="0">
                <a:solidFill>
                  <a:srgbClr val="FFFFFF"/>
                </a:solidFill>
                <a:latin typeface="Helvetica Neue"/>
              </a:rPr>
              <a:t>Feed it an off-topic ticket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YOUR TURN</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The Shipping Decision.</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Same copilot. Same tickets. Your team runs it for a different company. Find the best setting for yours.</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gamebrief.png"/>
          <p:cNvPicPr>
            <a:picLocks noChangeAspect="1"/>
          </p:cNvPicPr>
          <p:nvPr/>
        </p:nvPicPr>
        <p:blipFill>
          <a:blip r:embed="rId2"/>
          <a:stretch>
            <a:fillRect/>
          </a:stretch>
        </p:blipFill>
        <p:spPr>
          <a:xfrm>
            <a:off x="518007" y="2286328"/>
            <a:ext cx="11155680" cy="3336902"/>
          </a:xfrm>
          <a:prstGeom prst="rect">
            <a:avLst/>
          </a:prstGeom>
        </p:spPr>
      </p:pic>
      <p:sp>
        <p:nvSpPr>
          <p:cNvPr id="16" name="TextBox 15"/>
          <p:cNvSpPr txBox="1"/>
          <p:nvPr/>
        </p:nvSpPr>
        <p:spPr>
          <a:xfrm>
            <a:off x="640080" y="5989320"/>
            <a:ext cx="10881360" cy="365760"/>
          </a:xfrm>
          <a:prstGeom prst="rect">
            <a:avLst/>
          </a:prstGeom>
          <a:noFill/>
        </p:spPr>
        <p:txBody>
          <a:bodyPr wrap="square" lIns="0" rIns="0" tIns="0" bIns="0">
            <a:spAutoFit/>
          </a:bodyPr>
          <a:lstStyle/>
          <a:p>
            <a:pPr algn="ctr"/>
            <a:r>
              <a:rPr sz="1500" b="0" i="1">
                <a:solidFill>
                  <a:srgbClr val="475569"/>
                </a:solidFill>
                <a:latin typeface="Helvetica Neue"/>
              </a:rPr>
              <a:t>Open L13_Game_Shipping_Decision.ipynb   ·   12 minutes   ·   scored on how close you get to the best setting for YOUR company, not on raw dollars.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THE REVEAL</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Every team optimised correctly. Every team got a different answer.</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fig_game.png"/>
          <p:cNvPicPr>
            <a:picLocks noChangeAspect="1"/>
          </p:cNvPicPr>
          <p:nvPr/>
        </p:nvPicPr>
        <p:blipFill>
          <a:blip r:embed="rId2"/>
          <a:stretch>
            <a:fillRect/>
          </a:stretch>
        </p:blipFill>
        <p:spPr>
          <a:xfrm>
            <a:off x="2207847" y="2011680"/>
            <a:ext cx="7775999" cy="3931920"/>
          </a:xfrm>
          <a:prstGeom prst="rect">
            <a:avLst/>
          </a:prstGeom>
        </p:spPr>
      </p:pic>
      <p:sp>
        <p:nvSpPr>
          <p:cNvPr id="15" name="TextBox 14"/>
          <p:cNvSpPr txBox="1"/>
          <p:nvPr/>
        </p:nvSpPr>
        <p:spPr>
          <a:xfrm>
            <a:off x="640080" y="6016752"/>
            <a:ext cx="10881360" cy="365760"/>
          </a:xfrm>
          <a:prstGeom prst="rect">
            <a:avLst/>
          </a:prstGeom>
          <a:noFill/>
        </p:spPr>
        <p:txBody>
          <a:bodyPr wrap="square" lIns="0" rIns="0" tIns="0" bIns="0">
            <a:spAutoFit/>
          </a:bodyPr>
          <a:lstStyle/>
          <a:p>
            <a:pPr algn="ctr"/>
            <a:r>
              <a:rPr sz="1500" b="0" i="1">
                <a:solidFill>
                  <a:srgbClr val="475569"/>
                </a:solidFill>
                <a:latin typeface="Helvetica Neue"/>
              </a:rPr>
              <a:t>Nobody had a better model. The only thing that changed was what a mistake costs.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 training data. No training run. No GPU bill. One afternoon.</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897590"/>
            <a:ext cx="11155680" cy="1885778"/>
          </a:xfrm>
          <a:prstGeom prst="rect">
            <a:avLst/>
          </a:prstGeom>
        </p:spPr>
      </p:pic>
      <p:sp>
        <p:nvSpPr>
          <p:cNvPr id="7" name="TextBox 6"/>
          <p:cNvSpPr txBox="1"/>
          <p:nvPr/>
        </p:nvSpPr>
        <p:spPr>
          <a:xfrm>
            <a:off x="640080" y="5669280"/>
            <a:ext cx="10881360" cy="548640"/>
          </a:xfrm>
          <a:prstGeom prst="rect">
            <a:avLst/>
          </a:prstGeom>
          <a:noFill/>
        </p:spPr>
        <p:txBody>
          <a:bodyPr wrap="square" lIns="0" rIns="0" tIns="0" bIns="0">
            <a:spAutoFit/>
          </a:bodyPr>
          <a:lstStyle/>
          <a:p>
            <a:pPr algn="ctr"/>
            <a:r>
              <a:rPr sz="1700" b="0" i="1">
                <a:solidFill>
                  <a:srgbClr val="0F172A"/>
                </a:solidFill>
                <a:latin typeface="Helvetica Neue"/>
              </a:rPr>
              <a:t>Accuracy is a property of the model. The right threshold is a property of the business.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WHY THIS MATTERS AT WORK</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Six instincts, not six tools.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Every row is a call your future team needs someone in the room able to make.</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ork.png"/>
          <p:cNvPicPr>
            <a:picLocks noChangeAspect="1"/>
          </p:cNvPicPr>
          <p:nvPr/>
        </p:nvPicPr>
        <p:blipFill>
          <a:blip r:embed="rId2"/>
          <a:stretch>
            <a:fillRect/>
          </a:stretch>
        </p:blipFill>
        <p:spPr>
          <a:xfrm>
            <a:off x="518007" y="2507640"/>
            <a:ext cx="11155680" cy="3305759"/>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NEXT TIME</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The layer that acts.</a:t>
            </a:r>
          </a:p>
        </p:txBody>
      </p:sp>
      <p:sp>
        <p:nvSpPr>
          <p:cNvPr id="4" name="TextBox 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5" name="Rectangle 4"/>
          <p:cNvSpPr/>
          <p:nvPr/>
        </p:nvSpPr>
        <p:spPr>
          <a:xfrm>
            <a:off x="640080" y="2148840"/>
            <a:ext cx="50292" cy="78638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0552"/>
            <a:ext cx="9601200" cy="384048"/>
          </a:xfrm>
          <a:prstGeom prst="rect">
            <a:avLst/>
          </a:prstGeom>
          <a:noFill/>
        </p:spPr>
        <p:txBody>
          <a:bodyPr wrap="square" lIns="0" rIns="0" tIns="0" bIns="0">
            <a:spAutoFit/>
          </a:bodyPr>
          <a:lstStyle/>
          <a:p>
            <a:pPr algn="l"/>
            <a:r>
              <a:rPr sz="2100" b="1" i="0">
                <a:solidFill>
                  <a:srgbClr val="0F172A"/>
                </a:solidFill>
                <a:latin typeface="Helvetica Neue"/>
              </a:rPr>
              <a:t>What if we DO sort them by hand?</a:t>
            </a:r>
          </a:p>
        </p:txBody>
      </p:sp>
      <p:sp>
        <p:nvSpPr>
          <p:cNvPr id="7" name="TextBox 6"/>
          <p:cNvSpPr txBox="1"/>
          <p:nvPr/>
        </p:nvSpPr>
        <p:spPr>
          <a:xfrm>
            <a:off x="896112" y="2532888"/>
            <a:ext cx="9875520" cy="365760"/>
          </a:xfrm>
          <a:prstGeom prst="rect">
            <a:avLst/>
          </a:prstGeom>
          <a:noFill/>
        </p:spPr>
        <p:txBody>
          <a:bodyPr wrap="square" lIns="0" rIns="0" tIns="0" bIns="0">
            <a:spAutoFit/>
          </a:bodyPr>
          <a:lstStyle/>
          <a:p>
            <a:pPr algn="l"/>
            <a:r>
              <a:rPr sz="1500" b="0" i="0">
                <a:solidFill>
                  <a:srgbClr val="475569"/>
                </a:solidFill>
                <a:latin typeface="Helvetica Neue"/>
              </a:rPr>
              <a:t>a few hundred examples, and what they buy you</a:t>
            </a:r>
          </a:p>
        </p:txBody>
      </p:sp>
      <p:sp>
        <p:nvSpPr>
          <p:cNvPr id="8" name="Rectangle 7"/>
          <p:cNvSpPr/>
          <p:nvPr/>
        </p:nvSpPr>
        <p:spPr>
          <a:xfrm>
            <a:off x="640080" y="3172968"/>
            <a:ext cx="50292" cy="78638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54680"/>
            <a:ext cx="9601200" cy="384048"/>
          </a:xfrm>
          <a:prstGeom prst="rect">
            <a:avLst/>
          </a:prstGeom>
          <a:noFill/>
        </p:spPr>
        <p:txBody>
          <a:bodyPr wrap="square" lIns="0" rIns="0" tIns="0" bIns="0">
            <a:spAutoFit/>
          </a:bodyPr>
          <a:lstStyle/>
          <a:p>
            <a:pPr algn="l"/>
            <a:r>
              <a:rPr sz="2100" b="1" i="0">
                <a:solidFill>
                  <a:srgbClr val="0F172A"/>
                </a:solidFill>
                <a:latin typeface="Helvetica Neue"/>
              </a:rPr>
              <a:t>Where the reading came from</a:t>
            </a:r>
          </a:p>
        </p:txBody>
      </p:sp>
      <p:sp>
        <p:nvSpPr>
          <p:cNvPr id="10" name="TextBox 9"/>
          <p:cNvSpPr txBox="1"/>
          <p:nvPr/>
        </p:nvSpPr>
        <p:spPr>
          <a:xfrm>
            <a:off x="896112" y="3557016"/>
            <a:ext cx="9875520" cy="365760"/>
          </a:xfrm>
          <a:prstGeom prst="rect">
            <a:avLst/>
          </a:prstGeom>
          <a:noFill/>
        </p:spPr>
        <p:txBody>
          <a:bodyPr wrap="square" lIns="0" rIns="0" tIns="0" bIns="0">
            <a:spAutoFit/>
          </a:bodyPr>
          <a:lstStyle/>
          <a:p>
            <a:pPr algn="l"/>
            <a:r>
              <a:rPr sz="1500" b="0" i="0">
                <a:solidFill>
                  <a:srgbClr val="475569"/>
                </a:solidFill>
                <a:latin typeface="Helvetica Neue"/>
              </a:rPr>
              <a:t>BERT, and how pretraining actually worked</a:t>
            </a:r>
          </a:p>
        </p:txBody>
      </p:sp>
      <p:sp>
        <p:nvSpPr>
          <p:cNvPr id="11" name="Rectangle 10"/>
          <p:cNvSpPr/>
          <p:nvPr/>
        </p:nvSpPr>
        <p:spPr>
          <a:xfrm>
            <a:off x="640080" y="4197096"/>
            <a:ext cx="50292" cy="7863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178808"/>
            <a:ext cx="9601200" cy="384048"/>
          </a:xfrm>
          <a:prstGeom prst="rect">
            <a:avLst/>
          </a:prstGeom>
          <a:noFill/>
        </p:spPr>
        <p:txBody>
          <a:bodyPr wrap="square" lIns="0" rIns="0" tIns="0" bIns="0">
            <a:spAutoFit/>
          </a:bodyPr>
          <a:lstStyle/>
          <a:p>
            <a:pPr algn="l"/>
            <a:r>
              <a:rPr sz="2100" b="1" i="0">
                <a:solidFill>
                  <a:srgbClr val="0F172A"/>
                </a:solidFill>
                <a:latin typeface="Helvetica Neue"/>
              </a:rPr>
              <a:t>Pull out the specifics</a:t>
            </a:r>
          </a:p>
        </p:txBody>
      </p:sp>
      <p:sp>
        <p:nvSpPr>
          <p:cNvPr id="13" name="TextBox 12"/>
          <p:cNvSpPr txBox="1"/>
          <p:nvPr/>
        </p:nvSpPr>
        <p:spPr>
          <a:xfrm>
            <a:off x="896112" y="4581144"/>
            <a:ext cx="9875520" cy="365760"/>
          </a:xfrm>
          <a:prstGeom prst="rect">
            <a:avLst/>
          </a:prstGeom>
          <a:noFill/>
        </p:spPr>
        <p:txBody>
          <a:bodyPr wrap="square" lIns="0" rIns="0" tIns="0" bIns="0">
            <a:spAutoFit/>
          </a:bodyPr>
          <a:lstStyle/>
          <a:p>
            <a:pPr algn="l"/>
            <a:r>
              <a:rPr sz="1500" b="0" i="0">
                <a:solidFill>
                  <a:srgbClr val="475569"/>
                </a:solidFill>
                <a:latin typeface="Helvetica Neue"/>
              </a:rPr>
              <a:t>which feature, what error, which plan</a:t>
            </a:r>
          </a:p>
        </p:txBody>
      </p:sp>
      <p:sp>
        <p:nvSpPr>
          <p:cNvPr id="14" name="Rectangle 13"/>
          <p:cNvSpPr/>
          <p:nvPr/>
        </p:nvSpPr>
        <p:spPr>
          <a:xfrm>
            <a:off x="640080" y="5221224"/>
            <a:ext cx="50292" cy="78638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202936"/>
            <a:ext cx="9601200" cy="384048"/>
          </a:xfrm>
          <a:prstGeom prst="rect">
            <a:avLst/>
          </a:prstGeom>
          <a:noFill/>
        </p:spPr>
        <p:txBody>
          <a:bodyPr wrap="square" lIns="0" rIns="0" tIns="0" bIns="0">
            <a:spAutoFit/>
          </a:bodyPr>
          <a:lstStyle/>
          <a:p>
            <a:pPr algn="l"/>
            <a:r>
              <a:rPr sz="2100" b="1" i="0">
                <a:solidFill>
                  <a:srgbClr val="0F172A"/>
                </a:solidFill>
                <a:latin typeface="Helvetica Neue"/>
              </a:rPr>
              <a:t>Watch it make things up</a:t>
            </a:r>
          </a:p>
        </p:txBody>
      </p:sp>
      <p:sp>
        <p:nvSpPr>
          <p:cNvPr id="16" name="TextBox 15"/>
          <p:cNvSpPr txBox="1"/>
          <p:nvPr/>
        </p:nvSpPr>
        <p:spPr>
          <a:xfrm>
            <a:off x="896112" y="5605272"/>
            <a:ext cx="9875520" cy="365760"/>
          </a:xfrm>
          <a:prstGeom prst="rect">
            <a:avLst/>
          </a:prstGeom>
          <a:noFill/>
        </p:spPr>
        <p:txBody>
          <a:bodyPr wrap="square" lIns="0" rIns="0" tIns="0" bIns="0">
            <a:spAutoFit/>
          </a:bodyPr>
          <a:lstStyle/>
          <a:p>
            <a:pPr algn="l"/>
            <a:r>
              <a:rPr sz="1500" b="0" i="0">
                <a:solidFill>
                  <a:srgbClr val="475569"/>
                </a:solidFill>
                <a:latin typeface="Helvetica Neue"/>
              </a:rPr>
              <a:t>and why that sets up Week 8</a:t>
            </a:r>
          </a:p>
        </p:txBody>
      </p:sp>
      <p:sp>
        <p:nvSpPr>
          <p:cNvPr id="17" name="TextBox 16"/>
          <p:cNvSpPr txBox="1"/>
          <p:nvPr/>
        </p:nvSpPr>
        <p:spPr>
          <a:xfrm>
            <a:off x="640080" y="6263640"/>
            <a:ext cx="10881360" cy="365760"/>
          </a:xfrm>
          <a:prstGeom prst="rect">
            <a:avLst/>
          </a:prstGeom>
          <a:noFill/>
        </p:spPr>
        <p:txBody>
          <a:bodyPr wrap="square" lIns="0" rIns="0" tIns="0" bIns="0">
            <a:spAutoFit/>
          </a:bodyPr>
          <a:lstStyle/>
          <a:p>
            <a:pPr algn="l"/>
            <a:r>
              <a:rPr sz="1400" b="0" i="1">
                <a:solidFill>
                  <a:srgbClr val="475569"/>
                </a:solidFill>
                <a:latin typeface="Helvetica Neue"/>
              </a:rPr>
              <a:t>Notebook: L13_Cobalt_Support_Copilot.ipynb. Run it, turn the knobs, break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