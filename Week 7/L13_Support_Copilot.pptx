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[5:45 PM to 5:47 PM  ~2 min]</a:t>
            </a:r>
          </a:p>
          <a:p/>
          <a:p>
            <a:r>
              <a:t>Good evening. Last week we took a transformer apart to see how it works. Tonight we do the opposite: we build something with one.</a:t>
            </a:r>
          </a:p>
          <a:p>
            <a:r>
              <a:t>By the end of these two lectures you will have a working support copilot, and more importantly you will know which parts of it you can trust.</a:t>
            </a:r>
          </a:p>
          <a:p>
            <a:r>
              <a:t>Here is the situation we are walking into. Five thousand support tickets a week, three agents, and not one labelled example. Most people would tell you that you need to hire a labelling team before AI can help at all. We are going to ship something useful tonight without labelling a single ticket.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[5:47 PM to 5:50 PM  ~3 min]</a:t>
            </a:r>
          </a:p>
          <a:p/>
          <a:p>
            <a:r>
              <a:t>Before we build anything, here is the map of the week so you always know where you are.</a:t>
            </a:r>
          </a:p>
          <a:p>
            <a:r>
              <a:t>On the left are the concepts. The ones tagged L13 are tonight. The ones tagged L14 are Thursday. Notice the split: tonight is about *using* models that already exist, and Thursday is about how they got that way and what happens when you adapt one to your own data.</a:t>
            </a:r>
          </a:p>
          <a:p>
            <a:r>
              <a:t>On the right are the five models we actually run. Look at the sizes. Twenty three million parameters for the small one, a hundred and eighty four million for the biggest. These are tiny by modern standards, and every one of them runs free in Colab. And every single one was pretrained by somebody else. We just download them. That fact is the entire reason this week works.</a:t>
            </a:r>
          </a:p>
          <a:p>
            <a:r>
              <a:t>At the bottom are the readings. Jurafsky and Martin chapter seven is generalised language models, chapter ten is BERT. Those two are the core. The titles are live links in the PDF on Canvas.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[5:50 PM to 5:55 PM  ~5 min]</a:t>
            </a:r>
          </a:p>
          <a:p/>
          <a:p>
            <a:r>
              <a:t>Here is your job. You have just taken over support at Cobalt, a B2B analytics platform.</a:t>
            </a:r>
          </a:p>
          <a:p>
            <a:r>
              <a:t>Five thousand tickets a week, three people to answer them. About forty percent are variations of the same handful of questions. And here is the part that actually costs money: your agents spend the first few minutes of every single ticket just working out what it is about and who should own it. That is the waste we are attacking.</a:t>
            </a:r>
          </a:p>
          <a:p>
            <a:r>
              <a:t>Now the constraint, and it is the realistic one. Nobody at Cobalt has ever labelled a ticket. There is no training set. There is no budget for one this quarter. Hold onto that, because it rules out the textbook answer.</a:t>
            </a:r>
          </a:p>
          <a:p>
            <a:r>
              <a:t>Tonight we build the half of the product that reads the inbox. Thursday we make it act. And everything tonight works on any pile of text: tickets, reviews, resumes, survey answers, sales call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 PM to 5:58 PM  ~3 min]</a:t>
            </a:r>
          </a:p>
          <a:p/>
          <a:p>
            <a:r>
              <a:t>Four capabilities, built in order.</a:t>
            </a:r>
          </a:p>
          <a:p>
            <a:r>
              <a:t>Represent: turn each ticket into numbers, because a model cannot read.</a:t>
            </a:r>
          </a:p>
          <a:p>
            <a:r>
              <a:t>Retrieve: find tickets by meaning instead of by keyword.</a:t>
            </a:r>
          </a:p>
          <a:p>
            <a:r>
              <a:t>Route: sort the inbox into buckets with zero labelled data.</a:t>
            </a:r>
          </a:p>
          <a:p>
            <a:r>
              <a:t>Decide: work out which decisions the system is allowed to make on its own.</a:t>
            </a:r>
          </a:p>
          <a:p>
            <a:r>
              <a:t>Each one is useful by itself. You could stop after step two and have shipped something your support team would thank you for. Together they are a product.</a:t>
            </a:r>
          </a:p>
          <a:p>
            <a:r>
              <a:t>Watch the numbered strip in the top right corner. It tells you which rung we are standing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[5:58 PM to 6:02 PM  ~4 min]</a:t>
            </a:r>
          </a:p>
          <a:p>
            <a:r>
              <a:t>TO THE NOTEBOOK: Under the hood: "text to tokens to ids"</a:t>
            </a:r>
          </a:p>
          <a:p/>
          <a:p>
            <a:r>
              <a:t>Step one, and it starts with the least glamorous fact in machine learning: a model cannot read. It does arithmetic. So the first job is turning text into numbers.</a:t>
            </a:r>
          </a:p>
          <a:p>
            <a:r>
              <a:t>Watch what happens to this sentence. The model does not see words. It sees tokens, which are chunks from a fixed vocabulary of about thirty thousand pieces. "Our", "connector" and "failed" survive whole because they are common. But "Postgres" gets broken into "post", "gre", "s". Three fragments.</a:t>
            </a:r>
          </a:p>
          <a:p>
            <a:r>
              <a:t>Why? Because Postgres was not common enough to earn its own slot in the vocabulary, so the model spells it out from pieces. That is how a fixed vocabulary can represent any word you throw at it, including words that were invented after the model was trained.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[6:02 PM to 6:06 PM  ~4 min]</a:t>
            </a:r>
          </a:p>
          <a:p>
            <a:r>
              <a:t>TO THE NOTEBOOK: Under the hood: "does your vocabulary survive?"</a:t>
            </a:r>
          </a:p>
          <a:p/>
          <a:p>
            <a:r>
              <a:t>Now here is why you should care, and this is the first genuinely useful thing you can take to work.</a:t>
            </a:r>
          </a:p>
          <a:p>
            <a:r>
              <a:t>Let me run your product vocabulary through that same tokenizer. Okta becomes "ok" plus "ta". SAML becomes "sam" plus "l". Webhook becomes three pieces. Kubernetes shatters into four.</a:t>
            </a:r>
          </a:p>
          <a:p>
            <a:r>
              <a:t>Look at what just happened. The model has never seen your industry's words. It is sounding them out phonetically, like somebody reading a foreign name off a page. Snowflake is not a data warehouse to this model. It is snow, plus fl, plus ake.</a:t>
            </a:r>
          </a:p>
          <a:p>
            <a:r>
              <a:t>So when a vendor tells you semantic search will work beautifully on your data, this is the two minute test that tells you whether they are right. It degrades exactly where your business is most specific: product names, error codes, part numbers, drug names, legal citations. Run the tokenizer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[6:06 PM to 6:11 PM  ~5 min]</a:t>
            </a:r>
          </a:p>
          <a:p>
            <a:r>
              <a:t>TO THE NOTEBOOK: Under the hood: "from tokens to ONE vector"</a:t>
            </a:r>
          </a:p>
          <a:p/>
          <a:p>
            <a:r>
              <a:t>Tokens become vectors, one per token. But we need one vector per ticket, not one per token. So how do we get from twelve token vectors down to one?</a:t>
            </a:r>
          </a:p>
          <a:p>
            <a:r>
              <a:t>We average them. That is genuinely it. Add them up, divide by how many there are, scale the result to length one.</a:t>
            </a:r>
          </a:p>
          <a:p>
            <a:r>
              <a:t>When we do that by hand in the notebook and compare it to the library's one-line function, the difference is exactly zero. Not approximately zero. Zero. It is the same arithmetic, just written out.</a:t>
            </a:r>
          </a:p>
          <a:p>
            <a:r>
              <a:t>And notice the weakness that exposes. A ticket's vector is an average. If a customer writes three unrelated complaints in one ticket, all three blend into a single mushy point that is not really about any of them. That is why long documents get chopped into chunks before you embed them, and it is going to matter a great deal when we get to retrieval next week.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[6:11 PM to 6:14 PM  ~3 min]</a:t>
            </a:r>
          </a:p>
          <a:p>
            <a:r>
              <a:t>TO THE NOTEBOOK: Under the hood: "similarity is just multiplication"</a:t>
            </a:r>
          </a:p>
          <a:p/>
          <a:p>
            <a:r>
              <a:t>So every ticket is now a point in space. How do we measure whether two tickets are about the same thing? We multiply and add.</a:t>
            </a:r>
          </a:p>
          <a:p>
            <a:r>
              <a:t>Because every vector was scaled to length one, similarity is just the dot product: multiply the matching numbers, sum them up. "I can't log in" and "password reset failed" score zero point six two. "I can't log in" and "please add dark mode" score zero point zero nine.</a:t>
            </a:r>
          </a:p>
          <a:p>
            <a:r>
              <a:t>That number is the entire search engine. No keywords, no rules, no if-statements, no training. One multiplication.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[6:14 PM to 6:19 PM  ~5 min]</a:t>
            </a:r>
          </a:p>
          <a:p>
            <a:r>
              <a:t>TO THE NOTEBOOK: Act 1: "Teach the computer to read"</a:t>
            </a:r>
          </a:p>
          <a:p/>
          <a:p>
            <a:r>
              <a:t>Let me show you why that matters.</a:t>
            </a:r>
          </a:p>
          <a:p>
            <a:r>
              <a:t>I am going to search the inbox for "we are being charged wrong". First, keyword search. Zero results. Not one ticket contains that phrase, because real customers do not write the phrase you happened to think of.</a:t>
            </a:r>
          </a:p>
          <a:p>
            <a:r>
              <a:t>Now semantic search, same query. Back come "we got charged for a trial I understood to be free", "invoice does not match the amount that hit our card", "we were charged twice this month for the same seats". None of those contain the words I typed. Meaning matched. Spelling did not.</a:t>
            </a:r>
          </a:p>
          <a:p>
            <a:r>
              <a:t>This is a feature you have used a hundred times without thinking about it. Every help centre search that actually works, every "related tickets" sidebar, every internal wiki that finds the right document. It is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[6:19 PM to 6:23 PM  ~4 min]</a:t>
            </a:r>
          </a:p>
          <a:p>
            <a:r>
              <a:t>TO THE NOTEBOOK: Act 1: "The shape of the whole inbox"</a:t>
            </a:r>
          </a:p>
          <a:p/>
          <a:p>
            <a:r>
              <a:t>One more thing before we move on. If every ticket is a point, we can flatten those points onto a page and look at the entire inbox at once.</a:t>
            </a:r>
          </a:p>
          <a:p>
            <a:r>
              <a:t>Here are all one hundred and sixty. The grey dots are every ticket. Then I asked for the fourteen nearest neighbours of four different phrases and coloured those in.</a:t>
            </a:r>
          </a:p>
          <a:p>
            <a:r>
              <a:t>Look at what happened. The billing tickets cluster together. The sign-in tickets cluster. The slow-and-broken tickets cluster. Nobody labelled any of this. I never told the model these categories existed. That structure was already sitting in the text, and all we did was make it visible.</a:t>
            </a:r>
          </a:p>
          <a:p>
            <a:r>
              <a:t>The practical version: you can walk into a leadership meeting and show them what is inside a pile of feedback before spending one dollar on labelling.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[6:23 PM to 6:29 PM  ~6 min]</a:t>
            </a:r>
          </a:p>
          <a:p>
            <a:r>
              <a:t>TO THE NOTEBOOK: Act 2: "Route with zero labelled examples"</a:t>
            </a:r>
          </a:p>
          <a:p/>
          <a:p>
            <a:r>
              <a:t>Now the interesting part. We want to sort the inbox into the buckets our support team actually uses. The textbook answer is: label a few thousand tickets, then train a classifier. That is weeks of work and money Cobalt does not have.</a:t>
            </a:r>
          </a:p>
          <a:p>
            <a:r>
              <a:t>So we do it differently. Watch what the program looks like. I write out each bucket as a description in plain English. "An invoice, payment, refund or pricing question." "The product being slow, timing out or hanging." That is the code. That is the whole program. Then one pipeline call. There is no training step anywhere.</a:t>
            </a:r>
          </a:p>
          <a:p>
            <a:r>
              <a:t>Before I run it, commit to a prediction. Eight buckets, so random guessing is twelve and a half percent. What would you bet on?</a:t>
            </a:r>
          </a:p>
          <a:p>
            <a:r>
              <a:t>[run it] Sixty four percent on its single best guess, and eighty percent if you let it offer two. Zero labelled examples. Zero training. Zero dollars.</a:t>
            </a:r>
          </a:p>
          <a:p>
            <a:r>
              <a:t>Now read that eighty percent as a product instead of a metric. It means you show your agent two buttons instead of eight.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[6:29 PM to 6:34 PM  ~5 min]</a:t>
            </a:r>
          </a:p>
          <a:p>
            <a:r>
              <a:t>TO THE NOTEBOOK: Act 2: "Under the hood: zero-shot isn't classification"</a:t>
            </a:r>
          </a:p>
          <a:p/>
          <a:p>
            <a:r>
              <a:t>You should be slightly suspicious right now. How can a model sort tickets into categories it has never seen before? Here is the answer, and it is my favourite thing in this lecture.</a:t>
            </a:r>
          </a:p>
          <a:p>
            <a:r>
              <a:t>It is not a classifier. It is a fact-checker.</a:t>
            </a:r>
          </a:p>
          <a:p>
            <a:r>
              <a:t>This model was trained on a task called natural language inference. You give it two sentences and it decides whether the first one makes the second one true. Entailment, or not. That is all it does.</a:t>
            </a:r>
          </a:p>
          <a:p>
            <a:r>
              <a:t>The zero-shot trick is to smuggle classification into that format. The premise is the ticket. The hypothesis is a sentence we build: "This example is", plus your description. Then it just answers true or false.</a:t>
            </a:r>
          </a:p>
          <a:p>
            <a:r>
              <a:t>Look at the two rows. For the billing description the entailment score is plus three point two nine, strongly true. For the slow-and-timing-out description it is minus three point eight six. The sign flips. It scores all eight sentences and picks whichever one it believes most.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[6:34 PM to 6:37 PM  ~3 min]</a:t>
            </a:r>
          </a:p>
          <a:p>
            <a:r>
              <a:t>TO THE NOTEBOOK: Act 2: same cell, read the logits</a:t>
            </a:r>
          </a:p>
          <a:p/>
          <a:p>
            <a:r>
              <a:t>Here is what that looks like underneath the one-line pipeline. You tokenize the ticket and the hypothesis together as a pair, run the model, and read two numbers. The model's own output labels are literally "entailment" and "not entailment".</a:t>
            </a:r>
          </a:p>
          <a:p>
            <a:r>
              <a:t>That is the whole mechanism.</a:t>
            </a:r>
          </a:p>
          <a:p>
            <a:r>
              <a:t>So when you meet one of those "just describe what you want" AI tools, and there are a lot of them now, this is usually what is happening underneath. A model is scoring your words.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[6:37 PM to 6:41 PM  ~4 min]</a:t>
            </a:r>
          </a:p>
          <a:p>
            <a:r>
              <a:t>TO THE NOTEBOOK: Act 2: YOUR KNOB, rewrite the descriptions</a:t>
            </a:r>
          </a:p>
          <a:p/>
          <a:p>
            <a:r>
              <a:t>Which brings us to the single most practical thing tonight. If the descriptions are the program, then how you write them is engineering.</a:t>
            </a:r>
          </a:p>
          <a:p>
            <a:r>
              <a:t>Watch. On the left, careful descriptions: sixty four percent. On the right, I replaced them with lazy one-word labels. Just "billing". Just "bug". Forty seven percent.</a:t>
            </a:r>
          </a:p>
          <a:p>
            <a:r>
              <a:t>Same model. Same tickets. Same code. Only the wording changed, and it cost seventeen points of accuracy.</a:t>
            </a:r>
          </a:p>
          <a:p>
            <a:r>
              <a:t>Why? Because you are not naming a category. You are writing a sentence the model has to judge true or false, and "billing" is much harder to judge than "an invoice, payment, refund or pricing question".</a:t>
            </a:r>
          </a:p>
          <a:p>
            <a:r>
              <a:t>This is exactly the same skill as writing a good prompt. Precision in writing is not a soft skill here. It is the program.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[6:41 PM to 6:46 PM  ~5 min]</a:t>
            </a:r>
          </a:p>
          <a:p>
            <a:r>
              <a:t>TO THE NOTEBOOK: Act 3: "Where v1 breaks"</a:t>
            </a:r>
          </a:p>
          <a:p/>
          <a:p>
            <a:r>
              <a:t>Now let us be honest about sixty four percent, because an average is a terrible way to run a product. The question is not "how accurate is it". The question is "which tickets does it get wrong, and do I care".</a:t>
            </a:r>
          </a:p>
          <a:p>
            <a:r>
              <a:t>Here is the per-bucket breakdown. Green is fine, red is broken. How-to and feature requests are strong. Data sync is the worst by a mile.</a:t>
            </a:r>
          </a:p>
          <a:p>
            <a:r>
              <a:t>And when I pull up the actual mistakes, the pattern is obvious. Data sync tickets are being sent to the UI bug bucket. Look at why. "The row counts do not match our warehouse." Is that a data sync problem, or is that something displaying the wrong number? Honestly, it is both. My two descriptions overlap.</a:t>
            </a:r>
          </a:p>
          <a:p>
            <a:r>
              <a:t>The model is not confused. My categories are.</a:t>
            </a:r>
          </a:p>
          <a:p>
            <a:r>
              <a:t>So write this one down: when a classifier underperforms, look at your taxonomy before you look at your model. Categories should describe what the customer wants done, not which internal component broke.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[6:46 PM to 6:51 PM  ~5 min]</a:t>
            </a:r>
          </a:p>
          <a:p>
            <a:r>
              <a:t>TO THE NOTEBOOK: Act 3: "Why was it 99% sure and wrong?"</a:t>
            </a:r>
          </a:p>
          <a:p/>
          <a:p>
            <a:r>
              <a:t>Here is the thing that should genuinely worry you, and it is the most important slide tonight.</a:t>
            </a:r>
          </a:p>
          <a:p>
            <a:r>
              <a:t>Those data sync tickets were not misrouted with a shrug. The model was ninety four percent, ninety nine percent confident, and wrong. Confidently wrong is far more dangerous than uncertain.</a:t>
            </a:r>
          </a:p>
          <a:p>
            <a:r>
              <a:t>Let me show you why that happens. I am going to feed it a ticket that belongs in none of our eight buckets: somebody applying for a job. Predict what happens.</a:t>
            </a:r>
          </a:p>
          <a:p>
            <a:r>
              <a:t>[run it] It says "feature request", sixty one percent confident. And look at the bottom line: the scores sum to one point zero zero.</a:t>
            </a:r>
          </a:p>
          <a:p>
            <a:r>
              <a:t>There it is. The final step is a softmax, and a softmax spreads one hundred percent of the belief across the options you supplied. It has to pick a winner. There is no "none of these" unless you build one.</a:t>
            </a:r>
          </a:p>
          <a:p>
            <a:r>
              <a:t>So that confidence number does not mean "how likely am I to be right". It means "of the choices you gave me, this one fits best". A confident wrong answer is exactly what you get when every option is bad.</a:t>
            </a:r>
          </a:p>
          <a:p>
            <a:r>
              <a:t>Practical rule: never show a raw confidence score to a user as if it were a probability of correctness, and never let one gate an action you cannot undo.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[6:51 PM to 6:55 PM  ~4 min]</a:t>
            </a:r>
          </a:p>
          <a:p>
            <a:r>
              <a:t>TO THE NOTEBOOK: Act 3: the two one-line defences</a:t>
            </a:r>
          </a:p>
          <a:p/>
          <a:p>
            <a:r>
              <a:t>Two fixes, one line each.</a:t>
            </a:r>
          </a:p>
          <a:p>
            <a:r>
              <a:t>First, give the model somewhere honest to go. I add an "other" bucket, described as "unrelated to the product, such as sales or careers". Re-run the job application and it lands in "other" at seventy five percent. Fixed.</a:t>
            </a:r>
          </a:p>
          <a:p>
            <a:r>
              <a:t>Second, and this one is subtler: stop making it choose. Switch to multi-label, which scores every category independently instead of forcing them to compete. Now the job application scores thirteen percent on its best category, and the total is zero point one four. Low on everything. That is the model saying "I do not know", which is enormously more useful than a confident wrong answer.</a:t>
            </a:r>
          </a:p>
          <a:p>
            <a:r>
              <a:t>The difference between a demo and a product is very often just this: deciding what happens when the model is out of its depth. Good question to ask any vendor: what does your system do with an input it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[6:55 PM to 7:00 PM  ~5 min]</a:t>
            </a:r>
          </a:p>
          <a:p>
            <a:r>
              <a:t>TO THE NOTEBOOK: Act 3: YOUR KNOB, move THRESHOLD</a:t>
            </a:r>
          </a:p>
          <a:p/>
          <a:p>
            <a:r>
              <a:t>Last capability. You do not have to route everything. Route only what the model is sure about, and send the rest to a human. That is one number, and this curve is what it does.</a:t>
            </a:r>
          </a:p>
          <a:p>
            <a:r>
              <a:t>Purple is the share of the inbox you auto-route. Green is how accurate those decisions are. They move in opposite directions, and there is no setting that maximises both. Set the bar low and you automate almost everything, badly. Set it high and you automate a little, very well.</a:t>
            </a:r>
          </a:p>
          <a:p>
            <a:r>
              <a:t>This curve, not an accuracy number, is what you take into the room. "We can automate thirty nine percent of the inbox at eighty seven percent accuracy, or cover far more and be less right." That is a sentence an executive can actually make a decision about.</a:t>
            </a:r>
          </a:p>
          <a:p>
            <a:r>
              <a:t>And notice: the right answer depends entirely on what a misroute costs you versus what an agent's hour is worth. That is a business question, not a modelling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[7:00 PM to 7:03 PM  ~3 min]</a:t>
            </a:r>
          </a:p>
          <a:p>
            <a:r>
              <a:t>TO THE NOTEBOOK: Act 3: same cell, read the business numbers</a:t>
            </a:r>
          </a:p>
          <a:p/>
          <a:p>
            <a:r>
              <a:t>So let us put a number on it. Threshold at zero point nine. Thirty nine percent of the inbox auto-routed, and eighty seven percent accurate on those. Sixty one percent still goes to a human.</a:t>
            </a:r>
          </a:p>
          <a:p>
            <a:r>
              <a:t>At five thousand tickets a week, that is roughly nineteen hundred tickets a week handled without anyone touching them.</a:t>
            </a:r>
          </a:p>
          <a:p>
            <a:r>
              <a:t>Nineteen hundred. With no labelled data, no training, and no GPU bill. That is a real thing you could ship on Monday.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[7:03 PM to 7:07 PM  ~4 min]</a:t>
            </a:r>
          </a:p>
          <a:p/>
          <a:p>
            <a:r>
              <a:t>Full circle. Here is what we built tonight.</a:t>
            </a:r>
          </a:p>
          <a:p>
            <a:r>
              <a:t>Semantic search across the whole inbox. An eight-way router built with zero labelled examples. A confidence policy that decides what ships automatically. And an escalation path, so the system can admit when it does not know.</a:t>
            </a:r>
          </a:p>
          <a:p>
            <a:r>
              <a:t>Total labelling cost: zero dollars.</a:t>
            </a:r>
          </a:p>
          <a:p>
            <a:r>
              <a:t>And here is the one idea I want you to leave with. Somebody else already spent millions of dollars teaching a model to read English. You do not have to build intelligence. Your job is to point it at your problem, cheaply, and know where it breaks.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 PM to 7:11 PM  ~4 min]</a:t>
            </a:r>
          </a:p>
          <a:p/>
          <a:p>
            <a:r>
              <a:t>Let me translate all of that into sentences you can actually say in a meeting, because that is the part that gets you hired.</a:t>
            </a:r>
          </a:p>
          <a:p>
            <a:r>
              <a:t>Take the third row. You now know you can ship a useful classifier with no training data. So when somebody says "we cannot start until we have labelled data", you know that is often just not true.</a:t>
            </a:r>
          </a:p>
          <a:p>
            <a:r>
              <a:t>Or the fifth row: a confident answer can be completely wrong, so you never wire a confidence score to an irreversible action.</a:t>
            </a:r>
          </a:p>
          <a:p>
            <a:r>
              <a:t>Or the last one: coverage and accuracy trade off against each other, so what you hand your boss is a curve, not a number.</a:t>
            </a:r>
          </a:p>
          <a:p>
            <a:r>
              <a:t>None of these are facts about transformers. They are instincts about building products with them, and this morning you did not have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[7:11 PM to 7:13 PM  ~2 min]</a:t>
            </a:r>
          </a:p>
          <a:p/>
          <a:p>
            <a:r>
              <a:t>Thursday we build the other half. Four things.</a:t>
            </a:r>
          </a:p>
          <a:p>
            <a:r>
              <a:t>First: what actually happens if we do invest in labelling a few hundred tickets. Is it worth it?</a:t>
            </a:r>
          </a:p>
          <a:p>
            <a:r>
              <a:t>Second: where tonight's reading ability came from, which is BERT and masked language modelling.</a:t>
            </a:r>
          </a:p>
          <a:p>
            <a:r>
              <a:t>Third: pulling out specifics, so instead of "this is a data problem" we get "the Postgres connector, error code SYNC_TIMEOUT, on the Business plan".</a:t>
            </a:r>
          </a:p>
          <a:p>
            <a:r>
              <a:t>And fourth, the one that sets up Week 8: we watch the model invent a refund policy that does not exist, with total confidence.</a:t>
            </a:r>
          </a:p>
          <a:p>
            <a:r>
              <a:t>The notebook is on Canvas and on GitHub. Run it, turn the knobs, and try to break it. That is where this goes from "I watched it" to "I get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eb.stanford.edu/~jurafsky/slp3/" TargetMode="External"/><Relationship Id="rId4" Type="http://schemas.openxmlformats.org/officeDocument/2006/relationships/hyperlink" Target="https://github.com/HandsOnLLM/Hands-On-Large-Language-Models" TargetMode="External"/><Relationship Id="rId5" Type="http://schemas.openxmlformats.org/officeDocument/2006/relationships/hyperlink" Target="https://github.com/nlp-with-transformers/notebooks" TargetMode="External"/><Relationship Id="rId6" Type="http://schemas.openxmlformats.org/officeDocument/2006/relationships/hyperlink" Target="https://arxiv.org/abs/1706.03762" TargetMode="External"/><Relationship Id="rId7" Type="http://schemas.openxmlformats.org/officeDocument/2006/relationships/hyperlink" Target="https://arxiv.org/abs/1810.04805" TargetMode="External"/><Relationship Id="rId8" Type="http://schemas.openxmlformats.org/officeDocument/2006/relationships/hyperlink" Target="https://arxiv.org/abs/1907.11692" TargetMode="Externa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468880"/>
            <a:ext cx="7315200" cy="320040"/>
          </a:xfrm>
          <a:prstGeom prst="rect">
            <a:avLst/>
          </a:prstGeom>
          <a:noFill/>
        </p:spPr>
        <p:txBody>
          <a:bodyPr wrap="square">
            <a:spAutoFit/>
          </a:bodyPr>
          <a:lstStyle/>
          <a:p>
            <a:pPr algn="l"/>
            <a:r>
              <a:rPr sz="1300" b="1" i="0" spc="250">
                <a:solidFill>
                  <a:srgbClr val="4F46E5"/>
                </a:solidFill>
                <a:latin typeface="Helvetica Neue"/>
              </a:rPr>
              <a:t>WEEK 7 · LECTURE 13</a:t>
            </a:r>
          </a:p>
        </p:txBody>
      </p:sp>
      <p:sp>
        <p:nvSpPr>
          <p:cNvPr id="3" name="TextBox 2"/>
          <p:cNvSpPr txBox="1"/>
          <p:nvPr/>
        </p:nvSpPr>
        <p:spPr>
          <a:xfrm>
            <a:off x="640080" y="2852928"/>
            <a:ext cx="10972800" cy="914400"/>
          </a:xfrm>
          <a:prstGeom prst="rect">
            <a:avLst/>
          </a:prstGeom>
          <a:noFill/>
        </p:spPr>
        <p:txBody>
          <a:bodyPr wrap="square">
            <a:spAutoFit/>
          </a:bodyPr>
          <a:lstStyle/>
          <a:p>
            <a:pPr algn="l"/>
            <a:r>
              <a:rPr sz="5000" b="1" i="0">
                <a:solidFill>
                  <a:srgbClr val="0F172A"/>
                </a:solidFill>
                <a:latin typeface="Helvetica Neue"/>
              </a:rPr>
              <a:t>Building a Support Copilot</a:t>
            </a:r>
          </a:p>
        </p:txBody>
      </p:sp>
      <p:sp>
        <p:nvSpPr>
          <p:cNvPr id="4" name="TextBox 3"/>
          <p:cNvSpPr txBox="1"/>
          <p:nvPr/>
        </p:nvSpPr>
        <p:spPr>
          <a:xfrm>
            <a:off x="640080" y="3913632"/>
            <a:ext cx="10058400" cy="457200"/>
          </a:xfrm>
          <a:prstGeom prst="rect">
            <a:avLst/>
          </a:prstGeom>
          <a:noFill/>
        </p:spPr>
        <p:txBody>
          <a:bodyPr wrap="square">
            <a:spAutoFit/>
          </a:bodyPr>
          <a:lstStyle/>
          <a:p>
            <a:pPr algn="l"/>
            <a:r>
              <a:rPr sz="2300" b="0" i="0">
                <a:solidFill>
                  <a:srgbClr val="475569"/>
                </a:solidFill>
                <a:latin typeface="Helvetica Neue"/>
              </a:rPr>
              <a:t>Part 1: the layer that reads</a:t>
            </a:r>
          </a:p>
        </p:txBody>
      </p:sp>
      <p:sp>
        <p:nvSpPr>
          <p:cNvPr id="5" name="Rectangle 4"/>
          <p:cNvSpPr/>
          <p:nvPr/>
        </p:nvSpPr>
        <p:spPr>
          <a:xfrm>
            <a:off x="658368" y="4572000"/>
            <a:ext cx="822960" cy="54864"/>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54880"/>
            <a:ext cx="10058400" cy="457200"/>
          </a:xfrm>
          <a:prstGeom prst="rect">
            <a:avLst/>
          </a:prstGeom>
          <a:noFill/>
        </p:spPr>
        <p:txBody>
          <a:bodyPr wrap="square">
            <a:spAutoFit/>
          </a:bodyPr>
          <a:lstStyle/>
          <a:p>
            <a:pPr algn="l"/>
            <a:r>
              <a:rPr sz="1700" b="0" i="1">
                <a:solidFill>
                  <a:srgbClr val="0F172A"/>
                </a:solidFill>
                <a:latin typeface="Helvetica Neue"/>
              </a:rPr>
              <a:t>5,000 tickets a week, three agents, and not one labelled example. Let's ship something anyway.</a:t>
            </a:r>
          </a:p>
        </p:txBody>
      </p:sp>
      <p:sp>
        <p:nvSpPr>
          <p:cNvPr id="7" name="TextBox 6"/>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WEEK 7 · AT A GLANCE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Language Models &amp; Transformers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What we cover across both lectures, the models we actually run, and what to read alongside them.</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eek.png"/>
          <p:cNvPicPr>
            <a:picLocks noChangeAspect="1"/>
          </p:cNvPicPr>
          <p:nvPr/>
        </p:nvPicPr>
        <p:blipFill>
          <a:blip r:embed="rId2"/>
          <a:stretch>
            <a:fillRect/>
          </a:stretch>
        </p:blipFill>
        <p:spPr>
          <a:xfrm>
            <a:off x="1500676" y="1810512"/>
            <a:ext cx="9190341" cy="3547872"/>
          </a:xfrm>
          <a:prstGeom prst="rect">
            <a:avLst/>
          </a:prstGeom>
        </p:spPr>
      </p:pic>
      <p:sp>
        <p:nvSpPr>
          <p:cNvPr id="7" name="Rectangle 6"/>
          <p:cNvSpPr/>
          <p:nvPr/>
        </p:nvSpPr>
        <p:spPr>
          <a:xfrm>
            <a:off x="640080" y="5394960"/>
            <a:ext cx="10927080" cy="12801"/>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468112"/>
            <a:ext cx="2743200" cy="219456"/>
          </a:xfrm>
          <a:prstGeom prst="rect">
            <a:avLst/>
          </a:prstGeom>
          <a:noFill/>
        </p:spPr>
        <p:txBody>
          <a:bodyPr wrap="square">
            <a:spAutoFit/>
          </a:bodyPr>
          <a:lstStyle/>
          <a:p>
            <a:pPr algn="l"/>
            <a:r>
              <a:rPr sz="1000" b="1" i="0" spc="180">
                <a:solidFill>
                  <a:srgbClr val="94A3B8"/>
                </a:solidFill>
                <a:latin typeface="Helvetica Neue"/>
              </a:rPr>
              <a:t>READINGS</a:t>
            </a:r>
          </a:p>
        </p:txBody>
      </p:sp>
      <p:sp>
        <p:nvSpPr>
          <p:cNvPr id="9" name="TextBox 8"/>
          <p:cNvSpPr txBox="1"/>
          <p:nvPr/>
        </p:nvSpPr>
        <p:spPr>
          <a:xfrm>
            <a:off x="640080" y="5705856"/>
            <a:ext cx="2724912" cy="292608"/>
          </a:xfrm>
          <a:prstGeom prst="rect">
            <a:avLst/>
          </a:prstGeom>
          <a:noFill/>
        </p:spPr>
        <p:txBody>
          <a:bodyPr wrap="none">
            <a:spAutoFit/>
          </a:bodyPr>
          <a:lstStyle/>
          <a:p>
            <a:r>
              <a:rPr sz="1000" b="1">
                <a:solidFill>
                  <a:srgbClr val="4F46E5"/>
                </a:solidFill>
                <a:latin typeface="Helvetica Neue"/>
              </a:rPr>
              <a:t>J&amp;M Ch. 7  </a:t>
            </a:r>
            <a:r>
              <a:rPr sz="1000" u="sng">
                <a:solidFill>
                  <a:srgbClr val="1D4ED8"/>
                </a:solidFill>
                <a:latin typeface="Helvetica Neue"/>
                <a:hlinkClick r:id="rId3"/>
              </a:rPr>
              <a:t>Large Language Models</a:t>
            </a:r>
          </a:p>
        </p:txBody>
      </p:sp>
      <p:sp>
        <p:nvSpPr>
          <p:cNvPr id="10" name="TextBox 9"/>
          <p:cNvSpPr txBox="1"/>
          <p:nvPr/>
        </p:nvSpPr>
        <p:spPr>
          <a:xfrm>
            <a:off x="3401568" y="5705856"/>
            <a:ext cx="2724912" cy="292608"/>
          </a:xfrm>
          <a:prstGeom prst="rect">
            <a:avLst/>
          </a:prstGeom>
          <a:noFill/>
        </p:spPr>
        <p:txBody>
          <a:bodyPr wrap="none">
            <a:spAutoFit/>
          </a:bodyPr>
          <a:lstStyle/>
          <a:p>
            <a:r>
              <a:rPr sz="1000" b="1">
                <a:solidFill>
                  <a:srgbClr val="4F46E5"/>
                </a:solidFill>
                <a:latin typeface="Helvetica Neue"/>
              </a:rPr>
              <a:t>J&amp;M Ch. 10  </a:t>
            </a:r>
            <a:r>
              <a:rPr sz="1000" u="sng">
                <a:solidFill>
                  <a:srgbClr val="1D4ED8"/>
                </a:solidFill>
                <a:latin typeface="Helvetica Neue"/>
                <a:hlinkClick r:id="rId3"/>
              </a:rPr>
              <a:t>BERT &amp; masked LMs</a:t>
            </a:r>
          </a:p>
        </p:txBody>
      </p:sp>
      <p:sp>
        <p:nvSpPr>
          <p:cNvPr id="11" name="TextBox 10"/>
          <p:cNvSpPr txBox="1"/>
          <p:nvPr/>
        </p:nvSpPr>
        <p:spPr>
          <a:xfrm>
            <a:off x="6163056" y="5705856"/>
            <a:ext cx="2724912" cy="292608"/>
          </a:xfrm>
          <a:prstGeom prst="rect">
            <a:avLst/>
          </a:prstGeom>
          <a:noFill/>
        </p:spPr>
        <p:txBody>
          <a:bodyPr wrap="none">
            <a:spAutoFit/>
          </a:bodyPr>
          <a:lstStyle/>
          <a:p>
            <a:r>
              <a:rPr sz="1000" b="1">
                <a:solidFill>
                  <a:srgbClr val="4F46E5"/>
                </a:solidFill>
                <a:latin typeface="Helvetica Neue"/>
              </a:rPr>
              <a:t>HOLLM Ch. 3  </a:t>
            </a:r>
            <a:r>
              <a:rPr sz="1000" u="sng">
                <a:solidFill>
                  <a:srgbClr val="1D4ED8"/>
                </a:solidFill>
                <a:latin typeface="Helvetica Neue"/>
                <a:hlinkClick r:id="rId4"/>
              </a:rPr>
              <a:t>inside transformer LLMs</a:t>
            </a:r>
          </a:p>
        </p:txBody>
      </p:sp>
      <p:sp>
        <p:nvSpPr>
          <p:cNvPr id="12" name="TextBox 11"/>
          <p:cNvSpPr txBox="1"/>
          <p:nvPr/>
        </p:nvSpPr>
        <p:spPr>
          <a:xfrm>
            <a:off x="8924544" y="5705856"/>
            <a:ext cx="2724912" cy="292608"/>
          </a:xfrm>
          <a:prstGeom prst="rect">
            <a:avLst/>
          </a:prstGeom>
          <a:noFill/>
        </p:spPr>
        <p:txBody>
          <a:bodyPr wrap="none">
            <a:spAutoFit/>
          </a:bodyPr>
          <a:lstStyle/>
          <a:p>
            <a:r>
              <a:rPr sz="1000" b="1">
                <a:solidFill>
                  <a:srgbClr val="4F46E5"/>
                </a:solidFill>
                <a:latin typeface="Helvetica Neue"/>
              </a:rPr>
              <a:t>Tunstall Ch. 10  </a:t>
            </a:r>
            <a:r>
              <a:rPr sz="1000" u="sng">
                <a:solidFill>
                  <a:srgbClr val="1D4ED8"/>
                </a:solidFill>
                <a:latin typeface="Helvetica Neue"/>
                <a:hlinkClick r:id="rId5"/>
              </a:rPr>
              <a:t>training from scratch</a:t>
            </a:r>
          </a:p>
        </p:txBody>
      </p:sp>
      <p:sp>
        <p:nvSpPr>
          <p:cNvPr id="13" name="TextBox 12"/>
          <p:cNvSpPr txBox="1"/>
          <p:nvPr/>
        </p:nvSpPr>
        <p:spPr>
          <a:xfrm>
            <a:off x="640080" y="6016752"/>
            <a:ext cx="2724912" cy="292608"/>
          </a:xfrm>
          <a:prstGeom prst="rect">
            <a:avLst/>
          </a:prstGeom>
          <a:noFill/>
        </p:spPr>
        <p:txBody>
          <a:bodyPr wrap="none">
            <a:spAutoFit/>
          </a:bodyPr>
          <a:lstStyle/>
          <a:p>
            <a:r>
              <a:rPr sz="1000" b="1">
                <a:solidFill>
                  <a:srgbClr val="4F46E5"/>
                </a:solidFill>
                <a:latin typeface="Helvetica Neue"/>
              </a:rPr>
              <a:t>Vaswani 2017  </a:t>
            </a:r>
            <a:r>
              <a:rPr sz="1000" u="sng">
                <a:solidFill>
                  <a:srgbClr val="1D4ED8"/>
                </a:solidFill>
                <a:latin typeface="Helvetica Neue"/>
                <a:hlinkClick r:id="rId6"/>
              </a:rPr>
              <a:t>Attention Is All You Need</a:t>
            </a:r>
          </a:p>
        </p:txBody>
      </p:sp>
      <p:sp>
        <p:nvSpPr>
          <p:cNvPr id="14" name="TextBox 13"/>
          <p:cNvSpPr txBox="1"/>
          <p:nvPr/>
        </p:nvSpPr>
        <p:spPr>
          <a:xfrm>
            <a:off x="3401568" y="6016752"/>
            <a:ext cx="2724912" cy="292608"/>
          </a:xfrm>
          <a:prstGeom prst="rect">
            <a:avLst/>
          </a:prstGeom>
          <a:noFill/>
        </p:spPr>
        <p:txBody>
          <a:bodyPr wrap="none">
            <a:spAutoFit/>
          </a:bodyPr>
          <a:lstStyle/>
          <a:p>
            <a:r>
              <a:rPr sz="1000" b="1">
                <a:solidFill>
                  <a:srgbClr val="4F46E5"/>
                </a:solidFill>
                <a:latin typeface="Helvetica Neue"/>
              </a:rPr>
              <a:t>Devlin 2018  </a:t>
            </a:r>
            <a:r>
              <a:rPr sz="1000" u="sng">
                <a:solidFill>
                  <a:srgbClr val="1D4ED8"/>
                </a:solidFill>
                <a:latin typeface="Helvetica Neue"/>
                <a:hlinkClick r:id="rId7"/>
              </a:rPr>
              <a:t>BERT</a:t>
            </a:r>
          </a:p>
        </p:txBody>
      </p:sp>
      <p:sp>
        <p:nvSpPr>
          <p:cNvPr id="15" name="TextBox 14"/>
          <p:cNvSpPr txBox="1"/>
          <p:nvPr/>
        </p:nvSpPr>
        <p:spPr>
          <a:xfrm>
            <a:off x="6163056" y="6016752"/>
            <a:ext cx="2724912" cy="292608"/>
          </a:xfrm>
          <a:prstGeom prst="rect">
            <a:avLst/>
          </a:prstGeom>
          <a:noFill/>
        </p:spPr>
        <p:txBody>
          <a:bodyPr wrap="none">
            <a:spAutoFit/>
          </a:bodyPr>
          <a:lstStyle/>
          <a:p>
            <a:r>
              <a:rPr sz="1000" b="1">
                <a:solidFill>
                  <a:srgbClr val="4F46E5"/>
                </a:solidFill>
                <a:latin typeface="Helvetica Neue"/>
              </a:rPr>
              <a:t>Liu 2019  </a:t>
            </a:r>
            <a:r>
              <a:rPr sz="1000" u="sng">
                <a:solidFill>
                  <a:srgbClr val="1D4ED8"/>
                </a:solidFill>
                <a:latin typeface="Helvetica Neue"/>
                <a:hlinkClick r:id="rId8"/>
              </a:rPr>
              <a:t>RoBERTa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BRIEF</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You just took over support at Cobalt.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 B2B analytics platform. The inbox is the product problem, and nobody has ever labelled a single ticket.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6" name="Rounded Rectangle 5"/>
          <p:cNvSpPr/>
          <p:nvPr/>
        </p:nvSpPr>
        <p:spPr>
          <a:xfrm>
            <a:off x="685800" y="2377440"/>
            <a:ext cx="2615184" cy="1371600"/>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578608"/>
            <a:ext cx="2286000" cy="457200"/>
          </a:xfrm>
          <a:prstGeom prst="rect">
            <a:avLst/>
          </a:prstGeom>
          <a:noFill/>
        </p:spPr>
        <p:txBody>
          <a:bodyPr wrap="square">
            <a:spAutoFit/>
          </a:bodyPr>
          <a:lstStyle/>
          <a:p>
            <a:pPr algn="l"/>
            <a:r>
              <a:rPr sz="1800" b="1" i="0">
                <a:solidFill>
                  <a:srgbClr val="0F172A"/>
                </a:solidFill>
                <a:latin typeface="Helvetica Neue"/>
              </a:rPr>
              <a:t>~5,000 tickets a week</a:t>
            </a:r>
          </a:p>
        </p:txBody>
      </p:sp>
      <p:sp>
        <p:nvSpPr>
          <p:cNvPr id="8" name="TextBox 7"/>
          <p:cNvSpPr txBox="1"/>
          <p:nvPr/>
        </p:nvSpPr>
        <p:spPr>
          <a:xfrm>
            <a:off x="886968" y="3063240"/>
            <a:ext cx="2286000" cy="548640"/>
          </a:xfrm>
          <a:prstGeom prst="rect">
            <a:avLst/>
          </a:prstGeom>
          <a:noFill/>
        </p:spPr>
        <p:txBody>
          <a:bodyPr wrap="square">
            <a:spAutoFit/>
          </a:bodyPr>
          <a:lstStyle/>
          <a:p>
            <a:pPr algn="l"/>
            <a:r>
              <a:rPr sz="1400" b="0" i="0">
                <a:solidFill>
                  <a:srgbClr val="475569"/>
                </a:solidFill>
                <a:latin typeface="Helvetica Neue"/>
              </a:rPr>
              <a:t>three agents to answer them</a:t>
            </a:r>
          </a:p>
        </p:txBody>
      </p:sp>
      <p:sp>
        <p:nvSpPr>
          <p:cNvPr id="9" name="Rounded Rectangle 8"/>
          <p:cNvSpPr/>
          <p:nvPr/>
        </p:nvSpPr>
        <p:spPr>
          <a:xfrm>
            <a:off x="3483864" y="2377440"/>
            <a:ext cx="2615184" cy="1371600"/>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85032" y="2578608"/>
            <a:ext cx="2286000" cy="457200"/>
          </a:xfrm>
          <a:prstGeom prst="rect">
            <a:avLst/>
          </a:prstGeom>
          <a:noFill/>
        </p:spPr>
        <p:txBody>
          <a:bodyPr wrap="square">
            <a:spAutoFit/>
          </a:bodyPr>
          <a:lstStyle/>
          <a:p>
            <a:pPr algn="l"/>
            <a:r>
              <a:rPr sz="1800" b="1" i="0">
                <a:solidFill>
                  <a:srgbClr val="0F172A"/>
                </a:solidFill>
                <a:latin typeface="Helvetica Neue"/>
              </a:rPr>
              <a:t>~40% are repeats</a:t>
            </a:r>
          </a:p>
        </p:txBody>
      </p:sp>
      <p:sp>
        <p:nvSpPr>
          <p:cNvPr id="11" name="TextBox 10"/>
          <p:cNvSpPr txBox="1"/>
          <p:nvPr/>
        </p:nvSpPr>
        <p:spPr>
          <a:xfrm>
            <a:off x="3685032" y="3063240"/>
            <a:ext cx="2286000" cy="548640"/>
          </a:xfrm>
          <a:prstGeom prst="rect">
            <a:avLst/>
          </a:prstGeom>
          <a:noFill/>
        </p:spPr>
        <p:txBody>
          <a:bodyPr wrap="square">
            <a:spAutoFit/>
          </a:bodyPr>
          <a:lstStyle/>
          <a:p>
            <a:pPr algn="l"/>
            <a:r>
              <a:rPr sz="1400" b="0" i="0">
                <a:solidFill>
                  <a:srgbClr val="475569"/>
                </a:solidFill>
                <a:latin typeface="Helvetica Neue"/>
              </a:rPr>
              <a:t>the same handful of questions</a:t>
            </a:r>
          </a:p>
        </p:txBody>
      </p:sp>
      <p:sp>
        <p:nvSpPr>
          <p:cNvPr id="12" name="Rounded Rectangle 11"/>
          <p:cNvSpPr/>
          <p:nvPr/>
        </p:nvSpPr>
        <p:spPr>
          <a:xfrm>
            <a:off x="6281928" y="2377440"/>
            <a:ext cx="2615184" cy="1371600"/>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3096" y="2578608"/>
            <a:ext cx="2286000" cy="457200"/>
          </a:xfrm>
          <a:prstGeom prst="rect">
            <a:avLst/>
          </a:prstGeom>
          <a:noFill/>
        </p:spPr>
        <p:txBody>
          <a:bodyPr wrap="square">
            <a:spAutoFit/>
          </a:bodyPr>
          <a:lstStyle/>
          <a:p>
            <a:pPr algn="l"/>
            <a:r>
              <a:rPr sz="1800" b="1" i="0">
                <a:solidFill>
                  <a:srgbClr val="0F172A"/>
                </a:solidFill>
                <a:latin typeface="Helvetica Neue"/>
              </a:rPr>
              <a:t>No labelled data</a:t>
            </a:r>
          </a:p>
        </p:txBody>
      </p:sp>
      <p:sp>
        <p:nvSpPr>
          <p:cNvPr id="14" name="TextBox 13"/>
          <p:cNvSpPr txBox="1"/>
          <p:nvPr/>
        </p:nvSpPr>
        <p:spPr>
          <a:xfrm>
            <a:off x="6483096" y="3063240"/>
            <a:ext cx="2286000" cy="548640"/>
          </a:xfrm>
          <a:prstGeom prst="rect">
            <a:avLst/>
          </a:prstGeom>
          <a:noFill/>
        </p:spPr>
        <p:txBody>
          <a:bodyPr wrap="square">
            <a:spAutoFit/>
          </a:bodyPr>
          <a:lstStyle/>
          <a:p>
            <a:pPr algn="l"/>
            <a:r>
              <a:rPr sz="1400" b="0" i="0">
                <a:solidFill>
                  <a:srgbClr val="475569"/>
                </a:solidFill>
                <a:latin typeface="Helvetica Neue"/>
              </a:rPr>
              <a:t>and no budget for it this quarter</a:t>
            </a:r>
          </a:p>
        </p:txBody>
      </p:sp>
      <p:sp>
        <p:nvSpPr>
          <p:cNvPr id="15" name="Rounded Rectangle 14"/>
          <p:cNvSpPr/>
          <p:nvPr/>
        </p:nvSpPr>
        <p:spPr>
          <a:xfrm>
            <a:off x="9079992" y="2377440"/>
            <a:ext cx="2615184" cy="1371600"/>
          </a:xfrm>
          <a:prstGeom prst="roundRect">
            <a:avLst/>
          </a:prstGeom>
          <a:solidFill>
            <a:srgbClr val="FFFFFF"/>
          </a:solidFill>
          <a:ln>
            <a:solidFill>
              <a:srgbClr val="EEF1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81160" y="2578608"/>
            <a:ext cx="2286000" cy="457200"/>
          </a:xfrm>
          <a:prstGeom prst="rect">
            <a:avLst/>
          </a:prstGeom>
          <a:noFill/>
        </p:spPr>
        <p:txBody>
          <a:bodyPr wrap="square">
            <a:spAutoFit/>
          </a:bodyPr>
          <a:lstStyle/>
          <a:p>
            <a:pPr algn="l"/>
            <a:r>
              <a:rPr sz="1800" b="1" i="0">
                <a:solidFill>
                  <a:srgbClr val="0F172A"/>
                </a:solidFill>
                <a:latin typeface="Helvetica Neue"/>
              </a:rPr>
              <a:t>Agents burn minutes</a:t>
            </a:r>
          </a:p>
        </p:txBody>
      </p:sp>
      <p:sp>
        <p:nvSpPr>
          <p:cNvPr id="17" name="TextBox 16"/>
          <p:cNvSpPr txBox="1"/>
          <p:nvPr/>
        </p:nvSpPr>
        <p:spPr>
          <a:xfrm>
            <a:off x="9281160" y="3063240"/>
            <a:ext cx="2286000" cy="548640"/>
          </a:xfrm>
          <a:prstGeom prst="rect">
            <a:avLst/>
          </a:prstGeom>
          <a:noFill/>
        </p:spPr>
        <p:txBody>
          <a:bodyPr wrap="square">
            <a:spAutoFit/>
          </a:bodyPr>
          <a:lstStyle/>
          <a:p>
            <a:pPr algn="l"/>
            <a:r>
              <a:rPr sz="1400" b="0" i="0">
                <a:solidFill>
                  <a:srgbClr val="475569"/>
                </a:solidFill>
                <a:latin typeface="Helvetica Neue"/>
              </a:rPr>
              <a:t>just working out who owns it</a:t>
            </a:r>
          </a:p>
        </p:txBody>
      </p:sp>
      <p:sp>
        <p:nvSpPr>
          <p:cNvPr id="18" name="TextBox 17"/>
          <p:cNvSpPr txBox="1"/>
          <p:nvPr/>
        </p:nvSpPr>
        <p:spPr>
          <a:xfrm>
            <a:off x="640080" y="4160520"/>
            <a:ext cx="10881360" cy="822960"/>
          </a:xfrm>
          <a:prstGeom prst="rect">
            <a:avLst/>
          </a:prstGeom>
          <a:noFill/>
        </p:spPr>
        <p:txBody>
          <a:bodyPr wrap="square">
            <a:spAutoFit/>
          </a:bodyPr>
          <a:lstStyle/>
          <a:p>
            <a:pPr algn="l"/>
            <a:r>
              <a:rPr sz="1800" b="0" i="0">
                <a:solidFill>
                  <a:srgbClr val="334155"/>
                </a:solidFill>
                <a:latin typeface="Helvetica Neue"/>
              </a:rPr>
              <a:t>Today we build the part that READS the inbox: search it, sort it, and decide what a human actually needs to see. Next lecture we make it act.</a:t>
            </a:r>
          </a:p>
        </p:txBody>
      </p:sp>
      <p:sp>
        <p:nvSpPr>
          <p:cNvPr id="19" name="TextBox 18"/>
          <p:cNvSpPr txBox="1"/>
          <p:nvPr/>
        </p:nvSpPr>
        <p:spPr>
          <a:xfrm>
            <a:off x="640080" y="5257800"/>
            <a:ext cx="10881360" cy="457200"/>
          </a:xfrm>
          <a:prstGeom prst="rect">
            <a:avLst/>
          </a:prstGeom>
          <a:noFill/>
        </p:spPr>
        <p:txBody>
          <a:bodyPr wrap="square">
            <a:spAutoFit/>
          </a:bodyPr>
          <a:lstStyle/>
          <a:p>
            <a:pPr algn="l"/>
            <a:r>
              <a:rPr sz="1500" b="0" i="1">
                <a:solidFill>
                  <a:srgbClr val="475569"/>
                </a:solidFill>
                <a:latin typeface="Helvetica Neue"/>
              </a:rPr>
              <a:t>Every technique today is one you can point at any pile of text: tickets, reviews, resumes, survey answers.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THE PLAN</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Four capabilities, built in order.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Each one is useful on its own. Together they are a product.</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plan.png"/>
          <p:cNvPicPr>
            <a:picLocks noChangeAspect="1"/>
          </p:cNvPicPr>
          <p:nvPr/>
        </p:nvPicPr>
        <p:blipFill>
          <a:blip r:embed="rId2"/>
          <a:stretch>
            <a:fillRect/>
          </a:stretch>
        </p:blipFill>
        <p:spPr>
          <a:xfrm>
            <a:off x="518007" y="2630057"/>
            <a:ext cx="11155680" cy="3106645"/>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 model cannot read. It can only do arithmetic.</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tokens.png"/>
          <p:cNvPicPr>
            <a:picLocks noChangeAspect="1"/>
          </p:cNvPicPr>
          <p:nvPr/>
        </p:nvPicPr>
        <p:blipFill>
          <a:blip r:embed="rId2"/>
          <a:stretch>
            <a:fillRect/>
          </a:stretch>
        </p:blipFill>
        <p:spPr>
          <a:xfrm>
            <a:off x="518007" y="2640679"/>
            <a:ext cx="11155680" cy="2902521"/>
          </a:xfrm>
          <a:prstGeom prst="rect">
            <a:avLst/>
          </a:prstGeom>
        </p:spPr>
      </p:pic>
      <p:sp>
        <p:nvSpPr>
          <p:cNvPr id="15" name="Rounded Rectangle 14"/>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Under the hood · “text → tokens → ids”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Check what happens to your business vocabulary.</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jargon.png"/>
          <p:cNvPicPr>
            <a:picLocks noChangeAspect="1"/>
          </p:cNvPicPr>
          <p:nvPr/>
        </p:nvPicPr>
        <p:blipFill>
          <a:blip r:embed="rId2"/>
          <a:stretch>
            <a:fillRect/>
          </a:stretch>
        </p:blipFill>
        <p:spPr>
          <a:xfrm>
            <a:off x="518007" y="2436196"/>
            <a:ext cx="11155680" cy="3311487"/>
          </a:xfrm>
          <a:prstGeom prst="rect">
            <a:avLst/>
          </a:prstGeom>
        </p:spPr>
      </p:pic>
      <p:sp>
        <p:nvSpPr>
          <p:cNvPr id="15" name="Rounded Rectangle 14"/>
          <p:cNvSpPr/>
          <p:nvPr/>
        </p:nvSpPr>
        <p:spPr>
          <a:xfrm>
            <a:off x="6131052" y="6382512"/>
            <a:ext cx="5420563"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31052" y="6432804"/>
            <a:ext cx="5420563" cy="237744"/>
          </a:xfrm>
          <a:prstGeom prst="rect">
            <a:avLst/>
          </a:prstGeom>
          <a:noFill/>
        </p:spPr>
        <p:txBody>
          <a:bodyPr wrap="square">
            <a:spAutoFit/>
          </a:bodyPr>
          <a:lstStyle/>
          <a:p>
            <a:pPr algn="ctr"/>
            <a:r>
              <a:rPr sz="1050" b="1" i="0">
                <a:solidFill>
                  <a:srgbClr val="FFFFFF"/>
                </a:solidFill>
                <a:latin typeface="Helvetica Neue"/>
              </a:rPr>
              <a:t>▶  TO THE NOTEBOOK      Under the hood · “does your vocabulary survive?”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D97706"/>
                </a:solidFill>
                <a:latin typeface="Helvetica Neue"/>
              </a:rPr>
              <a:t>REPRESENT</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ticket becomes one vector, by averaging.</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49640" y="438912"/>
            <a:ext cx="329184" cy="329184"/>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94776" y="475488"/>
            <a:ext cx="438912" cy="256032"/>
          </a:xfrm>
          <a:prstGeom prst="rect">
            <a:avLst/>
          </a:prstGeom>
          <a:noFill/>
        </p:spPr>
        <p:txBody>
          <a:bodyPr wrap="square">
            <a:spAutoFit/>
          </a:bodyPr>
          <a:lstStyle/>
          <a:p>
            <a:pPr algn="ctr"/>
            <a:r>
              <a:rPr sz="130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AEB4B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embed.png"/>
          <p:cNvPicPr>
            <a:picLocks noChangeAspect="1"/>
          </p:cNvPicPr>
          <p:nvPr/>
        </p:nvPicPr>
        <p:blipFill>
          <a:blip r:embed="rId2"/>
          <a:stretch>
            <a:fillRect/>
          </a:stretch>
        </p:blipFill>
        <p:spPr>
          <a:xfrm>
            <a:off x="518007" y="2163552"/>
            <a:ext cx="11155680" cy="3856775"/>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Under the hood · “from tokens to ONE vector”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Similarity is a multiplication.</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cosine.png"/>
          <p:cNvPicPr>
            <a:picLocks noChangeAspect="1"/>
          </p:cNvPicPr>
          <p:nvPr/>
        </p:nvPicPr>
        <p:blipFill>
          <a:blip r:embed="rId2"/>
          <a:stretch>
            <a:fillRect/>
          </a:stretch>
        </p:blipFill>
        <p:spPr>
          <a:xfrm>
            <a:off x="518007" y="2558318"/>
            <a:ext cx="11155680" cy="3067243"/>
          </a:xfrm>
          <a:prstGeom prst="rect">
            <a:avLst/>
          </a:prstGeom>
        </p:spPr>
      </p:pic>
      <p:sp>
        <p:nvSpPr>
          <p:cNvPr id="15" name="Rounded Rectangle 14"/>
          <p:cNvSpPr/>
          <p:nvPr/>
        </p:nvSpPr>
        <p:spPr>
          <a:xfrm>
            <a:off x="5851245" y="6382512"/>
            <a:ext cx="570036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51245" y="6432804"/>
            <a:ext cx="5700369" cy="237744"/>
          </a:xfrm>
          <a:prstGeom prst="rect">
            <a:avLst/>
          </a:prstGeom>
          <a:noFill/>
        </p:spPr>
        <p:txBody>
          <a:bodyPr wrap="square">
            <a:spAutoFit/>
          </a:bodyPr>
          <a:lstStyle/>
          <a:p>
            <a:pPr algn="ctr"/>
            <a:r>
              <a:rPr sz="1050" b="1" i="0">
                <a:solidFill>
                  <a:srgbClr val="FFFFFF"/>
                </a:solidFill>
                <a:latin typeface="Helvetica Neue"/>
              </a:rPr>
              <a:t>▶  TO THE NOTEBOOK      Under the hood · “similarity is just multiplication”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Search that finds what you meant.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earch.png"/>
          <p:cNvPicPr>
            <a:picLocks noChangeAspect="1"/>
          </p:cNvPicPr>
          <p:nvPr/>
        </p:nvPicPr>
        <p:blipFill>
          <a:blip r:embed="rId2"/>
          <a:stretch>
            <a:fillRect/>
          </a:stretch>
        </p:blipFill>
        <p:spPr>
          <a:xfrm>
            <a:off x="518007" y="2013030"/>
            <a:ext cx="11155680" cy="4157819"/>
          </a:xfrm>
          <a:prstGeom prst="rect">
            <a:avLst/>
          </a:prstGeom>
        </p:spPr>
      </p:pic>
      <p:sp>
        <p:nvSpPr>
          <p:cNvPr id="15" name="Rounded Rectangle 14"/>
          <p:cNvSpPr/>
          <p:nvPr/>
        </p:nvSpPr>
        <p:spPr>
          <a:xfrm>
            <a:off x="6970471" y="6382512"/>
            <a:ext cx="4581144"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70471" y="6432804"/>
            <a:ext cx="4581144" cy="237744"/>
          </a:xfrm>
          <a:prstGeom prst="rect">
            <a:avLst/>
          </a:prstGeom>
          <a:noFill/>
        </p:spPr>
        <p:txBody>
          <a:bodyPr wrap="square">
            <a:spAutoFit/>
          </a:bodyPr>
          <a:lstStyle/>
          <a:p>
            <a:pPr algn="ctr"/>
            <a:r>
              <a:rPr sz="1050" b="1" i="0">
                <a:solidFill>
                  <a:srgbClr val="FFFFFF"/>
                </a:solidFill>
                <a:latin typeface="Helvetica Neue"/>
              </a:rPr>
              <a:t>▶  TO THE NOTEBOOK      Act 1 · “Teach the computer to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EA5E9"/>
                </a:solidFill>
                <a:latin typeface="Helvetica Neue"/>
              </a:rPr>
              <a:t>RETRIEVE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Structure was already in the text.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Nobody labelled these. Plot the vectors and the neighbourhoods appear on their own.</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08008" y="438912"/>
            <a:ext cx="329184" cy="329184"/>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53144" y="475488"/>
            <a:ext cx="438912" cy="256032"/>
          </a:xfrm>
          <a:prstGeom prst="rect">
            <a:avLst/>
          </a:prstGeom>
          <a:noFill/>
        </p:spPr>
        <p:txBody>
          <a:bodyPr wrap="square">
            <a:spAutoFit/>
          </a:bodyPr>
          <a:lstStyle/>
          <a:p>
            <a:pPr algn="ctr"/>
            <a:r>
              <a:rPr sz="130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AEB4B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map.png"/>
          <p:cNvPicPr>
            <a:picLocks noChangeAspect="1"/>
          </p:cNvPicPr>
          <p:nvPr/>
        </p:nvPicPr>
        <p:blipFill>
          <a:blip r:embed="rId2"/>
          <a:stretch>
            <a:fillRect/>
          </a:stretch>
        </p:blipFill>
        <p:spPr>
          <a:xfrm>
            <a:off x="3260216" y="1965960"/>
            <a:ext cx="5671261" cy="4297679"/>
          </a:xfrm>
          <a:prstGeom prst="rect">
            <a:avLst/>
          </a:prstGeom>
        </p:spPr>
      </p:pic>
      <p:sp>
        <p:nvSpPr>
          <p:cNvPr id="16" name="Rounded Rectangle 15"/>
          <p:cNvSpPr/>
          <p:nvPr/>
        </p:nvSpPr>
        <p:spPr>
          <a:xfrm>
            <a:off x="6830568" y="6382512"/>
            <a:ext cx="4721047"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30568" y="6432804"/>
            <a:ext cx="4721047" cy="237744"/>
          </a:xfrm>
          <a:prstGeom prst="rect">
            <a:avLst/>
          </a:prstGeom>
          <a:noFill/>
        </p:spPr>
        <p:txBody>
          <a:bodyPr wrap="square">
            <a:spAutoFit/>
          </a:bodyPr>
          <a:lstStyle/>
          <a:p>
            <a:pPr algn="ctr"/>
            <a:r>
              <a:rPr sz="1050" b="1" i="0">
                <a:solidFill>
                  <a:srgbClr val="FFFFFF"/>
                </a:solidFill>
                <a:latin typeface="Helvetica Neue"/>
              </a:rPr>
              <a:t>▶  TO THE NOTEBOOK      Act 1 · “The shape of the whole inbox”</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Sort the inbox with zero labelled examples.</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zs.png"/>
          <p:cNvPicPr>
            <a:picLocks noChangeAspect="1"/>
          </p:cNvPicPr>
          <p:nvPr/>
        </p:nvPicPr>
        <p:blipFill>
          <a:blip r:embed="rId2"/>
          <a:stretch>
            <a:fillRect/>
          </a:stretch>
        </p:blipFill>
        <p:spPr>
          <a:xfrm>
            <a:off x="1473370" y="1965960"/>
            <a:ext cx="9244954" cy="4297679"/>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“Route with zero labelled examples”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It is not a classifier. It is a fact-checker.</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 model judges whether a sentence YOU wrote is true of the ticket.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2" name="Rounded Rectangle 11"/>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d_nli.png"/>
          <p:cNvPicPr>
            <a:picLocks noChangeAspect="1"/>
          </p:cNvPicPr>
          <p:nvPr/>
        </p:nvPicPr>
        <p:blipFill>
          <a:blip r:embed="rId2"/>
          <a:stretch>
            <a:fillRect/>
          </a:stretch>
        </p:blipFill>
        <p:spPr>
          <a:xfrm>
            <a:off x="518007" y="2596680"/>
            <a:ext cx="11155680" cy="2350438"/>
          </a:xfrm>
          <a:prstGeom prst="rect">
            <a:avLst/>
          </a:prstGeom>
        </p:spPr>
      </p:pic>
      <p:sp>
        <p:nvSpPr>
          <p:cNvPr id="16" name="Rounded Rectangle 15"/>
          <p:cNvSpPr/>
          <p:nvPr/>
        </p:nvSpPr>
        <p:spPr>
          <a:xfrm>
            <a:off x="5571439" y="6382512"/>
            <a:ext cx="59801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1439" y="6432804"/>
            <a:ext cx="5980176" cy="237744"/>
          </a:xfrm>
          <a:prstGeom prst="rect">
            <a:avLst/>
          </a:prstGeom>
          <a:noFill/>
        </p:spPr>
        <p:txBody>
          <a:bodyPr wrap="square">
            <a:spAutoFit/>
          </a:bodyPr>
          <a:lstStyle/>
          <a:p>
            <a:pPr algn="ctr"/>
            <a:r>
              <a:rPr sz="1050" b="1" i="0">
                <a:solidFill>
                  <a:srgbClr val="FFFFFF"/>
                </a:solidFill>
                <a:latin typeface="Helvetica Neue"/>
              </a:rPr>
              <a:t>▶  TO THE NOTEBOOK      Act 2 · “Under the hood: zero-shot isn't classification”</a:t>
            </a:r>
          </a:p>
        </p:txBody>
      </p:sp>
      <p:sp>
        <p:nvSpPr>
          <p:cNvPr id="18" name="TextBox 17"/>
          <p:cNvSpPr txBox="1"/>
          <p:nvPr/>
        </p:nvSpPr>
        <p:spPr>
          <a:xfrm>
            <a:off x="640080" y="5532120"/>
            <a:ext cx="10881360" cy="640080"/>
          </a:xfrm>
          <a:prstGeom prst="rect">
            <a:avLst/>
          </a:prstGeom>
          <a:noFill/>
        </p:spPr>
        <p:txBody>
          <a:bodyPr wrap="square">
            <a:spAutoFit/>
          </a:bodyPr>
          <a:lstStyle/>
          <a:p>
            <a:pPr algn="ctr"/>
            <a:r>
              <a:rPr sz="1500" b="0" i="1">
                <a:solidFill>
                  <a:srgbClr val="475569"/>
                </a:solidFill>
                <a:latin typeface="Helvetica Neue"/>
              </a:rPr>
              <a:t>Every category becomes a sentence: "This example is {your description}." The model scores all eight and picks whichever it most believes.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Underneath the one-line pipeline.</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nlicode.png"/>
          <p:cNvPicPr>
            <a:picLocks noChangeAspect="1"/>
          </p:cNvPicPr>
          <p:nvPr/>
        </p:nvPicPr>
        <p:blipFill>
          <a:blip r:embed="rId2"/>
          <a:stretch>
            <a:fillRect/>
          </a:stretch>
        </p:blipFill>
        <p:spPr>
          <a:xfrm>
            <a:off x="518007" y="2612278"/>
            <a:ext cx="11155680" cy="2959322"/>
          </a:xfrm>
          <a:prstGeom prst="rect">
            <a:avLst/>
          </a:prstGeom>
        </p:spPr>
      </p:pic>
      <p:sp>
        <p:nvSpPr>
          <p:cNvPr id="15" name="Rounded Rectangle 14"/>
          <p:cNvSpPr/>
          <p:nvPr/>
        </p:nvSpPr>
        <p:spPr>
          <a:xfrm>
            <a:off x="7110374" y="6382512"/>
            <a:ext cx="444124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10374" y="6432804"/>
            <a:ext cx="4441240" cy="237744"/>
          </a:xfrm>
          <a:prstGeom prst="rect">
            <a:avLst/>
          </a:prstGeom>
          <a:noFill/>
        </p:spPr>
        <p:txBody>
          <a:bodyPr wrap="square">
            <a:spAutoFit/>
          </a:bodyPr>
          <a:lstStyle/>
          <a:p>
            <a:pPr algn="ctr"/>
            <a:r>
              <a:rPr sz="1050" b="1" i="0">
                <a:solidFill>
                  <a:srgbClr val="FFFFFF"/>
                </a:solidFill>
                <a:latin typeface="Helvetica Neue"/>
              </a:rPr>
              <a:t>▶  TO THE NOTEBOOK      Act 2 · same cell, read the logits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7C3AED"/>
                </a:solidFill>
                <a:latin typeface="Helvetica Neue"/>
              </a:rPr>
              <a:t>ROUTE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The words you write ARE the program.</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866376" y="438912"/>
            <a:ext cx="329184" cy="329184"/>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11511" y="475488"/>
            <a:ext cx="438912" cy="256032"/>
          </a:xfrm>
          <a:prstGeom prst="rect">
            <a:avLst/>
          </a:prstGeom>
          <a:noFill/>
        </p:spPr>
        <p:txBody>
          <a:bodyPr wrap="square">
            <a:spAutoFit/>
          </a:bodyPr>
          <a:lstStyle/>
          <a:p>
            <a:pPr algn="ctr"/>
            <a:r>
              <a:rPr sz="1300" b="1" i="0">
                <a:solidFill>
                  <a:srgbClr val="FFFFFF"/>
                </a:solidFill>
                <a:latin typeface="Helvetica Neue"/>
              </a:rPr>
              <a:t>3</a:t>
            </a:r>
          </a:p>
        </p:txBody>
      </p:sp>
      <p:sp>
        <p:nvSpPr>
          <p:cNvPr id="11" name="Rounded Rectangle 10"/>
          <p:cNvSpPr/>
          <p:nvPr/>
        </p:nvSpPr>
        <p:spPr>
          <a:xfrm>
            <a:off x="10561319" y="475488"/>
            <a:ext cx="256032" cy="256032"/>
          </a:xfrm>
          <a:prstGeom prst="roundRect">
            <a:avLst>
              <a:gd name="adj" fmla="val 32000"/>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06455" y="475488"/>
            <a:ext cx="365760" cy="256032"/>
          </a:xfrm>
          <a:prstGeom prst="rect">
            <a:avLst/>
          </a:prstGeom>
          <a:noFill/>
        </p:spPr>
        <p:txBody>
          <a:bodyPr wrap="square">
            <a:spAutoFit/>
          </a:bodyPr>
          <a:lstStyle/>
          <a:p>
            <a:pPr algn="ctr"/>
            <a:r>
              <a:rPr sz="1050" b="1" i="0">
                <a:solidFill>
                  <a:srgbClr val="AEB4B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wording.png"/>
          <p:cNvPicPr>
            <a:picLocks noChangeAspect="1"/>
          </p:cNvPicPr>
          <p:nvPr/>
        </p:nvPicPr>
        <p:blipFill>
          <a:blip r:embed="rId2"/>
          <a:stretch>
            <a:fillRect/>
          </a:stretch>
        </p:blipFill>
        <p:spPr>
          <a:xfrm>
            <a:off x="518007" y="2769342"/>
            <a:ext cx="11155680" cy="2599474"/>
          </a:xfrm>
          <a:prstGeom prst="rect">
            <a:avLst/>
          </a:prstGeom>
        </p:spPr>
      </p:pic>
      <p:sp>
        <p:nvSpPr>
          <p:cNvPr id="15" name="Rounded Rectangle 14"/>
          <p:cNvSpPr/>
          <p:nvPr/>
        </p:nvSpPr>
        <p:spPr>
          <a:xfrm>
            <a:off x="6480810" y="6382512"/>
            <a:ext cx="5070805"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0810" y="6432804"/>
            <a:ext cx="5070805" cy="237744"/>
          </a:xfrm>
          <a:prstGeom prst="rect">
            <a:avLst/>
          </a:prstGeom>
          <a:noFill/>
        </p:spPr>
        <p:txBody>
          <a:bodyPr wrap="square">
            <a:spAutoFit/>
          </a:bodyPr>
          <a:lstStyle/>
          <a:p>
            <a:pPr algn="ctr"/>
            <a:r>
              <a:rPr sz="1050" b="1" i="0">
                <a:solidFill>
                  <a:srgbClr val="FFFFFF"/>
                </a:solidFill>
                <a:latin typeface="Helvetica Neue"/>
              </a:rPr>
              <a:t>▶  TO THE NOTEBOOK      Act 2 · YOUR KNOB: rewrite the descriptions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An average is a bad way to run a product.</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Ask WHICH tickets it gets wrong. The weak buckets are the ones whose descriptions overlap.</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recall.png"/>
          <p:cNvPicPr>
            <a:picLocks noChangeAspect="1"/>
          </p:cNvPicPr>
          <p:nvPr/>
        </p:nvPicPr>
        <p:blipFill>
          <a:blip r:embed="rId2"/>
          <a:stretch>
            <a:fillRect/>
          </a:stretch>
        </p:blipFill>
        <p:spPr>
          <a:xfrm>
            <a:off x="2205165" y="2057400"/>
            <a:ext cx="7781363" cy="3977639"/>
          </a:xfrm>
          <a:prstGeom prst="rect">
            <a:avLst/>
          </a:prstGeom>
        </p:spPr>
      </p:pic>
      <p:sp>
        <p:nvSpPr>
          <p:cNvPr id="16" name="Rounded Rectangle 15"/>
          <p:cNvSpPr/>
          <p:nvPr/>
        </p:nvSpPr>
        <p:spPr>
          <a:xfrm>
            <a:off x="7739938" y="6382512"/>
            <a:ext cx="381167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39938" y="6432804"/>
            <a:ext cx="3811676" cy="237744"/>
          </a:xfrm>
          <a:prstGeom prst="rect">
            <a:avLst/>
          </a:prstGeom>
          <a:noFill/>
        </p:spPr>
        <p:txBody>
          <a:bodyPr wrap="square">
            <a:spAutoFit/>
          </a:bodyPr>
          <a:lstStyle/>
          <a:p>
            <a:pPr algn="ctr"/>
            <a:r>
              <a:rPr sz="1050" b="1" i="0">
                <a:solidFill>
                  <a:srgbClr val="FFFFFF"/>
                </a:solidFill>
                <a:latin typeface="Helvetica Neue"/>
              </a:rPr>
              <a:t>▶  TO THE NOTEBOOK      Act 3 · “Where v1 breaks”</a:t>
            </a:r>
          </a:p>
        </p:txBody>
      </p:sp>
      <p:sp>
        <p:nvSpPr>
          <p:cNvPr id="18" name="TextBox 17"/>
          <p:cNvSpPr txBox="1"/>
          <p:nvPr/>
        </p:nvSpPr>
        <p:spPr>
          <a:xfrm>
            <a:off x="640080" y="6080760"/>
            <a:ext cx="10881360" cy="365760"/>
          </a:xfrm>
          <a:prstGeom prst="rect">
            <a:avLst/>
          </a:prstGeom>
          <a:noFill/>
        </p:spPr>
        <p:txBody>
          <a:bodyPr wrap="square">
            <a:spAutoFit/>
          </a:bodyPr>
          <a:lstStyle/>
          <a:p>
            <a:pPr algn="ctr"/>
            <a:r>
              <a:rPr sz="1500" b="0" i="1">
                <a:solidFill>
                  <a:srgbClr val="475569"/>
                </a:solidFill>
                <a:latin typeface="Helvetica Neue"/>
              </a:rPr>
              <a:t>When a classifier underperforms, look at your taxonomy before you look at your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Confident is not the same as correct.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softmax.png"/>
          <p:cNvPicPr>
            <a:picLocks noChangeAspect="1"/>
          </p:cNvPicPr>
          <p:nvPr/>
        </p:nvPicPr>
        <p:blipFill>
          <a:blip r:embed="rId2"/>
          <a:stretch>
            <a:fillRect/>
          </a:stretch>
        </p:blipFill>
        <p:spPr>
          <a:xfrm>
            <a:off x="518007" y="2197772"/>
            <a:ext cx="11155680" cy="3834054"/>
          </a:xfrm>
          <a:prstGeom prst="rect">
            <a:avLst/>
          </a:prstGeom>
        </p:spPr>
      </p:pic>
      <p:sp>
        <p:nvSpPr>
          <p:cNvPr id="15" name="Rounded Rectangle 14"/>
          <p:cNvSpPr/>
          <p:nvPr/>
        </p:nvSpPr>
        <p:spPr>
          <a:xfrm>
            <a:off x="6690664" y="6382512"/>
            <a:ext cx="4860950"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90664" y="6432804"/>
            <a:ext cx="4860950" cy="237744"/>
          </a:xfrm>
          <a:prstGeom prst="rect">
            <a:avLst/>
          </a:prstGeom>
          <a:noFill/>
        </p:spPr>
        <p:txBody>
          <a:bodyPr wrap="square">
            <a:spAutoFit/>
          </a:bodyPr>
          <a:lstStyle/>
          <a:p>
            <a:pPr algn="ctr"/>
            <a:r>
              <a:rPr sz="1050" b="1" i="0">
                <a:solidFill>
                  <a:srgbClr val="FFFFFF"/>
                </a:solidFill>
                <a:latin typeface="Helvetica Neue"/>
              </a:rPr>
              <a:t>▶  TO THE NOTEBOOK      Act 3 · “Why was it 99% sure and wrong?”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Give the model a way to say "I don't know".</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fixes.png"/>
          <p:cNvPicPr>
            <a:picLocks noChangeAspect="1"/>
          </p:cNvPicPr>
          <p:nvPr/>
        </p:nvPicPr>
        <p:blipFill>
          <a:blip r:embed="rId2"/>
          <a:stretch>
            <a:fillRect/>
          </a:stretch>
        </p:blipFill>
        <p:spPr>
          <a:xfrm>
            <a:off x="518007" y="2175052"/>
            <a:ext cx="11155680" cy="3879495"/>
          </a:xfrm>
          <a:prstGeom prst="rect">
            <a:avLst/>
          </a:prstGeom>
        </p:spPr>
      </p:pic>
      <p:sp>
        <p:nvSpPr>
          <p:cNvPr id="15" name="Rounded Rectangle 14"/>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the two one-line defences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This curve is the business decision.</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There is no setting that maximises both. Where you stand on it is a judgement about cost.</a:t>
            </a:r>
          </a:p>
        </p:txBody>
      </p:sp>
      <p:sp>
        <p:nvSpPr>
          <p:cNvPr id="5" name="Rounded Rectangle 4"/>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8" name="Rounded Rectangle 7"/>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10" name="Rounded Rectangle 9"/>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2" name="Rounded Rectangle 11"/>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4" name="TextBox 1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5" name="Picture 14" descr="fig_threshold.png"/>
          <p:cNvPicPr>
            <a:picLocks noChangeAspect="1"/>
          </p:cNvPicPr>
          <p:nvPr/>
        </p:nvPicPr>
        <p:blipFill>
          <a:blip r:embed="rId2"/>
          <a:stretch>
            <a:fillRect/>
          </a:stretch>
        </p:blipFill>
        <p:spPr>
          <a:xfrm>
            <a:off x="3136902" y="2057400"/>
            <a:ext cx="5917889" cy="3931920"/>
          </a:xfrm>
          <a:prstGeom prst="rect">
            <a:avLst/>
          </a:prstGeom>
        </p:spPr>
      </p:pic>
      <p:sp>
        <p:nvSpPr>
          <p:cNvPr id="16" name="Rounded Rectangle 15"/>
          <p:cNvSpPr/>
          <p:nvPr/>
        </p:nvSpPr>
        <p:spPr>
          <a:xfrm>
            <a:off x="7180326" y="6382512"/>
            <a:ext cx="4371289"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80326" y="6432804"/>
            <a:ext cx="4371289" cy="237744"/>
          </a:xfrm>
          <a:prstGeom prst="rect">
            <a:avLst/>
          </a:prstGeom>
          <a:noFill/>
        </p:spPr>
        <p:txBody>
          <a:bodyPr wrap="square">
            <a:spAutoFit/>
          </a:bodyPr>
          <a:lstStyle/>
          <a:p>
            <a:pPr algn="ctr"/>
            <a:r>
              <a:rPr sz="1050" b="1" i="0">
                <a:solidFill>
                  <a:srgbClr val="FFFFFF"/>
                </a:solidFill>
                <a:latin typeface="Helvetica Neue"/>
              </a:rPr>
              <a:t>▶  TO THE NOTEBOOK      Act 3 · YOUR KNOB: move THRESHOLD</a:t>
            </a:r>
          </a:p>
        </p:txBody>
      </p:sp>
      <p:sp>
        <p:nvSpPr>
          <p:cNvPr id="18" name="TextBox 17"/>
          <p:cNvSpPr txBox="1"/>
          <p:nvPr/>
        </p:nvSpPr>
        <p:spPr>
          <a:xfrm>
            <a:off x="640080" y="6035040"/>
            <a:ext cx="10881360" cy="365760"/>
          </a:xfrm>
          <a:prstGeom prst="rect">
            <a:avLst/>
          </a:prstGeom>
          <a:noFill/>
        </p:spPr>
        <p:txBody>
          <a:bodyPr wrap="square">
            <a:spAutoFit/>
          </a:bodyPr>
          <a:lstStyle/>
          <a:p>
            <a:pPr algn="ctr"/>
            <a:r>
              <a:rPr sz="1500" b="0" i="1">
                <a:solidFill>
                  <a:srgbClr val="475569"/>
                </a:solidFill>
                <a:latin typeface="Helvetica Neue"/>
              </a:rPr>
              <a:t>"We can automate 39% of the inbox at 87% accuracy, or cover far more, and be less right." That is a decision an executive can actually make.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059669"/>
                </a:solidFill>
                <a:latin typeface="Helvetica Neue"/>
              </a:rPr>
              <a:t>DECIDE</a:t>
            </a:r>
          </a:p>
        </p:txBody>
      </p:sp>
      <p:sp>
        <p:nvSpPr>
          <p:cNvPr id="3" name="TextBox 2"/>
          <p:cNvSpPr txBox="1"/>
          <p:nvPr/>
        </p:nvSpPr>
        <p:spPr>
          <a:xfrm>
            <a:off x="640080" y="758952"/>
            <a:ext cx="7680960" cy="685800"/>
          </a:xfrm>
          <a:prstGeom prst="rect">
            <a:avLst/>
          </a:prstGeom>
          <a:noFill/>
        </p:spPr>
        <p:txBody>
          <a:bodyPr wrap="square">
            <a:spAutoFit/>
          </a:bodyPr>
          <a:lstStyle/>
          <a:p>
            <a:pPr algn="l"/>
            <a:r>
              <a:rPr sz="2900" b="1" i="0">
                <a:solidFill>
                  <a:srgbClr val="0F172A"/>
                </a:solidFill>
                <a:latin typeface="Helvetica Neue"/>
              </a:rPr>
              <a:t>One number, and you have a product.</a:t>
            </a:r>
          </a:p>
        </p:txBody>
      </p:sp>
      <p:sp>
        <p:nvSpPr>
          <p:cNvPr id="4" name="Rounded Rectangle 3"/>
          <p:cNvSpPr/>
          <p:nvPr/>
        </p:nvSpPr>
        <p:spPr>
          <a:xfrm>
            <a:off x="8705088" y="591616"/>
            <a:ext cx="1975104" cy="23774"/>
          </a:xfrm>
          <a:prstGeom prst="roundRect">
            <a:avLst/>
          </a:prstGeom>
          <a:solidFill>
            <a:srgbClr val="E9EB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586215" y="475488"/>
            <a:ext cx="256032" cy="256032"/>
          </a:xfrm>
          <a:prstGeom prst="roundRect">
            <a:avLst>
              <a:gd name="adj" fmla="val 32000"/>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31351" y="475488"/>
            <a:ext cx="365760" cy="256032"/>
          </a:xfrm>
          <a:prstGeom prst="rect">
            <a:avLst/>
          </a:prstGeom>
          <a:noFill/>
        </p:spPr>
        <p:txBody>
          <a:bodyPr wrap="square">
            <a:spAutoFit/>
          </a:bodyPr>
          <a:lstStyle/>
          <a:p>
            <a:pPr algn="ctr"/>
            <a:r>
              <a:rPr sz="1050" b="1" i="0">
                <a:solidFill>
                  <a:srgbClr val="FFFFFF"/>
                </a:solidFill>
                <a:latin typeface="Helvetica Neue"/>
              </a:rPr>
              <a:t>1</a:t>
            </a:r>
          </a:p>
        </p:txBody>
      </p:sp>
      <p:sp>
        <p:nvSpPr>
          <p:cNvPr id="7" name="Rounded Rectangle 6"/>
          <p:cNvSpPr/>
          <p:nvPr/>
        </p:nvSpPr>
        <p:spPr>
          <a:xfrm>
            <a:off x="9244584" y="475488"/>
            <a:ext cx="256032" cy="256032"/>
          </a:xfrm>
          <a:prstGeom prst="roundRect">
            <a:avLst>
              <a:gd name="adj" fmla="val 32000"/>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89719" y="475488"/>
            <a:ext cx="365760" cy="256032"/>
          </a:xfrm>
          <a:prstGeom prst="rect">
            <a:avLst/>
          </a:prstGeom>
          <a:noFill/>
        </p:spPr>
        <p:txBody>
          <a:bodyPr wrap="square">
            <a:spAutoFit/>
          </a:bodyPr>
          <a:lstStyle/>
          <a:p>
            <a:pPr algn="ctr"/>
            <a:r>
              <a:rPr sz="1050" b="1" i="0">
                <a:solidFill>
                  <a:srgbClr val="FFFFFF"/>
                </a:solidFill>
                <a:latin typeface="Helvetica Neue"/>
              </a:rPr>
              <a:t>2</a:t>
            </a:r>
          </a:p>
        </p:txBody>
      </p:sp>
      <p:sp>
        <p:nvSpPr>
          <p:cNvPr id="9" name="Rounded Rectangle 8"/>
          <p:cNvSpPr/>
          <p:nvPr/>
        </p:nvSpPr>
        <p:spPr>
          <a:xfrm>
            <a:off x="9902951" y="475488"/>
            <a:ext cx="256032" cy="256032"/>
          </a:xfrm>
          <a:prstGeom prst="roundRect">
            <a:avLst>
              <a:gd name="adj" fmla="val 32000"/>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848087" y="475488"/>
            <a:ext cx="365760" cy="256032"/>
          </a:xfrm>
          <a:prstGeom prst="rect">
            <a:avLst/>
          </a:prstGeom>
          <a:noFill/>
        </p:spPr>
        <p:txBody>
          <a:bodyPr wrap="square">
            <a:spAutoFit/>
          </a:bodyPr>
          <a:lstStyle/>
          <a:p>
            <a:pPr algn="ctr"/>
            <a:r>
              <a:rPr sz="1050" b="1" i="0">
                <a:solidFill>
                  <a:srgbClr val="FFFFFF"/>
                </a:solidFill>
                <a:latin typeface="Helvetica Neue"/>
              </a:rPr>
              <a:t>3</a:t>
            </a:r>
          </a:p>
        </p:txBody>
      </p:sp>
      <p:sp>
        <p:nvSpPr>
          <p:cNvPr id="11" name="Rounded Rectangle 10"/>
          <p:cNvSpPr/>
          <p:nvPr/>
        </p:nvSpPr>
        <p:spPr>
          <a:xfrm>
            <a:off x="10524744" y="438912"/>
            <a:ext cx="329184" cy="329184"/>
          </a:xfrm>
          <a:prstGeom prst="roundRect">
            <a:avLst>
              <a:gd name="adj" fmla="val 32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69880" y="475488"/>
            <a:ext cx="438912" cy="256032"/>
          </a:xfrm>
          <a:prstGeom prst="rect">
            <a:avLst/>
          </a:prstGeom>
          <a:noFill/>
        </p:spPr>
        <p:txBody>
          <a:bodyPr wrap="square">
            <a:spAutoFit/>
          </a:bodyPr>
          <a:lstStyle/>
          <a:p>
            <a:pPr algn="ctr"/>
            <a:r>
              <a:rPr sz="1300" b="1" i="0">
                <a:solidFill>
                  <a:srgbClr val="FFFFFF"/>
                </a:solidFill>
                <a:latin typeface="Helvetica Neue"/>
              </a:rPr>
              <a:t>4</a:t>
            </a:r>
          </a:p>
        </p:txBody>
      </p:sp>
      <p:sp>
        <p:nvSpPr>
          <p:cNvPr id="13" name="TextBox 12"/>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14" name="Picture 13" descr="d_decision.png"/>
          <p:cNvPicPr>
            <a:picLocks noChangeAspect="1"/>
          </p:cNvPicPr>
          <p:nvPr/>
        </p:nvPicPr>
        <p:blipFill>
          <a:blip r:embed="rId2"/>
          <a:stretch>
            <a:fillRect/>
          </a:stretch>
        </p:blipFill>
        <p:spPr>
          <a:xfrm>
            <a:off x="518007" y="2884922"/>
            <a:ext cx="11155680" cy="2414034"/>
          </a:xfrm>
          <a:prstGeom prst="rect">
            <a:avLst/>
          </a:prstGeom>
        </p:spPr>
      </p:pic>
      <p:sp>
        <p:nvSpPr>
          <p:cNvPr id="15" name="Rounded Rectangle 14"/>
          <p:cNvSpPr/>
          <p:nvPr/>
        </p:nvSpPr>
        <p:spPr>
          <a:xfrm>
            <a:off x="6410858" y="6382512"/>
            <a:ext cx="5140756" cy="310896"/>
          </a:xfrm>
          <a:prstGeom prst="roundRect">
            <a:avLst>
              <a:gd name="adj" fmla="val 44000"/>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0858" y="6432804"/>
            <a:ext cx="5140756" cy="237744"/>
          </a:xfrm>
          <a:prstGeom prst="rect">
            <a:avLst/>
          </a:prstGeom>
          <a:noFill/>
        </p:spPr>
        <p:txBody>
          <a:bodyPr wrap="square">
            <a:spAutoFit/>
          </a:bodyPr>
          <a:lstStyle/>
          <a:p>
            <a:pPr algn="ctr"/>
            <a:r>
              <a:rPr sz="1050" b="1" i="0">
                <a:solidFill>
                  <a:srgbClr val="FFFFFF"/>
                </a:solidFill>
                <a:latin typeface="Helvetica Neue"/>
              </a:rPr>
              <a:t>▶  TO THE NOTEBOOK      Act 3 · same cell, read the business numbers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FULL CIRCLE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What we shipped today, for $0.</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No labelled data. No training. No GPU bill. One afternoon.</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shipped.png"/>
          <p:cNvPicPr>
            <a:picLocks noChangeAspect="1"/>
          </p:cNvPicPr>
          <p:nvPr/>
        </p:nvPicPr>
        <p:blipFill>
          <a:blip r:embed="rId2"/>
          <a:stretch>
            <a:fillRect/>
          </a:stretch>
        </p:blipFill>
        <p:spPr>
          <a:xfrm>
            <a:off x="518007" y="2920450"/>
            <a:ext cx="11155680" cy="1885778"/>
          </a:xfrm>
          <a:prstGeom prst="rect">
            <a:avLst/>
          </a:prstGeom>
        </p:spPr>
      </p:pic>
      <p:sp>
        <p:nvSpPr>
          <p:cNvPr id="7" name="TextBox 6"/>
          <p:cNvSpPr txBox="1"/>
          <p:nvPr/>
        </p:nvSpPr>
        <p:spPr>
          <a:xfrm>
            <a:off x="640080" y="5715000"/>
            <a:ext cx="10881360" cy="548640"/>
          </a:xfrm>
          <a:prstGeom prst="rect">
            <a:avLst/>
          </a:prstGeom>
          <a:noFill/>
        </p:spPr>
        <p:txBody>
          <a:bodyPr wrap="square">
            <a:spAutoFit/>
          </a:bodyPr>
          <a:lstStyle/>
          <a:p>
            <a:pPr algn="ctr"/>
            <a:r>
              <a:rPr sz="1700" b="0" i="1">
                <a:solidFill>
                  <a:srgbClr val="0F172A"/>
                </a:solidFill>
                <a:latin typeface="Helvetica Neue"/>
              </a:rPr>
              <a:t>Someone else already spent millions teaching a model to read English. Your job is not to build intelligence. It is to point it at your problem, cheaply, and know where it breaks.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WHY THIS MATTERS AT WORK</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Six instincts, not six tools.</a:t>
            </a:r>
          </a:p>
        </p:txBody>
      </p:sp>
      <p:sp>
        <p:nvSpPr>
          <p:cNvPr id="4" name="TextBox 3"/>
          <p:cNvSpPr txBox="1"/>
          <p:nvPr/>
        </p:nvSpPr>
        <p:spPr>
          <a:xfrm>
            <a:off x="640080" y="1417320"/>
            <a:ext cx="10424160" cy="457200"/>
          </a:xfrm>
          <a:prstGeom prst="rect">
            <a:avLst/>
          </a:prstGeom>
          <a:noFill/>
        </p:spPr>
        <p:txBody>
          <a:bodyPr wrap="square">
            <a:spAutoFit/>
          </a:bodyPr>
          <a:lstStyle/>
          <a:p>
            <a:pPr algn="l"/>
            <a:r>
              <a:rPr sz="1500" b="0" i="0">
                <a:solidFill>
                  <a:srgbClr val="475569"/>
                </a:solidFill>
                <a:latin typeface="Helvetica Neue"/>
              </a:rPr>
              <a:t>Every row is a call your future team needs someone in the room able to make.</a:t>
            </a:r>
          </a:p>
        </p:txBody>
      </p:sp>
      <p:sp>
        <p:nvSpPr>
          <p:cNvPr id="5" name="TextBox 4"/>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pic>
        <p:nvPicPr>
          <p:cNvPr id="6" name="Picture 5" descr="d_work.png"/>
          <p:cNvPicPr>
            <a:picLocks noChangeAspect="1"/>
          </p:cNvPicPr>
          <p:nvPr/>
        </p:nvPicPr>
        <p:blipFill>
          <a:blip r:embed="rId2"/>
          <a:stretch>
            <a:fillRect/>
          </a:stretch>
        </p:blipFill>
        <p:spPr>
          <a:xfrm>
            <a:off x="518007" y="2507640"/>
            <a:ext cx="11155680" cy="330575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6766560" cy="274320"/>
          </a:xfrm>
          <a:prstGeom prst="rect">
            <a:avLst/>
          </a:prstGeom>
          <a:noFill/>
        </p:spPr>
        <p:txBody>
          <a:bodyPr wrap="square">
            <a:spAutoFit/>
          </a:bodyPr>
          <a:lstStyle/>
          <a:p>
            <a:pPr algn="l"/>
            <a:r>
              <a:rPr sz="1250" b="1" i="0" spc="220">
                <a:solidFill>
                  <a:srgbClr val="4F46E5"/>
                </a:solidFill>
                <a:latin typeface="Helvetica Neue"/>
              </a:rPr>
              <a:t>NEXT TIME</a:t>
            </a:r>
          </a:p>
        </p:txBody>
      </p:sp>
      <p:sp>
        <p:nvSpPr>
          <p:cNvPr id="3" name="TextBox 2"/>
          <p:cNvSpPr txBox="1"/>
          <p:nvPr/>
        </p:nvSpPr>
        <p:spPr>
          <a:xfrm>
            <a:off x="640080" y="758952"/>
            <a:ext cx="10972800" cy="685800"/>
          </a:xfrm>
          <a:prstGeom prst="rect">
            <a:avLst/>
          </a:prstGeom>
          <a:noFill/>
        </p:spPr>
        <p:txBody>
          <a:bodyPr wrap="square">
            <a:spAutoFit/>
          </a:bodyPr>
          <a:lstStyle/>
          <a:p>
            <a:pPr algn="l"/>
            <a:r>
              <a:rPr sz="2900" b="1" i="0">
                <a:solidFill>
                  <a:srgbClr val="0F172A"/>
                </a:solidFill>
                <a:latin typeface="Helvetica Neue"/>
              </a:rPr>
              <a:t>The layer that acts.</a:t>
            </a:r>
          </a:p>
        </p:txBody>
      </p:sp>
      <p:sp>
        <p:nvSpPr>
          <p:cNvPr id="4" name="TextBox 3"/>
          <p:cNvSpPr txBox="1"/>
          <p:nvPr/>
        </p:nvSpPr>
        <p:spPr>
          <a:xfrm>
            <a:off x="640080" y="6492240"/>
            <a:ext cx="8229600" cy="274320"/>
          </a:xfrm>
          <a:prstGeom prst="rect">
            <a:avLst/>
          </a:prstGeom>
          <a:noFill/>
        </p:spPr>
        <p:txBody>
          <a:bodyPr wrap="square">
            <a:spAutoFit/>
          </a:bodyPr>
          <a:lstStyle/>
          <a:p>
            <a:pPr algn="l"/>
            <a:r>
              <a:rPr sz="900" b="0" i="0">
                <a:solidFill>
                  <a:srgbClr val="BCC1CC"/>
                </a:solidFill>
                <a:latin typeface="Helvetica Neue"/>
              </a:rPr>
              <a:t>ISBA 2411 · Natural Language Processing &amp; AI · Summer 2026</a:t>
            </a:r>
          </a:p>
        </p:txBody>
      </p:sp>
      <p:sp>
        <p:nvSpPr>
          <p:cNvPr id="5" name="Rectangle 4"/>
          <p:cNvSpPr/>
          <p:nvPr/>
        </p:nvSpPr>
        <p:spPr>
          <a:xfrm>
            <a:off x="640080" y="2148840"/>
            <a:ext cx="50292" cy="78638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30552"/>
            <a:ext cx="9601200" cy="384048"/>
          </a:xfrm>
          <a:prstGeom prst="rect">
            <a:avLst/>
          </a:prstGeom>
          <a:noFill/>
        </p:spPr>
        <p:txBody>
          <a:bodyPr wrap="square">
            <a:spAutoFit/>
          </a:bodyPr>
          <a:lstStyle/>
          <a:p>
            <a:pPr algn="l"/>
            <a:r>
              <a:rPr sz="2100" b="1" i="0">
                <a:solidFill>
                  <a:srgbClr val="0F172A"/>
                </a:solidFill>
                <a:latin typeface="Helvetica Neue"/>
              </a:rPr>
              <a:t>What if we DO label?</a:t>
            </a:r>
          </a:p>
        </p:txBody>
      </p:sp>
      <p:sp>
        <p:nvSpPr>
          <p:cNvPr id="7" name="TextBox 6"/>
          <p:cNvSpPr txBox="1"/>
          <p:nvPr/>
        </p:nvSpPr>
        <p:spPr>
          <a:xfrm>
            <a:off x="896112" y="2532888"/>
            <a:ext cx="9875520" cy="365760"/>
          </a:xfrm>
          <a:prstGeom prst="rect">
            <a:avLst/>
          </a:prstGeom>
          <a:noFill/>
        </p:spPr>
        <p:txBody>
          <a:bodyPr wrap="square">
            <a:spAutoFit/>
          </a:bodyPr>
          <a:lstStyle/>
          <a:p>
            <a:pPr algn="l"/>
            <a:r>
              <a:rPr sz="1500" b="0" i="0">
                <a:solidFill>
                  <a:srgbClr val="475569"/>
                </a:solidFill>
                <a:latin typeface="Helvetica Neue"/>
              </a:rPr>
              <a:t>a few hundred examples, and what they buy you</a:t>
            </a:r>
          </a:p>
        </p:txBody>
      </p:sp>
      <p:sp>
        <p:nvSpPr>
          <p:cNvPr id="8" name="Rectangle 7"/>
          <p:cNvSpPr/>
          <p:nvPr/>
        </p:nvSpPr>
        <p:spPr>
          <a:xfrm>
            <a:off x="640080" y="3172968"/>
            <a:ext cx="50292" cy="786384"/>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154680"/>
            <a:ext cx="9601200" cy="384048"/>
          </a:xfrm>
          <a:prstGeom prst="rect">
            <a:avLst/>
          </a:prstGeom>
          <a:noFill/>
        </p:spPr>
        <p:txBody>
          <a:bodyPr wrap="square">
            <a:spAutoFit/>
          </a:bodyPr>
          <a:lstStyle/>
          <a:p>
            <a:pPr algn="l"/>
            <a:r>
              <a:rPr sz="2100" b="1" i="0">
                <a:solidFill>
                  <a:srgbClr val="0F172A"/>
                </a:solidFill>
                <a:latin typeface="Helvetica Neue"/>
              </a:rPr>
              <a:t>Where the reading came from</a:t>
            </a:r>
          </a:p>
        </p:txBody>
      </p:sp>
      <p:sp>
        <p:nvSpPr>
          <p:cNvPr id="10" name="TextBox 9"/>
          <p:cNvSpPr txBox="1"/>
          <p:nvPr/>
        </p:nvSpPr>
        <p:spPr>
          <a:xfrm>
            <a:off x="896112" y="3557016"/>
            <a:ext cx="9875520" cy="365760"/>
          </a:xfrm>
          <a:prstGeom prst="rect">
            <a:avLst/>
          </a:prstGeom>
          <a:noFill/>
        </p:spPr>
        <p:txBody>
          <a:bodyPr wrap="square">
            <a:spAutoFit/>
          </a:bodyPr>
          <a:lstStyle/>
          <a:p>
            <a:pPr algn="l"/>
            <a:r>
              <a:rPr sz="1500" b="0" i="0">
                <a:solidFill>
                  <a:srgbClr val="475569"/>
                </a:solidFill>
                <a:latin typeface="Helvetica Neue"/>
              </a:rPr>
              <a:t>BERT, and how pretraining actually worked</a:t>
            </a:r>
          </a:p>
        </p:txBody>
      </p:sp>
      <p:sp>
        <p:nvSpPr>
          <p:cNvPr id="11" name="Rectangle 10"/>
          <p:cNvSpPr/>
          <p:nvPr/>
        </p:nvSpPr>
        <p:spPr>
          <a:xfrm>
            <a:off x="640080" y="4197096"/>
            <a:ext cx="50292" cy="786384"/>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4178808"/>
            <a:ext cx="9601200" cy="384048"/>
          </a:xfrm>
          <a:prstGeom prst="rect">
            <a:avLst/>
          </a:prstGeom>
          <a:noFill/>
        </p:spPr>
        <p:txBody>
          <a:bodyPr wrap="square">
            <a:spAutoFit/>
          </a:bodyPr>
          <a:lstStyle/>
          <a:p>
            <a:pPr algn="l"/>
            <a:r>
              <a:rPr sz="2100" b="1" i="0">
                <a:solidFill>
                  <a:srgbClr val="0F172A"/>
                </a:solidFill>
                <a:latin typeface="Helvetica Neue"/>
              </a:rPr>
              <a:t>Pull out the specifics</a:t>
            </a:r>
          </a:p>
        </p:txBody>
      </p:sp>
      <p:sp>
        <p:nvSpPr>
          <p:cNvPr id="13" name="TextBox 12"/>
          <p:cNvSpPr txBox="1"/>
          <p:nvPr/>
        </p:nvSpPr>
        <p:spPr>
          <a:xfrm>
            <a:off x="896112" y="4581144"/>
            <a:ext cx="9875520" cy="365760"/>
          </a:xfrm>
          <a:prstGeom prst="rect">
            <a:avLst/>
          </a:prstGeom>
          <a:noFill/>
        </p:spPr>
        <p:txBody>
          <a:bodyPr wrap="square">
            <a:spAutoFit/>
          </a:bodyPr>
          <a:lstStyle/>
          <a:p>
            <a:pPr algn="l"/>
            <a:r>
              <a:rPr sz="1500" b="0" i="0">
                <a:solidFill>
                  <a:srgbClr val="475569"/>
                </a:solidFill>
                <a:latin typeface="Helvetica Neue"/>
              </a:rPr>
              <a:t>which feature, what error, which plan</a:t>
            </a:r>
          </a:p>
        </p:txBody>
      </p:sp>
      <p:sp>
        <p:nvSpPr>
          <p:cNvPr id="14" name="Rectangle 13"/>
          <p:cNvSpPr/>
          <p:nvPr/>
        </p:nvSpPr>
        <p:spPr>
          <a:xfrm>
            <a:off x="640080" y="5221224"/>
            <a:ext cx="50292" cy="786384"/>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5202936"/>
            <a:ext cx="9601200" cy="384048"/>
          </a:xfrm>
          <a:prstGeom prst="rect">
            <a:avLst/>
          </a:prstGeom>
          <a:noFill/>
        </p:spPr>
        <p:txBody>
          <a:bodyPr wrap="square">
            <a:spAutoFit/>
          </a:bodyPr>
          <a:lstStyle/>
          <a:p>
            <a:pPr algn="l"/>
            <a:r>
              <a:rPr sz="2100" b="1" i="0">
                <a:solidFill>
                  <a:srgbClr val="0F172A"/>
                </a:solidFill>
                <a:latin typeface="Helvetica Neue"/>
              </a:rPr>
              <a:t>Watch it make things up</a:t>
            </a:r>
          </a:p>
        </p:txBody>
      </p:sp>
      <p:sp>
        <p:nvSpPr>
          <p:cNvPr id="16" name="TextBox 15"/>
          <p:cNvSpPr txBox="1"/>
          <p:nvPr/>
        </p:nvSpPr>
        <p:spPr>
          <a:xfrm>
            <a:off x="896112" y="5605272"/>
            <a:ext cx="9875520" cy="365760"/>
          </a:xfrm>
          <a:prstGeom prst="rect">
            <a:avLst/>
          </a:prstGeom>
          <a:noFill/>
        </p:spPr>
        <p:txBody>
          <a:bodyPr wrap="square">
            <a:spAutoFit/>
          </a:bodyPr>
          <a:lstStyle/>
          <a:p>
            <a:pPr algn="l"/>
            <a:r>
              <a:rPr sz="1500" b="0" i="0">
                <a:solidFill>
                  <a:srgbClr val="475569"/>
                </a:solidFill>
                <a:latin typeface="Helvetica Neue"/>
              </a:rPr>
              <a:t>and why that sets up Week 8</a:t>
            </a:r>
          </a:p>
        </p:txBody>
      </p:sp>
      <p:sp>
        <p:nvSpPr>
          <p:cNvPr id="17" name="TextBox 16"/>
          <p:cNvSpPr txBox="1"/>
          <p:nvPr/>
        </p:nvSpPr>
        <p:spPr>
          <a:xfrm>
            <a:off x="640080" y="6263640"/>
            <a:ext cx="10881360" cy="365760"/>
          </a:xfrm>
          <a:prstGeom prst="rect">
            <a:avLst/>
          </a:prstGeom>
          <a:noFill/>
        </p:spPr>
        <p:txBody>
          <a:bodyPr wrap="square">
            <a:spAutoFit/>
          </a:bodyPr>
          <a:lstStyle/>
          <a:p>
            <a:pPr algn="l"/>
            <a:r>
              <a:rPr sz="1400" b="0" i="1">
                <a:solidFill>
                  <a:srgbClr val="475569"/>
                </a:solidFill>
                <a:latin typeface="Helvetica Neue"/>
              </a:rPr>
              <a:t>Notebook: L13_Cobalt_Support_Copilot.ipynb. Run it, turn the knobs, break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