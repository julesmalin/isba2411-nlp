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5:57 PM  ~3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[5:57 PM to 6:00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PM to 6:05 PM  ~5 min]</a:t>
            </a:r>
          </a:p>
          <a:p>
            <a:r>
              <a:t>TO THE NOTEBOOK: STEP 3 · Turn tickets into vectors, then search</a:t>
            </a:r>
          </a:p>
          <a:p/>
          <a:p>
            <a:r>
              <a:t>Before any theory at all, let me show you the thing working. I am going to search this queue for "we are being charged wrong".</a:t>
            </a:r>
          </a:p>
          <a:p>
            <a:r>
              <a:t>First, keyword search. Zero results. Not one ticket contains that phrase, because real customers do not write the phrase you happened to think of.</a:t>
            </a:r>
          </a:p>
          <a:p>
            <a:r>
              <a:t>Now the same query, semantic search.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noticing. Every help centre search that actually works, every "related tickets" sidebar, every internal wiki that finds the right document. It is this. And we have not trained anything.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[6:05 PM to 6:09 PM  ~4 min]</a:t>
            </a:r>
          </a:p>
          <a:p>
            <a:r>
              <a:t>TO THE NOTEBOOK: STEP 5 · Map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sorted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hand-sorting.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[6:09 PM to 6:13 PM  ~4 min]</a:t>
            </a:r>
          </a:p>
          <a:p>
            <a:r>
              <a:t>TO THE NOTEBOOK: STEP 6 · Split text into tokens</a:t>
            </a:r>
          </a:p>
          <a:p/>
          <a:p>
            <a:r>
              <a:t>So how did that work? To answer that we have to go all the way down to the smallest piece, because a model cannot read. It does arithmetic. The first job is turning text into numbers.</a:t>
            </a:r>
          </a:p>
          <a:p>
            <a:r>
              <a:t>Watch what happens to this sentence. The model does not see words. It sees tokens, chunks from a fixed vocabulary of about thirty thousand pieces. "Our", "connector" and "failed" survive whole because they are common. But "Postgres" gets broken into "post", "gre", "s". Three fragments.</a:t>
            </a:r>
          </a:p>
          <a:p>
            <a:r>
              <a:t>Why? Because Postgres was not common enough to earn its own slot, so the model spells it out from pieces. That is how a fixed vocabulary can represent any word you throw at it, including words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[6:13 PM to 6:17 PM  ~4 min]</a:t>
            </a:r>
          </a:p>
          <a:p>
            <a:r>
              <a:t>TO THE NOTEBOOK: STEP 7 · Test your product vocabulary</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[6:17 PM to 6:21 PM  ~4 min]</a:t>
            </a:r>
          </a:p>
          <a:p>
            <a:r>
              <a:t>TO THE NOTEBOOK: STEP 8 · Pool tokens into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[6:21 PM to 6:25 PM  ~4 min]</a:t>
            </a:r>
          </a:p>
          <a:p>
            <a:r>
              <a:t>TO THE NOTEBOOK: STEP 9 · Watch attention change a word</a:t>
            </a:r>
          </a:p>
          <a:p/>
          <a:p>
            <a:r>
              <a:t>One more piece and then we move on, and this is a callback rather than new material. You built the transformer in Lecture 11. I am not going to rebuild it. I want the ninety seconds of it that actually matter for what we are doing tonight.</a:t>
            </a:r>
          </a:p>
          <a:p>
            <a:r>
              <a:t>Inside that one line, bert of batch, two things happen, over and over.</a:t>
            </a:r>
          </a:p>
          <a:p>
            <a:r>
              <a:t>The first is attention. Every word looks at every other word in the ticket and pulls in what it needs. So "charged" reads "twice" and "seats" and comes out carrying a piece of both. Information moves sideways, between words.</a:t>
            </a:r>
          </a:p>
          <a:p>
            <a:r>
              <a:t>The second is the feed-forward network, and it does the opposite. Each word goes off on its own through a small network, no looking sideways, and that is where the model applies what it already knows.</a:t>
            </a:r>
          </a:p>
          <a:p>
            <a:r>
              <a:t>Look around, then think about it. That pair is one block, and this model stacks six of them.</a:t>
            </a:r>
          </a:p>
          <a:p>
            <a:r>
              <a:t>Two numbers prove both halves are real. On the right: the word "plan" in two different tickets. Going in, the two vectors are zero point nine three alike, because it is literally the same word. Coming out, zero point four six. That gap is attention reading the neighbours. And underneath: two thirds of every layer is feed-forward, not attention. Attention gets the headlines, but most of the model by weight is the part that stores what it knows.</a:t>
            </a:r>
          </a:p>
          <a:p>
            <a:r>
              <a:t>That is the whole architecture. Everything else you may have heard is detail inside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 PM to 6:31 PM  ~6 min]</a:t>
            </a:r>
          </a:p>
          <a:p>
            <a:r>
              <a:t>TO THE NOTEBOOK: STEP 13 · Route the inbox with no training data</a:t>
            </a:r>
          </a:p>
          <a:p/>
          <a:p>
            <a:r>
              <a:t>Now the interesting part. We want to sort the inbox into the buckets our support team actually uses. The textbook answer is: hand-sort a few thousand tickets, then train a classifier. That is weeks of work and money Cobalt does not have.</a:t>
            </a:r>
          </a:p>
          <a:p>
            <a:r>
              <a:t>One thing to head off before it confuses somebody. In the code you will see an argument called candidate underscore labels. Those are not the hand-sorted labels I just told you we do not have. Nobody sorted a ticket. They are the sentences we write, in English, in about a minute. The library just picked an unfortunate name.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Nobody sorted a ticket. Nothing was trained.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[6:31 PM to 6:36 PM  ~5 min]</a:t>
            </a:r>
          </a:p>
          <a:p>
            <a:r>
              <a:t>TO THE NOTEBOOK: STEP 17 · See the entailment scores</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[6:36 PM to 6:40 PM  ~4 min]</a:t>
            </a:r>
          </a:p>
          <a:p>
            <a:r>
              <a:t>TO THE NOTEBOOK: STEP 16 ·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descriptions.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[6:40 PM to 6:44 PM  ~4 min]</a:t>
            </a:r>
          </a:p>
          <a:p>
            <a:r>
              <a:t>TO THE NOTEBOOK: STEP 18 · Find the weak buckets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[6:44 PM to 6:49 PM  ~5 min]</a:t>
            </a:r>
          </a:p>
          <a:p>
            <a:r>
              <a:t>TO THE NOTEBOOK: STEP 19 · Feed it an off-topic ticket</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7:02 PM  ~13 min]</a:t>
            </a:r>
          </a:p>
          <a:p>
            <a:r>
              <a:t>TO THE NOTEBOOK: GAME NOTEBOOK · L13_Game_Shipping_Decision.ipynb</a:t>
            </a:r>
          </a:p>
          <a:p/>
          <a:p>
            <a:r>
              <a:t>Right. Your turn, and this is a competition.</a:t>
            </a:r>
          </a:p>
          <a:p>
            <a:r>
              <a:t>You have all built the same copilot. It is right about sixty four percent of the time and it tells you how confident it is on every ticket. Now you have to ship it, and shipping means answering one question: how sure does it have to be before we let it route a ticket without a human?</a:t>
            </a:r>
          </a:p>
          <a:p>
            <a:r>
              <a:t>Here is the twist. Each team runs that same copilot for a different company, and the six companies are on the screen. Look at the two right-hand columns, because that is the whole game. For Pixelbloom, a consumer photo app, a wrong route costs seven dollars and a human sorting costs six. Almost the same. For Halcyon Health, a wrong route means patient data went to the wrong team, and that is a hundred and ten dollars against eleven.</a:t>
            </a:r>
          </a:p>
          <a:p>
            <a:r>
              <a:t>Open the game notebook. Put in your team number, and you get your company and your costs. Then turn the confidence bar and watch your weekly bill move.</a:t>
            </a:r>
          </a:p>
          <a:p>
            <a:r>
              <a:t>Two rules. Do not copy another team's number, it will be wrong for you. And you are not scored on raw dollars, because Halcyon's cheapest week costs more than Pixelbloom's worst. You are scored on how close you get to the best possible setting for your own company. Lowest percentage left on the table wins.</a:t>
            </a:r>
          </a:p>
          <a:p>
            <a:r>
              <a:t>Twelve minutes. 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[7:02 PM to 7:06 PM  ~4 min]</a:t>
            </a:r>
          </a:p>
          <a:p>
            <a:r>
              <a:t>TO THE NOTEBOOK: GAME NOTEBOOK · STEP 6, everyone's answer at once</a:t>
            </a:r>
          </a:p>
          <a:p/>
          <a:p>
            <a:r>
              <a:t>Everybody stop. Read out your line.</a:t>
            </a:r>
          </a:p>
          <a:p>
            <a:r>
              <a:t>[collect the answers, write the thresholds on the board]</a:t>
            </a:r>
          </a:p>
          <a:p>
            <a:r>
              <a:t>Now look at this. Six curves, one per company, and the dot on each is the best possible setting.</a:t>
            </a:r>
          </a:p>
          <a:p>
            <a:r>
              <a:t>Pixelbloom's best answer is zero point three one. Automate ninety six percent of the queue. Halcyon Health's best answer is zero point nine seven. Automate twelve percent.</a:t>
            </a:r>
          </a:p>
          <a:p>
            <a:r>
              <a:t>Same copilot. Same one hundred and sixty tickets. Same sixty four percent accuracy. Nobody had a better model, nobody had more data, and nobody was wrong. The answers range from automate almost everything to automate almost nothing, and the only thing that changed was what a mistake costs.</a:t>
            </a:r>
          </a:p>
          <a:p>
            <a:r>
              <a:t>So here is the thing to take out of the room. There is no best setting for an AI system. There is only the best setting for a specific business. Anyone who quotes you a single accuracy number has not told you enough to make a decision.</a:t>
            </a:r>
          </a:p>
          <a:p>
            <a:r>
              <a:t>And the question that unlocks it is not "how accurate is it". It is "what does a wrong answer cost us here". You just watched that one question move the right answer across the entire range. Vendors will almost never ask it for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[7:06 PM to 7:09 PM  ~3 min]</a:t>
            </a:r>
          </a:p>
          <a:p/>
          <a:p>
            <a:r>
              <a:t>Full circle. Here is what we built tonight.</a:t>
            </a:r>
          </a:p>
          <a:p>
            <a:r>
              <a:t>Semantic search across the whole inbox. An eight-way router built with no training data at all. A confidence policy that decides what ships automatically. And an escalation path, so the system can admit when it does not know.</a:t>
            </a:r>
          </a:p>
          <a:p>
            <a:r>
              <a:t>Total cost of hand-sorting tickets: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[7:09 PM to 7:13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[7:13 PM to 7:15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518007" y="2013030"/>
            <a:ext cx="11155680" cy="4157819"/>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tickets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90383" y="1965960"/>
            <a:ext cx="5610928" cy="4251960"/>
          </a:xfrm>
          <a:prstGeom prst="rect">
            <a:avLst/>
          </a:prstGeom>
        </p:spPr>
      </p:pic>
      <p:sp>
        <p:nvSpPr>
          <p:cNvPr id="16" name="Rounded Rectangle 15"/>
          <p:cNvSpPr/>
          <p:nvPr/>
        </p:nvSpPr>
        <p:spPr>
          <a:xfrm>
            <a:off x="7773314" y="6345936"/>
            <a:ext cx="37783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573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876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81573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5</a:t>
            </a:r>
          </a:p>
        </p:txBody>
      </p:sp>
      <p:sp>
        <p:nvSpPr>
          <p:cNvPr id="20" name="TextBox 19"/>
          <p:cNvSpPr txBox="1"/>
          <p:nvPr/>
        </p:nvSpPr>
        <p:spPr>
          <a:xfrm>
            <a:off x="9620402" y="6460236"/>
            <a:ext cx="1830628" cy="219456"/>
          </a:xfrm>
          <a:prstGeom prst="rect">
            <a:avLst/>
          </a:prstGeom>
          <a:noFill/>
        </p:spPr>
        <p:txBody>
          <a:bodyPr wrap="none" lIns="0" rIns="0" tIns="0" bIns="0">
            <a:spAutoFit/>
          </a:bodyPr>
          <a:lstStyle/>
          <a:p>
            <a:pPr algn="l"/>
            <a:r>
              <a:rPr sz="1000" b="1" i="0">
                <a:solidFill>
                  <a:srgbClr val="FFFFFF"/>
                </a:solidFill>
                <a:latin typeface="Helvetica Neue"/>
              </a:rPr>
              <a:t>Map the whole inbox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So how did it do that?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To answer that we go all the way down: a model cannot read, so the text has to become numbers first.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tokens.png"/>
          <p:cNvPicPr>
            <a:picLocks noChangeAspect="1"/>
          </p:cNvPicPr>
          <p:nvPr/>
        </p:nvPicPr>
        <p:blipFill>
          <a:blip r:embed="rId2"/>
          <a:stretch>
            <a:fillRect/>
          </a:stretch>
        </p:blipFill>
        <p:spPr>
          <a:xfrm>
            <a:off x="518007" y="2640679"/>
            <a:ext cx="11155680" cy="2902521"/>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6</a:t>
            </a:r>
          </a:p>
        </p:txBody>
      </p:sp>
      <p:sp>
        <p:nvSpPr>
          <p:cNvPr id="20" name="TextBox 19"/>
          <p:cNvSpPr txBox="1"/>
          <p:nvPr/>
        </p:nvSpPr>
        <p:spPr>
          <a:xfrm>
            <a:off x="9420148" y="6460236"/>
            <a:ext cx="2030882" cy="219456"/>
          </a:xfrm>
          <a:prstGeom prst="rect">
            <a:avLst/>
          </a:prstGeom>
          <a:noFill/>
        </p:spPr>
        <p:txBody>
          <a:bodyPr wrap="none" lIns="0" rIns="0" tIns="0" bIns="0">
            <a:spAutoFit/>
          </a:bodyPr>
          <a:lstStyle/>
          <a:p>
            <a:pPr algn="l"/>
            <a:r>
              <a:rPr sz="1000" b="1" i="0">
                <a:solidFill>
                  <a:srgbClr val="FFFFFF"/>
                </a:solidFill>
                <a:latin typeface="Helvetica Neue"/>
              </a:rPr>
              <a:t>Split text into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19" name="TextBox 18"/>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500" b="1" i="0">
                <a:solidFill>
                  <a:srgbClr val="0F172A"/>
                </a:solidFill>
                <a:latin typeface="Helvetica Neue"/>
              </a:rPr>
              <a:t>One ticket becomes one vector, by averaging.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because every vector has length 1, the similarity behind that search is a plain multiplication.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embed.png"/>
          <p:cNvPicPr>
            <a:picLocks noChangeAspect="1"/>
          </p:cNvPicPr>
          <p:nvPr/>
        </p:nvPicPr>
        <p:blipFill>
          <a:blip r:embed="rId2"/>
          <a:stretch>
            <a:fillRect/>
          </a:stretch>
        </p:blipFill>
        <p:spPr>
          <a:xfrm>
            <a:off x="518007" y="2163552"/>
            <a:ext cx="11155680" cy="3856775"/>
          </a:xfrm>
          <a:prstGeom prst="rect">
            <a:avLst/>
          </a:prstGeom>
        </p:spPr>
      </p:pic>
      <p:sp>
        <p:nvSpPr>
          <p:cNvPr id="16" name="Rounded Rectangle 15"/>
          <p:cNvSpPr/>
          <p:nvPr/>
        </p:nvSpPr>
        <p:spPr>
          <a:xfrm>
            <a:off x="7239304" y="6345936"/>
            <a:ext cx="431231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8172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9475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8172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8</a:t>
            </a:r>
          </a:p>
        </p:txBody>
      </p:sp>
      <p:sp>
        <p:nvSpPr>
          <p:cNvPr id="20" name="TextBox 19"/>
          <p:cNvSpPr txBox="1"/>
          <p:nvPr/>
        </p:nvSpPr>
        <p:spPr>
          <a:xfrm>
            <a:off x="9086392" y="6460236"/>
            <a:ext cx="2364638" cy="219456"/>
          </a:xfrm>
          <a:prstGeom prst="rect">
            <a:avLst/>
          </a:prstGeom>
          <a:noFill/>
        </p:spPr>
        <p:txBody>
          <a:bodyPr wrap="none" lIns="0" rIns="0" tIns="0" bIns="0">
            <a:spAutoFit/>
          </a:bodyPr>
          <a:lstStyle/>
          <a:p>
            <a:pPr algn="l"/>
            <a:r>
              <a:rPr sz="1000" b="1" i="0">
                <a:solidFill>
                  <a:srgbClr val="FFFFFF"/>
                </a:solidFill>
                <a:latin typeface="Helvetica Neue"/>
              </a:rPr>
              <a:t>Pool tokens into one vector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You built this in Lecture 11.</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Here is the ninety seconds of it that matter today: attention looks around, feed-forward thinks about it.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blockonly.png"/>
          <p:cNvPicPr>
            <a:picLocks noChangeAspect="1"/>
          </p:cNvPicPr>
          <p:nvPr/>
        </p:nvPicPr>
        <p:blipFill>
          <a:blip r:embed="rId2"/>
          <a:stretch>
            <a:fillRect/>
          </a:stretch>
        </p:blipFill>
        <p:spPr>
          <a:xfrm>
            <a:off x="566928" y="2011680"/>
            <a:ext cx="6675120" cy="3375971"/>
          </a:xfrm>
          <a:prstGeom prst="rect">
            <a:avLst/>
          </a:prstGeom>
        </p:spPr>
      </p:pic>
      <p:sp>
        <p:nvSpPr>
          <p:cNvPr id="16" name="Rounded Rectangle 15"/>
          <p:cNvSpPr/>
          <p:nvPr/>
        </p:nvSpPr>
        <p:spPr>
          <a:xfrm>
            <a:off x="7635240" y="2286000"/>
            <a:ext cx="3977639" cy="1572768"/>
          </a:xfrm>
          <a:prstGeom prst="roundRect">
            <a:avLst/>
          </a:prstGeom>
          <a:solidFill>
            <a:srgbClr val="FFFFFF"/>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1" y="2450592"/>
            <a:ext cx="3566160" cy="237744"/>
          </a:xfrm>
          <a:prstGeom prst="rect">
            <a:avLst/>
          </a:prstGeom>
          <a:noFill/>
        </p:spPr>
        <p:txBody>
          <a:bodyPr wrap="square" lIns="0" rIns="0" tIns="0" bIns="0">
            <a:spAutoFit/>
          </a:bodyPr>
          <a:lstStyle/>
          <a:p>
            <a:pPr algn="l"/>
            <a:r>
              <a:rPr sz="1050" b="1" i="0" spc="160">
                <a:solidFill>
                  <a:srgbClr val="7C3AED"/>
                </a:solidFill>
                <a:latin typeface="Helvetica Neue"/>
              </a:rPr>
              <a:t>ATTENTION MOVES MEANING</a:t>
            </a:r>
          </a:p>
        </p:txBody>
      </p:sp>
      <p:sp>
        <p:nvSpPr>
          <p:cNvPr id="18" name="TextBox 17"/>
          <p:cNvSpPr txBox="1"/>
          <p:nvPr/>
        </p:nvSpPr>
        <p:spPr>
          <a:xfrm>
            <a:off x="7891271" y="2724912"/>
            <a:ext cx="3566160" cy="502920"/>
          </a:xfrm>
          <a:prstGeom prst="rect">
            <a:avLst/>
          </a:prstGeom>
          <a:noFill/>
        </p:spPr>
        <p:txBody>
          <a:bodyPr wrap="square" lIns="0" rIns="0" tIns="0" bIns="0">
            <a:spAutoFit/>
          </a:bodyPr>
          <a:lstStyle/>
          <a:p>
            <a:pPr algn="l"/>
            <a:r>
              <a:rPr sz="2800" b="1" i="0">
                <a:solidFill>
                  <a:srgbClr val="0F172A"/>
                </a:solidFill>
                <a:latin typeface="Helvetica Neue"/>
              </a:rPr>
              <a:t>0.93 → 0.46</a:t>
            </a:r>
          </a:p>
        </p:txBody>
      </p:sp>
      <p:sp>
        <p:nvSpPr>
          <p:cNvPr id="19" name="TextBox 18"/>
          <p:cNvSpPr txBox="1"/>
          <p:nvPr/>
        </p:nvSpPr>
        <p:spPr>
          <a:xfrm>
            <a:off x="7891271" y="3255264"/>
            <a:ext cx="3520440" cy="548640"/>
          </a:xfrm>
          <a:prstGeom prst="rect">
            <a:avLst/>
          </a:prstGeom>
          <a:noFill/>
        </p:spPr>
        <p:txBody>
          <a:bodyPr wrap="square" lIns="0" rIns="0" tIns="0" bIns="0">
            <a:spAutoFit/>
          </a:bodyPr>
          <a:lstStyle/>
          <a:p>
            <a:pPr algn="l"/>
            <a:r>
              <a:rPr sz="1250" b="0" i="0">
                <a:solidFill>
                  <a:srgbClr val="475569"/>
                </a:solidFill>
                <a:latin typeface="Helvetica Neue"/>
              </a:rPr>
              <a:t>the word "plan" in two tickets: nearly identical going in, barely related coming out</a:t>
            </a:r>
          </a:p>
        </p:txBody>
      </p:sp>
      <p:sp>
        <p:nvSpPr>
          <p:cNvPr id="20" name="Rounded Rectangle 19"/>
          <p:cNvSpPr/>
          <p:nvPr/>
        </p:nvSpPr>
        <p:spPr>
          <a:xfrm>
            <a:off x="7635240" y="4160520"/>
            <a:ext cx="3977639" cy="1572768"/>
          </a:xfrm>
          <a:prstGeom prst="roundRect">
            <a:avLst/>
          </a:prstGeom>
          <a:solidFill>
            <a:srgbClr val="FFFFFF"/>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91271" y="4325112"/>
            <a:ext cx="3566160" cy="237744"/>
          </a:xfrm>
          <a:prstGeom prst="rect">
            <a:avLst/>
          </a:prstGeom>
          <a:noFill/>
        </p:spPr>
        <p:txBody>
          <a:bodyPr wrap="square" lIns="0" rIns="0" tIns="0" bIns="0">
            <a:spAutoFit/>
          </a:bodyPr>
          <a:lstStyle/>
          <a:p>
            <a:pPr algn="l"/>
            <a:r>
              <a:rPr sz="1050" b="1" i="0" spc="160">
                <a:solidFill>
                  <a:srgbClr val="0EA5E9"/>
                </a:solidFill>
                <a:latin typeface="Helvetica Neue"/>
              </a:rPr>
              <a:t>FEED-FORWARD HOLDS KNOWLEDGE</a:t>
            </a:r>
          </a:p>
        </p:txBody>
      </p:sp>
      <p:sp>
        <p:nvSpPr>
          <p:cNvPr id="22" name="TextBox 21"/>
          <p:cNvSpPr txBox="1"/>
          <p:nvPr/>
        </p:nvSpPr>
        <p:spPr>
          <a:xfrm>
            <a:off x="7891271" y="4599431"/>
            <a:ext cx="3566160" cy="502920"/>
          </a:xfrm>
          <a:prstGeom prst="rect">
            <a:avLst/>
          </a:prstGeom>
          <a:noFill/>
        </p:spPr>
        <p:txBody>
          <a:bodyPr wrap="square" lIns="0" rIns="0" tIns="0" bIns="0">
            <a:spAutoFit/>
          </a:bodyPr>
          <a:lstStyle/>
          <a:p>
            <a:pPr algn="l"/>
            <a:r>
              <a:rPr sz="2800" b="1" i="0">
                <a:solidFill>
                  <a:srgbClr val="0F172A"/>
                </a:solidFill>
                <a:latin typeface="Helvetica Neue"/>
              </a:rPr>
              <a:t>67% / 33%</a:t>
            </a:r>
          </a:p>
        </p:txBody>
      </p:sp>
      <p:sp>
        <p:nvSpPr>
          <p:cNvPr id="23" name="TextBox 22"/>
          <p:cNvSpPr txBox="1"/>
          <p:nvPr/>
        </p:nvSpPr>
        <p:spPr>
          <a:xfrm>
            <a:off x="7891271" y="5129783"/>
            <a:ext cx="3520440" cy="548640"/>
          </a:xfrm>
          <a:prstGeom prst="rect">
            <a:avLst/>
          </a:prstGeom>
          <a:noFill/>
        </p:spPr>
        <p:txBody>
          <a:bodyPr wrap="square" lIns="0" rIns="0" tIns="0" bIns="0">
            <a:spAutoFit/>
          </a:bodyPr>
          <a:lstStyle/>
          <a:p>
            <a:pPr algn="l"/>
            <a:r>
              <a:rPr sz="1250" b="0" i="0">
                <a:solidFill>
                  <a:srgbClr val="475569"/>
                </a:solidFill>
                <a:latin typeface="Helvetica Neue"/>
              </a:rPr>
              <a:t>two thirds of every layer is feed-forward, not attention. "billed every ___" → month</a:t>
            </a:r>
          </a:p>
        </p:txBody>
      </p:sp>
      <p:sp>
        <p:nvSpPr>
          <p:cNvPr id="24" name="Rounded Rectangle 23"/>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27" name="TextBox 26"/>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8" name="TextBox 27"/>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YOUR TURN</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The Shipping Decision.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Your team runs it for a different company. Find the best setting for yours.</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gamebrief.png"/>
          <p:cNvPicPr>
            <a:picLocks noChangeAspect="1"/>
          </p:cNvPicPr>
          <p:nvPr/>
        </p:nvPicPr>
        <p:blipFill>
          <a:blip r:embed="rId2"/>
          <a:stretch>
            <a:fillRect/>
          </a:stretch>
        </p:blipFill>
        <p:spPr>
          <a:xfrm>
            <a:off x="518007" y="2286328"/>
            <a:ext cx="11155680" cy="3336902"/>
          </a:xfrm>
          <a:prstGeom prst="rect">
            <a:avLst/>
          </a:prstGeom>
        </p:spPr>
      </p:pic>
      <p:sp>
        <p:nvSpPr>
          <p:cNvPr id="16" name="TextBox 15"/>
          <p:cNvSpPr txBox="1"/>
          <p:nvPr/>
        </p:nvSpPr>
        <p:spPr>
          <a:xfrm>
            <a:off x="640080" y="5989320"/>
            <a:ext cx="10881360" cy="365760"/>
          </a:xfrm>
          <a:prstGeom prst="rect">
            <a:avLst/>
          </a:prstGeom>
          <a:noFill/>
        </p:spPr>
        <p:txBody>
          <a:bodyPr wrap="square" lIns="0" rIns="0" tIns="0" bIns="0">
            <a:spAutoFit/>
          </a:bodyPr>
          <a:lstStyle/>
          <a:p>
            <a:pPr algn="ctr"/>
            <a:r>
              <a:rPr sz="1500" b="0" i="1">
                <a:solidFill>
                  <a:srgbClr val="475569"/>
                </a:solidFill>
                <a:latin typeface="Helvetica Neue"/>
              </a:rPr>
              <a:t>Open L13_Game_Shipping_Decision.ipynb   ·   12 minutes   ·   scored on how close you get to the best setting for YOUR company, not on raw dollars.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THE REVEAL</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Every team optimised correctly. Every team got a different answer.</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fig_game.png"/>
          <p:cNvPicPr>
            <a:picLocks noChangeAspect="1"/>
          </p:cNvPicPr>
          <p:nvPr/>
        </p:nvPicPr>
        <p:blipFill>
          <a:blip r:embed="rId2"/>
          <a:stretch>
            <a:fillRect/>
          </a:stretch>
        </p:blipFill>
        <p:spPr>
          <a:xfrm>
            <a:off x="2207847" y="2011680"/>
            <a:ext cx="7775999" cy="3931920"/>
          </a:xfrm>
          <a:prstGeom prst="rect">
            <a:avLst/>
          </a:prstGeom>
        </p:spPr>
      </p:pic>
      <p:sp>
        <p:nvSpPr>
          <p:cNvPr id="15" name="TextBox 14"/>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Nobody had a better model. The only thing that changed was what a mistake costs.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897590"/>
            <a:ext cx="11155680" cy="1885778"/>
          </a:xfrm>
          <a:prstGeom prst="rect">
            <a:avLst/>
          </a:prstGeom>
        </p:spPr>
      </p:pic>
      <p:sp>
        <p:nvSpPr>
          <p:cNvPr id="7" name="TextBox 6"/>
          <p:cNvSpPr txBox="1"/>
          <p:nvPr/>
        </p:nvSpPr>
        <p:spPr>
          <a:xfrm>
            <a:off x="640080" y="5669280"/>
            <a:ext cx="10881360" cy="548640"/>
          </a:xfrm>
          <a:prstGeom prst="rect">
            <a:avLst/>
          </a:prstGeom>
          <a:noFill/>
        </p:spPr>
        <p:txBody>
          <a:bodyPr wrap="square" lIns="0" rIns="0" tIns="0" bIns="0">
            <a:spAutoFit/>
          </a:bodyPr>
          <a:lstStyle/>
          <a:p>
            <a:pPr algn="ctr"/>
            <a:r>
              <a:rPr sz="1700" b="0" i="1">
                <a:solidFill>
                  <a:srgbClr val="0F172A"/>
                </a:solidFill>
                <a:latin typeface="Helvetica Neue"/>
              </a:rPr>
              <a:t>Accuracy is a property of the model. The right threshold is a property of the business.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lIns="0" rIns="0" tIns="0" bIns="0">
            <a:spAutoFit/>
          </a:bodyPr>
          <a:lstStyle/>
          <a:p>
            <a:pPr algn="l"/>
            <a:r>
              <a:rPr sz="2100" b="1" i="0">
                <a:solidFill>
                  <a:srgbClr val="0F172A"/>
                </a:solidFill>
                <a:latin typeface="Helvetica Neue"/>
              </a:rPr>
              <a:t>What if we DO sort them by hand?</a:t>
            </a:r>
          </a:p>
        </p:txBody>
      </p:sp>
      <p:sp>
        <p:nvSpPr>
          <p:cNvPr id="7" name="TextBox 6"/>
          <p:cNvSpPr txBox="1"/>
          <p:nvPr/>
        </p:nvSpPr>
        <p:spPr>
          <a:xfrm>
            <a:off x="896112" y="2532888"/>
            <a:ext cx="9875520" cy="365760"/>
          </a:xfrm>
          <a:prstGeom prst="rect">
            <a:avLst/>
          </a:prstGeom>
          <a:noFill/>
        </p:spPr>
        <p:txBody>
          <a:bodyPr wrap="square" lIns="0" rIns="0" tIns="0" bIns="0">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lIns="0" rIns="0" tIns="0" bIns="0">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lIns="0" rIns="0" tIns="0" bIns="0">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lIns="0" rIns="0" tIns="0" bIns="0">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lIns="0" rIns="0" tIns="0" bIns="0">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lIns="0" rIns="0" tIns="0" bIns="0">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lIns="0" rIns="0" tIns="0" bIns="0">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lIns="0" rIns="0" tIns="0" bIns="0">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