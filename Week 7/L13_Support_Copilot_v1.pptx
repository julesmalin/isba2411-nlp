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eb.stanford.edu/~jurafsky/slp3/" TargetMode="External"/><Relationship Id="rId4" Type="http://schemas.openxmlformats.org/officeDocument/2006/relationships/hyperlink" Target="https://github.com/HandsOnLLM/Hands-On-Large-Language-Models" TargetMode="External"/><Relationship Id="rId5" Type="http://schemas.openxmlformats.org/officeDocument/2006/relationships/hyperlink" Target="https://github.com/nlp-with-transformers/notebooks" TargetMode="External"/><Relationship Id="rId6" Type="http://schemas.openxmlformats.org/officeDocument/2006/relationships/hyperlink" Target="https://arxiv.org/abs/1706.03762" TargetMode="External"/><Relationship Id="rId7" Type="http://schemas.openxmlformats.org/officeDocument/2006/relationships/hyperlink" Target="https://arxiv.org/abs/1810.04805" TargetMode="External"/><Relationship Id="rId8" Type="http://schemas.openxmlformats.org/officeDocument/2006/relationships/hyperlink" Target="https://arxiv.org/abs/1907.11692"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468880"/>
            <a:ext cx="7315200" cy="320040"/>
          </a:xfrm>
          <a:prstGeom prst="rect">
            <a:avLst/>
          </a:prstGeom>
          <a:noFill/>
        </p:spPr>
        <p:txBody>
          <a:bodyPr wrap="square" lIns="0" rIns="0" tIns="0" bIns="0">
            <a:spAutoFit/>
          </a:bodyPr>
          <a:lstStyle/>
          <a:p>
            <a:pPr algn="l"/>
            <a:r>
              <a:rPr sz="1300" b="1" i="0" spc="250">
                <a:solidFill>
                  <a:srgbClr val="4F46E5"/>
                </a:solidFill>
                <a:latin typeface="Helvetica Neue"/>
              </a:rPr>
              <a:t>WEEK 7 · LECTURE 13</a:t>
            </a:r>
          </a:p>
        </p:txBody>
      </p:sp>
      <p:sp>
        <p:nvSpPr>
          <p:cNvPr id="3" name="TextBox 2"/>
          <p:cNvSpPr txBox="1"/>
          <p:nvPr/>
        </p:nvSpPr>
        <p:spPr>
          <a:xfrm>
            <a:off x="640080" y="2852928"/>
            <a:ext cx="10972800" cy="914400"/>
          </a:xfrm>
          <a:prstGeom prst="rect">
            <a:avLst/>
          </a:prstGeom>
          <a:noFill/>
        </p:spPr>
        <p:txBody>
          <a:bodyPr wrap="square" lIns="0" rIns="0" tIns="0" bIns="0">
            <a:spAutoFit/>
          </a:bodyPr>
          <a:lstStyle/>
          <a:p>
            <a:pPr algn="l"/>
            <a:r>
              <a:rPr sz="5000" b="1" i="0">
                <a:solidFill>
                  <a:srgbClr val="0F172A"/>
                </a:solidFill>
                <a:latin typeface="Helvetica Neue"/>
              </a:rPr>
              <a:t>Building a Support Copilot</a:t>
            </a:r>
          </a:p>
        </p:txBody>
      </p:sp>
      <p:sp>
        <p:nvSpPr>
          <p:cNvPr id="4" name="TextBox 3"/>
          <p:cNvSpPr txBox="1"/>
          <p:nvPr/>
        </p:nvSpPr>
        <p:spPr>
          <a:xfrm>
            <a:off x="640080" y="3913632"/>
            <a:ext cx="10058400" cy="457200"/>
          </a:xfrm>
          <a:prstGeom prst="rect">
            <a:avLst/>
          </a:prstGeom>
          <a:noFill/>
        </p:spPr>
        <p:txBody>
          <a:bodyPr wrap="square" lIns="0" rIns="0" tIns="0" bIns="0">
            <a:spAutoFit/>
          </a:bodyPr>
          <a:lstStyle/>
          <a:p>
            <a:pPr algn="l"/>
            <a:r>
              <a:rPr sz="2300" b="0" i="0">
                <a:solidFill>
                  <a:srgbClr val="475569"/>
                </a:solidFill>
                <a:latin typeface="Helvetica Neue"/>
              </a:rPr>
              <a:t>Part 1: the layer that reads</a:t>
            </a:r>
          </a:p>
        </p:txBody>
      </p:sp>
      <p:sp>
        <p:nvSpPr>
          <p:cNvPr id="5" name="Rectangle 4"/>
          <p:cNvSpPr/>
          <p:nvPr/>
        </p:nvSpPr>
        <p:spPr>
          <a:xfrm>
            <a:off x="658368" y="4572000"/>
            <a:ext cx="822960"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4754880"/>
            <a:ext cx="10058400" cy="457200"/>
          </a:xfrm>
          <a:prstGeom prst="rect">
            <a:avLst/>
          </a:prstGeom>
          <a:noFill/>
        </p:spPr>
        <p:txBody>
          <a:bodyPr wrap="square" lIns="0" rIns="0" tIns="0" bIns="0">
            <a:spAutoFit/>
          </a:bodyPr>
          <a:lstStyle/>
          <a:p>
            <a:pPr algn="l"/>
            <a:r>
              <a:rPr sz="1700" b="0" i="1">
                <a:solidFill>
                  <a:srgbClr val="0F172A"/>
                </a:solidFill>
                <a:latin typeface="Helvetica Neue"/>
              </a:rPr>
              <a:t>5,000 tickets a week, three agents, and nothing in the queue has ever been sorted. Let's ship anyway.</a:t>
            </a:r>
          </a:p>
        </p:txBody>
      </p:sp>
      <p:sp>
        <p:nvSpPr>
          <p:cNvPr id="7" name="TextBox 6"/>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4F46E5"/>
                </a:solidFill>
                <a:latin typeface="Helvetica Neue"/>
              </a:rPr>
              <a:t>WEEK 7 · AT A GLANCE</a:t>
            </a:r>
          </a:p>
        </p:txBody>
      </p:sp>
      <p:sp>
        <p:nvSpPr>
          <p:cNvPr id="3" name="TextBox 2"/>
          <p:cNvSpPr txBox="1"/>
          <p:nvPr/>
        </p:nvSpPr>
        <p:spPr>
          <a:xfrm>
            <a:off x="640080" y="758952"/>
            <a:ext cx="10972800" cy="685800"/>
          </a:xfrm>
          <a:prstGeom prst="rect">
            <a:avLst/>
          </a:prstGeom>
          <a:noFill/>
        </p:spPr>
        <p:txBody>
          <a:bodyPr wrap="square" lIns="0" rIns="0" tIns="0" bIns="0">
            <a:spAutoFit/>
          </a:bodyPr>
          <a:lstStyle/>
          <a:p>
            <a:pPr algn="l"/>
            <a:r>
              <a:rPr sz="2900" b="1" i="0">
                <a:solidFill>
                  <a:srgbClr val="0F172A"/>
                </a:solidFill>
                <a:latin typeface="Helvetica Neue"/>
              </a:rPr>
              <a:t>Language Models &amp; Transformers</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What we cover across both lectures, the models we actually run, and what to read alongside them.</a:t>
            </a:r>
          </a:p>
        </p:txBody>
      </p:sp>
      <p:sp>
        <p:nvSpPr>
          <p:cNvPr id="5" name="TextBox 4"/>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6" name="Picture 5" descr="d_week.png"/>
          <p:cNvPicPr>
            <a:picLocks noChangeAspect="1"/>
          </p:cNvPicPr>
          <p:nvPr/>
        </p:nvPicPr>
        <p:blipFill>
          <a:blip r:embed="rId2"/>
          <a:stretch>
            <a:fillRect/>
          </a:stretch>
        </p:blipFill>
        <p:spPr>
          <a:xfrm>
            <a:off x="1500676" y="1810512"/>
            <a:ext cx="9190341" cy="3547872"/>
          </a:xfrm>
          <a:prstGeom prst="rect">
            <a:avLst/>
          </a:prstGeom>
        </p:spPr>
      </p:pic>
      <p:sp>
        <p:nvSpPr>
          <p:cNvPr id="7" name="Rectangle 6"/>
          <p:cNvSpPr/>
          <p:nvPr/>
        </p:nvSpPr>
        <p:spPr>
          <a:xfrm>
            <a:off x="640080" y="5394960"/>
            <a:ext cx="10927080" cy="12801"/>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468112"/>
            <a:ext cx="2743200" cy="219456"/>
          </a:xfrm>
          <a:prstGeom prst="rect">
            <a:avLst/>
          </a:prstGeom>
          <a:noFill/>
        </p:spPr>
        <p:txBody>
          <a:bodyPr wrap="square" lIns="0" rIns="0" tIns="0" bIns="0">
            <a:spAutoFit/>
          </a:bodyPr>
          <a:lstStyle/>
          <a:p>
            <a:pPr algn="l"/>
            <a:r>
              <a:rPr sz="1000" b="1" i="0" spc="180">
                <a:solidFill>
                  <a:srgbClr val="94A3B8"/>
                </a:solidFill>
                <a:latin typeface="Helvetica Neue"/>
              </a:rPr>
              <a:t>READINGS</a:t>
            </a:r>
          </a:p>
        </p:txBody>
      </p:sp>
      <p:sp>
        <p:nvSpPr>
          <p:cNvPr id="9" name="TextBox 8"/>
          <p:cNvSpPr txBox="1"/>
          <p:nvPr/>
        </p:nvSpPr>
        <p:spPr>
          <a:xfrm>
            <a:off x="640080" y="5705856"/>
            <a:ext cx="2724912" cy="292608"/>
          </a:xfrm>
          <a:prstGeom prst="rect">
            <a:avLst/>
          </a:prstGeom>
          <a:noFill/>
        </p:spPr>
        <p:txBody>
          <a:bodyPr wrap="none">
            <a:spAutoFit/>
          </a:bodyPr>
          <a:lstStyle/>
          <a:p>
            <a:r>
              <a:rPr sz="1000" b="1">
                <a:solidFill>
                  <a:srgbClr val="4F46E5"/>
                </a:solidFill>
                <a:latin typeface="Helvetica Neue"/>
              </a:rPr>
              <a:t>J&amp;M Ch. 7  </a:t>
            </a:r>
            <a:r>
              <a:rPr sz="1000" u="sng">
                <a:solidFill>
                  <a:srgbClr val="1D4ED8"/>
                </a:solidFill>
                <a:latin typeface="Helvetica Neue"/>
                <a:hlinkClick r:id="rId3"/>
              </a:rPr>
              <a:t>Large Language Models</a:t>
            </a:r>
          </a:p>
        </p:txBody>
      </p:sp>
      <p:sp>
        <p:nvSpPr>
          <p:cNvPr id="10" name="TextBox 9"/>
          <p:cNvSpPr txBox="1"/>
          <p:nvPr/>
        </p:nvSpPr>
        <p:spPr>
          <a:xfrm>
            <a:off x="3401568" y="5705856"/>
            <a:ext cx="2724912" cy="292608"/>
          </a:xfrm>
          <a:prstGeom prst="rect">
            <a:avLst/>
          </a:prstGeom>
          <a:noFill/>
        </p:spPr>
        <p:txBody>
          <a:bodyPr wrap="none">
            <a:spAutoFit/>
          </a:bodyPr>
          <a:lstStyle/>
          <a:p>
            <a:r>
              <a:rPr sz="1000" b="1">
                <a:solidFill>
                  <a:srgbClr val="4F46E5"/>
                </a:solidFill>
                <a:latin typeface="Helvetica Neue"/>
              </a:rPr>
              <a:t>J&amp;M Ch. 10  </a:t>
            </a:r>
            <a:r>
              <a:rPr sz="1000" u="sng">
                <a:solidFill>
                  <a:srgbClr val="1D4ED8"/>
                </a:solidFill>
                <a:latin typeface="Helvetica Neue"/>
                <a:hlinkClick r:id="rId3"/>
              </a:rPr>
              <a:t>BERT &amp; masked LMs</a:t>
            </a:r>
          </a:p>
        </p:txBody>
      </p:sp>
      <p:sp>
        <p:nvSpPr>
          <p:cNvPr id="11" name="TextBox 10"/>
          <p:cNvSpPr txBox="1"/>
          <p:nvPr/>
        </p:nvSpPr>
        <p:spPr>
          <a:xfrm>
            <a:off x="6163056" y="5705856"/>
            <a:ext cx="2724912" cy="292608"/>
          </a:xfrm>
          <a:prstGeom prst="rect">
            <a:avLst/>
          </a:prstGeom>
          <a:noFill/>
        </p:spPr>
        <p:txBody>
          <a:bodyPr wrap="none">
            <a:spAutoFit/>
          </a:bodyPr>
          <a:lstStyle/>
          <a:p>
            <a:r>
              <a:rPr sz="1000" b="1">
                <a:solidFill>
                  <a:srgbClr val="4F46E5"/>
                </a:solidFill>
                <a:latin typeface="Helvetica Neue"/>
              </a:rPr>
              <a:t>HOLLM Ch. 3  </a:t>
            </a:r>
            <a:r>
              <a:rPr sz="1000" u="sng">
                <a:solidFill>
                  <a:srgbClr val="1D4ED8"/>
                </a:solidFill>
                <a:latin typeface="Helvetica Neue"/>
                <a:hlinkClick r:id="rId4"/>
              </a:rPr>
              <a:t>inside transformer LLMs</a:t>
            </a:r>
          </a:p>
        </p:txBody>
      </p:sp>
      <p:sp>
        <p:nvSpPr>
          <p:cNvPr id="12" name="TextBox 11"/>
          <p:cNvSpPr txBox="1"/>
          <p:nvPr/>
        </p:nvSpPr>
        <p:spPr>
          <a:xfrm>
            <a:off x="8924544" y="5705856"/>
            <a:ext cx="2724912" cy="292608"/>
          </a:xfrm>
          <a:prstGeom prst="rect">
            <a:avLst/>
          </a:prstGeom>
          <a:noFill/>
        </p:spPr>
        <p:txBody>
          <a:bodyPr wrap="none">
            <a:spAutoFit/>
          </a:bodyPr>
          <a:lstStyle/>
          <a:p>
            <a:r>
              <a:rPr sz="1000" b="1">
                <a:solidFill>
                  <a:srgbClr val="4F46E5"/>
                </a:solidFill>
                <a:latin typeface="Helvetica Neue"/>
              </a:rPr>
              <a:t>Tunstall Ch. 10  </a:t>
            </a:r>
            <a:r>
              <a:rPr sz="1000" u="sng">
                <a:solidFill>
                  <a:srgbClr val="1D4ED8"/>
                </a:solidFill>
                <a:latin typeface="Helvetica Neue"/>
                <a:hlinkClick r:id="rId5"/>
              </a:rPr>
              <a:t>training from scratch</a:t>
            </a:r>
          </a:p>
        </p:txBody>
      </p:sp>
      <p:sp>
        <p:nvSpPr>
          <p:cNvPr id="13" name="TextBox 12"/>
          <p:cNvSpPr txBox="1"/>
          <p:nvPr/>
        </p:nvSpPr>
        <p:spPr>
          <a:xfrm>
            <a:off x="640080" y="6016752"/>
            <a:ext cx="2724912" cy="292608"/>
          </a:xfrm>
          <a:prstGeom prst="rect">
            <a:avLst/>
          </a:prstGeom>
          <a:noFill/>
        </p:spPr>
        <p:txBody>
          <a:bodyPr wrap="none">
            <a:spAutoFit/>
          </a:bodyPr>
          <a:lstStyle/>
          <a:p>
            <a:r>
              <a:rPr sz="1000" b="1">
                <a:solidFill>
                  <a:srgbClr val="4F46E5"/>
                </a:solidFill>
                <a:latin typeface="Helvetica Neue"/>
              </a:rPr>
              <a:t>Vaswani 2017  </a:t>
            </a:r>
            <a:r>
              <a:rPr sz="1000" u="sng">
                <a:solidFill>
                  <a:srgbClr val="1D4ED8"/>
                </a:solidFill>
                <a:latin typeface="Helvetica Neue"/>
                <a:hlinkClick r:id="rId6"/>
              </a:rPr>
              <a:t>Attention Is All You Need</a:t>
            </a:r>
          </a:p>
        </p:txBody>
      </p:sp>
      <p:sp>
        <p:nvSpPr>
          <p:cNvPr id="14" name="TextBox 13"/>
          <p:cNvSpPr txBox="1"/>
          <p:nvPr/>
        </p:nvSpPr>
        <p:spPr>
          <a:xfrm>
            <a:off x="3401568" y="6016752"/>
            <a:ext cx="2724912" cy="292608"/>
          </a:xfrm>
          <a:prstGeom prst="rect">
            <a:avLst/>
          </a:prstGeom>
          <a:noFill/>
        </p:spPr>
        <p:txBody>
          <a:bodyPr wrap="none">
            <a:spAutoFit/>
          </a:bodyPr>
          <a:lstStyle/>
          <a:p>
            <a:r>
              <a:rPr sz="1000" b="1">
                <a:solidFill>
                  <a:srgbClr val="4F46E5"/>
                </a:solidFill>
                <a:latin typeface="Helvetica Neue"/>
              </a:rPr>
              <a:t>Devlin 2018  </a:t>
            </a:r>
            <a:r>
              <a:rPr sz="1000" u="sng">
                <a:solidFill>
                  <a:srgbClr val="1D4ED8"/>
                </a:solidFill>
                <a:latin typeface="Helvetica Neue"/>
                <a:hlinkClick r:id="rId7"/>
              </a:rPr>
              <a:t>BERT</a:t>
            </a:r>
          </a:p>
        </p:txBody>
      </p:sp>
      <p:sp>
        <p:nvSpPr>
          <p:cNvPr id="15" name="TextBox 14"/>
          <p:cNvSpPr txBox="1"/>
          <p:nvPr/>
        </p:nvSpPr>
        <p:spPr>
          <a:xfrm>
            <a:off x="6163056" y="6016752"/>
            <a:ext cx="2724912" cy="292608"/>
          </a:xfrm>
          <a:prstGeom prst="rect">
            <a:avLst/>
          </a:prstGeom>
          <a:noFill/>
        </p:spPr>
        <p:txBody>
          <a:bodyPr wrap="none">
            <a:spAutoFit/>
          </a:bodyPr>
          <a:lstStyle/>
          <a:p>
            <a:r>
              <a:rPr sz="1000" b="1">
                <a:solidFill>
                  <a:srgbClr val="4F46E5"/>
                </a:solidFill>
                <a:latin typeface="Helvetica Neue"/>
              </a:rPr>
              <a:t>Liu 2019  </a:t>
            </a:r>
            <a:r>
              <a:rPr sz="1000" u="sng">
                <a:solidFill>
                  <a:srgbClr val="1D4ED8"/>
                </a:solidFill>
                <a:latin typeface="Helvetica Neue"/>
                <a:hlinkClick r:id="rId8"/>
              </a:rPr>
              <a:t>RoBERTa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4F46E5"/>
                </a:solidFill>
                <a:latin typeface="Helvetica Neue"/>
              </a:rPr>
              <a:t>THE BUSINESS</a:t>
            </a:r>
          </a:p>
        </p:txBody>
      </p:sp>
      <p:sp>
        <p:nvSpPr>
          <p:cNvPr id="3" name="TextBox 2"/>
          <p:cNvSpPr txBox="1"/>
          <p:nvPr/>
        </p:nvSpPr>
        <p:spPr>
          <a:xfrm>
            <a:off x="640080" y="758952"/>
            <a:ext cx="10972800" cy="685800"/>
          </a:xfrm>
          <a:prstGeom prst="rect">
            <a:avLst/>
          </a:prstGeom>
          <a:noFill/>
        </p:spPr>
        <p:txBody>
          <a:bodyPr wrap="square" lIns="0" rIns="0" tIns="0" bIns="0">
            <a:spAutoFit/>
          </a:bodyPr>
          <a:lstStyle/>
          <a:p>
            <a:pPr algn="l"/>
            <a:r>
              <a:rPr sz="2900" b="1" i="0">
                <a:solidFill>
                  <a:srgbClr val="0F172A"/>
                </a:solidFill>
                <a:latin typeface="Helvetica Neue"/>
              </a:rPr>
              <a:t>First, what company are we walking into?</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Before any technology, you need to be able to picture the job. Here it is in three sentences.</a:t>
            </a:r>
          </a:p>
        </p:txBody>
      </p:sp>
      <p:sp>
        <p:nvSpPr>
          <p:cNvPr id="5" name="TextBox 4"/>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6" name="Picture 5" descr="d_scene.png"/>
          <p:cNvPicPr>
            <a:picLocks noChangeAspect="1"/>
          </p:cNvPicPr>
          <p:nvPr/>
        </p:nvPicPr>
        <p:blipFill>
          <a:blip r:embed="rId2"/>
          <a:stretch>
            <a:fillRect/>
          </a:stretch>
        </p:blipFill>
        <p:spPr>
          <a:xfrm>
            <a:off x="518007" y="2046394"/>
            <a:ext cx="11155680" cy="3771050"/>
          </a:xfrm>
          <a:prstGeom prst="rect">
            <a:avLst/>
          </a:prstGeom>
        </p:spPr>
      </p:pic>
      <p:sp>
        <p:nvSpPr>
          <p:cNvPr id="7" name="TextBox 6"/>
          <p:cNvSpPr txBox="1"/>
          <p:nvPr/>
        </p:nvSpPr>
        <p:spPr>
          <a:xfrm>
            <a:off x="640080" y="6053328"/>
            <a:ext cx="10881360" cy="365760"/>
          </a:xfrm>
          <a:prstGeom prst="rect">
            <a:avLst/>
          </a:prstGeom>
          <a:noFill/>
        </p:spPr>
        <p:txBody>
          <a:bodyPr wrap="square" lIns="0" rIns="0" tIns="0" bIns="0">
            <a:spAutoFit/>
          </a:bodyPr>
          <a:lstStyle/>
          <a:p>
            <a:pPr algn="ctr"/>
            <a:r>
              <a:rPr sz="1500" b="0" i="1">
                <a:solidFill>
                  <a:srgbClr val="475569"/>
                </a:solidFill>
                <a:latin typeface="Helvetica Neue"/>
              </a:rPr>
              <a:t>Five thousand of these arrive every week. Three people answer them.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4F46E5"/>
                </a:solidFill>
                <a:latin typeface="Helvetica Neue"/>
              </a:rPr>
              <a:t>THE PROBLEM</a:t>
            </a:r>
          </a:p>
        </p:txBody>
      </p:sp>
      <p:sp>
        <p:nvSpPr>
          <p:cNvPr id="3" name="TextBox 2"/>
          <p:cNvSpPr txBox="1"/>
          <p:nvPr/>
        </p:nvSpPr>
        <p:spPr>
          <a:xfrm>
            <a:off x="640080" y="758952"/>
            <a:ext cx="10972800" cy="685800"/>
          </a:xfrm>
          <a:prstGeom prst="rect">
            <a:avLst/>
          </a:prstGeom>
          <a:noFill/>
        </p:spPr>
        <p:txBody>
          <a:bodyPr wrap="square" lIns="0" rIns="0" tIns="0" bIns="0">
            <a:spAutoFit/>
          </a:bodyPr>
          <a:lstStyle/>
          <a:p>
            <a:pPr algn="l"/>
            <a:r>
              <a:rPr sz="2900" b="1" i="0">
                <a:solidFill>
                  <a:srgbClr val="0F172A"/>
                </a:solidFill>
                <a:latin typeface="Helvetica Neue"/>
              </a:rPr>
              <a:t>Every ticket has to be read before it can be answered.</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And that reading is where the three agents lose their day.</a:t>
            </a:r>
          </a:p>
        </p:txBody>
      </p:sp>
      <p:sp>
        <p:nvSpPr>
          <p:cNvPr id="5" name="TextBox 4"/>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sp>
        <p:nvSpPr>
          <p:cNvPr id="6" name="Rounded Rectangle 5"/>
          <p:cNvSpPr/>
          <p:nvPr/>
        </p:nvSpPr>
        <p:spPr>
          <a:xfrm>
            <a:off x="685800" y="2212848"/>
            <a:ext cx="2615184" cy="1298448"/>
          </a:xfrm>
          <a:prstGeom prst="roundRect">
            <a:avLst/>
          </a:prstGeom>
          <a:solidFill>
            <a:srgbClr val="FFFFFF"/>
          </a:solidFill>
          <a:ln>
            <a:solidFill>
              <a:srgbClr val="EEF1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395728"/>
            <a:ext cx="2286000" cy="457200"/>
          </a:xfrm>
          <a:prstGeom prst="rect">
            <a:avLst/>
          </a:prstGeom>
          <a:noFill/>
        </p:spPr>
        <p:txBody>
          <a:bodyPr wrap="square" lIns="0" rIns="0" tIns="0" bIns="0">
            <a:spAutoFit/>
          </a:bodyPr>
          <a:lstStyle/>
          <a:p>
            <a:pPr algn="l"/>
            <a:r>
              <a:rPr sz="1750" b="1" i="0">
                <a:solidFill>
                  <a:srgbClr val="0F172A"/>
                </a:solidFill>
                <a:latin typeface="Helvetica Neue"/>
              </a:rPr>
              <a:t>~5,000 tickets a week</a:t>
            </a:r>
          </a:p>
        </p:txBody>
      </p:sp>
      <p:sp>
        <p:nvSpPr>
          <p:cNvPr id="8" name="TextBox 7"/>
          <p:cNvSpPr txBox="1"/>
          <p:nvPr/>
        </p:nvSpPr>
        <p:spPr>
          <a:xfrm>
            <a:off x="886968" y="2871216"/>
            <a:ext cx="2304288" cy="548640"/>
          </a:xfrm>
          <a:prstGeom prst="rect">
            <a:avLst/>
          </a:prstGeom>
          <a:noFill/>
        </p:spPr>
        <p:txBody>
          <a:bodyPr wrap="square" lIns="0" rIns="0" tIns="0" bIns="0">
            <a:spAutoFit/>
          </a:bodyPr>
          <a:lstStyle/>
          <a:p>
            <a:pPr algn="l"/>
            <a:r>
              <a:rPr sz="1350" b="0" i="0">
                <a:solidFill>
                  <a:srgbClr val="475569"/>
                </a:solidFill>
                <a:latin typeface="Helvetica Neue"/>
              </a:rPr>
              <a:t>and three people to answer them</a:t>
            </a:r>
          </a:p>
        </p:txBody>
      </p:sp>
      <p:sp>
        <p:nvSpPr>
          <p:cNvPr id="9" name="Rounded Rectangle 8"/>
          <p:cNvSpPr/>
          <p:nvPr/>
        </p:nvSpPr>
        <p:spPr>
          <a:xfrm>
            <a:off x="3483864" y="2212848"/>
            <a:ext cx="2615184" cy="1298448"/>
          </a:xfrm>
          <a:prstGeom prst="roundRect">
            <a:avLst/>
          </a:prstGeom>
          <a:solidFill>
            <a:srgbClr val="FFFFFF"/>
          </a:solidFill>
          <a:ln>
            <a:solidFill>
              <a:srgbClr val="EEF1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85032" y="2395728"/>
            <a:ext cx="2286000" cy="457200"/>
          </a:xfrm>
          <a:prstGeom prst="rect">
            <a:avLst/>
          </a:prstGeom>
          <a:noFill/>
        </p:spPr>
        <p:txBody>
          <a:bodyPr wrap="square" lIns="0" rIns="0" tIns="0" bIns="0">
            <a:spAutoFit/>
          </a:bodyPr>
          <a:lstStyle/>
          <a:p>
            <a:pPr algn="l"/>
            <a:r>
              <a:rPr sz="1750" b="1" i="0">
                <a:solidFill>
                  <a:srgbClr val="0F172A"/>
                </a:solidFill>
                <a:latin typeface="Helvetica Neue"/>
              </a:rPr>
              <a:t>~40% are repeats</a:t>
            </a:r>
          </a:p>
        </p:txBody>
      </p:sp>
      <p:sp>
        <p:nvSpPr>
          <p:cNvPr id="11" name="TextBox 10"/>
          <p:cNvSpPr txBox="1"/>
          <p:nvPr/>
        </p:nvSpPr>
        <p:spPr>
          <a:xfrm>
            <a:off x="3685032" y="2871216"/>
            <a:ext cx="2304288" cy="548640"/>
          </a:xfrm>
          <a:prstGeom prst="rect">
            <a:avLst/>
          </a:prstGeom>
          <a:noFill/>
        </p:spPr>
        <p:txBody>
          <a:bodyPr wrap="square" lIns="0" rIns="0" tIns="0" bIns="0">
            <a:spAutoFit/>
          </a:bodyPr>
          <a:lstStyle/>
          <a:p>
            <a:pPr algn="l"/>
            <a:r>
              <a:rPr sz="1350" b="0" i="0">
                <a:solidFill>
                  <a:srgbClr val="475569"/>
                </a:solidFill>
                <a:latin typeface="Helvetica Neue"/>
              </a:rPr>
              <a:t>the same handful of questions</a:t>
            </a:r>
          </a:p>
        </p:txBody>
      </p:sp>
      <p:sp>
        <p:nvSpPr>
          <p:cNvPr id="12" name="Rounded Rectangle 11"/>
          <p:cNvSpPr/>
          <p:nvPr/>
        </p:nvSpPr>
        <p:spPr>
          <a:xfrm>
            <a:off x="6281928" y="2212848"/>
            <a:ext cx="2615184" cy="1298448"/>
          </a:xfrm>
          <a:prstGeom prst="roundRect">
            <a:avLst/>
          </a:prstGeom>
          <a:solidFill>
            <a:srgbClr val="FFFFFF"/>
          </a:solidFill>
          <a:ln>
            <a:solidFill>
              <a:srgbClr val="EEF1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83096" y="2395728"/>
            <a:ext cx="2286000" cy="457200"/>
          </a:xfrm>
          <a:prstGeom prst="rect">
            <a:avLst/>
          </a:prstGeom>
          <a:noFill/>
        </p:spPr>
        <p:txBody>
          <a:bodyPr wrap="square" lIns="0" rIns="0" tIns="0" bIns="0">
            <a:spAutoFit/>
          </a:bodyPr>
          <a:lstStyle/>
          <a:p>
            <a:pPr algn="l"/>
            <a:r>
              <a:rPr sz="1750" b="1" i="0">
                <a:solidFill>
                  <a:srgbClr val="0F172A"/>
                </a:solidFill>
                <a:latin typeface="Helvetica Neue"/>
              </a:rPr>
              <a:t>Nothing is sorted</a:t>
            </a:r>
          </a:p>
        </p:txBody>
      </p:sp>
      <p:sp>
        <p:nvSpPr>
          <p:cNvPr id="14" name="TextBox 13"/>
          <p:cNvSpPr txBox="1"/>
          <p:nvPr/>
        </p:nvSpPr>
        <p:spPr>
          <a:xfrm>
            <a:off x="6483096" y="2871216"/>
            <a:ext cx="2304288" cy="548640"/>
          </a:xfrm>
          <a:prstGeom prst="rect">
            <a:avLst/>
          </a:prstGeom>
          <a:noFill/>
        </p:spPr>
        <p:txBody>
          <a:bodyPr wrap="square" lIns="0" rIns="0" tIns="0" bIns="0">
            <a:spAutoFit/>
          </a:bodyPr>
          <a:lstStyle/>
          <a:p>
            <a:pPr algn="l"/>
            <a:r>
              <a:rPr sz="1350" b="0" i="0">
                <a:solidFill>
                  <a:srgbClr val="475569"/>
                </a:solidFill>
                <a:latin typeface="Helvetica Neue"/>
              </a:rPr>
              <a:t>no tags, no categories, just text</a:t>
            </a:r>
          </a:p>
        </p:txBody>
      </p:sp>
      <p:sp>
        <p:nvSpPr>
          <p:cNvPr id="15" name="Rounded Rectangle 14"/>
          <p:cNvSpPr/>
          <p:nvPr/>
        </p:nvSpPr>
        <p:spPr>
          <a:xfrm>
            <a:off x="9079992" y="2212848"/>
            <a:ext cx="2615184" cy="1298448"/>
          </a:xfrm>
          <a:prstGeom prst="roundRect">
            <a:avLst/>
          </a:prstGeom>
          <a:solidFill>
            <a:srgbClr val="FFFFFF"/>
          </a:solidFill>
          <a:ln>
            <a:solidFill>
              <a:srgbClr val="EEF1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81160" y="2395728"/>
            <a:ext cx="2286000" cy="457200"/>
          </a:xfrm>
          <a:prstGeom prst="rect">
            <a:avLst/>
          </a:prstGeom>
          <a:noFill/>
        </p:spPr>
        <p:txBody>
          <a:bodyPr wrap="square" lIns="0" rIns="0" tIns="0" bIns="0">
            <a:spAutoFit/>
          </a:bodyPr>
          <a:lstStyle/>
          <a:p>
            <a:pPr algn="l"/>
            <a:r>
              <a:rPr sz="1750" b="1" i="0">
                <a:solidFill>
                  <a:srgbClr val="0F172A"/>
                </a:solidFill>
                <a:latin typeface="Helvetica Neue"/>
              </a:rPr>
              <a:t>Minutes lost per ticket</a:t>
            </a:r>
          </a:p>
        </p:txBody>
      </p:sp>
      <p:sp>
        <p:nvSpPr>
          <p:cNvPr id="17" name="TextBox 16"/>
          <p:cNvSpPr txBox="1"/>
          <p:nvPr/>
        </p:nvSpPr>
        <p:spPr>
          <a:xfrm>
            <a:off x="9281160" y="2871216"/>
            <a:ext cx="2304288" cy="548640"/>
          </a:xfrm>
          <a:prstGeom prst="rect">
            <a:avLst/>
          </a:prstGeom>
          <a:noFill/>
        </p:spPr>
        <p:txBody>
          <a:bodyPr wrap="square" lIns="0" rIns="0" tIns="0" bIns="0">
            <a:spAutoFit/>
          </a:bodyPr>
          <a:lstStyle/>
          <a:p>
            <a:pPr algn="l"/>
            <a:r>
              <a:rPr sz="1350" b="0" i="0">
                <a:solidFill>
                  <a:srgbClr val="475569"/>
                </a:solidFill>
                <a:latin typeface="Helvetica Neue"/>
              </a:rPr>
              <a:t>just working out who should own it</a:t>
            </a:r>
          </a:p>
        </p:txBody>
      </p:sp>
      <p:sp>
        <p:nvSpPr>
          <p:cNvPr id="18" name="Rounded Rectangle 17"/>
          <p:cNvSpPr/>
          <p:nvPr/>
        </p:nvSpPr>
        <p:spPr>
          <a:xfrm>
            <a:off x="640080" y="3703320"/>
            <a:ext cx="10908792" cy="1481328"/>
          </a:xfrm>
          <a:prstGeom prst="roundRect">
            <a:avLst>
              <a:gd name="adj" fmla="val 6000"/>
            </a:avLst>
          </a:prstGeom>
          <a:solidFill>
            <a:srgbClr val="FFFBEB"/>
          </a:solidFill>
          <a:ln>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858768"/>
            <a:ext cx="10424160" cy="274320"/>
          </a:xfrm>
          <a:prstGeom prst="rect">
            <a:avLst/>
          </a:prstGeom>
          <a:noFill/>
        </p:spPr>
        <p:txBody>
          <a:bodyPr wrap="square" lIns="0" rIns="0" tIns="0" bIns="0">
            <a:spAutoFit/>
          </a:bodyPr>
          <a:lstStyle/>
          <a:p>
            <a:pPr algn="l"/>
            <a:r>
              <a:rPr sz="1150" b="1" i="0" spc="180">
                <a:solidFill>
                  <a:srgbClr val="B45309"/>
                </a:solidFill>
                <a:latin typeface="Helvetica Neue"/>
              </a:rPr>
              <a:t>WHY THAT THIRD BOX IS THE HARD ONE</a:t>
            </a:r>
          </a:p>
        </p:txBody>
      </p:sp>
      <p:sp>
        <p:nvSpPr>
          <p:cNvPr id="20" name="TextBox 19"/>
          <p:cNvSpPr txBox="1"/>
          <p:nvPr/>
        </p:nvSpPr>
        <p:spPr>
          <a:xfrm>
            <a:off x="914400" y="4169663"/>
            <a:ext cx="10378440" cy="914400"/>
          </a:xfrm>
          <a:prstGeom prst="rect">
            <a:avLst/>
          </a:prstGeom>
          <a:noFill/>
        </p:spPr>
        <p:txBody>
          <a:bodyPr wrap="square" lIns="0" rIns="0" tIns="0" bIns="0">
            <a:spAutoFit/>
          </a:bodyPr>
          <a:lstStyle/>
          <a:p>
            <a:pPr algn="l"/>
            <a:r>
              <a:rPr sz="1500" b="0" i="0">
                <a:solidFill>
                  <a:srgbClr val="334155"/>
                </a:solidFill>
                <a:latin typeface="Helvetica Neue"/>
              </a:rPr>
              <a:t>The normal way to teach a computer to sort text is to hand it a few thousand examples that a person has already sorted by hand. Those hand-sorted examples are called training data, and most machine learning cannot start without them. Cobalt has none. Building that pile would mean paying people to read and tag thousands of tickets before you could write a line of code.</a:t>
            </a:r>
          </a:p>
        </p:txBody>
      </p:sp>
      <p:sp>
        <p:nvSpPr>
          <p:cNvPr id="21" name="TextBox 20"/>
          <p:cNvSpPr txBox="1"/>
          <p:nvPr/>
        </p:nvSpPr>
        <p:spPr>
          <a:xfrm>
            <a:off x="640080" y="5413248"/>
            <a:ext cx="10881360" cy="457200"/>
          </a:xfrm>
          <a:prstGeom prst="rect">
            <a:avLst/>
          </a:prstGeom>
          <a:noFill/>
        </p:spPr>
        <p:txBody>
          <a:bodyPr wrap="square" lIns="0" rIns="0" tIns="0" bIns="0">
            <a:spAutoFit/>
          </a:bodyPr>
          <a:lstStyle/>
          <a:p>
            <a:pPr algn="l"/>
            <a:r>
              <a:rPr sz="1600" b="0" i="1">
                <a:solidFill>
                  <a:srgbClr val="0F172A"/>
                </a:solidFill>
                <a:latin typeface="Helvetica Neue"/>
              </a:rPr>
              <a:t>So tonight we build something that never needs them. We start with the half that READS the inbox: search it, sort it, and decide what a person actually has to see.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4F46E5"/>
                </a:solidFill>
                <a:latin typeface="Helvetica Neue"/>
              </a:rPr>
              <a:t>THE PLAN</a:t>
            </a:r>
          </a:p>
        </p:txBody>
      </p:sp>
      <p:sp>
        <p:nvSpPr>
          <p:cNvPr id="3" name="TextBox 2"/>
          <p:cNvSpPr txBox="1"/>
          <p:nvPr/>
        </p:nvSpPr>
        <p:spPr>
          <a:xfrm>
            <a:off x="640080" y="758952"/>
            <a:ext cx="10972800" cy="685800"/>
          </a:xfrm>
          <a:prstGeom prst="rect">
            <a:avLst/>
          </a:prstGeom>
          <a:noFill/>
        </p:spPr>
        <p:txBody>
          <a:bodyPr wrap="square" lIns="0" rIns="0" tIns="0" bIns="0">
            <a:spAutoFit/>
          </a:bodyPr>
          <a:lstStyle/>
          <a:p>
            <a:pPr algn="l"/>
            <a:r>
              <a:rPr sz="2900" b="1" i="0">
                <a:solidFill>
                  <a:srgbClr val="0F172A"/>
                </a:solidFill>
                <a:latin typeface="Helvetica Neue"/>
              </a:rPr>
              <a:t>Four capabilities, built in order.</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Each one is useful on its own. Together they are a product.</a:t>
            </a:r>
          </a:p>
        </p:txBody>
      </p:sp>
      <p:sp>
        <p:nvSpPr>
          <p:cNvPr id="5" name="TextBox 4"/>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6" name="Picture 5" descr="d_plan.png"/>
          <p:cNvPicPr>
            <a:picLocks noChangeAspect="1"/>
          </p:cNvPicPr>
          <p:nvPr/>
        </p:nvPicPr>
        <p:blipFill>
          <a:blip r:embed="rId2"/>
          <a:stretch>
            <a:fillRect/>
          </a:stretch>
        </p:blipFill>
        <p:spPr>
          <a:xfrm>
            <a:off x="518007" y="2630057"/>
            <a:ext cx="11155680" cy="3106645"/>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D97706"/>
                </a:solidFill>
                <a:latin typeface="Helvetica Neue"/>
              </a:rPr>
              <a:t>REPRESENT</a:t>
            </a:r>
          </a:p>
        </p:txBody>
      </p:sp>
      <p:sp>
        <p:nvSpPr>
          <p:cNvPr id="3" name="TextBox 2"/>
          <p:cNvSpPr txBox="1"/>
          <p:nvPr/>
        </p:nvSpPr>
        <p:spPr>
          <a:xfrm>
            <a:off x="640080" y="758952"/>
            <a:ext cx="7680960" cy="685800"/>
          </a:xfrm>
          <a:prstGeom prst="rect">
            <a:avLst/>
          </a:prstGeom>
          <a:noFill/>
        </p:spPr>
        <p:txBody>
          <a:bodyPr wrap="square" lIns="0" rIns="0" tIns="0" bIns="0">
            <a:spAutoFit/>
          </a:bodyPr>
          <a:lstStyle/>
          <a:p>
            <a:pPr algn="l"/>
            <a:r>
              <a:rPr sz="2900" b="1" i="0">
                <a:solidFill>
                  <a:srgbClr val="0F172A"/>
                </a:solidFill>
                <a:latin typeface="Helvetica Neue"/>
              </a:rPr>
              <a:t>A model cannot read. It can only do arithmetic.</a:t>
            </a:r>
          </a:p>
        </p:txBody>
      </p:sp>
      <p:sp>
        <p:nvSpPr>
          <p:cNvPr id="4" name="Rounded Rectangle 3"/>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549640" y="438912"/>
            <a:ext cx="329184" cy="329184"/>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94776"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1</a:t>
            </a:r>
          </a:p>
        </p:txBody>
      </p:sp>
      <p:sp>
        <p:nvSpPr>
          <p:cNvPr id="7" name="Rounded Rectangle 6"/>
          <p:cNvSpPr/>
          <p:nvPr/>
        </p:nvSpPr>
        <p:spPr>
          <a:xfrm>
            <a:off x="9244584"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89719"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2</a:t>
            </a:r>
          </a:p>
        </p:txBody>
      </p:sp>
      <p:sp>
        <p:nvSpPr>
          <p:cNvPr id="9" name="Rounded Rectangle 8"/>
          <p:cNvSpPr/>
          <p:nvPr/>
        </p:nvSpPr>
        <p:spPr>
          <a:xfrm>
            <a:off x="9902951"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48087"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3</a:t>
            </a:r>
          </a:p>
        </p:txBody>
      </p:sp>
      <p:sp>
        <p:nvSpPr>
          <p:cNvPr id="11" name="Rounded Rectangle 10"/>
          <p:cNvSpPr/>
          <p:nvPr/>
        </p:nvSpPr>
        <p:spPr>
          <a:xfrm>
            <a:off x="10561319"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06455"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4</a:t>
            </a:r>
          </a:p>
        </p:txBody>
      </p:sp>
      <p:sp>
        <p:nvSpPr>
          <p:cNvPr id="13" name="TextBox 12"/>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4" name="Picture 13" descr="d_tokens.png"/>
          <p:cNvPicPr>
            <a:picLocks noChangeAspect="1"/>
          </p:cNvPicPr>
          <p:nvPr/>
        </p:nvPicPr>
        <p:blipFill>
          <a:blip r:embed="rId2"/>
          <a:stretch>
            <a:fillRect/>
          </a:stretch>
        </p:blipFill>
        <p:spPr>
          <a:xfrm>
            <a:off x="518007" y="2640679"/>
            <a:ext cx="11155680" cy="2902521"/>
          </a:xfrm>
          <a:prstGeom prst="rect">
            <a:avLst/>
          </a:prstGeom>
        </p:spPr>
      </p:pic>
      <p:sp>
        <p:nvSpPr>
          <p:cNvPr id="15" name="Rounded Rectangle 14"/>
          <p:cNvSpPr/>
          <p:nvPr/>
        </p:nvSpPr>
        <p:spPr>
          <a:xfrm>
            <a:off x="7573060" y="6345936"/>
            <a:ext cx="3978554"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615476" y="6396228"/>
            <a:ext cx="68580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28508"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18" name="TextBox 17"/>
          <p:cNvSpPr txBox="1"/>
          <p:nvPr/>
        </p:nvSpPr>
        <p:spPr>
          <a:xfrm>
            <a:off x="8615476" y="6451092"/>
            <a:ext cx="685800" cy="219456"/>
          </a:xfrm>
          <a:prstGeom prst="rect">
            <a:avLst/>
          </a:prstGeom>
          <a:noFill/>
        </p:spPr>
        <p:txBody>
          <a:bodyPr wrap="none" lIns="0" rIns="0" tIns="0" bIns="0">
            <a:spAutoFit/>
          </a:bodyPr>
          <a:lstStyle/>
          <a:p>
            <a:pPr algn="ctr"/>
            <a:r>
              <a:rPr sz="1100" b="1" i="0">
                <a:solidFill>
                  <a:srgbClr val="FFFFFF"/>
                </a:solidFill>
                <a:latin typeface="Helvetica Neue"/>
              </a:rPr>
              <a:t>STEP 6</a:t>
            </a:r>
          </a:p>
        </p:txBody>
      </p:sp>
      <p:sp>
        <p:nvSpPr>
          <p:cNvPr id="19" name="TextBox 18"/>
          <p:cNvSpPr txBox="1"/>
          <p:nvPr/>
        </p:nvSpPr>
        <p:spPr>
          <a:xfrm>
            <a:off x="9420148" y="6460236"/>
            <a:ext cx="2030882" cy="219456"/>
          </a:xfrm>
          <a:prstGeom prst="rect">
            <a:avLst/>
          </a:prstGeom>
          <a:noFill/>
        </p:spPr>
        <p:txBody>
          <a:bodyPr wrap="none" lIns="0" rIns="0" tIns="0" bIns="0">
            <a:spAutoFit/>
          </a:bodyPr>
          <a:lstStyle/>
          <a:p>
            <a:pPr algn="l"/>
            <a:r>
              <a:rPr sz="1000" b="1" i="0">
                <a:solidFill>
                  <a:srgbClr val="FFFFFF"/>
                </a:solidFill>
                <a:latin typeface="Helvetica Neue"/>
              </a:rPr>
              <a:t>Split text into tokens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D97706"/>
                </a:solidFill>
                <a:latin typeface="Helvetica Neue"/>
              </a:rPr>
              <a:t>REPRESENT</a:t>
            </a:r>
          </a:p>
        </p:txBody>
      </p:sp>
      <p:sp>
        <p:nvSpPr>
          <p:cNvPr id="3" name="TextBox 2"/>
          <p:cNvSpPr txBox="1"/>
          <p:nvPr/>
        </p:nvSpPr>
        <p:spPr>
          <a:xfrm>
            <a:off x="640080" y="758952"/>
            <a:ext cx="7680960" cy="685800"/>
          </a:xfrm>
          <a:prstGeom prst="rect">
            <a:avLst/>
          </a:prstGeom>
          <a:noFill/>
        </p:spPr>
        <p:txBody>
          <a:bodyPr wrap="square" lIns="0" rIns="0" tIns="0" bIns="0">
            <a:spAutoFit/>
          </a:bodyPr>
          <a:lstStyle/>
          <a:p>
            <a:pPr algn="l"/>
            <a:r>
              <a:rPr sz="2900" b="1" i="0">
                <a:solidFill>
                  <a:srgbClr val="0F172A"/>
                </a:solidFill>
                <a:latin typeface="Helvetica Neue"/>
              </a:rPr>
              <a:t>Check what happens to your business vocabulary.</a:t>
            </a:r>
          </a:p>
        </p:txBody>
      </p:sp>
      <p:sp>
        <p:nvSpPr>
          <p:cNvPr id="4" name="Rounded Rectangle 3"/>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549640" y="438912"/>
            <a:ext cx="329184" cy="329184"/>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94776"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1</a:t>
            </a:r>
          </a:p>
        </p:txBody>
      </p:sp>
      <p:sp>
        <p:nvSpPr>
          <p:cNvPr id="7" name="Rounded Rectangle 6"/>
          <p:cNvSpPr/>
          <p:nvPr/>
        </p:nvSpPr>
        <p:spPr>
          <a:xfrm>
            <a:off x="9244584"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89719"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2</a:t>
            </a:r>
          </a:p>
        </p:txBody>
      </p:sp>
      <p:sp>
        <p:nvSpPr>
          <p:cNvPr id="9" name="Rounded Rectangle 8"/>
          <p:cNvSpPr/>
          <p:nvPr/>
        </p:nvSpPr>
        <p:spPr>
          <a:xfrm>
            <a:off x="9902951"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48087"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3</a:t>
            </a:r>
          </a:p>
        </p:txBody>
      </p:sp>
      <p:sp>
        <p:nvSpPr>
          <p:cNvPr id="11" name="Rounded Rectangle 10"/>
          <p:cNvSpPr/>
          <p:nvPr/>
        </p:nvSpPr>
        <p:spPr>
          <a:xfrm>
            <a:off x="10561319"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06455"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4</a:t>
            </a:r>
          </a:p>
        </p:txBody>
      </p:sp>
      <p:sp>
        <p:nvSpPr>
          <p:cNvPr id="13" name="TextBox 12"/>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4" name="Picture 13" descr="d_jargon.png"/>
          <p:cNvPicPr>
            <a:picLocks noChangeAspect="1"/>
          </p:cNvPicPr>
          <p:nvPr/>
        </p:nvPicPr>
        <p:blipFill>
          <a:blip r:embed="rId2"/>
          <a:stretch>
            <a:fillRect/>
          </a:stretch>
        </p:blipFill>
        <p:spPr>
          <a:xfrm>
            <a:off x="518007" y="2436196"/>
            <a:ext cx="11155680" cy="3311487"/>
          </a:xfrm>
          <a:prstGeom prst="rect">
            <a:avLst/>
          </a:prstGeom>
        </p:spPr>
      </p:pic>
      <p:sp>
        <p:nvSpPr>
          <p:cNvPr id="15" name="Rounded Rectangle 14"/>
          <p:cNvSpPr/>
          <p:nvPr/>
        </p:nvSpPr>
        <p:spPr>
          <a:xfrm>
            <a:off x="7172553" y="6345936"/>
            <a:ext cx="4379061"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14969" y="6396228"/>
            <a:ext cx="68580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28001"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18" name="TextBox 17"/>
          <p:cNvSpPr txBox="1"/>
          <p:nvPr/>
        </p:nvSpPr>
        <p:spPr>
          <a:xfrm>
            <a:off x="8214969" y="6451092"/>
            <a:ext cx="685800" cy="219456"/>
          </a:xfrm>
          <a:prstGeom prst="rect">
            <a:avLst/>
          </a:prstGeom>
          <a:noFill/>
        </p:spPr>
        <p:txBody>
          <a:bodyPr wrap="none" lIns="0" rIns="0" tIns="0" bIns="0">
            <a:spAutoFit/>
          </a:bodyPr>
          <a:lstStyle/>
          <a:p>
            <a:pPr algn="ctr"/>
            <a:r>
              <a:rPr sz="1100" b="1" i="0">
                <a:solidFill>
                  <a:srgbClr val="FFFFFF"/>
                </a:solidFill>
                <a:latin typeface="Helvetica Neue"/>
              </a:rPr>
              <a:t>STEP 7</a:t>
            </a:r>
          </a:p>
        </p:txBody>
      </p:sp>
      <p:sp>
        <p:nvSpPr>
          <p:cNvPr id="19" name="TextBox 18"/>
          <p:cNvSpPr txBox="1"/>
          <p:nvPr/>
        </p:nvSpPr>
        <p:spPr>
          <a:xfrm>
            <a:off x="9019641" y="6460236"/>
            <a:ext cx="2431389" cy="219456"/>
          </a:xfrm>
          <a:prstGeom prst="rect">
            <a:avLst/>
          </a:prstGeom>
          <a:noFill/>
        </p:spPr>
        <p:txBody>
          <a:bodyPr wrap="none" lIns="0" rIns="0" tIns="0" bIns="0">
            <a:spAutoFit/>
          </a:bodyPr>
          <a:lstStyle/>
          <a:p>
            <a:pPr algn="l"/>
            <a:r>
              <a:rPr sz="1000" b="1" i="0">
                <a:solidFill>
                  <a:srgbClr val="FFFFFF"/>
                </a:solidFill>
                <a:latin typeface="Helvetica Neue"/>
              </a:rPr>
              <a:t>Test your product vocabulary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D97706"/>
                </a:solidFill>
                <a:latin typeface="Helvetica Neue"/>
              </a:rPr>
              <a:t>REPRESENT</a:t>
            </a:r>
          </a:p>
        </p:txBody>
      </p:sp>
      <p:sp>
        <p:nvSpPr>
          <p:cNvPr id="3" name="TextBox 2"/>
          <p:cNvSpPr txBox="1"/>
          <p:nvPr/>
        </p:nvSpPr>
        <p:spPr>
          <a:xfrm>
            <a:off x="640080" y="758952"/>
            <a:ext cx="7680960" cy="685800"/>
          </a:xfrm>
          <a:prstGeom prst="rect">
            <a:avLst/>
          </a:prstGeom>
          <a:noFill/>
        </p:spPr>
        <p:txBody>
          <a:bodyPr wrap="square" lIns="0" rIns="0" tIns="0" bIns="0">
            <a:spAutoFit/>
          </a:bodyPr>
          <a:lstStyle/>
          <a:p>
            <a:pPr algn="l"/>
            <a:r>
              <a:rPr sz="2900" b="1" i="0">
                <a:solidFill>
                  <a:srgbClr val="0F172A"/>
                </a:solidFill>
                <a:latin typeface="Helvetica Neue"/>
              </a:rPr>
              <a:t>One ticket becomes one vector, by averaging.</a:t>
            </a:r>
          </a:p>
        </p:txBody>
      </p:sp>
      <p:sp>
        <p:nvSpPr>
          <p:cNvPr id="4" name="Rounded Rectangle 3"/>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549640" y="438912"/>
            <a:ext cx="329184" cy="329184"/>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94776"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1</a:t>
            </a:r>
          </a:p>
        </p:txBody>
      </p:sp>
      <p:sp>
        <p:nvSpPr>
          <p:cNvPr id="7" name="Rounded Rectangle 6"/>
          <p:cNvSpPr/>
          <p:nvPr/>
        </p:nvSpPr>
        <p:spPr>
          <a:xfrm>
            <a:off x="9244584"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89719"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2</a:t>
            </a:r>
          </a:p>
        </p:txBody>
      </p:sp>
      <p:sp>
        <p:nvSpPr>
          <p:cNvPr id="9" name="Rounded Rectangle 8"/>
          <p:cNvSpPr/>
          <p:nvPr/>
        </p:nvSpPr>
        <p:spPr>
          <a:xfrm>
            <a:off x="9902951"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48087"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3</a:t>
            </a:r>
          </a:p>
        </p:txBody>
      </p:sp>
      <p:sp>
        <p:nvSpPr>
          <p:cNvPr id="11" name="Rounded Rectangle 10"/>
          <p:cNvSpPr/>
          <p:nvPr/>
        </p:nvSpPr>
        <p:spPr>
          <a:xfrm>
            <a:off x="10561319"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06455"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4</a:t>
            </a:r>
          </a:p>
        </p:txBody>
      </p:sp>
      <p:sp>
        <p:nvSpPr>
          <p:cNvPr id="13" name="TextBox 12"/>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4" name="Picture 13" descr="d_embed.png"/>
          <p:cNvPicPr>
            <a:picLocks noChangeAspect="1"/>
          </p:cNvPicPr>
          <p:nvPr/>
        </p:nvPicPr>
        <p:blipFill>
          <a:blip r:embed="rId2"/>
          <a:stretch>
            <a:fillRect/>
          </a:stretch>
        </p:blipFill>
        <p:spPr>
          <a:xfrm>
            <a:off x="518007" y="2163552"/>
            <a:ext cx="11155680" cy="3856775"/>
          </a:xfrm>
          <a:prstGeom prst="rect">
            <a:avLst/>
          </a:prstGeom>
        </p:spPr>
      </p:pic>
      <p:sp>
        <p:nvSpPr>
          <p:cNvPr id="15" name="Rounded Rectangle 14"/>
          <p:cNvSpPr/>
          <p:nvPr/>
        </p:nvSpPr>
        <p:spPr>
          <a:xfrm>
            <a:off x="7239304" y="6345936"/>
            <a:ext cx="4312310"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81720" y="6396228"/>
            <a:ext cx="68580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94752"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18" name="TextBox 17"/>
          <p:cNvSpPr txBox="1"/>
          <p:nvPr/>
        </p:nvSpPr>
        <p:spPr>
          <a:xfrm>
            <a:off x="8281720" y="6451092"/>
            <a:ext cx="685800" cy="219456"/>
          </a:xfrm>
          <a:prstGeom prst="rect">
            <a:avLst/>
          </a:prstGeom>
          <a:noFill/>
        </p:spPr>
        <p:txBody>
          <a:bodyPr wrap="none" lIns="0" rIns="0" tIns="0" bIns="0">
            <a:spAutoFit/>
          </a:bodyPr>
          <a:lstStyle/>
          <a:p>
            <a:pPr algn="ctr"/>
            <a:r>
              <a:rPr sz="1100" b="1" i="0">
                <a:solidFill>
                  <a:srgbClr val="FFFFFF"/>
                </a:solidFill>
                <a:latin typeface="Helvetica Neue"/>
              </a:rPr>
              <a:t>STEP 8</a:t>
            </a:r>
          </a:p>
        </p:txBody>
      </p:sp>
      <p:sp>
        <p:nvSpPr>
          <p:cNvPr id="19" name="TextBox 18"/>
          <p:cNvSpPr txBox="1"/>
          <p:nvPr/>
        </p:nvSpPr>
        <p:spPr>
          <a:xfrm>
            <a:off x="9086392" y="6460236"/>
            <a:ext cx="2364638" cy="219456"/>
          </a:xfrm>
          <a:prstGeom prst="rect">
            <a:avLst/>
          </a:prstGeom>
          <a:noFill/>
        </p:spPr>
        <p:txBody>
          <a:bodyPr wrap="none" lIns="0" rIns="0" tIns="0" bIns="0">
            <a:spAutoFit/>
          </a:bodyPr>
          <a:lstStyle/>
          <a:p>
            <a:pPr algn="l"/>
            <a:r>
              <a:rPr sz="1000" b="1" i="0">
                <a:solidFill>
                  <a:srgbClr val="FFFFFF"/>
                </a:solidFill>
                <a:latin typeface="Helvetica Neue"/>
              </a:rPr>
              <a:t>Pool tokens into one vector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D97706"/>
                </a:solidFill>
                <a:latin typeface="Helvetica Neue"/>
              </a:rPr>
              <a:t>INSIDE THAT ONE LINE</a:t>
            </a:r>
          </a:p>
        </p:txBody>
      </p:sp>
      <p:sp>
        <p:nvSpPr>
          <p:cNvPr id="3" name="TextBox 2"/>
          <p:cNvSpPr txBox="1"/>
          <p:nvPr/>
        </p:nvSpPr>
        <p:spPr>
          <a:xfrm>
            <a:off x="640080" y="758952"/>
            <a:ext cx="7680960" cy="685800"/>
          </a:xfrm>
          <a:prstGeom prst="rect">
            <a:avLst/>
          </a:prstGeom>
          <a:noFill/>
        </p:spPr>
        <p:txBody>
          <a:bodyPr wrap="square" lIns="0" rIns="0" tIns="0" bIns="0">
            <a:spAutoFit/>
          </a:bodyPr>
          <a:lstStyle/>
          <a:p>
            <a:pPr algn="l"/>
            <a:r>
              <a:rPr sz="2900" b="1" i="0">
                <a:solidFill>
                  <a:srgbClr val="0F172A"/>
                </a:solidFill>
                <a:latin typeface="Helvetica Neue"/>
              </a:rPr>
              <a:t>What actually happened inside bert(...)?</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You just called a transformer and got vectors back. Ninety seconds on what it did with them.</a:t>
            </a:r>
          </a:p>
        </p:txBody>
      </p:sp>
      <p:sp>
        <p:nvSpPr>
          <p:cNvPr id="5" name="Rounded Rectangle 4"/>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549640" y="438912"/>
            <a:ext cx="329184" cy="329184"/>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94776"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1</a:t>
            </a:r>
          </a:p>
        </p:txBody>
      </p:sp>
      <p:sp>
        <p:nvSpPr>
          <p:cNvPr id="8" name="Rounded Rectangle 7"/>
          <p:cNvSpPr/>
          <p:nvPr/>
        </p:nvSpPr>
        <p:spPr>
          <a:xfrm>
            <a:off x="9244584"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89719"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2</a:t>
            </a:r>
          </a:p>
        </p:txBody>
      </p:sp>
      <p:sp>
        <p:nvSpPr>
          <p:cNvPr id="10" name="Rounded Rectangle 9"/>
          <p:cNvSpPr/>
          <p:nvPr/>
        </p:nvSpPr>
        <p:spPr>
          <a:xfrm>
            <a:off x="9902951"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48087"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3</a:t>
            </a:r>
          </a:p>
        </p:txBody>
      </p:sp>
      <p:sp>
        <p:nvSpPr>
          <p:cNvPr id="12" name="Rounded Rectangle 11"/>
          <p:cNvSpPr/>
          <p:nvPr/>
        </p:nvSpPr>
        <p:spPr>
          <a:xfrm>
            <a:off x="10561319"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06455"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4</a:t>
            </a:r>
          </a:p>
        </p:txBody>
      </p:sp>
      <p:sp>
        <p:nvSpPr>
          <p:cNvPr id="14" name="TextBox 13"/>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5" name="Picture 14" descr="d_block.png"/>
          <p:cNvPicPr>
            <a:picLocks noChangeAspect="1"/>
          </p:cNvPicPr>
          <p:nvPr/>
        </p:nvPicPr>
        <p:blipFill>
          <a:blip r:embed="rId2"/>
          <a:stretch>
            <a:fillRect/>
          </a:stretch>
        </p:blipFill>
        <p:spPr>
          <a:xfrm>
            <a:off x="518007" y="2527701"/>
            <a:ext cx="11155680" cy="3146765"/>
          </a:xfrm>
          <a:prstGeom prst="rect">
            <a:avLst/>
          </a:prstGeom>
        </p:spPr>
      </p:pic>
      <p:sp>
        <p:nvSpPr>
          <p:cNvPr id="16" name="Rounded Rectangle 15"/>
          <p:cNvSpPr/>
          <p:nvPr/>
        </p:nvSpPr>
        <p:spPr>
          <a:xfrm>
            <a:off x="7105802" y="6345936"/>
            <a:ext cx="4445812"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48218" y="6396228"/>
            <a:ext cx="68580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1250"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19" name="TextBox 18"/>
          <p:cNvSpPr txBox="1"/>
          <p:nvPr/>
        </p:nvSpPr>
        <p:spPr>
          <a:xfrm>
            <a:off x="8148218" y="6451092"/>
            <a:ext cx="685800" cy="219456"/>
          </a:xfrm>
          <a:prstGeom prst="rect">
            <a:avLst/>
          </a:prstGeom>
          <a:noFill/>
        </p:spPr>
        <p:txBody>
          <a:bodyPr wrap="none" lIns="0" rIns="0" tIns="0" bIns="0">
            <a:spAutoFit/>
          </a:bodyPr>
          <a:lstStyle/>
          <a:p>
            <a:pPr algn="ctr"/>
            <a:r>
              <a:rPr sz="1100" b="1" i="0">
                <a:solidFill>
                  <a:srgbClr val="FFFFFF"/>
                </a:solidFill>
                <a:latin typeface="Helvetica Neue"/>
              </a:rPr>
              <a:t>STEP 9</a:t>
            </a:r>
          </a:p>
        </p:txBody>
      </p:sp>
      <p:sp>
        <p:nvSpPr>
          <p:cNvPr id="20" name="TextBox 19"/>
          <p:cNvSpPr txBox="1"/>
          <p:nvPr/>
        </p:nvSpPr>
        <p:spPr>
          <a:xfrm>
            <a:off x="8952890" y="6460236"/>
            <a:ext cx="2498140" cy="219456"/>
          </a:xfrm>
          <a:prstGeom prst="rect">
            <a:avLst/>
          </a:prstGeom>
          <a:noFill/>
        </p:spPr>
        <p:txBody>
          <a:bodyPr wrap="none" lIns="0" rIns="0" tIns="0" bIns="0">
            <a:spAutoFit/>
          </a:bodyPr>
          <a:lstStyle/>
          <a:p>
            <a:pPr algn="l"/>
            <a:r>
              <a:rPr sz="1000" b="1" i="0">
                <a:solidFill>
                  <a:srgbClr val="FFFFFF"/>
                </a:solidFill>
                <a:latin typeface="Helvetica Neue"/>
              </a:rPr>
              <a:t>Watch attention change a word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D97706"/>
                </a:solidFill>
                <a:latin typeface="Helvetica Neue"/>
              </a:rPr>
              <a:t>THE ATTENTION HALF</a:t>
            </a:r>
          </a:p>
        </p:txBody>
      </p:sp>
      <p:sp>
        <p:nvSpPr>
          <p:cNvPr id="3" name="TextBox 2"/>
          <p:cNvSpPr txBox="1"/>
          <p:nvPr/>
        </p:nvSpPr>
        <p:spPr>
          <a:xfrm>
            <a:off x="640080" y="758952"/>
            <a:ext cx="7680960" cy="685800"/>
          </a:xfrm>
          <a:prstGeom prst="rect">
            <a:avLst/>
          </a:prstGeom>
          <a:noFill/>
        </p:spPr>
        <p:txBody>
          <a:bodyPr wrap="square" lIns="0" rIns="0" tIns="0" bIns="0">
            <a:spAutoFit/>
          </a:bodyPr>
          <a:lstStyle/>
          <a:p>
            <a:pPr algn="l"/>
            <a:r>
              <a:rPr sz="2900" b="1" i="0">
                <a:solidFill>
                  <a:srgbClr val="0F172A"/>
                </a:solidFill>
                <a:latin typeface="Helvetica Neue"/>
              </a:rPr>
              <a:t>A word absorbs the words around it.</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"Plan" is a subscription tier in one ticket and an intention in another. Same word, same starting vector.</a:t>
            </a:r>
          </a:p>
        </p:txBody>
      </p:sp>
      <p:sp>
        <p:nvSpPr>
          <p:cNvPr id="5" name="Rounded Rectangle 4"/>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549640" y="438912"/>
            <a:ext cx="329184" cy="329184"/>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94776"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1</a:t>
            </a:r>
          </a:p>
        </p:txBody>
      </p:sp>
      <p:sp>
        <p:nvSpPr>
          <p:cNvPr id="8" name="Rounded Rectangle 7"/>
          <p:cNvSpPr/>
          <p:nvPr/>
        </p:nvSpPr>
        <p:spPr>
          <a:xfrm>
            <a:off x="9244584"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89719"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2</a:t>
            </a:r>
          </a:p>
        </p:txBody>
      </p:sp>
      <p:sp>
        <p:nvSpPr>
          <p:cNvPr id="10" name="Rounded Rectangle 9"/>
          <p:cNvSpPr/>
          <p:nvPr/>
        </p:nvSpPr>
        <p:spPr>
          <a:xfrm>
            <a:off x="9902951"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48087"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3</a:t>
            </a:r>
          </a:p>
        </p:txBody>
      </p:sp>
      <p:sp>
        <p:nvSpPr>
          <p:cNvPr id="12" name="Rounded Rectangle 11"/>
          <p:cNvSpPr/>
          <p:nvPr/>
        </p:nvSpPr>
        <p:spPr>
          <a:xfrm>
            <a:off x="10561319"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06455"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4</a:t>
            </a:r>
          </a:p>
        </p:txBody>
      </p:sp>
      <p:sp>
        <p:nvSpPr>
          <p:cNvPr id="14" name="TextBox 13"/>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5" name="Picture 14" descr="fig_context.png"/>
          <p:cNvPicPr>
            <a:picLocks noChangeAspect="1"/>
          </p:cNvPicPr>
          <p:nvPr/>
        </p:nvPicPr>
        <p:blipFill>
          <a:blip r:embed="rId2"/>
          <a:stretch>
            <a:fillRect/>
          </a:stretch>
        </p:blipFill>
        <p:spPr>
          <a:xfrm>
            <a:off x="2359116" y="2057400"/>
            <a:ext cx="7473461" cy="3886200"/>
          </a:xfrm>
          <a:prstGeom prst="rect">
            <a:avLst/>
          </a:prstGeom>
        </p:spPr>
      </p:pic>
      <p:sp>
        <p:nvSpPr>
          <p:cNvPr id="16" name="Rounded Rectangle 15"/>
          <p:cNvSpPr/>
          <p:nvPr/>
        </p:nvSpPr>
        <p:spPr>
          <a:xfrm>
            <a:off x="7105802" y="6345936"/>
            <a:ext cx="4445812"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48218" y="6396228"/>
            <a:ext cx="68580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1250"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19" name="TextBox 18"/>
          <p:cNvSpPr txBox="1"/>
          <p:nvPr/>
        </p:nvSpPr>
        <p:spPr>
          <a:xfrm>
            <a:off x="8148218" y="6451092"/>
            <a:ext cx="685800" cy="219456"/>
          </a:xfrm>
          <a:prstGeom prst="rect">
            <a:avLst/>
          </a:prstGeom>
          <a:noFill/>
        </p:spPr>
        <p:txBody>
          <a:bodyPr wrap="none" lIns="0" rIns="0" tIns="0" bIns="0">
            <a:spAutoFit/>
          </a:bodyPr>
          <a:lstStyle/>
          <a:p>
            <a:pPr algn="ctr"/>
            <a:r>
              <a:rPr sz="1100" b="1" i="0">
                <a:solidFill>
                  <a:srgbClr val="FFFFFF"/>
                </a:solidFill>
                <a:latin typeface="Helvetica Neue"/>
              </a:rPr>
              <a:t>STEP 9</a:t>
            </a:r>
          </a:p>
        </p:txBody>
      </p:sp>
      <p:sp>
        <p:nvSpPr>
          <p:cNvPr id="20" name="TextBox 19"/>
          <p:cNvSpPr txBox="1"/>
          <p:nvPr/>
        </p:nvSpPr>
        <p:spPr>
          <a:xfrm>
            <a:off x="8952890" y="6460236"/>
            <a:ext cx="2498140" cy="219456"/>
          </a:xfrm>
          <a:prstGeom prst="rect">
            <a:avLst/>
          </a:prstGeom>
          <a:noFill/>
        </p:spPr>
        <p:txBody>
          <a:bodyPr wrap="none" lIns="0" rIns="0" tIns="0" bIns="0">
            <a:spAutoFit/>
          </a:bodyPr>
          <a:lstStyle/>
          <a:p>
            <a:pPr algn="l"/>
            <a:r>
              <a:rPr sz="1000" b="1" i="0">
                <a:solidFill>
                  <a:srgbClr val="FFFFFF"/>
                </a:solidFill>
                <a:latin typeface="Helvetica Neue"/>
              </a:rPr>
              <a:t>Watch attention change a word</a:t>
            </a:r>
          </a:p>
        </p:txBody>
      </p:sp>
      <p:sp>
        <p:nvSpPr>
          <p:cNvPr id="21" name="TextBox 20"/>
          <p:cNvSpPr txBox="1"/>
          <p:nvPr/>
        </p:nvSpPr>
        <p:spPr>
          <a:xfrm>
            <a:off x="640080" y="5989320"/>
            <a:ext cx="10881360" cy="365760"/>
          </a:xfrm>
          <a:prstGeom prst="rect">
            <a:avLst/>
          </a:prstGeom>
          <a:noFill/>
        </p:spPr>
        <p:txBody>
          <a:bodyPr wrap="square" lIns="0" rIns="0" tIns="0" bIns="0">
            <a:spAutoFit/>
          </a:bodyPr>
          <a:lstStyle/>
          <a:p>
            <a:pPr algn="ctr"/>
            <a:r>
              <a:rPr sz="1500" b="0" i="1">
                <a:solidFill>
                  <a:srgbClr val="475569"/>
                </a:solidFill>
                <a:latin typeface="Helvetica Neue"/>
              </a:rPr>
              <a:t>Going in they are 0.93 alike. Twelve rounds later, 0.46. That gap is attention doing its job.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D97706"/>
                </a:solidFill>
                <a:latin typeface="Helvetica Neue"/>
              </a:rPr>
              <a:t>THE FEED-FORWARD HALF</a:t>
            </a:r>
          </a:p>
        </p:txBody>
      </p:sp>
      <p:sp>
        <p:nvSpPr>
          <p:cNvPr id="3" name="TextBox 2"/>
          <p:cNvSpPr txBox="1"/>
          <p:nvPr/>
        </p:nvSpPr>
        <p:spPr>
          <a:xfrm>
            <a:off x="640080" y="758952"/>
            <a:ext cx="7680960" cy="685800"/>
          </a:xfrm>
          <a:prstGeom prst="rect">
            <a:avLst/>
          </a:prstGeom>
          <a:noFill/>
        </p:spPr>
        <p:txBody>
          <a:bodyPr wrap="square" lIns="0" rIns="0" tIns="0" bIns="0">
            <a:spAutoFit/>
          </a:bodyPr>
          <a:lstStyle/>
          <a:p>
            <a:pPr algn="l"/>
            <a:r>
              <a:rPr sz="2900" b="1" i="0">
                <a:solidFill>
                  <a:srgbClr val="0F172A"/>
                </a:solidFill>
                <a:latin typeface="Helvetica Neue"/>
              </a:rPr>
              <a:t>Where the model keeps what it knows.</a:t>
            </a:r>
          </a:p>
        </p:txBody>
      </p:sp>
      <p:sp>
        <p:nvSpPr>
          <p:cNvPr id="4" name="Rounded Rectangle 3"/>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549640" y="438912"/>
            <a:ext cx="329184" cy="329184"/>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94776"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1</a:t>
            </a:r>
          </a:p>
        </p:txBody>
      </p:sp>
      <p:sp>
        <p:nvSpPr>
          <p:cNvPr id="7" name="Rounded Rectangle 6"/>
          <p:cNvSpPr/>
          <p:nvPr/>
        </p:nvSpPr>
        <p:spPr>
          <a:xfrm>
            <a:off x="9244584"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89719"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2</a:t>
            </a:r>
          </a:p>
        </p:txBody>
      </p:sp>
      <p:sp>
        <p:nvSpPr>
          <p:cNvPr id="9" name="Rounded Rectangle 8"/>
          <p:cNvSpPr/>
          <p:nvPr/>
        </p:nvSpPr>
        <p:spPr>
          <a:xfrm>
            <a:off x="9902951"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48087"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3</a:t>
            </a:r>
          </a:p>
        </p:txBody>
      </p:sp>
      <p:sp>
        <p:nvSpPr>
          <p:cNvPr id="11" name="Rounded Rectangle 10"/>
          <p:cNvSpPr/>
          <p:nvPr/>
        </p:nvSpPr>
        <p:spPr>
          <a:xfrm>
            <a:off x="10561319"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06455"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4</a:t>
            </a:r>
          </a:p>
        </p:txBody>
      </p:sp>
      <p:sp>
        <p:nvSpPr>
          <p:cNvPr id="13" name="TextBox 12"/>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4" name="Picture 13" descr="d_ffnknow.png"/>
          <p:cNvPicPr>
            <a:picLocks noChangeAspect="1"/>
          </p:cNvPicPr>
          <p:nvPr/>
        </p:nvPicPr>
        <p:blipFill>
          <a:blip r:embed="rId2"/>
          <a:stretch>
            <a:fillRect/>
          </a:stretch>
        </p:blipFill>
        <p:spPr>
          <a:xfrm>
            <a:off x="595740" y="1965960"/>
            <a:ext cx="11000214" cy="2862072"/>
          </a:xfrm>
          <a:prstGeom prst="rect">
            <a:avLst/>
          </a:prstGeom>
        </p:spPr>
      </p:pic>
      <p:sp>
        <p:nvSpPr>
          <p:cNvPr id="15" name="Rounded Rectangle 14"/>
          <p:cNvSpPr/>
          <p:nvPr/>
        </p:nvSpPr>
        <p:spPr>
          <a:xfrm>
            <a:off x="6705295" y="6345936"/>
            <a:ext cx="4846320"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747711" y="6396228"/>
            <a:ext cx="75438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60743"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18" name="TextBox 17"/>
          <p:cNvSpPr txBox="1"/>
          <p:nvPr/>
        </p:nvSpPr>
        <p:spPr>
          <a:xfrm>
            <a:off x="7747711" y="6451092"/>
            <a:ext cx="754380" cy="219456"/>
          </a:xfrm>
          <a:prstGeom prst="rect">
            <a:avLst/>
          </a:prstGeom>
          <a:noFill/>
        </p:spPr>
        <p:txBody>
          <a:bodyPr wrap="none" lIns="0" rIns="0" tIns="0" bIns="0">
            <a:spAutoFit/>
          </a:bodyPr>
          <a:lstStyle/>
          <a:p>
            <a:pPr algn="ctr"/>
            <a:r>
              <a:rPr sz="1100" b="1" i="0">
                <a:solidFill>
                  <a:srgbClr val="FFFFFF"/>
                </a:solidFill>
                <a:latin typeface="Helvetica Neue"/>
              </a:rPr>
              <a:t>STEP 10</a:t>
            </a:r>
          </a:p>
        </p:txBody>
      </p:sp>
      <p:sp>
        <p:nvSpPr>
          <p:cNvPr id="19" name="TextBox 18"/>
          <p:cNvSpPr txBox="1"/>
          <p:nvPr/>
        </p:nvSpPr>
        <p:spPr>
          <a:xfrm>
            <a:off x="8620963" y="6460236"/>
            <a:ext cx="2830068" cy="219456"/>
          </a:xfrm>
          <a:prstGeom prst="rect">
            <a:avLst/>
          </a:prstGeom>
          <a:noFill/>
        </p:spPr>
        <p:txBody>
          <a:bodyPr wrap="none" lIns="0" rIns="0" tIns="0" bIns="0">
            <a:spAutoFit/>
          </a:bodyPr>
          <a:lstStyle/>
          <a:p>
            <a:pPr algn="l"/>
            <a:r>
              <a:rPr sz="1000" b="1" i="0">
                <a:solidFill>
                  <a:srgbClr val="FFFFFF"/>
                </a:solidFill>
                <a:latin typeface="Helvetica Neue"/>
              </a:rPr>
              <a:t>Find where the knowledge is stored</a:t>
            </a:r>
          </a:p>
        </p:txBody>
      </p:sp>
      <p:pic>
        <p:nvPicPr>
          <p:cNvPr id="20" name="Picture 19" descr="fig_params.png"/>
          <p:cNvPicPr>
            <a:picLocks noChangeAspect="1"/>
          </p:cNvPicPr>
          <p:nvPr/>
        </p:nvPicPr>
        <p:blipFill>
          <a:blip r:embed="rId3"/>
          <a:stretch>
            <a:fillRect/>
          </a:stretch>
        </p:blipFill>
        <p:spPr>
          <a:xfrm>
            <a:off x="2209647" y="4956048"/>
            <a:ext cx="7772400" cy="1295400"/>
          </a:xfrm>
          <a:prstGeom prst="rect">
            <a:avLst/>
          </a:prstGeom>
        </p:spPr>
      </p:pic>
      <p:sp>
        <p:nvSpPr>
          <p:cNvPr id="21" name="TextBox 20"/>
          <p:cNvSpPr txBox="1"/>
          <p:nvPr/>
        </p:nvSpPr>
        <p:spPr>
          <a:xfrm>
            <a:off x="640080" y="6053328"/>
            <a:ext cx="10881360" cy="365760"/>
          </a:xfrm>
          <a:prstGeom prst="rect">
            <a:avLst/>
          </a:prstGeom>
          <a:noFill/>
        </p:spPr>
        <p:txBody>
          <a:bodyPr wrap="square" lIns="0" rIns="0" tIns="0" bIns="0">
            <a:spAutoFit/>
          </a:bodyPr>
          <a:lstStyle/>
          <a:p>
            <a:pPr algn="ctr"/>
            <a:r>
              <a:rPr sz="1500" b="0" i="1">
                <a:solidFill>
                  <a:srgbClr val="475569"/>
                </a:solidFill>
                <a:latin typeface="Helvetica Neue"/>
              </a:rPr>
              <a:t>Two thirds of every layer is feed-forward, only a third is attention. Attention gets the headlines; the knowledge lives next door.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0EA5E9"/>
                </a:solidFill>
                <a:latin typeface="Helvetica Neue"/>
              </a:rPr>
              <a:t>RETRIEVE</a:t>
            </a:r>
          </a:p>
        </p:txBody>
      </p:sp>
      <p:sp>
        <p:nvSpPr>
          <p:cNvPr id="3" name="TextBox 2"/>
          <p:cNvSpPr txBox="1"/>
          <p:nvPr/>
        </p:nvSpPr>
        <p:spPr>
          <a:xfrm>
            <a:off x="640080" y="758952"/>
            <a:ext cx="7680960" cy="685800"/>
          </a:xfrm>
          <a:prstGeom prst="rect">
            <a:avLst/>
          </a:prstGeom>
          <a:noFill/>
        </p:spPr>
        <p:txBody>
          <a:bodyPr wrap="square" lIns="0" rIns="0" tIns="0" bIns="0">
            <a:spAutoFit/>
          </a:bodyPr>
          <a:lstStyle/>
          <a:p>
            <a:pPr algn="l"/>
            <a:r>
              <a:rPr sz="2900" b="1" i="0">
                <a:solidFill>
                  <a:srgbClr val="0F172A"/>
                </a:solidFill>
                <a:latin typeface="Helvetica Neue"/>
              </a:rPr>
              <a:t>Similarity is a multiplication.</a:t>
            </a:r>
          </a:p>
        </p:txBody>
      </p:sp>
      <p:sp>
        <p:nvSpPr>
          <p:cNvPr id="4" name="Rounded Rectangle 3"/>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586215" y="475488"/>
            <a:ext cx="256032" cy="256032"/>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1351"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1</a:t>
            </a:r>
          </a:p>
        </p:txBody>
      </p:sp>
      <p:sp>
        <p:nvSpPr>
          <p:cNvPr id="7" name="Rounded Rectangle 6"/>
          <p:cNvSpPr/>
          <p:nvPr/>
        </p:nvSpPr>
        <p:spPr>
          <a:xfrm>
            <a:off x="9208008" y="438912"/>
            <a:ext cx="329184" cy="329184"/>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53144"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2</a:t>
            </a:r>
          </a:p>
        </p:txBody>
      </p:sp>
      <p:sp>
        <p:nvSpPr>
          <p:cNvPr id="9" name="Rounded Rectangle 8"/>
          <p:cNvSpPr/>
          <p:nvPr/>
        </p:nvSpPr>
        <p:spPr>
          <a:xfrm>
            <a:off x="9902951"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48087"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3</a:t>
            </a:r>
          </a:p>
        </p:txBody>
      </p:sp>
      <p:sp>
        <p:nvSpPr>
          <p:cNvPr id="11" name="Rounded Rectangle 10"/>
          <p:cNvSpPr/>
          <p:nvPr/>
        </p:nvSpPr>
        <p:spPr>
          <a:xfrm>
            <a:off x="10561319"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06455"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4</a:t>
            </a:r>
          </a:p>
        </p:txBody>
      </p:sp>
      <p:sp>
        <p:nvSpPr>
          <p:cNvPr id="13" name="TextBox 12"/>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4" name="Picture 13" descr="d_cosine.png"/>
          <p:cNvPicPr>
            <a:picLocks noChangeAspect="1"/>
          </p:cNvPicPr>
          <p:nvPr/>
        </p:nvPicPr>
        <p:blipFill>
          <a:blip r:embed="rId2"/>
          <a:stretch>
            <a:fillRect/>
          </a:stretch>
        </p:blipFill>
        <p:spPr>
          <a:xfrm>
            <a:off x="518007" y="2558318"/>
            <a:ext cx="11155680" cy="3067243"/>
          </a:xfrm>
          <a:prstGeom prst="rect">
            <a:avLst/>
          </a:prstGeom>
        </p:spPr>
      </p:pic>
      <p:sp>
        <p:nvSpPr>
          <p:cNvPr id="15" name="Rounded Rectangle 14"/>
          <p:cNvSpPr/>
          <p:nvPr/>
        </p:nvSpPr>
        <p:spPr>
          <a:xfrm>
            <a:off x="7239304" y="6345936"/>
            <a:ext cx="4312310"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81720" y="6396228"/>
            <a:ext cx="75438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94752"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18" name="TextBox 17"/>
          <p:cNvSpPr txBox="1"/>
          <p:nvPr/>
        </p:nvSpPr>
        <p:spPr>
          <a:xfrm>
            <a:off x="8281720" y="6451092"/>
            <a:ext cx="754380" cy="219456"/>
          </a:xfrm>
          <a:prstGeom prst="rect">
            <a:avLst/>
          </a:prstGeom>
          <a:noFill/>
        </p:spPr>
        <p:txBody>
          <a:bodyPr wrap="none" lIns="0" rIns="0" tIns="0" bIns="0">
            <a:spAutoFit/>
          </a:bodyPr>
          <a:lstStyle/>
          <a:p>
            <a:pPr algn="ctr"/>
            <a:r>
              <a:rPr sz="1100" b="1" i="0">
                <a:solidFill>
                  <a:srgbClr val="FFFFFF"/>
                </a:solidFill>
                <a:latin typeface="Helvetica Neue"/>
              </a:rPr>
              <a:t>STEP 11</a:t>
            </a:r>
          </a:p>
        </p:txBody>
      </p:sp>
      <p:sp>
        <p:nvSpPr>
          <p:cNvPr id="19" name="TextBox 18"/>
          <p:cNvSpPr txBox="1"/>
          <p:nvPr/>
        </p:nvSpPr>
        <p:spPr>
          <a:xfrm>
            <a:off x="9154972" y="6460236"/>
            <a:ext cx="2296058" cy="219456"/>
          </a:xfrm>
          <a:prstGeom prst="rect">
            <a:avLst/>
          </a:prstGeom>
          <a:noFill/>
        </p:spPr>
        <p:txBody>
          <a:bodyPr wrap="none" lIns="0" rIns="0" tIns="0" bIns="0">
            <a:spAutoFit/>
          </a:bodyPr>
          <a:lstStyle/>
          <a:p>
            <a:pPr algn="l"/>
            <a:r>
              <a:rPr sz="1000" b="1" i="0">
                <a:solidFill>
                  <a:srgbClr val="FFFFFF"/>
                </a:solidFill>
                <a:latin typeface="Helvetica Neue"/>
              </a:rPr>
              <a:t>Measure similarity by hand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0EA5E9"/>
                </a:solidFill>
                <a:latin typeface="Helvetica Neue"/>
              </a:rPr>
              <a:t>RETRIEVE</a:t>
            </a:r>
          </a:p>
        </p:txBody>
      </p:sp>
      <p:sp>
        <p:nvSpPr>
          <p:cNvPr id="3" name="TextBox 2"/>
          <p:cNvSpPr txBox="1"/>
          <p:nvPr/>
        </p:nvSpPr>
        <p:spPr>
          <a:xfrm>
            <a:off x="640080" y="758952"/>
            <a:ext cx="7680960" cy="685800"/>
          </a:xfrm>
          <a:prstGeom prst="rect">
            <a:avLst/>
          </a:prstGeom>
          <a:noFill/>
        </p:spPr>
        <p:txBody>
          <a:bodyPr wrap="square" lIns="0" rIns="0" tIns="0" bIns="0">
            <a:spAutoFit/>
          </a:bodyPr>
          <a:lstStyle/>
          <a:p>
            <a:pPr algn="l"/>
            <a:r>
              <a:rPr sz="2900" b="1" i="0">
                <a:solidFill>
                  <a:srgbClr val="0F172A"/>
                </a:solidFill>
                <a:latin typeface="Helvetica Neue"/>
              </a:rPr>
              <a:t>Search that finds what you meant.</a:t>
            </a:r>
          </a:p>
        </p:txBody>
      </p:sp>
      <p:sp>
        <p:nvSpPr>
          <p:cNvPr id="4" name="Rounded Rectangle 3"/>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586215" y="475488"/>
            <a:ext cx="256032" cy="256032"/>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1351"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1</a:t>
            </a:r>
          </a:p>
        </p:txBody>
      </p:sp>
      <p:sp>
        <p:nvSpPr>
          <p:cNvPr id="7" name="Rounded Rectangle 6"/>
          <p:cNvSpPr/>
          <p:nvPr/>
        </p:nvSpPr>
        <p:spPr>
          <a:xfrm>
            <a:off x="9208008" y="438912"/>
            <a:ext cx="329184" cy="329184"/>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53144"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2</a:t>
            </a:r>
          </a:p>
        </p:txBody>
      </p:sp>
      <p:sp>
        <p:nvSpPr>
          <p:cNvPr id="9" name="Rounded Rectangle 8"/>
          <p:cNvSpPr/>
          <p:nvPr/>
        </p:nvSpPr>
        <p:spPr>
          <a:xfrm>
            <a:off x="9902951"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48087"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3</a:t>
            </a:r>
          </a:p>
        </p:txBody>
      </p:sp>
      <p:sp>
        <p:nvSpPr>
          <p:cNvPr id="11" name="Rounded Rectangle 10"/>
          <p:cNvSpPr/>
          <p:nvPr/>
        </p:nvSpPr>
        <p:spPr>
          <a:xfrm>
            <a:off x="10561319"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06455"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4</a:t>
            </a:r>
          </a:p>
        </p:txBody>
      </p:sp>
      <p:sp>
        <p:nvSpPr>
          <p:cNvPr id="13" name="TextBox 12"/>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4" name="Picture 13" descr="d_search.png"/>
          <p:cNvPicPr>
            <a:picLocks noChangeAspect="1"/>
          </p:cNvPicPr>
          <p:nvPr/>
        </p:nvPicPr>
        <p:blipFill>
          <a:blip r:embed="rId2"/>
          <a:stretch>
            <a:fillRect/>
          </a:stretch>
        </p:blipFill>
        <p:spPr>
          <a:xfrm>
            <a:off x="518007" y="2013030"/>
            <a:ext cx="11155680" cy="4157819"/>
          </a:xfrm>
          <a:prstGeom prst="rect">
            <a:avLst/>
          </a:prstGeom>
        </p:spPr>
      </p:pic>
      <p:sp>
        <p:nvSpPr>
          <p:cNvPr id="15" name="Rounded Rectangle 14"/>
          <p:cNvSpPr/>
          <p:nvPr/>
        </p:nvSpPr>
        <p:spPr>
          <a:xfrm>
            <a:off x="6505041" y="6345936"/>
            <a:ext cx="5046573"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547457" y="6396228"/>
            <a:ext cx="68580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60489"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18" name="TextBox 17"/>
          <p:cNvSpPr txBox="1"/>
          <p:nvPr/>
        </p:nvSpPr>
        <p:spPr>
          <a:xfrm>
            <a:off x="7547457" y="6451092"/>
            <a:ext cx="685800" cy="219456"/>
          </a:xfrm>
          <a:prstGeom prst="rect">
            <a:avLst/>
          </a:prstGeom>
          <a:noFill/>
        </p:spPr>
        <p:txBody>
          <a:bodyPr wrap="none" lIns="0" rIns="0" tIns="0" bIns="0">
            <a:spAutoFit/>
          </a:bodyPr>
          <a:lstStyle/>
          <a:p>
            <a:pPr algn="ctr"/>
            <a:r>
              <a:rPr sz="1100" b="1" i="0">
                <a:solidFill>
                  <a:srgbClr val="FFFFFF"/>
                </a:solidFill>
                <a:latin typeface="Helvetica Neue"/>
              </a:rPr>
              <a:t>STEP 3</a:t>
            </a:r>
          </a:p>
        </p:txBody>
      </p:sp>
      <p:sp>
        <p:nvSpPr>
          <p:cNvPr id="19" name="TextBox 18"/>
          <p:cNvSpPr txBox="1"/>
          <p:nvPr/>
        </p:nvSpPr>
        <p:spPr>
          <a:xfrm>
            <a:off x="8352129" y="6460236"/>
            <a:ext cx="3098901" cy="219456"/>
          </a:xfrm>
          <a:prstGeom prst="rect">
            <a:avLst/>
          </a:prstGeom>
          <a:noFill/>
        </p:spPr>
        <p:txBody>
          <a:bodyPr wrap="none" lIns="0" rIns="0" tIns="0" bIns="0">
            <a:spAutoFit/>
          </a:bodyPr>
          <a:lstStyle/>
          <a:p>
            <a:pPr algn="l"/>
            <a:r>
              <a:rPr sz="1000" b="1" i="0">
                <a:solidFill>
                  <a:srgbClr val="FFFFFF"/>
                </a:solidFill>
                <a:latin typeface="Helvetica Neue"/>
              </a:rPr>
              <a:t>Turn tickets into vectors, then search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0EA5E9"/>
                </a:solidFill>
                <a:latin typeface="Helvetica Neue"/>
              </a:rPr>
              <a:t>RETRIEVE</a:t>
            </a:r>
          </a:p>
        </p:txBody>
      </p:sp>
      <p:sp>
        <p:nvSpPr>
          <p:cNvPr id="3" name="TextBox 2"/>
          <p:cNvSpPr txBox="1"/>
          <p:nvPr/>
        </p:nvSpPr>
        <p:spPr>
          <a:xfrm>
            <a:off x="640080" y="758952"/>
            <a:ext cx="7680960" cy="685800"/>
          </a:xfrm>
          <a:prstGeom prst="rect">
            <a:avLst/>
          </a:prstGeom>
          <a:noFill/>
        </p:spPr>
        <p:txBody>
          <a:bodyPr wrap="square" lIns="0" rIns="0" tIns="0" bIns="0">
            <a:spAutoFit/>
          </a:bodyPr>
          <a:lstStyle/>
          <a:p>
            <a:pPr algn="l"/>
            <a:r>
              <a:rPr sz="2900" b="1" i="0">
                <a:solidFill>
                  <a:srgbClr val="0F172A"/>
                </a:solidFill>
                <a:latin typeface="Helvetica Neue"/>
              </a:rPr>
              <a:t>Structure was already in the text.</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Nobody sorted these. Plot the vectors and the neighbourhoods appear on their own.</a:t>
            </a:r>
          </a:p>
        </p:txBody>
      </p:sp>
      <p:sp>
        <p:nvSpPr>
          <p:cNvPr id="5" name="Rounded Rectangle 4"/>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586215" y="475488"/>
            <a:ext cx="256032" cy="256032"/>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31351"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1</a:t>
            </a:r>
          </a:p>
        </p:txBody>
      </p:sp>
      <p:sp>
        <p:nvSpPr>
          <p:cNvPr id="8" name="Rounded Rectangle 7"/>
          <p:cNvSpPr/>
          <p:nvPr/>
        </p:nvSpPr>
        <p:spPr>
          <a:xfrm>
            <a:off x="9208008" y="438912"/>
            <a:ext cx="329184" cy="329184"/>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53144"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2</a:t>
            </a:r>
          </a:p>
        </p:txBody>
      </p:sp>
      <p:sp>
        <p:nvSpPr>
          <p:cNvPr id="10" name="Rounded Rectangle 9"/>
          <p:cNvSpPr/>
          <p:nvPr/>
        </p:nvSpPr>
        <p:spPr>
          <a:xfrm>
            <a:off x="9902951"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48087"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3</a:t>
            </a:r>
          </a:p>
        </p:txBody>
      </p:sp>
      <p:sp>
        <p:nvSpPr>
          <p:cNvPr id="12" name="Rounded Rectangle 11"/>
          <p:cNvSpPr/>
          <p:nvPr/>
        </p:nvSpPr>
        <p:spPr>
          <a:xfrm>
            <a:off x="10561319"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06455"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4</a:t>
            </a:r>
          </a:p>
        </p:txBody>
      </p:sp>
      <p:sp>
        <p:nvSpPr>
          <p:cNvPr id="14" name="TextBox 13"/>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5" name="Picture 14" descr="fig_map.png"/>
          <p:cNvPicPr>
            <a:picLocks noChangeAspect="1"/>
          </p:cNvPicPr>
          <p:nvPr/>
        </p:nvPicPr>
        <p:blipFill>
          <a:blip r:embed="rId2"/>
          <a:stretch>
            <a:fillRect/>
          </a:stretch>
        </p:blipFill>
        <p:spPr>
          <a:xfrm>
            <a:off x="3260216" y="1965960"/>
            <a:ext cx="5671261" cy="4297679"/>
          </a:xfrm>
          <a:prstGeom prst="rect">
            <a:avLst/>
          </a:prstGeom>
        </p:spPr>
      </p:pic>
      <p:sp>
        <p:nvSpPr>
          <p:cNvPr id="16" name="Rounded Rectangle 15"/>
          <p:cNvSpPr/>
          <p:nvPr/>
        </p:nvSpPr>
        <p:spPr>
          <a:xfrm>
            <a:off x="7773314" y="6345936"/>
            <a:ext cx="3778300"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815730" y="6396228"/>
            <a:ext cx="68580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28762"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19" name="TextBox 18"/>
          <p:cNvSpPr txBox="1"/>
          <p:nvPr/>
        </p:nvSpPr>
        <p:spPr>
          <a:xfrm>
            <a:off x="8815730" y="6451092"/>
            <a:ext cx="685800" cy="219456"/>
          </a:xfrm>
          <a:prstGeom prst="rect">
            <a:avLst/>
          </a:prstGeom>
          <a:noFill/>
        </p:spPr>
        <p:txBody>
          <a:bodyPr wrap="none" lIns="0" rIns="0" tIns="0" bIns="0">
            <a:spAutoFit/>
          </a:bodyPr>
          <a:lstStyle/>
          <a:p>
            <a:pPr algn="ctr"/>
            <a:r>
              <a:rPr sz="1100" b="1" i="0">
                <a:solidFill>
                  <a:srgbClr val="FFFFFF"/>
                </a:solidFill>
                <a:latin typeface="Helvetica Neue"/>
              </a:rPr>
              <a:t>STEP 5</a:t>
            </a:r>
          </a:p>
        </p:txBody>
      </p:sp>
      <p:sp>
        <p:nvSpPr>
          <p:cNvPr id="20" name="TextBox 19"/>
          <p:cNvSpPr txBox="1"/>
          <p:nvPr/>
        </p:nvSpPr>
        <p:spPr>
          <a:xfrm>
            <a:off x="9620402" y="6460236"/>
            <a:ext cx="1830628" cy="219456"/>
          </a:xfrm>
          <a:prstGeom prst="rect">
            <a:avLst/>
          </a:prstGeom>
          <a:noFill/>
        </p:spPr>
        <p:txBody>
          <a:bodyPr wrap="none" lIns="0" rIns="0" tIns="0" bIns="0">
            <a:spAutoFit/>
          </a:bodyPr>
          <a:lstStyle/>
          <a:p>
            <a:pPr algn="l"/>
            <a:r>
              <a:rPr sz="1000" b="1" i="0">
                <a:solidFill>
                  <a:srgbClr val="FFFFFF"/>
                </a:solidFill>
                <a:latin typeface="Helvetica Neue"/>
              </a:rPr>
              <a:t>Map the whole inbox</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7C3AED"/>
                </a:solidFill>
                <a:latin typeface="Helvetica Neue"/>
              </a:rPr>
              <a:t>ROUTE</a:t>
            </a:r>
          </a:p>
        </p:txBody>
      </p:sp>
      <p:sp>
        <p:nvSpPr>
          <p:cNvPr id="3" name="TextBox 2"/>
          <p:cNvSpPr txBox="1"/>
          <p:nvPr/>
        </p:nvSpPr>
        <p:spPr>
          <a:xfrm>
            <a:off x="640080" y="758952"/>
            <a:ext cx="7680960" cy="685800"/>
          </a:xfrm>
          <a:prstGeom prst="rect">
            <a:avLst/>
          </a:prstGeom>
          <a:noFill/>
        </p:spPr>
        <p:txBody>
          <a:bodyPr wrap="square" lIns="0" rIns="0" tIns="0" bIns="0">
            <a:spAutoFit/>
          </a:bodyPr>
          <a:lstStyle/>
          <a:p>
            <a:pPr algn="l"/>
            <a:r>
              <a:rPr sz="2900" b="1" i="0">
                <a:solidFill>
                  <a:srgbClr val="0F172A"/>
                </a:solidFill>
                <a:latin typeface="Helvetica Neue"/>
              </a:rPr>
              <a:t>Sort the inbox with no training data at all.</a:t>
            </a:r>
          </a:p>
        </p:txBody>
      </p:sp>
      <p:sp>
        <p:nvSpPr>
          <p:cNvPr id="4" name="Rounded Rectangle 3"/>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586215" y="475488"/>
            <a:ext cx="256032" cy="256032"/>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1351"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1</a:t>
            </a:r>
          </a:p>
        </p:txBody>
      </p:sp>
      <p:sp>
        <p:nvSpPr>
          <p:cNvPr id="7" name="Rounded Rectangle 6"/>
          <p:cNvSpPr/>
          <p:nvPr/>
        </p:nvSpPr>
        <p:spPr>
          <a:xfrm>
            <a:off x="9244584" y="475488"/>
            <a:ext cx="256032" cy="256032"/>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89719"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2</a:t>
            </a:r>
          </a:p>
        </p:txBody>
      </p:sp>
      <p:sp>
        <p:nvSpPr>
          <p:cNvPr id="9" name="Rounded Rectangle 8"/>
          <p:cNvSpPr/>
          <p:nvPr/>
        </p:nvSpPr>
        <p:spPr>
          <a:xfrm>
            <a:off x="9866376" y="438912"/>
            <a:ext cx="329184" cy="329184"/>
          </a:xfrm>
          <a:prstGeom prst="roundRect">
            <a:avLst>
              <a:gd name="adj" fmla="val 32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11511"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3</a:t>
            </a:r>
          </a:p>
        </p:txBody>
      </p:sp>
      <p:sp>
        <p:nvSpPr>
          <p:cNvPr id="11" name="Rounded Rectangle 10"/>
          <p:cNvSpPr/>
          <p:nvPr/>
        </p:nvSpPr>
        <p:spPr>
          <a:xfrm>
            <a:off x="10561319"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06455"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4</a:t>
            </a:r>
          </a:p>
        </p:txBody>
      </p:sp>
      <p:sp>
        <p:nvSpPr>
          <p:cNvPr id="13" name="TextBox 12"/>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4" name="Picture 13" descr="d_zs.png"/>
          <p:cNvPicPr>
            <a:picLocks noChangeAspect="1"/>
          </p:cNvPicPr>
          <p:nvPr/>
        </p:nvPicPr>
        <p:blipFill>
          <a:blip r:embed="rId2"/>
          <a:stretch>
            <a:fillRect/>
          </a:stretch>
        </p:blipFill>
        <p:spPr>
          <a:xfrm>
            <a:off x="1473370" y="1965960"/>
            <a:ext cx="9244954" cy="4297679"/>
          </a:xfrm>
          <a:prstGeom prst="rect">
            <a:avLst/>
          </a:prstGeom>
        </p:spPr>
      </p:pic>
      <p:sp>
        <p:nvSpPr>
          <p:cNvPr id="15" name="Rounded Rectangle 14"/>
          <p:cNvSpPr/>
          <p:nvPr/>
        </p:nvSpPr>
        <p:spPr>
          <a:xfrm>
            <a:off x="6505041" y="6345936"/>
            <a:ext cx="5046573"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547457" y="6396228"/>
            <a:ext cx="75438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60489"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18" name="TextBox 17"/>
          <p:cNvSpPr txBox="1"/>
          <p:nvPr/>
        </p:nvSpPr>
        <p:spPr>
          <a:xfrm>
            <a:off x="7547457" y="6451092"/>
            <a:ext cx="754380" cy="219456"/>
          </a:xfrm>
          <a:prstGeom prst="rect">
            <a:avLst/>
          </a:prstGeom>
          <a:noFill/>
        </p:spPr>
        <p:txBody>
          <a:bodyPr wrap="none" lIns="0" rIns="0" tIns="0" bIns="0">
            <a:spAutoFit/>
          </a:bodyPr>
          <a:lstStyle/>
          <a:p>
            <a:pPr algn="ctr"/>
            <a:r>
              <a:rPr sz="1100" b="1" i="0">
                <a:solidFill>
                  <a:srgbClr val="FFFFFF"/>
                </a:solidFill>
                <a:latin typeface="Helvetica Neue"/>
              </a:rPr>
              <a:t>STEP 13</a:t>
            </a:r>
          </a:p>
        </p:txBody>
      </p:sp>
      <p:sp>
        <p:nvSpPr>
          <p:cNvPr id="19" name="TextBox 18"/>
          <p:cNvSpPr txBox="1"/>
          <p:nvPr/>
        </p:nvSpPr>
        <p:spPr>
          <a:xfrm>
            <a:off x="8420709" y="6460236"/>
            <a:ext cx="3030321" cy="219456"/>
          </a:xfrm>
          <a:prstGeom prst="rect">
            <a:avLst/>
          </a:prstGeom>
          <a:noFill/>
        </p:spPr>
        <p:txBody>
          <a:bodyPr wrap="none" lIns="0" rIns="0" tIns="0" bIns="0">
            <a:spAutoFit/>
          </a:bodyPr>
          <a:lstStyle/>
          <a:p>
            <a:pPr algn="l"/>
            <a:r>
              <a:rPr sz="1000" b="1" i="0">
                <a:solidFill>
                  <a:srgbClr val="FFFFFF"/>
                </a:solidFill>
                <a:latin typeface="Helvetica Neue"/>
              </a:rPr>
              <a:t>Route the inbox with no training data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7C3AED"/>
                </a:solidFill>
                <a:latin typeface="Helvetica Neue"/>
              </a:rPr>
              <a:t>ROUTE</a:t>
            </a:r>
          </a:p>
        </p:txBody>
      </p:sp>
      <p:sp>
        <p:nvSpPr>
          <p:cNvPr id="3" name="TextBox 2"/>
          <p:cNvSpPr txBox="1"/>
          <p:nvPr/>
        </p:nvSpPr>
        <p:spPr>
          <a:xfrm>
            <a:off x="640080" y="758952"/>
            <a:ext cx="7680960" cy="685800"/>
          </a:xfrm>
          <a:prstGeom prst="rect">
            <a:avLst/>
          </a:prstGeom>
          <a:noFill/>
        </p:spPr>
        <p:txBody>
          <a:bodyPr wrap="square" lIns="0" rIns="0" tIns="0" bIns="0">
            <a:spAutoFit/>
          </a:bodyPr>
          <a:lstStyle/>
          <a:p>
            <a:pPr algn="l"/>
            <a:r>
              <a:rPr sz="2900" b="1" i="0">
                <a:solidFill>
                  <a:srgbClr val="0F172A"/>
                </a:solidFill>
                <a:latin typeface="Helvetica Neue"/>
              </a:rPr>
              <a:t>It is not a classifier. It is a fact-checker.</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The model judges whether a sentence YOU wrote is true of the ticket.</a:t>
            </a:r>
          </a:p>
        </p:txBody>
      </p:sp>
      <p:sp>
        <p:nvSpPr>
          <p:cNvPr id="5" name="Rounded Rectangle 4"/>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586215" y="475488"/>
            <a:ext cx="256032" cy="256032"/>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31351"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1</a:t>
            </a:r>
          </a:p>
        </p:txBody>
      </p:sp>
      <p:sp>
        <p:nvSpPr>
          <p:cNvPr id="8" name="Rounded Rectangle 7"/>
          <p:cNvSpPr/>
          <p:nvPr/>
        </p:nvSpPr>
        <p:spPr>
          <a:xfrm>
            <a:off x="9244584" y="475488"/>
            <a:ext cx="256032" cy="256032"/>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89719"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2</a:t>
            </a:r>
          </a:p>
        </p:txBody>
      </p:sp>
      <p:sp>
        <p:nvSpPr>
          <p:cNvPr id="10" name="Rounded Rectangle 9"/>
          <p:cNvSpPr/>
          <p:nvPr/>
        </p:nvSpPr>
        <p:spPr>
          <a:xfrm>
            <a:off x="9866376" y="438912"/>
            <a:ext cx="329184" cy="329184"/>
          </a:xfrm>
          <a:prstGeom prst="roundRect">
            <a:avLst>
              <a:gd name="adj" fmla="val 32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11511"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3</a:t>
            </a:r>
          </a:p>
        </p:txBody>
      </p:sp>
      <p:sp>
        <p:nvSpPr>
          <p:cNvPr id="12" name="Rounded Rectangle 11"/>
          <p:cNvSpPr/>
          <p:nvPr/>
        </p:nvSpPr>
        <p:spPr>
          <a:xfrm>
            <a:off x="10561319"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06455"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4</a:t>
            </a:r>
          </a:p>
        </p:txBody>
      </p:sp>
      <p:sp>
        <p:nvSpPr>
          <p:cNvPr id="14" name="TextBox 13"/>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5" name="Picture 14" descr="d_nli.png"/>
          <p:cNvPicPr>
            <a:picLocks noChangeAspect="1"/>
          </p:cNvPicPr>
          <p:nvPr/>
        </p:nvPicPr>
        <p:blipFill>
          <a:blip r:embed="rId2"/>
          <a:stretch>
            <a:fillRect/>
          </a:stretch>
        </p:blipFill>
        <p:spPr>
          <a:xfrm>
            <a:off x="518007" y="2596680"/>
            <a:ext cx="11155680" cy="2350438"/>
          </a:xfrm>
          <a:prstGeom prst="rect">
            <a:avLst/>
          </a:prstGeom>
        </p:spPr>
      </p:pic>
      <p:sp>
        <p:nvSpPr>
          <p:cNvPr id="16" name="Rounded Rectangle 15"/>
          <p:cNvSpPr/>
          <p:nvPr/>
        </p:nvSpPr>
        <p:spPr>
          <a:xfrm>
            <a:off x="7306056" y="6345936"/>
            <a:ext cx="4245559"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348472" y="6396228"/>
            <a:ext cx="75438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61504"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19" name="TextBox 18"/>
          <p:cNvSpPr txBox="1"/>
          <p:nvPr/>
        </p:nvSpPr>
        <p:spPr>
          <a:xfrm>
            <a:off x="8348472" y="6451092"/>
            <a:ext cx="754380" cy="219456"/>
          </a:xfrm>
          <a:prstGeom prst="rect">
            <a:avLst/>
          </a:prstGeom>
          <a:noFill/>
        </p:spPr>
        <p:txBody>
          <a:bodyPr wrap="none" lIns="0" rIns="0" tIns="0" bIns="0">
            <a:spAutoFit/>
          </a:bodyPr>
          <a:lstStyle/>
          <a:p>
            <a:pPr algn="ctr"/>
            <a:r>
              <a:rPr sz="1100" b="1" i="0">
                <a:solidFill>
                  <a:srgbClr val="FFFFFF"/>
                </a:solidFill>
                <a:latin typeface="Helvetica Neue"/>
              </a:rPr>
              <a:t>STEP 17</a:t>
            </a:r>
          </a:p>
        </p:txBody>
      </p:sp>
      <p:sp>
        <p:nvSpPr>
          <p:cNvPr id="20" name="TextBox 19"/>
          <p:cNvSpPr txBox="1"/>
          <p:nvPr/>
        </p:nvSpPr>
        <p:spPr>
          <a:xfrm>
            <a:off x="9221724" y="6460236"/>
            <a:ext cx="2229307" cy="219456"/>
          </a:xfrm>
          <a:prstGeom prst="rect">
            <a:avLst/>
          </a:prstGeom>
          <a:noFill/>
        </p:spPr>
        <p:txBody>
          <a:bodyPr wrap="none" lIns="0" rIns="0" tIns="0" bIns="0">
            <a:spAutoFit/>
          </a:bodyPr>
          <a:lstStyle/>
          <a:p>
            <a:pPr algn="l"/>
            <a:r>
              <a:rPr sz="1000" b="1" i="0">
                <a:solidFill>
                  <a:srgbClr val="FFFFFF"/>
                </a:solidFill>
                <a:latin typeface="Helvetica Neue"/>
              </a:rPr>
              <a:t>See the entailment scores</a:t>
            </a:r>
          </a:p>
        </p:txBody>
      </p:sp>
      <p:sp>
        <p:nvSpPr>
          <p:cNvPr id="21" name="TextBox 20"/>
          <p:cNvSpPr txBox="1"/>
          <p:nvPr/>
        </p:nvSpPr>
        <p:spPr>
          <a:xfrm>
            <a:off x="640080" y="5532120"/>
            <a:ext cx="10881360" cy="640080"/>
          </a:xfrm>
          <a:prstGeom prst="rect">
            <a:avLst/>
          </a:prstGeom>
          <a:noFill/>
        </p:spPr>
        <p:txBody>
          <a:bodyPr wrap="square" lIns="0" rIns="0" tIns="0" bIns="0">
            <a:spAutoFit/>
          </a:bodyPr>
          <a:lstStyle/>
          <a:p>
            <a:pPr algn="ctr"/>
            <a:r>
              <a:rPr sz="1500" b="0" i="1">
                <a:solidFill>
                  <a:srgbClr val="475569"/>
                </a:solidFill>
                <a:latin typeface="Helvetica Neue"/>
              </a:rPr>
              <a:t>Every category becomes a sentence: "This example is {your description}." The model scores all eight and picks whichever it most believes.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7C3AED"/>
                </a:solidFill>
                <a:latin typeface="Helvetica Neue"/>
              </a:rPr>
              <a:t>ROUTE</a:t>
            </a:r>
          </a:p>
        </p:txBody>
      </p:sp>
      <p:sp>
        <p:nvSpPr>
          <p:cNvPr id="3" name="TextBox 2"/>
          <p:cNvSpPr txBox="1"/>
          <p:nvPr/>
        </p:nvSpPr>
        <p:spPr>
          <a:xfrm>
            <a:off x="640080" y="758952"/>
            <a:ext cx="7680960" cy="685800"/>
          </a:xfrm>
          <a:prstGeom prst="rect">
            <a:avLst/>
          </a:prstGeom>
          <a:noFill/>
        </p:spPr>
        <p:txBody>
          <a:bodyPr wrap="square" lIns="0" rIns="0" tIns="0" bIns="0">
            <a:spAutoFit/>
          </a:bodyPr>
          <a:lstStyle/>
          <a:p>
            <a:pPr algn="l"/>
            <a:r>
              <a:rPr sz="2900" b="1" i="0">
                <a:solidFill>
                  <a:srgbClr val="0F172A"/>
                </a:solidFill>
                <a:latin typeface="Helvetica Neue"/>
              </a:rPr>
              <a:t>Underneath the one-line pipeline.</a:t>
            </a:r>
          </a:p>
        </p:txBody>
      </p:sp>
      <p:sp>
        <p:nvSpPr>
          <p:cNvPr id="4" name="Rounded Rectangle 3"/>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586215" y="475488"/>
            <a:ext cx="256032" cy="256032"/>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1351"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1</a:t>
            </a:r>
          </a:p>
        </p:txBody>
      </p:sp>
      <p:sp>
        <p:nvSpPr>
          <p:cNvPr id="7" name="Rounded Rectangle 6"/>
          <p:cNvSpPr/>
          <p:nvPr/>
        </p:nvSpPr>
        <p:spPr>
          <a:xfrm>
            <a:off x="9244584" y="475488"/>
            <a:ext cx="256032" cy="256032"/>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89719"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2</a:t>
            </a:r>
          </a:p>
        </p:txBody>
      </p:sp>
      <p:sp>
        <p:nvSpPr>
          <p:cNvPr id="9" name="Rounded Rectangle 8"/>
          <p:cNvSpPr/>
          <p:nvPr/>
        </p:nvSpPr>
        <p:spPr>
          <a:xfrm>
            <a:off x="9866376" y="438912"/>
            <a:ext cx="329184" cy="329184"/>
          </a:xfrm>
          <a:prstGeom prst="roundRect">
            <a:avLst>
              <a:gd name="adj" fmla="val 32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11511"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3</a:t>
            </a:r>
          </a:p>
        </p:txBody>
      </p:sp>
      <p:sp>
        <p:nvSpPr>
          <p:cNvPr id="11" name="Rounded Rectangle 10"/>
          <p:cNvSpPr/>
          <p:nvPr/>
        </p:nvSpPr>
        <p:spPr>
          <a:xfrm>
            <a:off x="10561319"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06455"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4</a:t>
            </a:r>
          </a:p>
        </p:txBody>
      </p:sp>
      <p:sp>
        <p:nvSpPr>
          <p:cNvPr id="13" name="TextBox 12"/>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4" name="Picture 13" descr="d_nlicode.png"/>
          <p:cNvPicPr>
            <a:picLocks noChangeAspect="1"/>
          </p:cNvPicPr>
          <p:nvPr/>
        </p:nvPicPr>
        <p:blipFill>
          <a:blip r:embed="rId2"/>
          <a:stretch>
            <a:fillRect/>
          </a:stretch>
        </p:blipFill>
        <p:spPr>
          <a:xfrm>
            <a:off x="518007" y="2612278"/>
            <a:ext cx="11155680" cy="2959322"/>
          </a:xfrm>
          <a:prstGeom prst="rect">
            <a:avLst/>
          </a:prstGeom>
        </p:spPr>
      </p:pic>
      <p:sp>
        <p:nvSpPr>
          <p:cNvPr id="15" name="Rounded Rectangle 14"/>
          <p:cNvSpPr/>
          <p:nvPr/>
        </p:nvSpPr>
        <p:spPr>
          <a:xfrm>
            <a:off x="7306056" y="6345936"/>
            <a:ext cx="4245559"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348472" y="6396228"/>
            <a:ext cx="75438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61504"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18" name="TextBox 17"/>
          <p:cNvSpPr txBox="1"/>
          <p:nvPr/>
        </p:nvSpPr>
        <p:spPr>
          <a:xfrm>
            <a:off x="8348472" y="6451092"/>
            <a:ext cx="754380" cy="219456"/>
          </a:xfrm>
          <a:prstGeom prst="rect">
            <a:avLst/>
          </a:prstGeom>
          <a:noFill/>
        </p:spPr>
        <p:txBody>
          <a:bodyPr wrap="none" lIns="0" rIns="0" tIns="0" bIns="0">
            <a:spAutoFit/>
          </a:bodyPr>
          <a:lstStyle/>
          <a:p>
            <a:pPr algn="ctr"/>
            <a:r>
              <a:rPr sz="1100" b="1" i="0">
                <a:solidFill>
                  <a:srgbClr val="FFFFFF"/>
                </a:solidFill>
                <a:latin typeface="Helvetica Neue"/>
              </a:rPr>
              <a:t>STEP 17</a:t>
            </a:r>
          </a:p>
        </p:txBody>
      </p:sp>
      <p:sp>
        <p:nvSpPr>
          <p:cNvPr id="19" name="TextBox 18"/>
          <p:cNvSpPr txBox="1"/>
          <p:nvPr/>
        </p:nvSpPr>
        <p:spPr>
          <a:xfrm>
            <a:off x="9221724" y="6460236"/>
            <a:ext cx="2229307" cy="219456"/>
          </a:xfrm>
          <a:prstGeom prst="rect">
            <a:avLst/>
          </a:prstGeom>
          <a:noFill/>
        </p:spPr>
        <p:txBody>
          <a:bodyPr wrap="none" lIns="0" rIns="0" tIns="0" bIns="0">
            <a:spAutoFit/>
          </a:bodyPr>
          <a:lstStyle/>
          <a:p>
            <a:pPr algn="l"/>
            <a:r>
              <a:rPr sz="1000" b="1" i="0">
                <a:solidFill>
                  <a:srgbClr val="FFFFFF"/>
                </a:solidFill>
                <a:latin typeface="Helvetica Neue"/>
              </a:rPr>
              <a:t>See the entailment scores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7C3AED"/>
                </a:solidFill>
                <a:latin typeface="Helvetica Neue"/>
              </a:rPr>
              <a:t>ROUTE</a:t>
            </a:r>
          </a:p>
        </p:txBody>
      </p:sp>
      <p:sp>
        <p:nvSpPr>
          <p:cNvPr id="3" name="TextBox 2"/>
          <p:cNvSpPr txBox="1"/>
          <p:nvPr/>
        </p:nvSpPr>
        <p:spPr>
          <a:xfrm>
            <a:off x="640080" y="758952"/>
            <a:ext cx="7680960" cy="685800"/>
          </a:xfrm>
          <a:prstGeom prst="rect">
            <a:avLst/>
          </a:prstGeom>
          <a:noFill/>
        </p:spPr>
        <p:txBody>
          <a:bodyPr wrap="square" lIns="0" rIns="0" tIns="0" bIns="0">
            <a:spAutoFit/>
          </a:bodyPr>
          <a:lstStyle/>
          <a:p>
            <a:pPr algn="l"/>
            <a:r>
              <a:rPr sz="2900" b="1" i="0">
                <a:solidFill>
                  <a:srgbClr val="0F172A"/>
                </a:solidFill>
                <a:latin typeface="Helvetica Neue"/>
              </a:rPr>
              <a:t>The descriptions you write ARE the program.</a:t>
            </a:r>
          </a:p>
        </p:txBody>
      </p:sp>
      <p:sp>
        <p:nvSpPr>
          <p:cNvPr id="4" name="Rounded Rectangle 3"/>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586215" y="475488"/>
            <a:ext cx="256032" cy="256032"/>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1351"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1</a:t>
            </a:r>
          </a:p>
        </p:txBody>
      </p:sp>
      <p:sp>
        <p:nvSpPr>
          <p:cNvPr id="7" name="Rounded Rectangle 6"/>
          <p:cNvSpPr/>
          <p:nvPr/>
        </p:nvSpPr>
        <p:spPr>
          <a:xfrm>
            <a:off x="9244584" y="475488"/>
            <a:ext cx="256032" cy="256032"/>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89719"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2</a:t>
            </a:r>
          </a:p>
        </p:txBody>
      </p:sp>
      <p:sp>
        <p:nvSpPr>
          <p:cNvPr id="9" name="Rounded Rectangle 8"/>
          <p:cNvSpPr/>
          <p:nvPr/>
        </p:nvSpPr>
        <p:spPr>
          <a:xfrm>
            <a:off x="9866376" y="438912"/>
            <a:ext cx="329184" cy="329184"/>
          </a:xfrm>
          <a:prstGeom prst="roundRect">
            <a:avLst>
              <a:gd name="adj" fmla="val 32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11511"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3</a:t>
            </a:r>
          </a:p>
        </p:txBody>
      </p:sp>
      <p:sp>
        <p:nvSpPr>
          <p:cNvPr id="11" name="Rounded Rectangle 10"/>
          <p:cNvSpPr/>
          <p:nvPr/>
        </p:nvSpPr>
        <p:spPr>
          <a:xfrm>
            <a:off x="10561319" y="475488"/>
            <a:ext cx="256032" cy="256032"/>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06455" y="475488"/>
            <a:ext cx="365760" cy="256032"/>
          </a:xfrm>
          <a:prstGeom prst="rect">
            <a:avLst/>
          </a:prstGeom>
          <a:noFill/>
        </p:spPr>
        <p:txBody>
          <a:bodyPr wrap="square" lIns="0" rIns="0" tIns="0" bIns="0">
            <a:spAutoFit/>
          </a:bodyPr>
          <a:lstStyle/>
          <a:p>
            <a:pPr algn="ctr"/>
            <a:r>
              <a:rPr sz="1050" b="1" i="0">
                <a:solidFill>
                  <a:srgbClr val="AEB4BF"/>
                </a:solidFill>
                <a:latin typeface="Helvetica Neue"/>
              </a:rPr>
              <a:t>4</a:t>
            </a:r>
          </a:p>
        </p:txBody>
      </p:sp>
      <p:sp>
        <p:nvSpPr>
          <p:cNvPr id="13" name="TextBox 12"/>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4" name="Picture 13" descr="d_wording.png"/>
          <p:cNvPicPr>
            <a:picLocks noChangeAspect="1"/>
          </p:cNvPicPr>
          <p:nvPr/>
        </p:nvPicPr>
        <p:blipFill>
          <a:blip r:embed="rId2"/>
          <a:stretch>
            <a:fillRect/>
          </a:stretch>
        </p:blipFill>
        <p:spPr>
          <a:xfrm>
            <a:off x="518007" y="2769342"/>
            <a:ext cx="11155680" cy="2599474"/>
          </a:xfrm>
          <a:prstGeom prst="rect">
            <a:avLst/>
          </a:prstGeom>
        </p:spPr>
      </p:pic>
      <p:sp>
        <p:nvSpPr>
          <p:cNvPr id="15" name="Rounded Rectangle 14"/>
          <p:cNvSpPr/>
          <p:nvPr/>
        </p:nvSpPr>
        <p:spPr>
          <a:xfrm>
            <a:off x="6638544" y="6345936"/>
            <a:ext cx="4913071"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680960" y="6396228"/>
            <a:ext cx="75438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93992"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18" name="TextBox 17"/>
          <p:cNvSpPr txBox="1"/>
          <p:nvPr/>
        </p:nvSpPr>
        <p:spPr>
          <a:xfrm>
            <a:off x="7680960" y="6451092"/>
            <a:ext cx="754380" cy="219456"/>
          </a:xfrm>
          <a:prstGeom prst="rect">
            <a:avLst/>
          </a:prstGeom>
          <a:noFill/>
        </p:spPr>
        <p:txBody>
          <a:bodyPr wrap="none" lIns="0" rIns="0" tIns="0" bIns="0">
            <a:spAutoFit/>
          </a:bodyPr>
          <a:lstStyle/>
          <a:p>
            <a:pPr algn="ctr"/>
            <a:r>
              <a:rPr sz="1100" b="1" i="0">
                <a:solidFill>
                  <a:srgbClr val="FFFFFF"/>
                </a:solidFill>
                <a:latin typeface="Helvetica Neue"/>
              </a:rPr>
              <a:t>STEP 16</a:t>
            </a:r>
          </a:p>
        </p:txBody>
      </p:sp>
      <p:sp>
        <p:nvSpPr>
          <p:cNvPr id="19" name="TextBox 18"/>
          <p:cNvSpPr txBox="1"/>
          <p:nvPr/>
        </p:nvSpPr>
        <p:spPr>
          <a:xfrm>
            <a:off x="8554212" y="6460236"/>
            <a:ext cx="2896819" cy="219456"/>
          </a:xfrm>
          <a:prstGeom prst="rect">
            <a:avLst/>
          </a:prstGeom>
          <a:noFill/>
        </p:spPr>
        <p:txBody>
          <a:bodyPr wrap="none" lIns="0" rIns="0" tIns="0" bIns="0">
            <a:spAutoFit/>
          </a:bodyPr>
          <a:lstStyle/>
          <a:p>
            <a:pPr algn="l"/>
            <a:r>
              <a:rPr sz="1000" b="1" i="0">
                <a:solidFill>
                  <a:srgbClr val="FFFFFF"/>
                </a:solidFill>
                <a:latin typeface="Helvetica Neue"/>
              </a:rPr>
              <a:t>YOUR KNOB: rewrite the descriptions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059669"/>
                </a:solidFill>
                <a:latin typeface="Helvetica Neue"/>
              </a:rPr>
              <a:t>DECIDE</a:t>
            </a:r>
          </a:p>
        </p:txBody>
      </p:sp>
      <p:sp>
        <p:nvSpPr>
          <p:cNvPr id="3" name="TextBox 2"/>
          <p:cNvSpPr txBox="1"/>
          <p:nvPr/>
        </p:nvSpPr>
        <p:spPr>
          <a:xfrm>
            <a:off x="640080" y="758952"/>
            <a:ext cx="7680960" cy="685800"/>
          </a:xfrm>
          <a:prstGeom prst="rect">
            <a:avLst/>
          </a:prstGeom>
          <a:noFill/>
        </p:spPr>
        <p:txBody>
          <a:bodyPr wrap="square" lIns="0" rIns="0" tIns="0" bIns="0">
            <a:spAutoFit/>
          </a:bodyPr>
          <a:lstStyle/>
          <a:p>
            <a:pPr algn="l"/>
            <a:r>
              <a:rPr sz="2900" b="1" i="0">
                <a:solidFill>
                  <a:srgbClr val="0F172A"/>
                </a:solidFill>
                <a:latin typeface="Helvetica Neue"/>
              </a:rPr>
              <a:t>An average is a bad way to run a product.</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Ask WHICH tickets it gets wrong. The weak buckets are the ones whose descriptions overlap.</a:t>
            </a:r>
          </a:p>
        </p:txBody>
      </p:sp>
      <p:sp>
        <p:nvSpPr>
          <p:cNvPr id="5" name="Rounded Rectangle 4"/>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586215" y="475488"/>
            <a:ext cx="256032" cy="256032"/>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31351"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1</a:t>
            </a:r>
          </a:p>
        </p:txBody>
      </p:sp>
      <p:sp>
        <p:nvSpPr>
          <p:cNvPr id="8" name="Rounded Rectangle 7"/>
          <p:cNvSpPr/>
          <p:nvPr/>
        </p:nvSpPr>
        <p:spPr>
          <a:xfrm>
            <a:off x="9244584" y="475488"/>
            <a:ext cx="256032" cy="256032"/>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89719"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2</a:t>
            </a:r>
          </a:p>
        </p:txBody>
      </p:sp>
      <p:sp>
        <p:nvSpPr>
          <p:cNvPr id="10" name="Rounded Rectangle 9"/>
          <p:cNvSpPr/>
          <p:nvPr/>
        </p:nvSpPr>
        <p:spPr>
          <a:xfrm>
            <a:off x="9902951" y="475488"/>
            <a:ext cx="256032" cy="256032"/>
          </a:xfrm>
          <a:prstGeom prst="roundRect">
            <a:avLst>
              <a:gd name="adj" fmla="val 32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48087"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3</a:t>
            </a:r>
          </a:p>
        </p:txBody>
      </p:sp>
      <p:sp>
        <p:nvSpPr>
          <p:cNvPr id="12" name="Rounded Rectangle 11"/>
          <p:cNvSpPr/>
          <p:nvPr/>
        </p:nvSpPr>
        <p:spPr>
          <a:xfrm>
            <a:off x="10524744" y="438912"/>
            <a:ext cx="329184" cy="329184"/>
          </a:xfrm>
          <a:prstGeom prst="roundRect">
            <a:avLst>
              <a:gd name="adj" fmla="val 32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69880"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4</a:t>
            </a:r>
          </a:p>
        </p:txBody>
      </p:sp>
      <p:sp>
        <p:nvSpPr>
          <p:cNvPr id="14" name="TextBox 13"/>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5" name="Picture 14" descr="fig_recall.png"/>
          <p:cNvPicPr>
            <a:picLocks noChangeAspect="1"/>
          </p:cNvPicPr>
          <p:nvPr/>
        </p:nvPicPr>
        <p:blipFill>
          <a:blip r:embed="rId2"/>
          <a:stretch>
            <a:fillRect/>
          </a:stretch>
        </p:blipFill>
        <p:spPr>
          <a:xfrm>
            <a:off x="2205165" y="2057400"/>
            <a:ext cx="7781363" cy="3977639"/>
          </a:xfrm>
          <a:prstGeom prst="rect">
            <a:avLst/>
          </a:prstGeom>
        </p:spPr>
      </p:pic>
      <p:sp>
        <p:nvSpPr>
          <p:cNvPr id="16" name="Rounded Rectangle 15"/>
          <p:cNvSpPr/>
          <p:nvPr/>
        </p:nvSpPr>
        <p:spPr>
          <a:xfrm>
            <a:off x="7573060" y="6345936"/>
            <a:ext cx="3978554"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615476" y="6396228"/>
            <a:ext cx="75438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28508"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19" name="TextBox 18"/>
          <p:cNvSpPr txBox="1"/>
          <p:nvPr/>
        </p:nvSpPr>
        <p:spPr>
          <a:xfrm>
            <a:off x="8615476" y="6451092"/>
            <a:ext cx="754380" cy="219456"/>
          </a:xfrm>
          <a:prstGeom prst="rect">
            <a:avLst/>
          </a:prstGeom>
          <a:noFill/>
        </p:spPr>
        <p:txBody>
          <a:bodyPr wrap="none" lIns="0" rIns="0" tIns="0" bIns="0">
            <a:spAutoFit/>
          </a:bodyPr>
          <a:lstStyle/>
          <a:p>
            <a:pPr algn="ctr"/>
            <a:r>
              <a:rPr sz="1100" b="1" i="0">
                <a:solidFill>
                  <a:srgbClr val="FFFFFF"/>
                </a:solidFill>
                <a:latin typeface="Helvetica Neue"/>
              </a:rPr>
              <a:t>STEP 18</a:t>
            </a:r>
          </a:p>
        </p:txBody>
      </p:sp>
      <p:sp>
        <p:nvSpPr>
          <p:cNvPr id="20" name="TextBox 19"/>
          <p:cNvSpPr txBox="1"/>
          <p:nvPr/>
        </p:nvSpPr>
        <p:spPr>
          <a:xfrm>
            <a:off x="9488728" y="6460236"/>
            <a:ext cx="1962302" cy="219456"/>
          </a:xfrm>
          <a:prstGeom prst="rect">
            <a:avLst/>
          </a:prstGeom>
          <a:noFill/>
        </p:spPr>
        <p:txBody>
          <a:bodyPr wrap="none" lIns="0" rIns="0" tIns="0" bIns="0">
            <a:spAutoFit/>
          </a:bodyPr>
          <a:lstStyle/>
          <a:p>
            <a:pPr algn="l"/>
            <a:r>
              <a:rPr sz="1000" b="1" i="0">
                <a:solidFill>
                  <a:srgbClr val="FFFFFF"/>
                </a:solidFill>
                <a:latin typeface="Helvetica Neue"/>
              </a:rPr>
              <a:t>Find the weak buckets</a:t>
            </a:r>
          </a:p>
        </p:txBody>
      </p:sp>
      <p:sp>
        <p:nvSpPr>
          <p:cNvPr id="21" name="TextBox 20"/>
          <p:cNvSpPr txBox="1"/>
          <p:nvPr/>
        </p:nvSpPr>
        <p:spPr>
          <a:xfrm>
            <a:off x="640080" y="6080760"/>
            <a:ext cx="10881360" cy="365760"/>
          </a:xfrm>
          <a:prstGeom prst="rect">
            <a:avLst/>
          </a:prstGeom>
          <a:noFill/>
        </p:spPr>
        <p:txBody>
          <a:bodyPr wrap="square" lIns="0" rIns="0" tIns="0" bIns="0">
            <a:spAutoFit/>
          </a:bodyPr>
          <a:lstStyle/>
          <a:p>
            <a:pPr algn="ctr"/>
            <a:r>
              <a:rPr sz="1500" b="0" i="1">
                <a:solidFill>
                  <a:srgbClr val="475569"/>
                </a:solidFill>
                <a:latin typeface="Helvetica Neue"/>
              </a:rPr>
              <a:t>When a classifier underperforms, look at your taxonomy before you look at your model.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059669"/>
                </a:solidFill>
                <a:latin typeface="Helvetica Neue"/>
              </a:rPr>
              <a:t>DECIDE</a:t>
            </a:r>
          </a:p>
        </p:txBody>
      </p:sp>
      <p:sp>
        <p:nvSpPr>
          <p:cNvPr id="3" name="TextBox 2"/>
          <p:cNvSpPr txBox="1"/>
          <p:nvPr/>
        </p:nvSpPr>
        <p:spPr>
          <a:xfrm>
            <a:off x="640080" y="758952"/>
            <a:ext cx="7680960" cy="685800"/>
          </a:xfrm>
          <a:prstGeom prst="rect">
            <a:avLst/>
          </a:prstGeom>
          <a:noFill/>
        </p:spPr>
        <p:txBody>
          <a:bodyPr wrap="square" lIns="0" rIns="0" tIns="0" bIns="0">
            <a:spAutoFit/>
          </a:bodyPr>
          <a:lstStyle/>
          <a:p>
            <a:pPr algn="l"/>
            <a:r>
              <a:rPr sz="2900" b="1" i="0">
                <a:solidFill>
                  <a:srgbClr val="0F172A"/>
                </a:solidFill>
                <a:latin typeface="Helvetica Neue"/>
              </a:rPr>
              <a:t>Confident is not the same as correct.</a:t>
            </a:r>
          </a:p>
        </p:txBody>
      </p:sp>
      <p:sp>
        <p:nvSpPr>
          <p:cNvPr id="4" name="Rounded Rectangle 3"/>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586215" y="475488"/>
            <a:ext cx="256032" cy="256032"/>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1351"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1</a:t>
            </a:r>
          </a:p>
        </p:txBody>
      </p:sp>
      <p:sp>
        <p:nvSpPr>
          <p:cNvPr id="7" name="Rounded Rectangle 6"/>
          <p:cNvSpPr/>
          <p:nvPr/>
        </p:nvSpPr>
        <p:spPr>
          <a:xfrm>
            <a:off x="9244584" y="475488"/>
            <a:ext cx="256032" cy="256032"/>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89719"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2</a:t>
            </a:r>
          </a:p>
        </p:txBody>
      </p:sp>
      <p:sp>
        <p:nvSpPr>
          <p:cNvPr id="9" name="Rounded Rectangle 8"/>
          <p:cNvSpPr/>
          <p:nvPr/>
        </p:nvSpPr>
        <p:spPr>
          <a:xfrm>
            <a:off x="9902951" y="475488"/>
            <a:ext cx="256032" cy="256032"/>
          </a:xfrm>
          <a:prstGeom prst="roundRect">
            <a:avLst>
              <a:gd name="adj" fmla="val 32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48087"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3</a:t>
            </a:r>
          </a:p>
        </p:txBody>
      </p:sp>
      <p:sp>
        <p:nvSpPr>
          <p:cNvPr id="11" name="Rounded Rectangle 10"/>
          <p:cNvSpPr/>
          <p:nvPr/>
        </p:nvSpPr>
        <p:spPr>
          <a:xfrm>
            <a:off x="10524744" y="438912"/>
            <a:ext cx="329184" cy="329184"/>
          </a:xfrm>
          <a:prstGeom prst="roundRect">
            <a:avLst>
              <a:gd name="adj" fmla="val 32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69880"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4</a:t>
            </a:r>
          </a:p>
        </p:txBody>
      </p:sp>
      <p:sp>
        <p:nvSpPr>
          <p:cNvPr id="13" name="TextBox 12"/>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4" name="Picture 13" descr="d_softmax.png"/>
          <p:cNvPicPr>
            <a:picLocks noChangeAspect="1"/>
          </p:cNvPicPr>
          <p:nvPr/>
        </p:nvPicPr>
        <p:blipFill>
          <a:blip r:embed="rId2"/>
          <a:stretch>
            <a:fillRect/>
          </a:stretch>
        </p:blipFill>
        <p:spPr>
          <a:xfrm>
            <a:off x="518007" y="2197772"/>
            <a:ext cx="11155680" cy="3834054"/>
          </a:xfrm>
          <a:prstGeom prst="rect">
            <a:avLst/>
          </a:prstGeom>
        </p:spPr>
      </p:pic>
      <p:sp>
        <p:nvSpPr>
          <p:cNvPr id="15" name="Rounded Rectangle 14"/>
          <p:cNvSpPr/>
          <p:nvPr/>
        </p:nvSpPr>
        <p:spPr>
          <a:xfrm>
            <a:off x="7172553" y="6345936"/>
            <a:ext cx="4379061"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14969" y="6396228"/>
            <a:ext cx="75438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28001"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18" name="TextBox 17"/>
          <p:cNvSpPr txBox="1"/>
          <p:nvPr/>
        </p:nvSpPr>
        <p:spPr>
          <a:xfrm>
            <a:off x="8214969" y="6451092"/>
            <a:ext cx="754380" cy="219456"/>
          </a:xfrm>
          <a:prstGeom prst="rect">
            <a:avLst/>
          </a:prstGeom>
          <a:noFill/>
        </p:spPr>
        <p:txBody>
          <a:bodyPr wrap="none" lIns="0" rIns="0" tIns="0" bIns="0">
            <a:spAutoFit/>
          </a:bodyPr>
          <a:lstStyle/>
          <a:p>
            <a:pPr algn="ctr"/>
            <a:r>
              <a:rPr sz="1100" b="1" i="0">
                <a:solidFill>
                  <a:srgbClr val="FFFFFF"/>
                </a:solidFill>
                <a:latin typeface="Helvetica Neue"/>
              </a:rPr>
              <a:t>STEP 19</a:t>
            </a:r>
          </a:p>
        </p:txBody>
      </p:sp>
      <p:sp>
        <p:nvSpPr>
          <p:cNvPr id="19" name="TextBox 18"/>
          <p:cNvSpPr txBox="1"/>
          <p:nvPr/>
        </p:nvSpPr>
        <p:spPr>
          <a:xfrm>
            <a:off x="9088221" y="6460236"/>
            <a:ext cx="2362809" cy="219456"/>
          </a:xfrm>
          <a:prstGeom prst="rect">
            <a:avLst/>
          </a:prstGeom>
          <a:noFill/>
        </p:spPr>
        <p:txBody>
          <a:bodyPr wrap="none" lIns="0" rIns="0" tIns="0" bIns="0">
            <a:spAutoFit/>
          </a:bodyPr>
          <a:lstStyle/>
          <a:p>
            <a:pPr algn="l"/>
            <a:r>
              <a:rPr sz="1000" b="1" i="0">
                <a:solidFill>
                  <a:srgbClr val="FFFFFF"/>
                </a:solidFill>
                <a:latin typeface="Helvetica Neue"/>
              </a:rPr>
              <a:t>Feed it an off-topic ticket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059669"/>
                </a:solidFill>
                <a:latin typeface="Helvetica Neue"/>
              </a:rPr>
              <a:t>DECIDE</a:t>
            </a:r>
          </a:p>
        </p:txBody>
      </p:sp>
      <p:sp>
        <p:nvSpPr>
          <p:cNvPr id="3" name="TextBox 2"/>
          <p:cNvSpPr txBox="1"/>
          <p:nvPr/>
        </p:nvSpPr>
        <p:spPr>
          <a:xfrm>
            <a:off x="640080" y="758952"/>
            <a:ext cx="7680960" cy="685800"/>
          </a:xfrm>
          <a:prstGeom prst="rect">
            <a:avLst/>
          </a:prstGeom>
          <a:noFill/>
        </p:spPr>
        <p:txBody>
          <a:bodyPr wrap="square" lIns="0" rIns="0" tIns="0" bIns="0">
            <a:spAutoFit/>
          </a:bodyPr>
          <a:lstStyle/>
          <a:p>
            <a:pPr algn="l"/>
            <a:r>
              <a:rPr sz="2900" b="1" i="0">
                <a:solidFill>
                  <a:srgbClr val="0F172A"/>
                </a:solidFill>
                <a:latin typeface="Helvetica Neue"/>
              </a:rPr>
              <a:t>Give the model a way to say "I don't know".</a:t>
            </a:r>
          </a:p>
        </p:txBody>
      </p:sp>
      <p:sp>
        <p:nvSpPr>
          <p:cNvPr id="4" name="Rounded Rectangle 3"/>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586215" y="475488"/>
            <a:ext cx="256032" cy="256032"/>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1351"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1</a:t>
            </a:r>
          </a:p>
        </p:txBody>
      </p:sp>
      <p:sp>
        <p:nvSpPr>
          <p:cNvPr id="7" name="Rounded Rectangle 6"/>
          <p:cNvSpPr/>
          <p:nvPr/>
        </p:nvSpPr>
        <p:spPr>
          <a:xfrm>
            <a:off x="9244584" y="475488"/>
            <a:ext cx="256032" cy="256032"/>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89719"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2</a:t>
            </a:r>
          </a:p>
        </p:txBody>
      </p:sp>
      <p:sp>
        <p:nvSpPr>
          <p:cNvPr id="9" name="Rounded Rectangle 8"/>
          <p:cNvSpPr/>
          <p:nvPr/>
        </p:nvSpPr>
        <p:spPr>
          <a:xfrm>
            <a:off x="9902951" y="475488"/>
            <a:ext cx="256032" cy="256032"/>
          </a:xfrm>
          <a:prstGeom prst="roundRect">
            <a:avLst>
              <a:gd name="adj" fmla="val 32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48087"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3</a:t>
            </a:r>
          </a:p>
        </p:txBody>
      </p:sp>
      <p:sp>
        <p:nvSpPr>
          <p:cNvPr id="11" name="Rounded Rectangle 10"/>
          <p:cNvSpPr/>
          <p:nvPr/>
        </p:nvSpPr>
        <p:spPr>
          <a:xfrm>
            <a:off x="10524744" y="438912"/>
            <a:ext cx="329184" cy="329184"/>
          </a:xfrm>
          <a:prstGeom prst="roundRect">
            <a:avLst>
              <a:gd name="adj" fmla="val 32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69880"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4</a:t>
            </a:r>
          </a:p>
        </p:txBody>
      </p:sp>
      <p:sp>
        <p:nvSpPr>
          <p:cNvPr id="13" name="TextBox 12"/>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4" name="Picture 13" descr="d_fixes.png"/>
          <p:cNvPicPr>
            <a:picLocks noChangeAspect="1"/>
          </p:cNvPicPr>
          <p:nvPr/>
        </p:nvPicPr>
        <p:blipFill>
          <a:blip r:embed="rId2"/>
          <a:stretch>
            <a:fillRect/>
          </a:stretch>
        </p:blipFill>
        <p:spPr>
          <a:xfrm>
            <a:off x="518007" y="2175052"/>
            <a:ext cx="11155680" cy="3879495"/>
          </a:xfrm>
          <a:prstGeom prst="rect">
            <a:avLst/>
          </a:prstGeom>
        </p:spPr>
      </p:pic>
      <p:sp>
        <p:nvSpPr>
          <p:cNvPr id="15" name="Rounded Rectangle 14"/>
          <p:cNvSpPr/>
          <p:nvPr/>
        </p:nvSpPr>
        <p:spPr>
          <a:xfrm>
            <a:off x="7639812" y="6345936"/>
            <a:ext cx="3911803"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682228" y="6396228"/>
            <a:ext cx="75438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95260"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18" name="TextBox 17"/>
          <p:cNvSpPr txBox="1"/>
          <p:nvPr/>
        </p:nvSpPr>
        <p:spPr>
          <a:xfrm>
            <a:off x="8682228" y="6451092"/>
            <a:ext cx="754380" cy="219456"/>
          </a:xfrm>
          <a:prstGeom prst="rect">
            <a:avLst/>
          </a:prstGeom>
          <a:noFill/>
        </p:spPr>
        <p:txBody>
          <a:bodyPr wrap="none" lIns="0" rIns="0" tIns="0" bIns="0">
            <a:spAutoFit/>
          </a:bodyPr>
          <a:lstStyle/>
          <a:p>
            <a:pPr algn="ctr"/>
            <a:r>
              <a:rPr sz="1100" b="1" i="0">
                <a:solidFill>
                  <a:srgbClr val="FFFFFF"/>
                </a:solidFill>
                <a:latin typeface="Helvetica Neue"/>
              </a:rPr>
              <a:t>STEP 20</a:t>
            </a:r>
          </a:p>
        </p:txBody>
      </p:sp>
      <p:sp>
        <p:nvSpPr>
          <p:cNvPr id="19" name="TextBox 18"/>
          <p:cNvSpPr txBox="1"/>
          <p:nvPr/>
        </p:nvSpPr>
        <p:spPr>
          <a:xfrm>
            <a:off x="9555480" y="6460236"/>
            <a:ext cx="1895551" cy="219456"/>
          </a:xfrm>
          <a:prstGeom prst="rect">
            <a:avLst/>
          </a:prstGeom>
          <a:noFill/>
        </p:spPr>
        <p:txBody>
          <a:bodyPr wrap="none" lIns="0" rIns="0" tIns="0" bIns="0">
            <a:spAutoFit/>
          </a:bodyPr>
          <a:lstStyle/>
          <a:p>
            <a:pPr algn="l"/>
            <a:r>
              <a:rPr sz="1000" b="1" i="0">
                <a:solidFill>
                  <a:srgbClr val="FFFFFF"/>
                </a:solidFill>
                <a:latin typeface="Helvetica Neue"/>
              </a:rPr>
              <a:t>Add the two defences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059669"/>
                </a:solidFill>
                <a:latin typeface="Helvetica Neue"/>
              </a:rPr>
              <a:t>DECIDE</a:t>
            </a:r>
          </a:p>
        </p:txBody>
      </p:sp>
      <p:sp>
        <p:nvSpPr>
          <p:cNvPr id="3" name="TextBox 2"/>
          <p:cNvSpPr txBox="1"/>
          <p:nvPr/>
        </p:nvSpPr>
        <p:spPr>
          <a:xfrm>
            <a:off x="640080" y="758952"/>
            <a:ext cx="7680960" cy="685800"/>
          </a:xfrm>
          <a:prstGeom prst="rect">
            <a:avLst/>
          </a:prstGeom>
          <a:noFill/>
        </p:spPr>
        <p:txBody>
          <a:bodyPr wrap="square" lIns="0" rIns="0" tIns="0" bIns="0">
            <a:spAutoFit/>
          </a:bodyPr>
          <a:lstStyle/>
          <a:p>
            <a:pPr algn="l"/>
            <a:r>
              <a:rPr sz="2900" b="1" i="0">
                <a:solidFill>
                  <a:srgbClr val="0F172A"/>
                </a:solidFill>
                <a:latin typeface="Helvetica Neue"/>
              </a:rPr>
              <a:t>This curve is the business decision.</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There is no setting that maximises both. Where you stand on it is a judgement about cost.</a:t>
            </a:r>
          </a:p>
        </p:txBody>
      </p:sp>
      <p:sp>
        <p:nvSpPr>
          <p:cNvPr id="5" name="Rounded Rectangle 4"/>
          <p:cNvSpPr/>
          <p:nvPr/>
        </p:nvSpPr>
        <p:spPr>
          <a:xfrm>
            <a:off x="8705088" y="591616"/>
            <a:ext cx="1975104"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586215" y="475488"/>
            <a:ext cx="256032" cy="256032"/>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31351"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1</a:t>
            </a:r>
          </a:p>
        </p:txBody>
      </p:sp>
      <p:sp>
        <p:nvSpPr>
          <p:cNvPr id="8" name="Rounded Rectangle 7"/>
          <p:cNvSpPr/>
          <p:nvPr/>
        </p:nvSpPr>
        <p:spPr>
          <a:xfrm>
            <a:off x="9244584" y="475488"/>
            <a:ext cx="256032" cy="256032"/>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89719"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2</a:t>
            </a:r>
          </a:p>
        </p:txBody>
      </p:sp>
      <p:sp>
        <p:nvSpPr>
          <p:cNvPr id="10" name="Rounded Rectangle 9"/>
          <p:cNvSpPr/>
          <p:nvPr/>
        </p:nvSpPr>
        <p:spPr>
          <a:xfrm>
            <a:off x="9902951" y="475488"/>
            <a:ext cx="256032" cy="256032"/>
          </a:xfrm>
          <a:prstGeom prst="roundRect">
            <a:avLst>
              <a:gd name="adj" fmla="val 32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48087" y="475488"/>
            <a:ext cx="365760" cy="256032"/>
          </a:xfrm>
          <a:prstGeom prst="rect">
            <a:avLst/>
          </a:prstGeom>
          <a:noFill/>
        </p:spPr>
        <p:txBody>
          <a:bodyPr wrap="square" lIns="0" rIns="0" tIns="0" bIns="0">
            <a:spAutoFit/>
          </a:bodyPr>
          <a:lstStyle/>
          <a:p>
            <a:pPr algn="ctr"/>
            <a:r>
              <a:rPr sz="1050" b="1" i="0">
                <a:solidFill>
                  <a:srgbClr val="FFFFFF"/>
                </a:solidFill>
                <a:latin typeface="Helvetica Neue"/>
              </a:rPr>
              <a:t>3</a:t>
            </a:r>
          </a:p>
        </p:txBody>
      </p:sp>
      <p:sp>
        <p:nvSpPr>
          <p:cNvPr id="12" name="Rounded Rectangle 11"/>
          <p:cNvSpPr/>
          <p:nvPr/>
        </p:nvSpPr>
        <p:spPr>
          <a:xfrm>
            <a:off x="10524744" y="438912"/>
            <a:ext cx="329184" cy="329184"/>
          </a:xfrm>
          <a:prstGeom prst="roundRect">
            <a:avLst>
              <a:gd name="adj" fmla="val 32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69880" y="475488"/>
            <a:ext cx="438912" cy="256032"/>
          </a:xfrm>
          <a:prstGeom prst="rect">
            <a:avLst/>
          </a:prstGeom>
          <a:noFill/>
        </p:spPr>
        <p:txBody>
          <a:bodyPr wrap="square" lIns="0" rIns="0" tIns="0" bIns="0">
            <a:spAutoFit/>
          </a:bodyPr>
          <a:lstStyle/>
          <a:p>
            <a:pPr algn="ctr"/>
            <a:r>
              <a:rPr sz="1300" b="1" i="0">
                <a:solidFill>
                  <a:srgbClr val="FFFFFF"/>
                </a:solidFill>
                <a:latin typeface="Helvetica Neue"/>
              </a:rPr>
              <a:t>4</a:t>
            </a:r>
          </a:p>
        </p:txBody>
      </p:sp>
      <p:sp>
        <p:nvSpPr>
          <p:cNvPr id="14" name="TextBox 13"/>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15" name="Picture 14" descr="fig_threshold.png"/>
          <p:cNvPicPr>
            <a:picLocks noChangeAspect="1"/>
          </p:cNvPicPr>
          <p:nvPr/>
        </p:nvPicPr>
        <p:blipFill>
          <a:blip r:embed="rId2"/>
          <a:stretch>
            <a:fillRect/>
          </a:stretch>
        </p:blipFill>
        <p:spPr>
          <a:xfrm>
            <a:off x="566928" y="2057400"/>
            <a:ext cx="5505013" cy="3657600"/>
          </a:xfrm>
          <a:prstGeom prst="rect">
            <a:avLst/>
          </a:prstGeom>
        </p:spPr>
      </p:pic>
      <p:sp>
        <p:nvSpPr>
          <p:cNvPr id="16" name="Rounded Rectangle 15"/>
          <p:cNvSpPr/>
          <p:nvPr/>
        </p:nvSpPr>
        <p:spPr>
          <a:xfrm>
            <a:off x="7269480" y="2377440"/>
            <a:ext cx="4297680" cy="2944368"/>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43800" y="2578608"/>
            <a:ext cx="3840480" cy="274320"/>
          </a:xfrm>
          <a:prstGeom prst="rect">
            <a:avLst/>
          </a:prstGeom>
          <a:noFill/>
        </p:spPr>
        <p:txBody>
          <a:bodyPr wrap="square" lIns="0" rIns="0" tIns="0" bIns="0">
            <a:spAutoFit/>
          </a:bodyPr>
          <a:lstStyle/>
          <a:p>
            <a:pPr algn="l"/>
            <a:r>
              <a:rPr sz="1150" b="1" i="0" spc="180">
                <a:solidFill>
                  <a:srgbClr val="047857"/>
                </a:solidFill>
                <a:latin typeface="Helvetica Neue"/>
              </a:rPr>
              <a:t>SET IT AT 0.90 AND SHIP</a:t>
            </a:r>
          </a:p>
        </p:txBody>
      </p:sp>
      <p:sp>
        <p:nvSpPr>
          <p:cNvPr id="18" name="TextBox 17"/>
          <p:cNvSpPr txBox="1"/>
          <p:nvPr/>
        </p:nvSpPr>
        <p:spPr>
          <a:xfrm>
            <a:off x="7543800" y="2926080"/>
            <a:ext cx="3840480" cy="438912"/>
          </a:xfrm>
          <a:prstGeom prst="rect">
            <a:avLst/>
          </a:prstGeom>
          <a:noFill/>
        </p:spPr>
        <p:txBody>
          <a:bodyPr wrap="square" lIns="0" rIns="0" tIns="0" bIns="0">
            <a:spAutoFit/>
          </a:bodyPr>
          <a:lstStyle/>
          <a:p>
            <a:pPr algn="l"/>
            <a:r>
              <a:rPr sz="2900" b="1" i="0">
                <a:solidFill>
                  <a:srgbClr val="0F172A"/>
                </a:solidFill>
                <a:latin typeface="Helvetica Neue"/>
              </a:rPr>
              <a:t>39%</a:t>
            </a:r>
          </a:p>
        </p:txBody>
      </p:sp>
      <p:sp>
        <p:nvSpPr>
          <p:cNvPr id="19" name="TextBox 18"/>
          <p:cNvSpPr txBox="1"/>
          <p:nvPr/>
        </p:nvSpPr>
        <p:spPr>
          <a:xfrm>
            <a:off x="7543800" y="3310128"/>
            <a:ext cx="3886200" cy="365760"/>
          </a:xfrm>
          <a:prstGeom prst="rect">
            <a:avLst/>
          </a:prstGeom>
          <a:noFill/>
        </p:spPr>
        <p:txBody>
          <a:bodyPr wrap="square" lIns="0" rIns="0" tIns="0" bIns="0">
            <a:spAutoFit/>
          </a:bodyPr>
          <a:lstStyle/>
          <a:p>
            <a:pPr algn="l"/>
            <a:r>
              <a:rPr sz="1300" b="0" i="0">
                <a:solidFill>
                  <a:srgbClr val="475569"/>
                </a:solidFill>
                <a:latin typeface="Helvetica Neue"/>
              </a:rPr>
              <a:t>of the inbox handled automatically</a:t>
            </a:r>
          </a:p>
        </p:txBody>
      </p:sp>
      <p:sp>
        <p:nvSpPr>
          <p:cNvPr id="20" name="TextBox 19"/>
          <p:cNvSpPr txBox="1"/>
          <p:nvPr/>
        </p:nvSpPr>
        <p:spPr>
          <a:xfrm>
            <a:off x="7543800" y="3730752"/>
            <a:ext cx="3840480" cy="438912"/>
          </a:xfrm>
          <a:prstGeom prst="rect">
            <a:avLst/>
          </a:prstGeom>
          <a:noFill/>
        </p:spPr>
        <p:txBody>
          <a:bodyPr wrap="square" lIns="0" rIns="0" tIns="0" bIns="0">
            <a:spAutoFit/>
          </a:bodyPr>
          <a:lstStyle/>
          <a:p>
            <a:pPr algn="l"/>
            <a:r>
              <a:rPr sz="2900" b="1" i="0">
                <a:solidFill>
                  <a:srgbClr val="0F172A"/>
                </a:solidFill>
                <a:latin typeface="Helvetica Neue"/>
              </a:rPr>
              <a:t>87%</a:t>
            </a:r>
          </a:p>
        </p:txBody>
      </p:sp>
      <p:sp>
        <p:nvSpPr>
          <p:cNvPr id="21" name="TextBox 20"/>
          <p:cNvSpPr txBox="1"/>
          <p:nvPr/>
        </p:nvSpPr>
        <p:spPr>
          <a:xfrm>
            <a:off x="7543800" y="4114800"/>
            <a:ext cx="3886200" cy="365760"/>
          </a:xfrm>
          <a:prstGeom prst="rect">
            <a:avLst/>
          </a:prstGeom>
          <a:noFill/>
        </p:spPr>
        <p:txBody>
          <a:bodyPr wrap="square" lIns="0" rIns="0" tIns="0" bIns="0">
            <a:spAutoFit/>
          </a:bodyPr>
          <a:lstStyle/>
          <a:p>
            <a:pPr algn="l"/>
            <a:r>
              <a:rPr sz="1300" b="0" i="0">
                <a:solidFill>
                  <a:srgbClr val="475569"/>
                </a:solidFill>
                <a:latin typeface="Helvetica Neue"/>
              </a:rPr>
              <a:t>accurate on those decisions</a:t>
            </a:r>
          </a:p>
        </p:txBody>
      </p:sp>
      <p:sp>
        <p:nvSpPr>
          <p:cNvPr id="22" name="TextBox 21"/>
          <p:cNvSpPr txBox="1"/>
          <p:nvPr/>
        </p:nvSpPr>
        <p:spPr>
          <a:xfrm>
            <a:off x="7543800" y="4535424"/>
            <a:ext cx="3840480" cy="438912"/>
          </a:xfrm>
          <a:prstGeom prst="rect">
            <a:avLst/>
          </a:prstGeom>
          <a:noFill/>
        </p:spPr>
        <p:txBody>
          <a:bodyPr wrap="square" lIns="0" rIns="0" tIns="0" bIns="0">
            <a:spAutoFit/>
          </a:bodyPr>
          <a:lstStyle/>
          <a:p>
            <a:pPr algn="l"/>
            <a:r>
              <a:rPr sz="2900" b="1" i="0">
                <a:solidFill>
                  <a:srgbClr val="0F172A"/>
                </a:solidFill>
                <a:latin typeface="Helvetica Neue"/>
              </a:rPr>
              <a:t>~1,937</a:t>
            </a:r>
          </a:p>
        </p:txBody>
      </p:sp>
      <p:sp>
        <p:nvSpPr>
          <p:cNvPr id="23" name="TextBox 22"/>
          <p:cNvSpPr txBox="1"/>
          <p:nvPr/>
        </p:nvSpPr>
        <p:spPr>
          <a:xfrm>
            <a:off x="7543800" y="4919472"/>
            <a:ext cx="3886200" cy="365760"/>
          </a:xfrm>
          <a:prstGeom prst="rect">
            <a:avLst/>
          </a:prstGeom>
          <a:noFill/>
        </p:spPr>
        <p:txBody>
          <a:bodyPr wrap="square" lIns="0" rIns="0" tIns="0" bIns="0">
            <a:spAutoFit/>
          </a:bodyPr>
          <a:lstStyle/>
          <a:p>
            <a:pPr algn="l"/>
            <a:r>
              <a:rPr sz="1300" b="0" i="0">
                <a:solidFill>
                  <a:srgbClr val="475569"/>
                </a:solidFill>
                <a:latin typeface="Helvetica Neue"/>
              </a:rPr>
              <a:t>tickets a week nobody has to touch</a:t>
            </a:r>
          </a:p>
        </p:txBody>
      </p:sp>
      <p:sp>
        <p:nvSpPr>
          <p:cNvPr id="24" name="Rounded Rectangle 23"/>
          <p:cNvSpPr/>
          <p:nvPr/>
        </p:nvSpPr>
        <p:spPr>
          <a:xfrm>
            <a:off x="7105802" y="6345936"/>
            <a:ext cx="4445812" cy="365760"/>
          </a:xfrm>
          <a:prstGeom prst="roundRect">
            <a:avLst>
              <a:gd name="adj" fmla="val 4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148218" y="6396228"/>
            <a:ext cx="754380" cy="265176"/>
          </a:xfrm>
          <a:prstGeom prst="roundRect">
            <a:avLst>
              <a:gd name="adj" fmla="val 44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1250" y="6460236"/>
            <a:ext cx="914400" cy="219456"/>
          </a:xfrm>
          <a:prstGeom prst="rect">
            <a:avLst/>
          </a:prstGeom>
          <a:noFill/>
        </p:spPr>
        <p:txBody>
          <a:bodyPr wrap="none" lIns="0" rIns="0" tIns="0" bIns="0">
            <a:spAutoFit/>
          </a:bodyPr>
          <a:lstStyle/>
          <a:p>
            <a:pPr algn="l"/>
            <a:r>
              <a:rPr sz="950" b="1" i="0">
                <a:solidFill>
                  <a:srgbClr val="A7F3D0"/>
                </a:solidFill>
                <a:latin typeface="Helvetica Neue"/>
              </a:rPr>
              <a:t>▶ NOTEBOOK</a:t>
            </a:r>
          </a:p>
        </p:txBody>
      </p:sp>
      <p:sp>
        <p:nvSpPr>
          <p:cNvPr id="27" name="TextBox 26"/>
          <p:cNvSpPr txBox="1"/>
          <p:nvPr/>
        </p:nvSpPr>
        <p:spPr>
          <a:xfrm>
            <a:off x="8148218" y="6451092"/>
            <a:ext cx="754380" cy="219456"/>
          </a:xfrm>
          <a:prstGeom prst="rect">
            <a:avLst/>
          </a:prstGeom>
          <a:noFill/>
        </p:spPr>
        <p:txBody>
          <a:bodyPr wrap="none" lIns="0" rIns="0" tIns="0" bIns="0">
            <a:spAutoFit/>
          </a:bodyPr>
          <a:lstStyle/>
          <a:p>
            <a:pPr algn="ctr"/>
            <a:r>
              <a:rPr sz="1100" b="1" i="0">
                <a:solidFill>
                  <a:srgbClr val="FFFFFF"/>
                </a:solidFill>
                <a:latin typeface="Helvetica Neue"/>
              </a:rPr>
              <a:t>STEP 21</a:t>
            </a:r>
          </a:p>
        </p:txBody>
      </p:sp>
      <p:sp>
        <p:nvSpPr>
          <p:cNvPr id="28" name="TextBox 27"/>
          <p:cNvSpPr txBox="1"/>
          <p:nvPr/>
        </p:nvSpPr>
        <p:spPr>
          <a:xfrm>
            <a:off x="9021470" y="6460236"/>
            <a:ext cx="2429560" cy="219456"/>
          </a:xfrm>
          <a:prstGeom prst="rect">
            <a:avLst/>
          </a:prstGeom>
          <a:noFill/>
        </p:spPr>
        <p:txBody>
          <a:bodyPr wrap="none" lIns="0" rIns="0" tIns="0" bIns="0">
            <a:spAutoFit/>
          </a:bodyPr>
          <a:lstStyle/>
          <a:p>
            <a:pPr algn="l"/>
            <a:r>
              <a:rPr sz="1000" b="1" i="0">
                <a:solidFill>
                  <a:srgbClr val="FFFFFF"/>
                </a:solidFill>
                <a:latin typeface="Helvetica Neue"/>
              </a:rPr>
              <a:t>YOUR KNOB: set the threshold</a:t>
            </a:r>
          </a:p>
        </p:txBody>
      </p:sp>
      <p:sp>
        <p:nvSpPr>
          <p:cNvPr id="29" name="TextBox 28"/>
          <p:cNvSpPr txBox="1"/>
          <p:nvPr/>
        </p:nvSpPr>
        <p:spPr>
          <a:xfrm>
            <a:off x="640080" y="6035040"/>
            <a:ext cx="10881360" cy="365760"/>
          </a:xfrm>
          <a:prstGeom prst="rect">
            <a:avLst/>
          </a:prstGeom>
          <a:noFill/>
        </p:spPr>
        <p:txBody>
          <a:bodyPr wrap="square" lIns="0" rIns="0" tIns="0" bIns="0">
            <a:spAutoFit/>
          </a:bodyPr>
          <a:lstStyle/>
          <a:p>
            <a:pPr algn="ctr"/>
            <a:r>
              <a:rPr sz="1500" b="0" i="1">
                <a:solidFill>
                  <a:srgbClr val="475569"/>
                </a:solidFill>
                <a:latin typeface="Helvetica Neue"/>
              </a:rPr>
              <a:t>"We can automate 39% of the inbox at 87% accuracy, or cover far more and be less right." That is a decision an executive can actually make.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4F46E5"/>
                </a:solidFill>
                <a:latin typeface="Helvetica Neue"/>
              </a:rPr>
              <a:t>FULL CIRCLE</a:t>
            </a:r>
          </a:p>
        </p:txBody>
      </p:sp>
      <p:sp>
        <p:nvSpPr>
          <p:cNvPr id="3" name="TextBox 2"/>
          <p:cNvSpPr txBox="1"/>
          <p:nvPr/>
        </p:nvSpPr>
        <p:spPr>
          <a:xfrm>
            <a:off x="640080" y="758952"/>
            <a:ext cx="10972800" cy="685800"/>
          </a:xfrm>
          <a:prstGeom prst="rect">
            <a:avLst/>
          </a:prstGeom>
          <a:noFill/>
        </p:spPr>
        <p:txBody>
          <a:bodyPr wrap="square" lIns="0" rIns="0" tIns="0" bIns="0">
            <a:spAutoFit/>
          </a:bodyPr>
          <a:lstStyle/>
          <a:p>
            <a:pPr algn="l"/>
            <a:r>
              <a:rPr sz="2900" b="1" i="0">
                <a:solidFill>
                  <a:srgbClr val="0F172A"/>
                </a:solidFill>
                <a:latin typeface="Helvetica Neue"/>
              </a:rPr>
              <a:t>What we shipped today, for $0.</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No training data. No training run. No GPU bill. One afternoon.</a:t>
            </a:r>
          </a:p>
        </p:txBody>
      </p:sp>
      <p:sp>
        <p:nvSpPr>
          <p:cNvPr id="5" name="TextBox 4"/>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6" name="Picture 5" descr="d_shipped.png"/>
          <p:cNvPicPr>
            <a:picLocks noChangeAspect="1"/>
          </p:cNvPicPr>
          <p:nvPr/>
        </p:nvPicPr>
        <p:blipFill>
          <a:blip r:embed="rId2"/>
          <a:stretch>
            <a:fillRect/>
          </a:stretch>
        </p:blipFill>
        <p:spPr>
          <a:xfrm>
            <a:off x="518007" y="2920450"/>
            <a:ext cx="11155680" cy="1885778"/>
          </a:xfrm>
          <a:prstGeom prst="rect">
            <a:avLst/>
          </a:prstGeom>
        </p:spPr>
      </p:pic>
      <p:sp>
        <p:nvSpPr>
          <p:cNvPr id="7" name="TextBox 6"/>
          <p:cNvSpPr txBox="1"/>
          <p:nvPr/>
        </p:nvSpPr>
        <p:spPr>
          <a:xfrm>
            <a:off x="640080" y="5715000"/>
            <a:ext cx="10881360" cy="548640"/>
          </a:xfrm>
          <a:prstGeom prst="rect">
            <a:avLst/>
          </a:prstGeom>
          <a:noFill/>
        </p:spPr>
        <p:txBody>
          <a:bodyPr wrap="square" lIns="0" rIns="0" tIns="0" bIns="0">
            <a:spAutoFit/>
          </a:bodyPr>
          <a:lstStyle/>
          <a:p>
            <a:pPr algn="ctr"/>
            <a:r>
              <a:rPr sz="1700" b="0" i="1">
                <a:solidFill>
                  <a:srgbClr val="0F172A"/>
                </a:solidFill>
                <a:latin typeface="Helvetica Neue"/>
              </a:rPr>
              <a:t>Someone else already spent millions teaching a model to read English. Your job is not to build intelligence. It is to point it at your problem, cheaply, and know where it breaks.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4F46E5"/>
                </a:solidFill>
                <a:latin typeface="Helvetica Neue"/>
              </a:rPr>
              <a:t>WHY THIS MATTERS AT WORK</a:t>
            </a:r>
          </a:p>
        </p:txBody>
      </p:sp>
      <p:sp>
        <p:nvSpPr>
          <p:cNvPr id="3" name="TextBox 2"/>
          <p:cNvSpPr txBox="1"/>
          <p:nvPr/>
        </p:nvSpPr>
        <p:spPr>
          <a:xfrm>
            <a:off x="640080" y="758952"/>
            <a:ext cx="10972800" cy="685800"/>
          </a:xfrm>
          <a:prstGeom prst="rect">
            <a:avLst/>
          </a:prstGeom>
          <a:noFill/>
        </p:spPr>
        <p:txBody>
          <a:bodyPr wrap="square" lIns="0" rIns="0" tIns="0" bIns="0">
            <a:spAutoFit/>
          </a:bodyPr>
          <a:lstStyle/>
          <a:p>
            <a:pPr algn="l"/>
            <a:r>
              <a:rPr sz="2900" b="1" i="0">
                <a:solidFill>
                  <a:srgbClr val="0F172A"/>
                </a:solidFill>
                <a:latin typeface="Helvetica Neue"/>
              </a:rPr>
              <a:t>Six instincts, not six tools.</a:t>
            </a:r>
          </a:p>
        </p:txBody>
      </p:sp>
      <p:sp>
        <p:nvSpPr>
          <p:cNvPr id="4" name="TextBox 3"/>
          <p:cNvSpPr txBox="1"/>
          <p:nvPr/>
        </p:nvSpPr>
        <p:spPr>
          <a:xfrm>
            <a:off x="640080" y="1417320"/>
            <a:ext cx="10424160" cy="457200"/>
          </a:xfrm>
          <a:prstGeom prst="rect">
            <a:avLst/>
          </a:prstGeom>
          <a:noFill/>
        </p:spPr>
        <p:txBody>
          <a:bodyPr wrap="square" lIns="0" rIns="0" tIns="0" bIns="0">
            <a:spAutoFit/>
          </a:bodyPr>
          <a:lstStyle/>
          <a:p>
            <a:pPr algn="l"/>
            <a:r>
              <a:rPr sz="1500" b="0" i="0">
                <a:solidFill>
                  <a:srgbClr val="475569"/>
                </a:solidFill>
                <a:latin typeface="Helvetica Neue"/>
              </a:rPr>
              <a:t>Every row is a call your future team needs someone in the room able to make.</a:t>
            </a:r>
          </a:p>
        </p:txBody>
      </p:sp>
      <p:sp>
        <p:nvSpPr>
          <p:cNvPr id="5" name="TextBox 4"/>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pic>
        <p:nvPicPr>
          <p:cNvPr id="6" name="Picture 5" descr="d_work.png"/>
          <p:cNvPicPr>
            <a:picLocks noChangeAspect="1"/>
          </p:cNvPicPr>
          <p:nvPr/>
        </p:nvPicPr>
        <p:blipFill>
          <a:blip r:embed="rId2"/>
          <a:stretch>
            <a:fillRect/>
          </a:stretch>
        </p:blipFill>
        <p:spPr>
          <a:xfrm>
            <a:off x="518007" y="2507640"/>
            <a:ext cx="11155680" cy="3305759"/>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lIns="0" rIns="0" tIns="0" bIns="0">
            <a:spAutoFit/>
          </a:bodyPr>
          <a:lstStyle/>
          <a:p>
            <a:pPr algn="l"/>
            <a:r>
              <a:rPr sz="1250" b="1" i="0" spc="220">
                <a:solidFill>
                  <a:srgbClr val="4F46E5"/>
                </a:solidFill>
                <a:latin typeface="Helvetica Neue"/>
              </a:rPr>
              <a:t>NEXT TIME</a:t>
            </a:r>
          </a:p>
        </p:txBody>
      </p:sp>
      <p:sp>
        <p:nvSpPr>
          <p:cNvPr id="3" name="TextBox 2"/>
          <p:cNvSpPr txBox="1"/>
          <p:nvPr/>
        </p:nvSpPr>
        <p:spPr>
          <a:xfrm>
            <a:off x="640080" y="758952"/>
            <a:ext cx="10972800" cy="685800"/>
          </a:xfrm>
          <a:prstGeom prst="rect">
            <a:avLst/>
          </a:prstGeom>
          <a:noFill/>
        </p:spPr>
        <p:txBody>
          <a:bodyPr wrap="square" lIns="0" rIns="0" tIns="0" bIns="0">
            <a:spAutoFit/>
          </a:bodyPr>
          <a:lstStyle/>
          <a:p>
            <a:pPr algn="l"/>
            <a:r>
              <a:rPr sz="2900" b="1" i="0">
                <a:solidFill>
                  <a:srgbClr val="0F172A"/>
                </a:solidFill>
                <a:latin typeface="Helvetica Neue"/>
              </a:rPr>
              <a:t>The layer that acts.</a:t>
            </a:r>
          </a:p>
        </p:txBody>
      </p:sp>
      <p:sp>
        <p:nvSpPr>
          <p:cNvPr id="4" name="TextBox 3"/>
          <p:cNvSpPr txBox="1"/>
          <p:nvPr/>
        </p:nvSpPr>
        <p:spPr>
          <a:xfrm>
            <a:off x="640080" y="6492240"/>
            <a:ext cx="8229600" cy="274320"/>
          </a:xfrm>
          <a:prstGeom prst="rect">
            <a:avLst/>
          </a:prstGeom>
          <a:noFill/>
        </p:spPr>
        <p:txBody>
          <a:bodyPr wrap="square" lIns="0" rIns="0" tIns="0" bIns="0">
            <a:spAutoFit/>
          </a:bodyPr>
          <a:lstStyle/>
          <a:p>
            <a:pPr algn="l"/>
            <a:r>
              <a:rPr sz="900" b="0" i="0">
                <a:solidFill>
                  <a:srgbClr val="BCC1CC"/>
                </a:solidFill>
                <a:latin typeface="Helvetica Neue"/>
              </a:rPr>
              <a:t>ISBA 2411 · Natural Language Processing &amp; AI · Summer 2026</a:t>
            </a:r>
          </a:p>
        </p:txBody>
      </p:sp>
      <p:sp>
        <p:nvSpPr>
          <p:cNvPr id="5" name="Rectangle 4"/>
          <p:cNvSpPr/>
          <p:nvPr/>
        </p:nvSpPr>
        <p:spPr>
          <a:xfrm>
            <a:off x="640080" y="2148840"/>
            <a:ext cx="50292" cy="78638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2130552"/>
            <a:ext cx="9601200" cy="384048"/>
          </a:xfrm>
          <a:prstGeom prst="rect">
            <a:avLst/>
          </a:prstGeom>
          <a:noFill/>
        </p:spPr>
        <p:txBody>
          <a:bodyPr wrap="square" lIns="0" rIns="0" tIns="0" bIns="0">
            <a:spAutoFit/>
          </a:bodyPr>
          <a:lstStyle/>
          <a:p>
            <a:pPr algn="l"/>
            <a:r>
              <a:rPr sz="2100" b="1" i="0">
                <a:solidFill>
                  <a:srgbClr val="0F172A"/>
                </a:solidFill>
                <a:latin typeface="Helvetica Neue"/>
              </a:rPr>
              <a:t>What if we DO sort them by hand?</a:t>
            </a:r>
          </a:p>
        </p:txBody>
      </p:sp>
      <p:sp>
        <p:nvSpPr>
          <p:cNvPr id="7" name="TextBox 6"/>
          <p:cNvSpPr txBox="1"/>
          <p:nvPr/>
        </p:nvSpPr>
        <p:spPr>
          <a:xfrm>
            <a:off x="896112" y="2532888"/>
            <a:ext cx="9875520" cy="365760"/>
          </a:xfrm>
          <a:prstGeom prst="rect">
            <a:avLst/>
          </a:prstGeom>
          <a:noFill/>
        </p:spPr>
        <p:txBody>
          <a:bodyPr wrap="square" lIns="0" rIns="0" tIns="0" bIns="0">
            <a:spAutoFit/>
          </a:bodyPr>
          <a:lstStyle/>
          <a:p>
            <a:pPr algn="l"/>
            <a:r>
              <a:rPr sz="1500" b="0" i="0">
                <a:solidFill>
                  <a:srgbClr val="475569"/>
                </a:solidFill>
                <a:latin typeface="Helvetica Neue"/>
              </a:rPr>
              <a:t>a few hundred examples, and what they buy you</a:t>
            </a:r>
          </a:p>
        </p:txBody>
      </p:sp>
      <p:sp>
        <p:nvSpPr>
          <p:cNvPr id="8" name="Rectangle 7"/>
          <p:cNvSpPr/>
          <p:nvPr/>
        </p:nvSpPr>
        <p:spPr>
          <a:xfrm>
            <a:off x="640080" y="3172968"/>
            <a:ext cx="50292" cy="786384"/>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154680"/>
            <a:ext cx="9601200" cy="384048"/>
          </a:xfrm>
          <a:prstGeom prst="rect">
            <a:avLst/>
          </a:prstGeom>
          <a:noFill/>
        </p:spPr>
        <p:txBody>
          <a:bodyPr wrap="square" lIns="0" rIns="0" tIns="0" bIns="0">
            <a:spAutoFit/>
          </a:bodyPr>
          <a:lstStyle/>
          <a:p>
            <a:pPr algn="l"/>
            <a:r>
              <a:rPr sz="2100" b="1" i="0">
                <a:solidFill>
                  <a:srgbClr val="0F172A"/>
                </a:solidFill>
                <a:latin typeface="Helvetica Neue"/>
              </a:rPr>
              <a:t>Where the reading came from</a:t>
            </a:r>
          </a:p>
        </p:txBody>
      </p:sp>
      <p:sp>
        <p:nvSpPr>
          <p:cNvPr id="10" name="TextBox 9"/>
          <p:cNvSpPr txBox="1"/>
          <p:nvPr/>
        </p:nvSpPr>
        <p:spPr>
          <a:xfrm>
            <a:off x="896112" y="3557016"/>
            <a:ext cx="9875520" cy="365760"/>
          </a:xfrm>
          <a:prstGeom prst="rect">
            <a:avLst/>
          </a:prstGeom>
          <a:noFill/>
        </p:spPr>
        <p:txBody>
          <a:bodyPr wrap="square" lIns="0" rIns="0" tIns="0" bIns="0">
            <a:spAutoFit/>
          </a:bodyPr>
          <a:lstStyle/>
          <a:p>
            <a:pPr algn="l"/>
            <a:r>
              <a:rPr sz="1500" b="0" i="0">
                <a:solidFill>
                  <a:srgbClr val="475569"/>
                </a:solidFill>
                <a:latin typeface="Helvetica Neue"/>
              </a:rPr>
              <a:t>BERT, and how pretraining actually worked</a:t>
            </a:r>
          </a:p>
        </p:txBody>
      </p:sp>
      <p:sp>
        <p:nvSpPr>
          <p:cNvPr id="11" name="Rectangle 10"/>
          <p:cNvSpPr/>
          <p:nvPr/>
        </p:nvSpPr>
        <p:spPr>
          <a:xfrm>
            <a:off x="640080" y="4197096"/>
            <a:ext cx="50292" cy="78638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178808"/>
            <a:ext cx="9601200" cy="384048"/>
          </a:xfrm>
          <a:prstGeom prst="rect">
            <a:avLst/>
          </a:prstGeom>
          <a:noFill/>
        </p:spPr>
        <p:txBody>
          <a:bodyPr wrap="square" lIns="0" rIns="0" tIns="0" bIns="0">
            <a:spAutoFit/>
          </a:bodyPr>
          <a:lstStyle/>
          <a:p>
            <a:pPr algn="l"/>
            <a:r>
              <a:rPr sz="2100" b="1" i="0">
                <a:solidFill>
                  <a:srgbClr val="0F172A"/>
                </a:solidFill>
                <a:latin typeface="Helvetica Neue"/>
              </a:rPr>
              <a:t>Pull out the specifics</a:t>
            </a:r>
          </a:p>
        </p:txBody>
      </p:sp>
      <p:sp>
        <p:nvSpPr>
          <p:cNvPr id="13" name="TextBox 12"/>
          <p:cNvSpPr txBox="1"/>
          <p:nvPr/>
        </p:nvSpPr>
        <p:spPr>
          <a:xfrm>
            <a:off x="896112" y="4581144"/>
            <a:ext cx="9875520" cy="365760"/>
          </a:xfrm>
          <a:prstGeom prst="rect">
            <a:avLst/>
          </a:prstGeom>
          <a:noFill/>
        </p:spPr>
        <p:txBody>
          <a:bodyPr wrap="square" lIns="0" rIns="0" tIns="0" bIns="0">
            <a:spAutoFit/>
          </a:bodyPr>
          <a:lstStyle/>
          <a:p>
            <a:pPr algn="l"/>
            <a:r>
              <a:rPr sz="1500" b="0" i="0">
                <a:solidFill>
                  <a:srgbClr val="475569"/>
                </a:solidFill>
                <a:latin typeface="Helvetica Neue"/>
              </a:rPr>
              <a:t>which feature, what error, which plan</a:t>
            </a:r>
          </a:p>
        </p:txBody>
      </p:sp>
      <p:sp>
        <p:nvSpPr>
          <p:cNvPr id="14" name="Rectangle 13"/>
          <p:cNvSpPr/>
          <p:nvPr/>
        </p:nvSpPr>
        <p:spPr>
          <a:xfrm>
            <a:off x="640080" y="5221224"/>
            <a:ext cx="50292" cy="786384"/>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5202936"/>
            <a:ext cx="9601200" cy="384048"/>
          </a:xfrm>
          <a:prstGeom prst="rect">
            <a:avLst/>
          </a:prstGeom>
          <a:noFill/>
        </p:spPr>
        <p:txBody>
          <a:bodyPr wrap="square" lIns="0" rIns="0" tIns="0" bIns="0">
            <a:spAutoFit/>
          </a:bodyPr>
          <a:lstStyle/>
          <a:p>
            <a:pPr algn="l"/>
            <a:r>
              <a:rPr sz="2100" b="1" i="0">
                <a:solidFill>
                  <a:srgbClr val="0F172A"/>
                </a:solidFill>
                <a:latin typeface="Helvetica Neue"/>
              </a:rPr>
              <a:t>Watch it make things up</a:t>
            </a:r>
          </a:p>
        </p:txBody>
      </p:sp>
      <p:sp>
        <p:nvSpPr>
          <p:cNvPr id="16" name="TextBox 15"/>
          <p:cNvSpPr txBox="1"/>
          <p:nvPr/>
        </p:nvSpPr>
        <p:spPr>
          <a:xfrm>
            <a:off x="896112" y="5605272"/>
            <a:ext cx="9875520" cy="365760"/>
          </a:xfrm>
          <a:prstGeom prst="rect">
            <a:avLst/>
          </a:prstGeom>
          <a:noFill/>
        </p:spPr>
        <p:txBody>
          <a:bodyPr wrap="square" lIns="0" rIns="0" tIns="0" bIns="0">
            <a:spAutoFit/>
          </a:bodyPr>
          <a:lstStyle/>
          <a:p>
            <a:pPr algn="l"/>
            <a:r>
              <a:rPr sz="1500" b="0" i="0">
                <a:solidFill>
                  <a:srgbClr val="475569"/>
                </a:solidFill>
                <a:latin typeface="Helvetica Neue"/>
              </a:rPr>
              <a:t>and why that sets up Week 8</a:t>
            </a:r>
          </a:p>
        </p:txBody>
      </p:sp>
      <p:sp>
        <p:nvSpPr>
          <p:cNvPr id="17" name="TextBox 16"/>
          <p:cNvSpPr txBox="1"/>
          <p:nvPr/>
        </p:nvSpPr>
        <p:spPr>
          <a:xfrm>
            <a:off x="640080" y="6263640"/>
            <a:ext cx="10881360" cy="365760"/>
          </a:xfrm>
          <a:prstGeom prst="rect">
            <a:avLst/>
          </a:prstGeom>
          <a:noFill/>
        </p:spPr>
        <p:txBody>
          <a:bodyPr wrap="square" lIns="0" rIns="0" tIns="0" bIns="0">
            <a:spAutoFit/>
          </a:bodyPr>
          <a:lstStyle/>
          <a:p>
            <a:pPr algn="l"/>
            <a:r>
              <a:rPr sz="1400" b="0" i="1">
                <a:solidFill>
                  <a:srgbClr val="475569"/>
                </a:solidFill>
                <a:latin typeface="Helvetica Neue"/>
              </a:rPr>
              <a:t>Notebook: L13_Cobalt_Support_Copilot.ipynb. Run it, turn the knobs, break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