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youtube.com/watch?v=eMlx5fFNoYc"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theory: watch it find tickets that do not contain a single word you typed.</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search.png"/>
          <p:cNvPicPr>
            <a:picLocks noChangeAspect="1"/>
          </p:cNvPicPr>
          <p:nvPr/>
        </p:nvPicPr>
        <p:blipFill>
          <a:blip r:embed="rId2"/>
          <a:stretch>
            <a:fillRect/>
          </a:stretch>
        </p:blipFill>
        <p:spPr>
          <a:xfrm>
            <a:off x="518007" y="2013030"/>
            <a:ext cx="11155680" cy="4157819"/>
          </a:xfrm>
          <a:prstGeom prst="rect">
            <a:avLst/>
          </a:prstGeom>
        </p:spPr>
      </p:pic>
      <p:sp>
        <p:nvSpPr>
          <p:cNvPr id="16" name="Rounded Rectangle 15"/>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20" name="TextBox 19"/>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300" b="1" i="0">
                <a:solidFill>
                  <a:srgbClr val="0F172A"/>
                </a:solidFill>
                <a:latin typeface="Helvetica Neue"/>
              </a:rPr>
              <a:t>One gotcha before you promise anyone this works.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turns text into numbers by splitting it into chunks. Watch what that does to your product vocabulary.</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jargon.png"/>
          <p:cNvPicPr>
            <a:picLocks noChangeAspect="1"/>
          </p:cNvPicPr>
          <p:nvPr/>
        </p:nvPicPr>
        <p:blipFill>
          <a:blip r:embed="rId2"/>
          <a:stretch>
            <a:fillRect/>
          </a:stretch>
        </p:blipFill>
        <p:spPr>
          <a:xfrm>
            <a:off x="518007" y="2436196"/>
            <a:ext cx="11155680" cy="3311487"/>
          </a:xfrm>
          <a:prstGeom prst="rect">
            <a:avLst/>
          </a:prstGeom>
        </p:spPr>
      </p:pic>
      <p:sp>
        <p:nvSpPr>
          <p:cNvPr id="16" name="Rounded Rectangle 15"/>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20" name="TextBox 19"/>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How the meaning gets in there.</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We are going to watch the first eight minutes of this together, then come back to this picture.</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blockflow.png"/>
          <p:cNvPicPr>
            <a:picLocks noChangeAspect="1"/>
          </p:cNvPicPr>
          <p:nvPr/>
        </p:nvPicPr>
        <p:blipFill>
          <a:blip r:embed="rId2"/>
          <a:stretch>
            <a:fillRect/>
          </a:stretch>
        </p:blipFill>
        <p:spPr>
          <a:xfrm>
            <a:off x="956034" y="1906524"/>
            <a:ext cx="10279625" cy="4041648"/>
          </a:xfrm>
          <a:prstGeom prst="rect">
            <a:avLst/>
          </a:prstGeom>
        </p:spPr>
      </p:pic>
      <p:sp>
        <p:nvSpPr>
          <p:cNvPr id="16" name="TextBox 15"/>
          <p:cNvSpPr txBox="1"/>
          <p:nvPr/>
        </p:nvSpPr>
        <p:spPr>
          <a:xfrm>
            <a:off x="640080" y="6053328"/>
            <a:ext cx="10881360" cy="310896"/>
          </a:xfrm>
          <a:prstGeom prst="rect">
            <a:avLst/>
          </a:prstGeom>
          <a:noFill/>
        </p:spPr>
        <p:txBody>
          <a:bodyPr wrap="square">
            <a:spAutoFit/>
          </a:bodyPr>
          <a:lstStyle/>
          <a:p>
            <a:pPr algn="ctr"/>
            <a:r>
              <a:rPr sz="1350" i="1">
                <a:solidFill>
                  <a:srgbClr val="475569"/>
                </a:solidFill>
                <a:latin typeface="Helvetica Neue"/>
              </a:rPr>
              <a:t>Watch 0:00 to 8:00, stop at the end of Queries.     </a:t>
            </a:r>
            <a:r>
              <a:rPr sz="1350" b="1" u="sng">
                <a:solidFill>
                  <a:srgbClr val="1D4ED8"/>
                </a:solidFill>
                <a:latin typeface="Helvetica Neue"/>
                <a:hlinkClick r:id="rId3"/>
              </a:rPr>
              <a:t>3Blue1Brown, Attention in transformers</a:t>
            </a:r>
          </a:p>
        </p:txBody>
      </p:sp>
      <p:sp>
        <p:nvSpPr>
          <p:cNvPr id="17" name="Rounded Rectangle 16"/>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20" name="TextBox 19"/>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1" name="TextBox 20"/>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13</a:t>
            </a:r>
          </a:p>
        </p:txBody>
      </p:sp>
      <p:sp>
        <p:nvSpPr>
          <p:cNvPr id="19" name="TextBox 18"/>
          <p:cNvSpPr txBox="1"/>
          <p:nvPr/>
        </p:nvSpPr>
        <p:spPr>
          <a:xfrm>
            <a:off x="8420709" y="6460236"/>
            <a:ext cx="3030321" cy="219456"/>
          </a:xfrm>
          <a:prstGeom prst="rect">
            <a:avLst/>
          </a:prstGeom>
          <a:noFill/>
        </p:spPr>
        <p:txBody>
          <a:bodyPr wrap="none" lIns="0" rIns="0" tIns="0" bIns="0">
            <a:spAutoFit/>
          </a:bodyPr>
          <a:lstStyle/>
          <a:p>
            <a:pPr algn="l"/>
            <a:r>
              <a:rPr sz="1000" b="1" i="0">
                <a:solidFill>
                  <a:srgbClr val="FFFFFF"/>
                </a:solidFill>
                <a:latin typeface="Helvetica Neue"/>
              </a:rPr>
              <a:t>Route the inbox with no training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45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What a mistake costs decides the setting.</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Same copilot, same tickets, six companies. Ask your neighbour: for the hospital, high bar or low?</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game.png"/>
          <p:cNvPicPr>
            <a:picLocks noChangeAspect="1"/>
          </p:cNvPicPr>
          <p:nvPr/>
        </p:nvPicPr>
        <p:blipFill>
          <a:blip r:embed="rId2"/>
          <a:stretch>
            <a:fillRect/>
          </a:stretch>
        </p:blipFill>
        <p:spPr>
          <a:xfrm>
            <a:off x="2207847" y="2011680"/>
            <a:ext cx="7775999" cy="3931920"/>
          </a:xfrm>
          <a:prstGeom prst="rect">
            <a:avLst/>
          </a:prstGeom>
        </p:spPr>
      </p:pic>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21</a:t>
            </a:r>
          </a:p>
        </p:txBody>
      </p:sp>
      <p:sp>
        <p:nvSpPr>
          <p:cNvPr id="20" name="TextBox 19"/>
          <p:cNvSpPr txBox="1"/>
          <p:nvPr/>
        </p:nvSpPr>
        <p:spPr>
          <a:xfrm>
            <a:off x="9021470" y="6460236"/>
            <a:ext cx="2429560" cy="219456"/>
          </a:xfrm>
          <a:prstGeom prst="rect">
            <a:avLst/>
          </a:prstGeom>
          <a:noFill/>
        </p:spPr>
        <p:txBody>
          <a:bodyPr wrap="none" lIns="0" rIns="0" tIns="0" bIns="0">
            <a:spAutoFit/>
          </a:bodyPr>
          <a:lstStyle/>
          <a:p>
            <a:pPr algn="l"/>
            <a:r>
              <a:rPr sz="1000" b="1" i="0">
                <a:solidFill>
                  <a:srgbClr val="FFFFFF"/>
                </a:solidFill>
                <a:latin typeface="Helvetica Neue"/>
              </a:rPr>
              <a:t>YOUR KNOB: set the threshold</a:t>
            </a:r>
          </a:p>
        </p:txBody>
      </p:sp>
      <p:sp>
        <p:nvSpPr>
          <p:cNvPr id="21" name="TextBox 20"/>
          <p:cNvSpPr txBox="1"/>
          <p:nvPr/>
        </p:nvSpPr>
        <p:spPr>
          <a:xfrm>
            <a:off x="640080" y="6016752"/>
            <a:ext cx="10881360" cy="365760"/>
          </a:xfrm>
          <a:prstGeom prst="rect">
            <a:avLst/>
          </a:prstGeom>
          <a:noFill/>
        </p:spPr>
        <p:txBody>
          <a:bodyPr wrap="square" lIns="0" rIns="0" tIns="0" bIns="0">
            <a:spAutoFit/>
          </a:bodyPr>
          <a:lstStyle/>
          <a:p>
            <a:pPr algn="ctr"/>
            <a:r>
              <a:rPr sz="1500" b="0" i="1">
                <a:solidFill>
                  <a:srgbClr val="475569"/>
                </a:solidFill>
                <a:latin typeface="Helvetica Neue"/>
              </a:rPr>
              <a:t>Accuracy is a property of the model. The right threshold is a property of the business.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43310"/>
            <a:ext cx="11155680" cy="1885778"/>
          </a:xfrm>
          <a:prstGeom prst="rect">
            <a:avLst/>
          </a:prstGeom>
        </p:spPr>
      </p:pic>
      <p:sp>
        <p:nvSpPr>
          <p:cNvPr id="7" name="TextBox 6"/>
          <p:cNvSpPr txBox="1"/>
          <p:nvPr/>
        </p:nvSpPr>
        <p:spPr>
          <a:xfrm>
            <a:off x="640080" y="5760720"/>
            <a:ext cx="10881360" cy="457200"/>
          </a:xfrm>
          <a:prstGeom prst="rect">
            <a:avLst/>
          </a:prstGeom>
          <a:noFill/>
        </p:spPr>
        <p:txBody>
          <a:bodyPr wrap="square" lIns="0" rIns="0" tIns="0" bIns="0">
            <a:spAutoFit/>
          </a:bodyPr>
          <a:lstStyle/>
          <a:p>
            <a:pPr algn="ctr"/>
            <a:r>
              <a:rPr sz="1600" b="0" i="1">
                <a:solidFill>
                  <a:srgbClr val="0F172A"/>
                </a:solidFill>
                <a:latin typeface="Helvetica Neue"/>
              </a:rPr>
              <a:t>Someone else already spent millions teaching a model to read English. Your job is to point it at your problem, cheaply, and know where it breaks.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BEFORE WE OPEN IT UP</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you actually saw tonight.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Hold both columns in your head. We are about to need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aw.png"/>
          <p:cNvPicPr>
            <a:picLocks noChangeAspect="1"/>
          </p:cNvPicPr>
          <p:nvPr/>
        </p:nvPicPr>
        <p:blipFill>
          <a:blip r:embed="rId2"/>
          <a:stretch>
            <a:fillRect/>
          </a:stretch>
        </p:blipFill>
        <p:spPr>
          <a:xfrm>
            <a:off x="518007" y="3252244"/>
            <a:ext cx="11155680" cy="186227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Last week, a model did this on its own.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Not a thought experiment. This happened between the 16th and the 21st of July, six days ago.</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incident.png"/>
          <p:cNvPicPr>
            <a:picLocks noChangeAspect="1"/>
          </p:cNvPicPr>
          <p:nvPr/>
        </p:nvPicPr>
        <p:blipFill>
          <a:blip r:embed="rId2"/>
          <a:stretch>
            <a:fillRect/>
          </a:stretch>
        </p:blipFill>
        <p:spPr>
          <a:xfrm>
            <a:off x="518007" y="2056061"/>
            <a:ext cx="11155680" cy="3934597"/>
          </a:xfrm>
          <a:prstGeom prst="rect">
            <a:avLst/>
          </a:prstGeom>
        </p:spPr>
      </p:pic>
      <p:sp>
        <p:nvSpPr>
          <p:cNvPr id="7" name="TextBox 6"/>
          <p:cNvSpPr txBox="1"/>
          <p:nvPr/>
        </p:nvSpPr>
        <p:spPr>
          <a:xfrm>
            <a:off x="640080" y="6108192"/>
            <a:ext cx="10881360" cy="365760"/>
          </a:xfrm>
          <a:prstGeom prst="rect">
            <a:avLst/>
          </a:prstGeom>
          <a:noFill/>
        </p:spPr>
        <p:txBody>
          <a:bodyPr wrap="square" lIns="0" rIns="0" tIns="0" bIns="0">
            <a:spAutoFit/>
          </a:bodyPr>
          <a:lstStyle/>
          <a:p>
            <a:pPr algn="ctr"/>
            <a:r>
              <a:rPr sz="1100" b="0" i="0">
                <a:solidFill>
                  <a:srgbClr val="BCC1CC"/>
                </a:solidFill>
                <a:latin typeface="Helvetica Neue"/>
              </a:rPr>
              <a:t>Sources: OpenAI incident report - Hugging Face disclosure - CNBC, Axios, The Hacker News, 21-22 July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Thirty minutes. No right answers.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You have spent tonight deciding when a system may act without a human. Now scale the question up.</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questions.png"/>
          <p:cNvPicPr>
            <a:picLocks noChangeAspect="1"/>
          </p:cNvPicPr>
          <p:nvPr/>
        </p:nvPicPr>
        <p:blipFill>
          <a:blip r:embed="rId2"/>
          <a:stretch>
            <a:fillRect/>
          </a:stretch>
        </p:blipFill>
        <p:spPr>
          <a:xfrm>
            <a:off x="1417882" y="2011680"/>
            <a:ext cx="9355930" cy="4297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