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hyperlink" Target="https://web.stanford.edu/~jurafsky/slp3/" TargetMode="External"/><Relationship Id="rId4" Type="http://schemas.openxmlformats.org/officeDocument/2006/relationships/hyperlink" Target="https://github.com/HandsOnLLM/Hands-On-Large-Language-Models" TargetMode="External"/><Relationship Id="rId5" Type="http://schemas.openxmlformats.org/officeDocument/2006/relationships/hyperlink" Target="https://github.com/nlp-with-transformers/notebooks" TargetMode="External"/><Relationship Id="rId6" Type="http://schemas.openxmlformats.org/officeDocument/2006/relationships/hyperlink" Target="https://arxiv.org/abs/1706.03762" TargetMode="External"/><Relationship Id="rId7" Type="http://schemas.openxmlformats.org/officeDocument/2006/relationships/hyperlink" Target="https://arxiv.org/abs/1810.04805" TargetMode="External"/><Relationship Id="rId8" Type="http://schemas.openxmlformats.org/officeDocument/2006/relationships/hyperlink" Target="https://arxiv.org/abs/1907.11692"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hyperlink" Target="https://www.youtube.com/watch?v=eMlx5fFNoYc"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468880"/>
            <a:ext cx="7315200" cy="320040"/>
          </a:xfrm>
          <a:prstGeom prst="rect">
            <a:avLst/>
          </a:prstGeom>
          <a:noFill/>
        </p:spPr>
        <p:txBody>
          <a:bodyPr wrap="square" lIns="0" rIns="0" tIns="0" bIns="0">
            <a:spAutoFit/>
          </a:bodyPr>
          <a:lstStyle/>
          <a:p>
            <a:pPr algn="l"/>
            <a:r>
              <a:rPr sz="1300" b="1" i="0" spc="250">
                <a:solidFill>
                  <a:srgbClr val="4F46E5"/>
                </a:solidFill>
                <a:latin typeface="Helvetica Neue"/>
              </a:rPr>
              <a:t>WEEK 7 · LECTURE 13</a:t>
            </a:r>
          </a:p>
        </p:txBody>
      </p:sp>
      <p:sp>
        <p:nvSpPr>
          <p:cNvPr id="3" name="TextBox 2"/>
          <p:cNvSpPr txBox="1"/>
          <p:nvPr/>
        </p:nvSpPr>
        <p:spPr>
          <a:xfrm>
            <a:off x="640080" y="2852928"/>
            <a:ext cx="10972800" cy="914400"/>
          </a:xfrm>
          <a:prstGeom prst="rect">
            <a:avLst/>
          </a:prstGeom>
          <a:noFill/>
        </p:spPr>
        <p:txBody>
          <a:bodyPr wrap="square" lIns="0" rIns="0" tIns="0" bIns="0">
            <a:spAutoFit/>
          </a:bodyPr>
          <a:lstStyle/>
          <a:p>
            <a:pPr algn="l"/>
            <a:r>
              <a:rPr sz="5000" b="1" i="0">
                <a:solidFill>
                  <a:srgbClr val="0F172A"/>
                </a:solidFill>
                <a:latin typeface="Helvetica Neue"/>
              </a:rPr>
              <a:t>Building a Support Copilot</a:t>
            </a:r>
          </a:p>
        </p:txBody>
      </p:sp>
      <p:sp>
        <p:nvSpPr>
          <p:cNvPr id="4" name="TextBox 3"/>
          <p:cNvSpPr txBox="1"/>
          <p:nvPr/>
        </p:nvSpPr>
        <p:spPr>
          <a:xfrm>
            <a:off x="640080" y="3913632"/>
            <a:ext cx="10058400" cy="457200"/>
          </a:xfrm>
          <a:prstGeom prst="rect">
            <a:avLst/>
          </a:prstGeom>
          <a:noFill/>
        </p:spPr>
        <p:txBody>
          <a:bodyPr wrap="square" lIns="0" rIns="0" tIns="0" bIns="0">
            <a:spAutoFit/>
          </a:bodyPr>
          <a:lstStyle/>
          <a:p>
            <a:pPr algn="l"/>
            <a:r>
              <a:rPr sz="2300" b="0" i="0">
                <a:solidFill>
                  <a:srgbClr val="475569"/>
                </a:solidFill>
                <a:latin typeface="Helvetica Neue"/>
              </a:rPr>
              <a:t>Part 1: the layer that reads</a:t>
            </a:r>
          </a:p>
        </p:txBody>
      </p:sp>
      <p:sp>
        <p:nvSpPr>
          <p:cNvPr id="5" name="Rectangle 4"/>
          <p:cNvSpPr/>
          <p:nvPr/>
        </p:nvSpPr>
        <p:spPr>
          <a:xfrm>
            <a:off x="658368" y="4572000"/>
            <a:ext cx="822960" cy="54864"/>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754880"/>
            <a:ext cx="10058400" cy="457200"/>
          </a:xfrm>
          <a:prstGeom prst="rect">
            <a:avLst/>
          </a:prstGeom>
          <a:noFill/>
        </p:spPr>
        <p:txBody>
          <a:bodyPr wrap="square" lIns="0" rIns="0" tIns="0" bIns="0">
            <a:spAutoFit/>
          </a:bodyPr>
          <a:lstStyle/>
          <a:p>
            <a:pPr algn="l"/>
            <a:r>
              <a:rPr sz="1700" b="0" i="1">
                <a:solidFill>
                  <a:srgbClr val="0F172A"/>
                </a:solidFill>
                <a:latin typeface="Helvetica Neue"/>
              </a:rPr>
              <a:t>5,000 tickets a week, three support reps, and nothing in the queue has ever been sorted. Let's ship anyway.</a:t>
            </a:r>
          </a:p>
        </p:txBody>
      </p:sp>
      <p:sp>
        <p:nvSpPr>
          <p:cNvPr id="7" name="TextBox 6"/>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4F46E5"/>
                </a:solidFill>
                <a:latin typeface="Helvetica Neue"/>
              </a:rPr>
              <a:t>WEEK 7 · AT A GLANCE</a:t>
            </a:r>
          </a:p>
        </p:txBody>
      </p:sp>
      <p:sp>
        <p:nvSpPr>
          <p:cNvPr id="3" name="TextBox 2"/>
          <p:cNvSpPr txBox="1"/>
          <p:nvPr/>
        </p:nvSpPr>
        <p:spPr>
          <a:xfrm>
            <a:off x="640080" y="758952"/>
            <a:ext cx="10972800" cy="704088"/>
          </a:xfrm>
          <a:prstGeom prst="rect">
            <a:avLst/>
          </a:prstGeom>
          <a:noFill/>
        </p:spPr>
        <p:txBody>
          <a:bodyPr wrap="square" lIns="0" rIns="0" tIns="0" bIns="0">
            <a:spAutoFit/>
          </a:bodyPr>
          <a:lstStyle/>
          <a:p>
            <a:pPr algn="l"/>
            <a:r>
              <a:rPr sz="2900" b="1" i="0">
                <a:solidFill>
                  <a:srgbClr val="0F172A"/>
                </a:solidFill>
                <a:latin typeface="Helvetica Neue"/>
              </a:rPr>
              <a:t>Language Models &amp; Transformers</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What we cover across both lectures, the models we actually run, and what to read alongside them.</a:t>
            </a:r>
          </a:p>
        </p:txBody>
      </p:sp>
      <p:sp>
        <p:nvSpPr>
          <p:cNvPr id="5" name="TextBox 4"/>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6" name="Picture 5" descr="d_week.png"/>
          <p:cNvPicPr>
            <a:picLocks noChangeAspect="1"/>
          </p:cNvPicPr>
          <p:nvPr/>
        </p:nvPicPr>
        <p:blipFill>
          <a:blip r:embed="rId2"/>
          <a:stretch>
            <a:fillRect/>
          </a:stretch>
        </p:blipFill>
        <p:spPr>
          <a:xfrm>
            <a:off x="1500676" y="1810512"/>
            <a:ext cx="9190341" cy="3547872"/>
          </a:xfrm>
          <a:prstGeom prst="rect">
            <a:avLst/>
          </a:prstGeom>
        </p:spPr>
      </p:pic>
      <p:sp>
        <p:nvSpPr>
          <p:cNvPr id="7" name="Rectangle 6"/>
          <p:cNvSpPr/>
          <p:nvPr/>
        </p:nvSpPr>
        <p:spPr>
          <a:xfrm>
            <a:off x="640080" y="5394960"/>
            <a:ext cx="10927080" cy="12801"/>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5468112"/>
            <a:ext cx="2743200" cy="219456"/>
          </a:xfrm>
          <a:prstGeom prst="rect">
            <a:avLst/>
          </a:prstGeom>
          <a:noFill/>
        </p:spPr>
        <p:txBody>
          <a:bodyPr wrap="square" lIns="0" rIns="0" tIns="0" bIns="0">
            <a:spAutoFit/>
          </a:bodyPr>
          <a:lstStyle/>
          <a:p>
            <a:pPr algn="l"/>
            <a:r>
              <a:rPr sz="1000" b="1" i="0" spc="180">
                <a:solidFill>
                  <a:srgbClr val="94A3B8"/>
                </a:solidFill>
                <a:latin typeface="Helvetica Neue"/>
              </a:rPr>
              <a:t>READINGS</a:t>
            </a:r>
          </a:p>
        </p:txBody>
      </p:sp>
      <p:sp>
        <p:nvSpPr>
          <p:cNvPr id="9" name="TextBox 8"/>
          <p:cNvSpPr txBox="1"/>
          <p:nvPr/>
        </p:nvSpPr>
        <p:spPr>
          <a:xfrm>
            <a:off x="640080" y="5705856"/>
            <a:ext cx="2724912" cy="292608"/>
          </a:xfrm>
          <a:prstGeom prst="rect">
            <a:avLst/>
          </a:prstGeom>
          <a:noFill/>
        </p:spPr>
        <p:txBody>
          <a:bodyPr wrap="none">
            <a:spAutoFit/>
          </a:bodyPr>
          <a:lstStyle/>
          <a:p>
            <a:r>
              <a:rPr sz="1000" b="1">
                <a:solidFill>
                  <a:srgbClr val="4F46E5"/>
                </a:solidFill>
                <a:latin typeface="Helvetica Neue"/>
              </a:rPr>
              <a:t>J&amp;M Ch. 7  </a:t>
            </a:r>
            <a:r>
              <a:rPr sz="1000" u="sng">
                <a:solidFill>
                  <a:srgbClr val="1D4ED8"/>
                </a:solidFill>
                <a:latin typeface="Helvetica Neue"/>
                <a:hlinkClick r:id="rId3"/>
              </a:rPr>
              <a:t>Large Language Models</a:t>
            </a:r>
          </a:p>
        </p:txBody>
      </p:sp>
      <p:sp>
        <p:nvSpPr>
          <p:cNvPr id="10" name="TextBox 9"/>
          <p:cNvSpPr txBox="1"/>
          <p:nvPr/>
        </p:nvSpPr>
        <p:spPr>
          <a:xfrm>
            <a:off x="3401568" y="5705856"/>
            <a:ext cx="2724912" cy="292608"/>
          </a:xfrm>
          <a:prstGeom prst="rect">
            <a:avLst/>
          </a:prstGeom>
          <a:noFill/>
        </p:spPr>
        <p:txBody>
          <a:bodyPr wrap="none">
            <a:spAutoFit/>
          </a:bodyPr>
          <a:lstStyle/>
          <a:p>
            <a:r>
              <a:rPr sz="1000" b="1">
                <a:solidFill>
                  <a:srgbClr val="4F46E5"/>
                </a:solidFill>
                <a:latin typeface="Helvetica Neue"/>
              </a:rPr>
              <a:t>J&amp;M Ch. 10  </a:t>
            </a:r>
            <a:r>
              <a:rPr sz="1000" u="sng">
                <a:solidFill>
                  <a:srgbClr val="1D4ED8"/>
                </a:solidFill>
                <a:latin typeface="Helvetica Neue"/>
                <a:hlinkClick r:id="rId3"/>
              </a:rPr>
              <a:t>BERT &amp; masked LMs</a:t>
            </a:r>
          </a:p>
        </p:txBody>
      </p:sp>
      <p:sp>
        <p:nvSpPr>
          <p:cNvPr id="11" name="TextBox 10"/>
          <p:cNvSpPr txBox="1"/>
          <p:nvPr/>
        </p:nvSpPr>
        <p:spPr>
          <a:xfrm>
            <a:off x="6163056" y="5705856"/>
            <a:ext cx="2724912" cy="292608"/>
          </a:xfrm>
          <a:prstGeom prst="rect">
            <a:avLst/>
          </a:prstGeom>
          <a:noFill/>
        </p:spPr>
        <p:txBody>
          <a:bodyPr wrap="none">
            <a:spAutoFit/>
          </a:bodyPr>
          <a:lstStyle/>
          <a:p>
            <a:r>
              <a:rPr sz="1000" b="1">
                <a:solidFill>
                  <a:srgbClr val="4F46E5"/>
                </a:solidFill>
                <a:latin typeface="Helvetica Neue"/>
              </a:rPr>
              <a:t>HOLLM Ch. 3  </a:t>
            </a:r>
            <a:r>
              <a:rPr sz="1000" u="sng">
                <a:solidFill>
                  <a:srgbClr val="1D4ED8"/>
                </a:solidFill>
                <a:latin typeface="Helvetica Neue"/>
                <a:hlinkClick r:id="rId4"/>
              </a:rPr>
              <a:t>inside transformer LLMs</a:t>
            </a:r>
          </a:p>
        </p:txBody>
      </p:sp>
      <p:sp>
        <p:nvSpPr>
          <p:cNvPr id="12" name="TextBox 11"/>
          <p:cNvSpPr txBox="1"/>
          <p:nvPr/>
        </p:nvSpPr>
        <p:spPr>
          <a:xfrm>
            <a:off x="8924544" y="5705856"/>
            <a:ext cx="2724912" cy="292608"/>
          </a:xfrm>
          <a:prstGeom prst="rect">
            <a:avLst/>
          </a:prstGeom>
          <a:noFill/>
        </p:spPr>
        <p:txBody>
          <a:bodyPr wrap="none">
            <a:spAutoFit/>
          </a:bodyPr>
          <a:lstStyle/>
          <a:p>
            <a:r>
              <a:rPr sz="1000" b="1">
                <a:solidFill>
                  <a:srgbClr val="4F46E5"/>
                </a:solidFill>
                <a:latin typeface="Helvetica Neue"/>
              </a:rPr>
              <a:t>Tunstall Ch. 10  </a:t>
            </a:r>
            <a:r>
              <a:rPr sz="1000" u="sng">
                <a:solidFill>
                  <a:srgbClr val="1D4ED8"/>
                </a:solidFill>
                <a:latin typeface="Helvetica Neue"/>
                <a:hlinkClick r:id="rId5"/>
              </a:rPr>
              <a:t>training from scratch</a:t>
            </a:r>
          </a:p>
        </p:txBody>
      </p:sp>
      <p:sp>
        <p:nvSpPr>
          <p:cNvPr id="13" name="TextBox 12"/>
          <p:cNvSpPr txBox="1"/>
          <p:nvPr/>
        </p:nvSpPr>
        <p:spPr>
          <a:xfrm>
            <a:off x="640080" y="6016752"/>
            <a:ext cx="2724912" cy="292608"/>
          </a:xfrm>
          <a:prstGeom prst="rect">
            <a:avLst/>
          </a:prstGeom>
          <a:noFill/>
        </p:spPr>
        <p:txBody>
          <a:bodyPr wrap="none">
            <a:spAutoFit/>
          </a:bodyPr>
          <a:lstStyle/>
          <a:p>
            <a:r>
              <a:rPr sz="1000" b="1">
                <a:solidFill>
                  <a:srgbClr val="4F46E5"/>
                </a:solidFill>
                <a:latin typeface="Helvetica Neue"/>
              </a:rPr>
              <a:t>Vaswani 2017  </a:t>
            </a:r>
            <a:r>
              <a:rPr sz="1000" u="sng">
                <a:solidFill>
                  <a:srgbClr val="1D4ED8"/>
                </a:solidFill>
                <a:latin typeface="Helvetica Neue"/>
                <a:hlinkClick r:id="rId6"/>
              </a:rPr>
              <a:t>Attention Is All You Need</a:t>
            </a:r>
          </a:p>
        </p:txBody>
      </p:sp>
      <p:sp>
        <p:nvSpPr>
          <p:cNvPr id="14" name="TextBox 13"/>
          <p:cNvSpPr txBox="1"/>
          <p:nvPr/>
        </p:nvSpPr>
        <p:spPr>
          <a:xfrm>
            <a:off x="3401568" y="6016752"/>
            <a:ext cx="2724912" cy="292608"/>
          </a:xfrm>
          <a:prstGeom prst="rect">
            <a:avLst/>
          </a:prstGeom>
          <a:noFill/>
        </p:spPr>
        <p:txBody>
          <a:bodyPr wrap="none">
            <a:spAutoFit/>
          </a:bodyPr>
          <a:lstStyle/>
          <a:p>
            <a:r>
              <a:rPr sz="1000" b="1">
                <a:solidFill>
                  <a:srgbClr val="4F46E5"/>
                </a:solidFill>
                <a:latin typeface="Helvetica Neue"/>
              </a:rPr>
              <a:t>Devlin 2018  </a:t>
            </a:r>
            <a:r>
              <a:rPr sz="1000" u="sng">
                <a:solidFill>
                  <a:srgbClr val="1D4ED8"/>
                </a:solidFill>
                <a:latin typeface="Helvetica Neue"/>
                <a:hlinkClick r:id="rId7"/>
              </a:rPr>
              <a:t>BERT</a:t>
            </a:r>
          </a:p>
        </p:txBody>
      </p:sp>
      <p:sp>
        <p:nvSpPr>
          <p:cNvPr id="15" name="TextBox 14"/>
          <p:cNvSpPr txBox="1"/>
          <p:nvPr/>
        </p:nvSpPr>
        <p:spPr>
          <a:xfrm>
            <a:off x="6163056" y="6016752"/>
            <a:ext cx="2724912" cy="292608"/>
          </a:xfrm>
          <a:prstGeom prst="rect">
            <a:avLst/>
          </a:prstGeom>
          <a:noFill/>
        </p:spPr>
        <p:txBody>
          <a:bodyPr wrap="none">
            <a:spAutoFit/>
          </a:bodyPr>
          <a:lstStyle/>
          <a:p>
            <a:r>
              <a:rPr sz="1000" b="1">
                <a:solidFill>
                  <a:srgbClr val="4F46E5"/>
                </a:solidFill>
                <a:latin typeface="Helvetica Neue"/>
              </a:rPr>
              <a:t>Liu 2019  </a:t>
            </a:r>
            <a:r>
              <a:rPr sz="1000" u="sng">
                <a:solidFill>
                  <a:srgbClr val="1D4ED8"/>
                </a:solidFill>
                <a:latin typeface="Helvetica Neue"/>
                <a:hlinkClick r:id="rId8"/>
              </a:rPr>
              <a:t>RoBERTa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4F46E5"/>
                </a:solidFill>
                <a:latin typeface="Helvetica Neue"/>
              </a:rPr>
              <a:t>THE BUSINESS</a:t>
            </a:r>
          </a:p>
        </p:txBody>
      </p:sp>
      <p:sp>
        <p:nvSpPr>
          <p:cNvPr id="3" name="TextBox 2"/>
          <p:cNvSpPr txBox="1"/>
          <p:nvPr/>
        </p:nvSpPr>
        <p:spPr>
          <a:xfrm>
            <a:off x="640080" y="758952"/>
            <a:ext cx="10972800" cy="704088"/>
          </a:xfrm>
          <a:prstGeom prst="rect">
            <a:avLst/>
          </a:prstGeom>
          <a:noFill/>
        </p:spPr>
        <p:txBody>
          <a:bodyPr wrap="square" lIns="0" rIns="0" tIns="0" bIns="0">
            <a:spAutoFit/>
          </a:bodyPr>
          <a:lstStyle/>
          <a:p>
            <a:pPr algn="l"/>
            <a:r>
              <a:rPr sz="2900" b="1" i="0">
                <a:solidFill>
                  <a:srgbClr val="0F172A"/>
                </a:solidFill>
                <a:latin typeface="Helvetica Neue"/>
              </a:rPr>
              <a:t>First, what company are we walking into?</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Before any technology, you need to be able to picture the job. Here it is in three sentences.</a:t>
            </a:r>
          </a:p>
        </p:txBody>
      </p:sp>
      <p:sp>
        <p:nvSpPr>
          <p:cNvPr id="5" name="TextBox 4"/>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6" name="Picture 5" descr="d_scene.png"/>
          <p:cNvPicPr>
            <a:picLocks noChangeAspect="1"/>
          </p:cNvPicPr>
          <p:nvPr/>
        </p:nvPicPr>
        <p:blipFill>
          <a:blip r:embed="rId2"/>
          <a:stretch>
            <a:fillRect/>
          </a:stretch>
        </p:blipFill>
        <p:spPr>
          <a:xfrm>
            <a:off x="518007" y="2046394"/>
            <a:ext cx="11155680" cy="3771050"/>
          </a:xfrm>
          <a:prstGeom prst="rect">
            <a:avLst/>
          </a:prstGeom>
        </p:spPr>
      </p:pic>
      <p:sp>
        <p:nvSpPr>
          <p:cNvPr id="7" name="TextBox 6"/>
          <p:cNvSpPr txBox="1"/>
          <p:nvPr/>
        </p:nvSpPr>
        <p:spPr>
          <a:xfrm>
            <a:off x="640080" y="6053328"/>
            <a:ext cx="10881360" cy="365760"/>
          </a:xfrm>
          <a:prstGeom prst="rect">
            <a:avLst/>
          </a:prstGeom>
          <a:noFill/>
        </p:spPr>
        <p:txBody>
          <a:bodyPr wrap="square" lIns="0" rIns="0" tIns="0" bIns="0">
            <a:spAutoFit/>
          </a:bodyPr>
          <a:lstStyle/>
          <a:p>
            <a:pPr algn="ctr"/>
            <a:r>
              <a:rPr sz="1500" b="0" i="1">
                <a:solidFill>
                  <a:srgbClr val="475569"/>
                </a:solidFill>
                <a:latin typeface="Helvetica Neue"/>
              </a:rPr>
              <a:t>Five thousand of these arrive every week. Three people answer them.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4F46E5"/>
                </a:solidFill>
                <a:latin typeface="Helvetica Neue"/>
              </a:rPr>
              <a:t>THE PROBLEM</a:t>
            </a:r>
          </a:p>
        </p:txBody>
      </p:sp>
      <p:sp>
        <p:nvSpPr>
          <p:cNvPr id="3" name="TextBox 2"/>
          <p:cNvSpPr txBox="1"/>
          <p:nvPr/>
        </p:nvSpPr>
        <p:spPr>
          <a:xfrm>
            <a:off x="640080" y="758952"/>
            <a:ext cx="10972800" cy="704088"/>
          </a:xfrm>
          <a:prstGeom prst="rect">
            <a:avLst/>
          </a:prstGeom>
          <a:noFill/>
        </p:spPr>
        <p:txBody>
          <a:bodyPr wrap="square" lIns="0" rIns="0" tIns="0" bIns="0">
            <a:spAutoFit/>
          </a:bodyPr>
          <a:lstStyle/>
          <a:p>
            <a:pPr algn="l"/>
            <a:r>
              <a:rPr sz="2900" b="1" i="0">
                <a:solidFill>
                  <a:srgbClr val="0F172A"/>
                </a:solidFill>
                <a:latin typeface="Helvetica Neue"/>
              </a:rPr>
              <a:t>Every ticket has to be read before it can be answered.</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And that reading is where the three support reps lose their day.</a:t>
            </a:r>
          </a:p>
        </p:txBody>
      </p:sp>
      <p:sp>
        <p:nvSpPr>
          <p:cNvPr id="5" name="TextBox 4"/>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sp>
        <p:nvSpPr>
          <p:cNvPr id="6" name="Rounded Rectangle 5"/>
          <p:cNvSpPr/>
          <p:nvPr/>
        </p:nvSpPr>
        <p:spPr>
          <a:xfrm>
            <a:off x="685800" y="2212848"/>
            <a:ext cx="2615184" cy="1298448"/>
          </a:xfrm>
          <a:prstGeom prst="roundRect">
            <a:avLst/>
          </a:prstGeom>
          <a:solidFill>
            <a:srgbClr val="FFFFFF"/>
          </a:solidFill>
          <a:ln>
            <a:solidFill>
              <a:srgbClr val="EEF1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6968" y="2395728"/>
            <a:ext cx="2286000" cy="457200"/>
          </a:xfrm>
          <a:prstGeom prst="rect">
            <a:avLst/>
          </a:prstGeom>
          <a:noFill/>
        </p:spPr>
        <p:txBody>
          <a:bodyPr wrap="square" lIns="0" rIns="0" tIns="0" bIns="0">
            <a:spAutoFit/>
          </a:bodyPr>
          <a:lstStyle/>
          <a:p>
            <a:pPr algn="l"/>
            <a:r>
              <a:rPr sz="1750" b="1" i="0">
                <a:solidFill>
                  <a:srgbClr val="0F172A"/>
                </a:solidFill>
                <a:latin typeface="Helvetica Neue"/>
              </a:rPr>
              <a:t>~5,000 tickets a week</a:t>
            </a:r>
          </a:p>
        </p:txBody>
      </p:sp>
      <p:sp>
        <p:nvSpPr>
          <p:cNvPr id="8" name="TextBox 7"/>
          <p:cNvSpPr txBox="1"/>
          <p:nvPr/>
        </p:nvSpPr>
        <p:spPr>
          <a:xfrm>
            <a:off x="886968" y="2871216"/>
            <a:ext cx="2304288" cy="548640"/>
          </a:xfrm>
          <a:prstGeom prst="rect">
            <a:avLst/>
          </a:prstGeom>
          <a:noFill/>
        </p:spPr>
        <p:txBody>
          <a:bodyPr wrap="square" lIns="0" rIns="0" tIns="0" bIns="0">
            <a:spAutoFit/>
          </a:bodyPr>
          <a:lstStyle/>
          <a:p>
            <a:pPr algn="l"/>
            <a:r>
              <a:rPr sz="1350" b="0" i="0">
                <a:solidFill>
                  <a:srgbClr val="475569"/>
                </a:solidFill>
                <a:latin typeface="Helvetica Neue"/>
              </a:rPr>
              <a:t>and three people to answer them</a:t>
            </a:r>
          </a:p>
        </p:txBody>
      </p:sp>
      <p:sp>
        <p:nvSpPr>
          <p:cNvPr id="9" name="Rounded Rectangle 8"/>
          <p:cNvSpPr/>
          <p:nvPr/>
        </p:nvSpPr>
        <p:spPr>
          <a:xfrm>
            <a:off x="3483864" y="2212848"/>
            <a:ext cx="2615184" cy="1298448"/>
          </a:xfrm>
          <a:prstGeom prst="roundRect">
            <a:avLst/>
          </a:prstGeom>
          <a:solidFill>
            <a:srgbClr val="FFFFFF"/>
          </a:solidFill>
          <a:ln>
            <a:solidFill>
              <a:srgbClr val="EEF1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85032" y="2395728"/>
            <a:ext cx="2286000" cy="457200"/>
          </a:xfrm>
          <a:prstGeom prst="rect">
            <a:avLst/>
          </a:prstGeom>
          <a:noFill/>
        </p:spPr>
        <p:txBody>
          <a:bodyPr wrap="square" lIns="0" rIns="0" tIns="0" bIns="0">
            <a:spAutoFit/>
          </a:bodyPr>
          <a:lstStyle/>
          <a:p>
            <a:pPr algn="l"/>
            <a:r>
              <a:rPr sz="1750" b="1" i="0">
                <a:solidFill>
                  <a:srgbClr val="0F172A"/>
                </a:solidFill>
                <a:latin typeface="Helvetica Neue"/>
              </a:rPr>
              <a:t>~40% are repeats</a:t>
            </a:r>
          </a:p>
        </p:txBody>
      </p:sp>
      <p:sp>
        <p:nvSpPr>
          <p:cNvPr id="11" name="TextBox 10"/>
          <p:cNvSpPr txBox="1"/>
          <p:nvPr/>
        </p:nvSpPr>
        <p:spPr>
          <a:xfrm>
            <a:off x="3685032" y="2871216"/>
            <a:ext cx="2304288" cy="548640"/>
          </a:xfrm>
          <a:prstGeom prst="rect">
            <a:avLst/>
          </a:prstGeom>
          <a:noFill/>
        </p:spPr>
        <p:txBody>
          <a:bodyPr wrap="square" lIns="0" rIns="0" tIns="0" bIns="0">
            <a:spAutoFit/>
          </a:bodyPr>
          <a:lstStyle/>
          <a:p>
            <a:pPr algn="l"/>
            <a:r>
              <a:rPr sz="1350" b="0" i="0">
                <a:solidFill>
                  <a:srgbClr val="475569"/>
                </a:solidFill>
                <a:latin typeface="Helvetica Neue"/>
              </a:rPr>
              <a:t>the same handful of questions</a:t>
            </a:r>
          </a:p>
        </p:txBody>
      </p:sp>
      <p:sp>
        <p:nvSpPr>
          <p:cNvPr id="12" name="Rounded Rectangle 11"/>
          <p:cNvSpPr/>
          <p:nvPr/>
        </p:nvSpPr>
        <p:spPr>
          <a:xfrm>
            <a:off x="6281928" y="2212848"/>
            <a:ext cx="2615184" cy="1298448"/>
          </a:xfrm>
          <a:prstGeom prst="roundRect">
            <a:avLst/>
          </a:prstGeom>
          <a:solidFill>
            <a:srgbClr val="FFFFFF"/>
          </a:solidFill>
          <a:ln>
            <a:solidFill>
              <a:srgbClr val="EEF1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83096" y="2395728"/>
            <a:ext cx="2286000" cy="457200"/>
          </a:xfrm>
          <a:prstGeom prst="rect">
            <a:avLst/>
          </a:prstGeom>
          <a:noFill/>
        </p:spPr>
        <p:txBody>
          <a:bodyPr wrap="square" lIns="0" rIns="0" tIns="0" bIns="0">
            <a:spAutoFit/>
          </a:bodyPr>
          <a:lstStyle/>
          <a:p>
            <a:pPr algn="l"/>
            <a:r>
              <a:rPr sz="1750" b="1" i="0">
                <a:solidFill>
                  <a:srgbClr val="0F172A"/>
                </a:solidFill>
                <a:latin typeface="Helvetica Neue"/>
              </a:rPr>
              <a:t>Nothing is sorted</a:t>
            </a:r>
          </a:p>
        </p:txBody>
      </p:sp>
      <p:sp>
        <p:nvSpPr>
          <p:cNvPr id="14" name="TextBox 13"/>
          <p:cNvSpPr txBox="1"/>
          <p:nvPr/>
        </p:nvSpPr>
        <p:spPr>
          <a:xfrm>
            <a:off x="6483096" y="2871216"/>
            <a:ext cx="2304288" cy="548640"/>
          </a:xfrm>
          <a:prstGeom prst="rect">
            <a:avLst/>
          </a:prstGeom>
          <a:noFill/>
        </p:spPr>
        <p:txBody>
          <a:bodyPr wrap="square" lIns="0" rIns="0" tIns="0" bIns="0">
            <a:spAutoFit/>
          </a:bodyPr>
          <a:lstStyle/>
          <a:p>
            <a:pPr algn="l"/>
            <a:r>
              <a:rPr sz="1350" b="0" i="0">
                <a:solidFill>
                  <a:srgbClr val="475569"/>
                </a:solidFill>
                <a:latin typeface="Helvetica Neue"/>
              </a:rPr>
              <a:t>no tags, no categories, just text</a:t>
            </a:r>
          </a:p>
        </p:txBody>
      </p:sp>
      <p:sp>
        <p:nvSpPr>
          <p:cNvPr id="15" name="Rounded Rectangle 14"/>
          <p:cNvSpPr/>
          <p:nvPr/>
        </p:nvSpPr>
        <p:spPr>
          <a:xfrm>
            <a:off x="9079992" y="2212848"/>
            <a:ext cx="2615184" cy="1298448"/>
          </a:xfrm>
          <a:prstGeom prst="roundRect">
            <a:avLst/>
          </a:prstGeom>
          <a:solidFill>
            <a:srgbClr val="FFFFFF"/>
          </a:solidFill>
          <a:ln>
            <a:solidFill>
              <a:srgbClr val="EEF1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81160" y="2395728"/>
            <a:ext cx="2286000" cy="457200"/>
          </a:xfrm>
          <a:prstGeom prst="rect">
            <a:avLst/>
          </a:prstGeom>
          <a:noFill/>
        </p:spPr>
        <p:txBody>
          <a:bodyPr wrap="square" lIns="0" rIns="0" tIns="0" bIns="0">
            <a:spAutoFit/>
          </a:bodyPr>
          <a:lstStyle/>
          <a:p>
            <a:pPr algn="l"/>
            <a:r>
              <a:rPr sz="1750" b="1" i="0">
                <a:solidFill>
                  <a:srgbClr val="0F172A"/>
                </a:solidFill>
                <a:latin typeface="Helvetica Neue"/>
              </a:rPr>
              <a:t>Minutes lost per ticket</a:t>
            </a:r>
          </a:p>
        </p:txBody>
      </p:sp>
      <p:sp>
        <p:nvSpPr>
          <p:cNvPr id="17" name="TextBox 16"/>
          <p:cNvSpPr txBox="1"/>
          <p:nvPr/>
        </p:nvSpPr>
        <p:spPr>
          <a:xfrm>
            <a:off x="9281160" y="2871216"/>
            <a:ext cx="2304288" cy="548640"/>
          </a:xfrm>
          <a:prstGeom prst="rect">
            <a:avLst/>
          </a:prstGeom>
          <a:noFill/>
        </p:spPr>
        <p:txBody>
          <a:bodyPr wrap="square" lIns="0" rIns="0" tIns="0" bIns="0">
            <a:spAutoFit/>
          </a:bodyPr>
          <a:lstStyle/>
          <a:p>
            <a:pPr algn="l"/>
            <a:r>
              <a:rPr sz="1350" b="0" i="0">
                <a:solidFill>
                  <a:srgbClr val="475569"/>
                </a:solidFill>
                <a:latin typeface="Helvetica Neue"/>
              </a:rPr>
              <a:t>just working out who should own it</a:t>
            </a:r>
          </a:p>
        </p:txBody>
      </p:sp>
      <p:sp>
        <p:nvSpPr>
          <p:cNvPr id="18" name="Rounded Rectangle 17"/>
          <p:cNvSpPr/>
          <p:nvPr/>
        </p:nvSpPr>
        <p:spPr>
          <a:xfrm>
            <a:off x="640080" y="3703320"/>
            <a:ext cx="10908792" cy="1481328"/>
          </a:xfrm>
          <a:prstGeom prst="roundRect">
            <a:avLst>
              <a:gd name="adj" fmla="val 6000"/>
            </a:avLst>
          </a:prstGeom>
          <a:solidFill>
            <a:srgbClr val="FFFBEB"/>
          </a:solidFill>
          <a:ln>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3858768"/>
            <a:ext cx="10424160" cy="274320"/>
          </a:xfrm>
          <a:prstGeom prst="rect">
            <a:avLst/>
          </a:prstGeom>
          <a:noFill/>
        </p:spPr>
        <p:txBody>
          <a:bodyPr wrap="square" lIns="0" rIns="0" tIns="0" bIns="0">
            <a:spAutoFit/>
          </a:bodyPr>
          <a:lstStyle/>
          <a:p>
            <a:pPr algn="l"/>
            <a:r>
              <a:rPr sz="1150" b="1" i="0" spc="180">
                <a:solidFill>
                  <a:srgbClr val="B45309"/>
                </a:solidFill>
                <a:latin typeface="Helvetica Neue"/>
              </a:rPr>
              <a:t>WHY THAT THIRD BOX IS THE HARD ONE</a:t>
            </a:r>
          </a:p>
        </p:txBody>
      </p:sp>
      <p:sp>
        <p:nvSpPr>
          <p:cNvPr id="20" name="TextBox 19"/>
          <p:cNvSpPr txBox="1"/>
          <p:nvPr/>
        </p:nvSpPr>
        <p:spPr>
          <a:xfrm>
            <a:off x="914400" y="4169663"/>
            <a:ext cx="10378440" cy="914400"/>
          </a:xfrm>
          <a:prstGeom prst="rect">
            <a:avLst/>
          </a:prstGeom>
          <a:noFill/>
        </p:spPr>
        <p:txBody>
          <a:bodyPr wrap="square" lIns="0" rIns="0" tIns="0" bIns="0">
            <a:spAutoFit/>
          </a:bodyPr>
          <a:lstStyle/>
          <a:p>
            <a:pPr algn="l"/>
            <a:r>
              <a:rPr sz="1500" b="0" i="0">
                <a:solidFill>
                  <a:srgbClr val="334155"/>
                </a:solidFill>
                <a:latin typeface="Helvetica Neue"/>
              </a:rPr>
              <a:t>The normal way to teach a computer to sort text is to hand it a few thousand examples that a person has already sorted by hand. Those hand-sorted examples are called training data, and most machine learning cannot start without them. Cobalt has none. Building that pile would mean paying people to read and tag thousands of tickets before you could write a line of code.</a:t>
            </a:r>
          </a:p>
        </p:txBody>
      </p:sp>
      <p:sp>
        <p:nvSpPr>
          <p:cNvPr id="21" name="TextBox 20"/>
          <p:cNvSpPr txBox="1"/>
          <p:nvPr/>
        </p:nvSpPr>
        <p:spPr>
          <a:xfrm>
            <a:off x="640080" y="5413248"/>
            <a:ext cx="10881360" cy="457200"/>
          </a:xfrm>
          <a:prstGeom prst="rect">
            <a:avLst/>
          </a:prstGeom>
          <a:noFill/>
        </p:spPr>
        <p:txBody>
          <a:bodyPr wrap="square" lIns="0" rIns="0" tIns="0" bIns="0">
            <a:spAutoFit/>
          </a:bodyPr>
          <a:lstStyle/>
          <a:p>
            <a:pPr algn="l"/>
            <a:r>
              <a:rPr sz="1600" b="0" i="1">
                <a:solidFill>
                  <a:srgbClr val="0F172A"/>
                </a:solidFill>
                <a:latin typeface="Helvetica Neue"/>
              </a:rPr>
              <a:t>So tonight we build something that never needs them. We start with the half that READS the inbox: search it, sort it, and decide what a person actually has to see.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4F46E5"/>
                </a:solidFill>
                <a:latin typeface="Helvetica Neue"/>
              </a:rPr>
              <a:t>THE PLAN</a:t>
            </a:r>
          </a:p>
        </p:txBody>
      </p:sp>
      <p:sp>
        <p:nvSpPr>
          <p:cNvPr id="3" name="TextBox 2"/>
          <p:cNvSpPr txBox="1"/>
          <p:nvPr/>
        </p:nvSpPr>
        <p:spPr>
          <a:xfrm>
            <a:off x="640080" y="758952"/>
            <a:ext cx="10972800" cy="704088"/>
          </a:xfrm>
          <a:prstGeom prst="rect">
            <a:avLst/>
          </a:prstGeom>
          <a:noFill/>
        </p:spPr>
        <p:txBody>
          <a:bodyPr wrap="square" lIns="0" rIns="0" tIns="0" bIns="0">
            <a:spAutoFit/>
          </a:bodyPr>
          <a:lstStyle/>
          <a:p>
            <a:pPr algn="l"/>
            <a:r>
              <a:rPr sz="2900" b="1" i="0">
                <a:solidFill>
                  <a:srgbClr val="0F172A"/>
                </a:solidFill>
                <a:latin typeface="Helvetica Neue"/>
              </a:rPr>
              <a:t>Four capabilities, built in order.</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Each one is useful on its own. Together they are a product.</a:t>
            </a:r>
          </a:p>
        </p:txBody>
      </p:sp>
      <p:sp>
        <p:nvSpPr>
          <p:cNvPr id="5" name="TextBox 4"/>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6" name="Picture 5" descr="d_plan.png"/>
          <p:cNvPicPr>
            <a:picLocks noChangeAspect="1"/>
          </p:cNvPicPr>
          <p:nvPr/>
        </p:nvPicPr>
        <p:blipFill>
          <a:blip r:embed="rId2"/>
          <a:stretch>
            <a:fillRect/>
          </a:stretch>
        </p:blipFill>
        <p:spPr>
          <a:xfrm>
            <a:off x="518007" y="2630057"/>
            <a:ext cx="11155680" cy="3106645"/>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0EA5E9"/>
                </a:solidFill>
                <a:latin typeface="Helvetica Neue"/>
              </a:rPr>
              <a:t>RETRIEVE</a:t>
            </a:r>
          </a:p>
        </p:txBody>
      </p:sp>
      <p:sp>
        <p:nvSpPr>
          <p:cNvPr id="3" name="TextBox 2"/>
          <p:cNvSpPr txBox="1"/>
          <p:nvPr/>
        </p:nvSpPr>
        <p:spPr>
          <a:xfrm>
            <a:off x="640080" y="758952"/>
            <a:ext cx="7680960" cy="704088"/>
          </a:xfrm>
          <a:prstGeom prst="rect">
            <a:avLst/>
          </a:prstGeom>
          <a:noFill/>
        </p:spPr>
        <p:txBody>
          <a:bodyPr wrap="square" lIns="0" rIns="0" tIns="0" bIns="0">
            <a:spAutoFit/>
          </a:bodyPr>
          <a:lstStyle/>
          <a:p>
            <a:pPr algn="l"/>
            <a:r>
              <a:rPr sz="2900" b="1" i="0">
                <a:solidFill>
                  <a:srgbClr val="0F172A"/>
                </a:solidFill>
                <a:latin typeface="Helvetica Neue"/>
              </a:rPr>
              <a:t>Search that finds what you meant.</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Before any theory: watch it find tickets that do not contain a single word you typed.</a:t>
            </a:r>
          </a:p>
        </p:txBody>
      </p:sp>
      <p:sp>
        <p:nvSpPr>
          <p:cNvPr id="5" name="Rounded Rectangle 4"/>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549640" y="438912"/>
            <a:ext cx="329184" cy="329184"/>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94776"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1</a:t>
            </a:r>
          </a:p>
        </p:txBody>
      </p:sp>
      <p:sp>
        <p:nvSpPr>
          <p:cNvPr id="8" name="Rounded Rectangle 7"/>
          <p:cNvSpPr/>
          <p:nvPr/>
        </p:nvSpPr>
        <p:spPr>
          <a:xfrm>
            <a:off x="9244584"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89719"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2</a:t>
            </a:r>
          </a:p>
        </p:txBody>
      </p:sp>
      <p:sp>
        <p:nvSpPr>
          <p:cNvPr id="10" name="Rounded Rectangle 9"/>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48087"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3</a:t>
            </a:r>
          </a:p>
        </p:txBody>
      </p:sp>
      <p:sp>
        <p:nvSpPr>
          <p:cNvPr id="12" name="Rounded Rectangle 11"/>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4" name="TextBox 13"/>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5" name="Picture 14" descr="d_search.png"/>
          <p:cNvPicPr>
            <a:picLocks noChangeAspect="1"/>
          </p:cNvPicPr>
          <p:nvPr/>
        </p:nvPicPr>
        <p:blipFill>
          <a:blip r:embed="rId2"/>
          <a:stretch>
            <a:fillRect/>
          </a:stretch>
        </p:blipFill>
        <p:spPr>
          <a:xfrm>
            <a:off x="1986177" y="1965960"/>
            <a:ext cx="8219340" cy="4251960"/>
          </a:xfrm>
          <a:prstGeom prst="rect">
            <a:avLst/>
          </a:prstGeom>
        </p:spPr>
      </p:pic>
      <p:sp>
        <p:nvSpPr>
          <p:cNvPr id="16" name="Rounded Rectangle 15"/>
          <p:cNvSpPr/>
          <p:nvPr/>
        </p:nvSpPr>
        <p:spPr>
          <a:xfrm>
            <a:off x="6505041" y="6345936"/>
            <a:ext cx="5046573"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547457" y="6396228"/>
            <a:ext cx="68580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60489"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19" name="TextBox 18"/>
          <p:cNvSpPr txBox="1"/>
          <p:nvPr/>
        </p:nvSpPr>
        <p:spPr>
          <a:xfrm>
            <a:off x="7547457" y="6451092"/>
            <a:ext cx="685800" cy="219456"/>
          </a:xfrm>
          <a:prstGeom prst="rect">
            <a:avLst/>
          </a:prstGeom>
          <a:noFill/>
        </p:spPr>
        <p:txBody>
          <a:bodyPr wrap="none" lIns="0" rIns="0" tIns="0" bIns="0">
            <a:spAutoFit/>
          </a:bodyPr>
          <a:lstStyle/>
          <a:p>
            <a:pPr algn="ctr"/>
            <a:r>
              <a:rPr sz="1100" b="1" i="0">
                <a:solidFill>
                  <a:srgbClr val="FFFFFF"/>
                </a:solidFill>
                <a:latin typeface="Helvetica Neue"/>
              </a:rPr>
              <a:t>STEP 3</a:t>
            </a:r>
          </a:p>
        </p:txBody>
      </p:sp>
      <p:sp>
        <p:nvSpPr>
          <p:cNvPr id="20" name="TextBox 19"/>
          <p:cNvSpPr txBox="1"/>
          <p:nvPr/>
        </p:nvSpPr>
        <p:spPr>
          <a:xfrm>
            <a:off x="8352129" y="6460236"/>
            <a:ext cx="3098901" cy="219456"/>
          </a:xfrm>
          <a:prstGeom prst="rect">
            <a:avLst/>
          </a:prstGeom>
          <a:noFill/>
        </p:spPr>
        <p:txBody>
          <a:bodyPr wrap="none" lIns="0" rIns="0" tIns="0" bIns="0">
            <a:spAutoFit/>
          </a:bodyPr>
          <a:lstStyle/>
          <a:p>
            <a:pPr algn="l"/>
            <a:r>
              <a:rPr sz="1000" b="1" i="0">
                <a:solidFill>
                  <a:srgbClr val="FFFFFF"/>
                </a:solidFill>
                <a:latin typeface="Helvetica Neue"/>
              </a:rPr>
              <a:t>Turn tickets into vectors, then search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0EA5E9"/>
                </a:solidFill>
                <a:latin typeface="Helvetica Neue"/>
              </a:rPr>
              <a:t>RETRIEVE</a:t>
            </a:r>
          </a:p>
        </p:txBody>
      </p:sp>
      <p:sp>
        <p:nvSpPr>
          <p:cNvPr id="3" name="TextBox 2"/>
          <p:cNvSpPr txBox="1"/>
          <p:nvPr/>
        </p:nvSpPr>
        <p:spPr>
          <a:xfrm>
            <a:off x="640080" y="758952"/>
            <a:ext cx="7680960" cy="704088"/>
          </a:xfrm>
          <a:prstGeom prst="rect">
            <a:avLst/>
          </a:prstGeom>
          <a:noFill/>
        </p:spPr>
        <p:txBody>
          <a:bodyPr wrap="square" lIns="0" rIns="0" tIns="0" bIns="0">
            <a:spAutoFit/>
          </a:bodyPr>
          <a:lstStyle/>
          <a:p>
            <a:pPr algn="l"/>
            <a:r>
              <a:rPr sz="2300" b="1" i="0">
                <a:solidFill>
                  <a:srgbClr val="0F172A"/>
                </a:solidFill>
                <a:latin typeface="Helvetica Neue"/>
              </a:rPr>
              <a:t>One gotcha before you promise anyone this works.</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The model turns text into numbers by splitting it into chunks. Watch what that does to your product vocabulary.</a:t>
            </a:r>
          </a:p>
        </p:txBody>
      </p:sp>
      <p:sp>
        <p:nvSpPr>
          <p:cNvPr id="5" name="Rounded Rectangle 4"/>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549640" y="438912"/>
            <a:ext cx="329184" cy="329184"/>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94776"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1</a:t>
            </a:r>
          </a:p>
        </p:txBody>
      </p:sp>
      <p:sp>
        <p:nvSpPr>
          <p:cNvPr id="8" name="Rounded Rectangle 7"/>
          <p:cNvSpPr/>
          <p:nvPr/>
        </p:nvSpPr>
        <p:spPr>
          <a:xfrm>
            <a:off x="9244584"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89719"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2</a:t>
            </a:r>
          </a:p>
        </p:txBody>
      </p:sp>
      <p:sp>
        <p:nvSpPr>
          <p:cNvPr id="10" name="Rounded Rectangle 9"/>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48087"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3</a:t>
            </a:r>
          </a:p>
        </p:txBody>
      </p:sp>
      <p:sp>
        <p:nvSpPr>
          <p:cNvPr id="12" name="Rounded Rectangle 11"/>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4" name="TextBox 13"/>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5" name="Picture 14" descr="d_jargon.png"/>
          <p:cNvPicPr>
            <a:picLocks noChangeAspect="1"/>
          </p:cNvPicPr>
          <p:nvPr/>
        </p:nvPicPr>
        <p:blipFill>
          <a:blip r:embed="rId2"/>
          <a:stretch>
            <a:fillRect/>
          </a:stretch>
        </p:blipFill>
        <p:spPr>
          <a:xfrm>
            <a:off x="518007" y="2436196"/>
            <a:ext cx="11155680" cy="3311487"/>
          </a:xfrm>
          <a:prstGeom prst="rect">
            <a:avLst/>
          </a:prstGeom>
        </p:spPr>
      </p:pic>
      <p:sp>
        <p:nvSpPr>
          <p:cNvPr id="16" name="Rounded Rectangle 15"/>
          <p:cNvSpPr/>
          <p:nvPr/>
        </p:nvSpPr>
        <p:spPr>
          <a:xfrm>
            <a:off x="7172553" y="6345936"/>
            <a:ext cx="4379061"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214969" y="6396228"/>
            <a:ext cx="68580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28001"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19" name="TextBox 18"/>
          <p:cNvSpPr txBox="1"/>
          <p:nvPr/>
        </p:nvSpPr>
        <p:spPr>
          <a:xfrm>
            <a:off x="8214969" y="6451092"/>
            <a:ext cx="685800" cy="219456"/>
          </a:xfrm>
          <a:prstGeom prst="rect">
            <a:avLst/>
          </a:prstGeom>
          <a:noFill/>
        </p:spPr>
        <p:txBody>
          <a:bodyPr wrap="none" lIns="0" rIns="0" tIns="0" bIns="0">
            <a:spAutoFit/>
          </a:bodyPr>
          <a:lstStyle/>
          <a:p>
            <a:pPr algn="ctr"/>
            <a:r>
              <a:rPr sz="1100" b="1" i="0">
                <a:solidFill>
                  <a:srgbClr val="FFFFFF"/>
                </a:solidFill>
                <a:latin typeface="Helvetica Neue"/>
              </a:rPr>
              <a:t>STEP 7</a:t>
            </a:r>
          </a:p>
        </p:txBody>
      </p:sp>
      <p:sp>
        <p:nvSpPr>
          <p:cNvPr id="20" name="TextBox 19"/>
          <p:cNvSpPr txBox="1"/>
          <p:nvPr/>
        </p:nvSpPr>
        <p:spPr>
          <a:xfrm>
            <a:off x="9019641" y="6460236"/>
            <a:ext cx="2431389" cy="219456"/>
          </a:xfrm>
          <a:prstGeom prst="rect">
            <a:avLst/>
          </a:prstGeom>
          <a:noFill/>
        </p:spPr>
        <p:txBody>
          <a:bodyPr wrap="none" lIns="0" rIns="0" tIns="0" bIns="0">
            <a:spAutoFit/>
          </a:bodyPr>
          <a:lstStyle/>
          <a:p>
            <a:pPr algn="l"/>
            <a:r>
              <a:rPr sz="1000" b="1" i="0">
                <a:solidFill>
                  <a:srgbClr val="FFFFFF"/>
                </a:solidFill>
                <a:latin typeface="Helvetica Neue"/>
              </a:rPr>
              <a:t>Test your product vocabulary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0EA5E9"/>
                </a:solidFill>
                <a:latin typeface="Helvetica Neue"/>
              </a:rPr>
              <a:t>RETRIEVE</a:t>
            </a:r>
          </a:p>
        </p:txBody>
      </p:sp>
      <p:sp>
        <p:nvSpPr>
          <p:cNvPr id="3" name="TextBox 2"/>
          <p:cNvSpPr txBox="1"/>
          <p:nvPr/>
        </p:nvSpPr>
        <p:spPr>
          <a:xfrm>
            <a:off x="640080" y="758952"/>
            <a:ext cx="7680960" cy="704088"/>
          </a:xfrm>
          <a:prstGeom prst="rect">
            <a:avLst/>
          </a:prstGeom>
          <a:noFill/>
        </p:spPr>
        <p:txBody>
          <a:bodyPr wrap="square" lIns="0" rIns="0" tIns="0" bIns="0">
            <a:spAutoFit/>
          </a:bodyPr>
          <a:lstStyle/>
          <a:p>
            <a:pPr algn="l"/>
            <a:r>
              <a:rPr sz="2900" b="1" i="0">
                <a:solidFill>
                  <a:srgbClr val="0F172A"/>
                </a:solidFill>
                <a:latin typeface="Helvetica Neue"/>
              </a:rPr>
              <a:t>How the meaning gets in there.</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We are going to watch the first eight minutes of this together, then come back to this picture.</a:t>
            </a:r>
          </a:p>
        </p:txBody>
      </p:sp>
      <p:sp>
        <p:nvSpPr>
          <p:cNvPr id="5" name="Rounded Rectangle 4"/>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549640" y="438912"/>
            <a:ext cx="329184" cy="329184"/>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94776"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1</a:t>
            </a:r>
          </a:p>
        </p:txBody>
      </p:sp>
      <p:sp>
        <p:nvSpPr>
          <p:cNvPr id="8" name="Rounded Rectangle 7"/>
          <p:cNvSpPr/>
          <p:nvPr/>
        </p:nvSpPr>
        <p:spPr>
          <a:xfrm>
            <a:off x="9244584"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89719"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2</a:t>
            </a:r>
          </a:p>
        </p:txBody>
      </p:sp>
      <p:sp>
        <p:nvSpPr>
          <p:cNvPr id="10" name="Rounded Rectangle 9"/>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48087"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3</a:t>
            </a:r>
          </a:p>
        </p:txBody>
      </p:sp>
      <p:sp>
        <p:nvSpPr>
          <p:cNvPr id="12" name="Rounded Rectangle 11"/>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4" name="TextBox 13"/>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5" name="Picture 14" descr="fig_blockflow.png"/>
          <p:cNvPicPr>
            <a:picLocks noChangeAspect="1"/>
          </p:cNvPicPr>
          <p:nvPr/>
        </p:nvPicPr>
        <p:blipFill>
          <a:blip r:embed="rId2"/>
          <a:stretch>
            <a:fillRect/>
          </a:stretch>
        </p:blipFill>
        <p:spPr>
          <a:xfrm>
            <a:off x="956034" y="1906524"/>
            <a:ext cx="10279625" cy="4041648"/>
          </a:xfrm>
          <a:prstGeom prst="rect">
            <a:avLst/>
          </a:prstGeom>
        </p:spPr>
      </p:pic>
      <p:sp>
        <p:nvSpPr>
          <p:cNvPr id="16" name="TextBox 15"/>
          <p:cNvSpPr txBox="1"/>
          <p:nvPr/>
        </p:nvSpPr>
        <p:spPr>
          <a:xfrm>
            <a:off x="640080" y="6053328"/>
            <a:ext cx="10881360" cy="310896"/>
          </a:xfrm>
          <a:prstGeom prst="rect">
            <a:avLst/>
          </a:prstGeom>
          <a:noFill/>
        </p:spPr>
        <p:txBody>
          <a:bodyPr wrap="square">
            <a:spAutoFit/>
          </a:bodyPr>
          <a:lstStyle/>
          <a:p>
            <a:pPr algn="ctr"/>
            <a:r>
              <a:rPr sz="1350" i="1">
                <a:solidFill>
                  <a:srgbClr val="475569"/>
                </a:solidFill>
                <a:latin typeface="Helvetica Neue"/>
              </a:rPr>
              <a:t>Watch 0:00 to 8:00, stop at the end of Queries.     </a:t>
            </a:r>
            <a:r>
              <a:rPr sz="1350" b="1" u="sng">
                <a:solidFill>
                  <a:srgbClr val="1D4ED8"/>
                </a:solidFill>
                <a:latin typeface="Helvetica Neue"/>
                <a:hlinkClick r:id="rId3"/>
              </a:rPr>
              <a:t>3Blue1Brown, Attention in transformers</a:t>
            </a:r>
          </a:p>
        </p:txBody>
      </p:sp>
      <p:sp>
        <p:nvSpPr>
          <p:cNvPr id="17" name="Rounded Rectangle 16"/>
          <p:cNvSpPr/>
          <p:nvPr/>
        </p:nvSpPr>
        <p:spPr>
          <a:xfrm>
            <a:off x="7105802" y="6345936"/>
            <a:ext cx="4445812"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148218" y="6396228"/>
            <a:ext cx="68580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61250"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20" name="TextBox 19"/>
          <p:cNvSpPr txBox="1"/>
          <p:nvPr/>
        </p:nvSpPr>
        <p:spPr>
          <a:xfrm>
            <a:off x="8148218" y="6451092"/>
            <a:ext cx="685800" cy="219456"/>
          </a:xfrm>
          <a:prstGeom prst="rect">
            <a:avLst/>
          </a:prstGeom>
          <a:noFill/>
        </p:spPr>
        <p:txBody>
          <a:bodyPr wrap="none" lIns="0" rIns="0" tIns="0" bIns="0">
            <a:spAutoFit/>
          </a:bodyPr>
          <a:lstStyle/>
          <a:p>
            <a:pPr algn="ctr"/>
            <a:r>
              <a:rPr sz="1100" b="1" i="0">
                <a:solidFill>
                  <a:srgbClr val="FFFFFF"/>
                </a:solidFill>
                <a:latin typeface="Helvetica Neue"/>
              </a:rPr>
              <a:t>STEP 9</a:t>
            </a:r>
          </a:p>
        </p:txBody>
      </p:sp>
      <p:sp>
        <p:nvSpPr>
          <p:cNvPr id="21" name="TextBox 20"/>
          <p:cNvSpPr txBox="1"/>
          <p:nvPr/>
        </p:nvSpPr>
        <p:spPr>
          <a:xfrm>
            <a:off x="8952890" y="6460236"/>
            <a:ext cx="2498140" cy="219456"/>
          </a:xfrm>
          <a:prstGeom prst="rect">
            <a:avLst/>
          </a:prstGeom>
          <a:noFill/>
        </p:spPr>
        <p:txBody>
          <a:bodyPr wrap="none" lIns="0" rIns="0" tIns="0" bIns="0">
            <a:spAutoFit/>
          </a:bodyPr>
          <a:lstStyle/>
          <a:p>
            <a:pPr algn="l"/>
            <a:r>
              <a:rPr sz="1000" b="1" i="0">
                <a:solidFill>
                  <a:srgbClr val="FFFFFF"/>
                </a:solidFill>
                <a:latin typeface="Helvetica Neue"/>
              </a:rPr>
              <a:t>Watch attention change a word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7C3AED"/>
                </a:solidFill>
                <a:latin typeface="Helvetica Neue"/>
              </a:rPr>
              <a:t>ROUTE</a:t>
            </a:r>
          </a:p>
        </p:txBody>
      </p:sp>
      <p:sp>
        <p:nvSpPr>
          <p:cNvPr id="3" name="TextBox 2"/>
          <p:cNvSpPr txBox="1"/>
          <p:nvPr/>
        </p:nvSpPr>
        <p:spPr>
          <a:xfrm>
            <a:off x="640080" y="758952"/>
            <a:ext cx="7680960" cy="1179576"/>
          </a:xfrm>
          <a:prstGeom prst="rect">
            <a:avLst/>
          </a:prstGeom>
          <a:noFill/>
        </p:spPr>
        <p:txBody>
          <a:bodyPr wrap="square" lIns="0" rIns="0" tIns="0" bIns="0">
            <a:spAutoFit/>
          </a:bodyPr>
          <a:lstStyle/>
          <a:p>
            <a:pPr algn="l"/>
            <a:r>
              <a:rPr sz="2900" b="1" i="0">
                <a:solidFill>
                  <a:srgbClr val="0F172A"/>
                </a:solidFill>
                <a:latin typeface="Helvetica Neue"/>
              </a:rPr>
              <a:t>Sort the inbox with no training data at all.</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86215"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31351"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1</a:t>
            </a:r>
          </a:p>
        </p:txBody>
      </p:sp>
      <p:sp>
        <p:nvSpPr>
          <p:cNvPr id="7" name="Rounded Rectangle 6"/>
          <p:cNvSpPr/>
          <p:nvPr/>
        </p:nvSpPr>
        <p:spPr>
          <a:xfrm>
            <a:off x="9208008" y="438912"/>
            <a:ext cx="329184" cy="329184"/>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53144"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2</a:t>
            </a:r>
          </a:p>
        </p:txBody>
      </p:sp>
      <p:sp>
        <p:nvSpPr>
          <p:cNvPr id="9" name="Rounded Rectangle 8"/>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48087"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3</a:t>
            </a:r>
          </a:p>
        </p:txBody>
      </p:sp>
      <p:sp>
        <p:nvSpPr>
          <p:cNvPr id="11" name="Rounded Rectangle 10"/>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4" name="Picture 13" descr="d_zs.png"/>
          <p:cNvPicPr>
            <a:picLocks noChangeAspect="1"/>
          </p:cNvPicPr>
          <p:nvPr/>
        </p:nvPicPr>
        <p:blipFill>
          <a:blip r:embed="rId2"/>
          <a:stretch>
            <a:fillRect/>
          </a:stretch>
        </p:blipFill>
        <p:spPr>
          <a:xfrm>
            <a:off x="1473370" y="1965960"/>
            <a:ext cx="9244954" cy="4297679"/>
          </a:xfrm>
          <a:prstGeom prst="rect">
            <a:avLst/>
          </a:prstGeom>
        </p:spPr>
      </p:pic>
      <p:sp>
        <p:nvSpPr>
          <p:cNvPr id="15" name="Rounded Rectangle 14"/>
          <p:cNvSpPr/>
          <p:nvPr/>
        </p:nvSpPr>
        <p:spPr>
          <a:xfrm>
            <a:off x="6505041" y="6345936"/>
            <a:ext cx="5046573"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547457" y="6396228"/>
            <a:ext cx="75438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60489"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18" name="TextBox 17"/>
          <p:cNvSpPr txBox="1"/>
          <p:nvPr/>
        </p:nvSpPr>
        <p:spPr>
          <a:xfrm>
            <a:off x="7547457" y="6451092"/>
            <a:ext cx="754380" cy="219456"/>
          </a:xfrm>
          <a:prstGeom prst="rect">
            <a:avLst/>
          </a:prstGeom>
          <a:noFill/>
        </p:spPr>
        <p:txBody>
          <a:bodyPr wrap="none" lIns="0" rIns="0" tIns="0" bIns="0">
            <a:spAutoFit/>
          </a:bodyPr>
          <a:lstStyle/>
          <a:p>
            <a:pPr algn="ctr"/>
            <a:r>
              <a:rPr sz="1100" b="1" i="0">
                <a:solidFill>
                  <a:srgbClr val="FFFFFF"/>
                </a:solidFill>
                <a:latin typeface="Helvetica Neue"/>
              </a:rPr>
              <a:t>STEP 13</a:t>
            </a:r>
          </a:p>
        </p:txBody>
      </p:sp>
      <p:sp>
        <p:nvSpPr>
          <p:cNvPr id="19" name="TextBox 18"/>
          <p:cNvSpPr txBox="1"/>
          <p:nvPr/>
        </p:nvSpPr>
        <p:spPr>
          <a:xfrm>
            <a:off x="8420709" y="6460236"/>
            <a:ext cx="3030321" cy="219456"/>
          </a:xfrm>
          <a:prstGeom prst="rect">
            <a:avLst/>
          </a:prstGeom>
          <a:noFill/>
        </p:spPr>
        <p:txBody>
          <a:bodyPr wrap="none" lIns="0" rIns="0" tIns="0" bIns="0">
            <a:spAutoFit/>
          </a:bodyPr>
          <a:lstStyle/>
          <a:p>
            <a:pPr algn="l"/>
            <a:r>
              <a:rPr sz="1000" b="1" i="0">
                <a:solidFill>
                  <a:srgbClr val="FFFFFF"/>
                </a:solidFill>
                <a:latin typeface="Helvetica Neue"/>
              </a:rPr>
              <a:t>Route the inbox with no training data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7C3AED"/>
                </a:solidFill>
                <a:latin typeface="Helvetica Neue"/>
              </a:rPr>
              <a:t>ROUTE</a:t>
            </a:r>
          </a:p>
        </p:txBody>
      </p:sp>
      <p:sp>
        <p:nvSpPr>
          <p:cNvPr id="3" name="TextBox 2"/>
          <p:cNvSpPr txBox="1"/>
          <p:nvPr/>
        </p:nvSpPr>
        <p:spPr>
          <a:xfrm>
            <a:off x="640080" y="758952"/>
            <a:ext cx="7680960" cy="704088"/>
          </a:xfrm>
          <a:prstGeom prst="rect">
            <a:avLst/>
          </a:prstGeom>
          <a:noFill/>
        </p:spPr>
        <p:txBody>
          <a:bodyPr wrap="square" lIns="0" rIns="0" tIns="0" bIns="0">
            <a:spAutoFit/>
          </a:bodyPr>
          <a:lstStyle/>
          <a:p>
            <a:pPr algn="l"/>
            <a:r>
              <a:rPr sz="2450" b="1" i="0">
                <a:solidFill>
                  <a:srgbClr val="0F172A"/>
                </a:solidFill>
                <a:latin typeface="Helvetica Neue"/>
              </a:rPr>
              <a:t>It is not a classifier. It is a fact-checker.</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The model judges whether a sentence YOU wrote is true of the ticket.</a:t>
            </a:r>
          </a:p>
        </p:txBody>
      </p:sp>
      <p:sp>
        <p:nvSpPr>
          <p:cNvPr id="5" name="Rounded Rectangle 4"/>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586215"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31351"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1</a:t>
            </a:r>
          </a:p>
        </p:txBody>
      </p:sp>
      <p:sp>
        <p:nvSpPr>
          <p:cNvPr id="8" name="Rounded Rectangle 7"/>
          <p:cNvSpPr/>
          <p:nvPr/>
        </p:nvSpPr>
        <p:spPr>
          <a:xfrm>
            <a:off x="9208008" y="438912"/>
            <a:ext cx="329184" cy="329184"/>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53144"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2</a:t>
            </a:r>
          </a:p>
        </p:txBody>
      </p:sp>
      <p:sp>
        <p:nvSpPr>
          <p:cNvPr id="10" name="Rounded Rectangle 9"/>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48087"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3</a:t>
            </a:r>
          </a:p>
        </p:txBody>
      </p:sp>
      <p:sp>
        <p:nvSpPr>
          <p:cNvPr id="12" name="Rounded Rectangle 11"/>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4" name="TextBox 13"/>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5" name="Picture 14" descr="d_nli.png"/>
          <p:cNvPicPr>
            <a:picLocks noChangeAspect="1"/>
          </p:cNvPicPr>
          <p:nvPr/>
        </p:nvPicPr>
        <p:blipFill>
          <a:blip r:embed="rId2"/>
          <a:stretch>
            <a:fillRect/>
          </a:stretch>
        </p:blipFill>
        <p:spPr>
          <a:xfrm>
            <a:off x="518007" y="2596680"/>
            <a:ext cx="11155680" cy="2350438"/>
          </a:xfrm>
          <a:prstGeom prst="rect">
            <a:avLst/>
          </a:prstGeom>
        </p:spPr>
      </p:pic>
      <p:sp>
        <p:nvSpPr>
          <p:cNvPr id="16" name="Rounded Rectangle 15"/>
          <p:cNvSpPr/>
          <p:nvPr/>
        </p:nvSpPr>
        <p:spPr>
          <a:xfrm>
            <a:off x="7306056" y="6345936"/>
            <a:ext cx="4245559"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348472" y="6396228"/>
            <a:ext cx="75438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61504"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19" name="TextBox 18"/>
          <p:cNvSpPr txBox="1"/>
          <p:nvPr/>
        </p:nvSpPr>
        <p:spPr>
          <a:xfrm>
            <a:off x="8348472" y="6451092"/>
            <a:ext cx="754380" cy="219456"/>
          </a:xfrm>
          <a:prstGeom prst="rect">
            <a:avLst/>
          </a:prstGeom>
          <a:noFill/>
        </p:spPr>
        <p:txBody>
          <a:bodyPr wrap="none" lIns="0" rIns="0" tIns="0" bIns="0">
            <a:spAutoFit/>
          </a:bodyPr>
          <a:lstStyle/>
          <a:p>
            <a:pPr algn="ctr"/>
            <a:r>
              <a:rPr sz="1100" b="1" i="0">
                <a:solidFill>
                  <a:srgbClr val="FFFFFF"/>
                </a:solidFill>
                <a:latin typeface="Helvetica Neue"/>
              </a:rPr>
              <a:t>STEP 17</a:t>
            </a:r>
          </a:p>
        </p:txBody>
      </p:sp>
      <p:sp>
        <p:nvSpPr>
          <p:cNvPr id="20" name="TextBox 19"/>
          <p:cNvSpPr txBox="1"/>
          <p:nvPr/>
        </p:nvSpPr>
        <p:spPr>
          <a:xfrm>
            <a:off x="9221724" y="6460236"/>
            <a:ext cx="2229307" cy="219456"/>
          </a:xfrm>
          <a:prstGeom prst="rect">
            <a:avLst/>
          </a:prstGeom>
          <a:noFill/>
        </p:spPr>
        <p:txBody>
          <a:bodyPr wrap="none" lIns="0" rIns="0" tIns="0" bIns="0">
            <a:spAutoFit/>
          </a:bodyPr>
          <a:lstStyle/>
          <a:p>
            <a:pPr algn="l"/>
            <a:r>
              <a:rPr sz="1000" b="1" i="0">
                <a:solidFill>
                  <a:srgbClr val="FFFFFF"/>
                </a:solidFill>
                <a:latin typeface="Helvetica Neue"/>
              </a:rPr>
              <a:t>See the entailment scores</a:t>
            </a:r>
          </a:p>
        </p:txBody>
      </p:sp>
      <p:sp>
        <p:nvSpPr>
          <p:cNvPr id="21" name="TextBox 20"/>
          <p:cNvSpPr txBox="1"/>
          <p:nvPr/>
        </p:nvSpPr>
        <p:spPr>
          <a:xfrm>
            <a:off x="640080" y="5532120"/>
            <a:ext cx="10881360" cy="640080"/>
          </a:xfrm>
          <a:prstGeom prst="rect">
            <a:avLst/>
          </a:prstGeom>
          <a:noFill/>
        </p:spPr>
        <p:txBody>
          <a:bodyPr wrap="square" lIns="0" rIns="0" tIns="0" bIns="0">
            <a:spAutoFit/>
          </a:bodyPr>
          <a:lstStyle/>
          <a:p>
            <a:pPr algn="ctr"/>
            <a:r>
              <a:rPr sz="1500" b="0" i="1">
                <a:solidFill>
                  <a:srgbClr val="475569"/>
                </a:solidFill>
                <a:latin typeface="Helvetica Neue"/>
              </a:rPr>
              <a:t>Every category becomes a sentence: "This example is {your description}." The model scores all eight and picks whichever it most believes.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7C3AED"/>
                </a:solidFill>
                <a:latin typeface="Helvetica Neue"/>
              </a:rPr>
              <a:t>ROUTE</a:t>
            </a:r>
          </a:p>
        </p:txBody>
      </p:sp>
      <p:sp>
        <p:nvSpPr>
          <p:cNvPr id="3" name="TextBox 2"/>
          <p:cNvSpPr txBox="1"/>
          <p:nvPr/>
        </p:nvSpPr>
        <p:spPr>
          <a:xfrm>
            <a:off x="640080" y="758952"/>
            <a:ext cx="7680960" cy="1179576"/>
          </a:xfrm>
          <a:prstGeom prst="rect">
            <a:avLst/>
          </a:prstGeom>
          <a:noFill/>
        </p:spPr>
        <p:txBody>
          <a:bodyPr wrap="square" lIns="0" rIns="0" tIns="0" bIns="0">
            <a:spAutoFit/>
          </a:bodyPr>
          <a:lstStyle/>
          <a:p>
            <a:pPr algn="l"/>
            <a:r>
              <a:rPr sz="2900" b="1" i="0">
                <a:solidFill>
                  <a:srgbClr val="0F172A"/>
                </a:solidFill>
                <a:latin typeface="Helvetica Neue"/>
              </a:rPr>
              <a:t>The descriptions you write ARE the program.</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86215"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31351"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1</a:t>
            </a:r>
          </a:p>
        </p:txBody>
      </p:sp>
      <p:sp>
        <p:nvSpPr>
          <p:cNvPr id="7" name="Rounded Rectangle 6"/>
          <p:cNvSpPr/>
          <p:nvPr/>
        </p:nvSpPr>
        <p:spPr>
          <a:xfrm>
            <a:off x="9208008" y="438912"/>
            <a:ext cx="329184" cy="329184"/>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53144"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2</a:t>
            </a:r>
          </a:p>
        </p:txBody>
      </p:sp>
      <p:sp>
        <p:nvSpPr>
          <p:cNvPr id="9" name="Rounded Rectangle 8"/>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48087"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3</a:t>
            </a:r>
          </a:p>
        </p:txBody>
      </p:sp>
      <p:sp>
        <p:nvSpPr>
          <p:cNvPr id="11" name="Rounded Rectangle 10"/>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4" name="Picture 13" descr="d_wording.png"/>
          <p:cNvPicPr>
            <a:picLocks noChangeAspect="1"/>
          </p:cNvPicPr>
          <p:nvPr/>
        </p:nvPicPr>
        <p:blipFill>
          <a:blip r:embed="rId2"/>
          <a:stretch>
            <a:fillRect/>
          </a:stretch>
        </p:blipFill>
        <p:spPr>
          <a:xfrm>
            <a:off x="518007" y="2769342"/>
            <a:ext cx="11155680" cy="2599474"/>
          </a:xfrm>
          <a:prstGeom prst="rect">
            <a:avLst/>
          </a:prstGeom>
        </p:spPr>
      </p:pic>
      <p:sp>
        <p:nvSpPr>
          <p:cNvPr id="15" name="Rounded Rectangle 14"/>
          <p:cNvSpPr/>
          <p:nvPr/>
        </p:nvSpPr>
        <p:spPr>
          <a:xfrm>
            <a:off x="6638544" y="6345936"/>
            <a:ext cx="4913071"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680960" y="6396228"/>
            <a:ext cx="75438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93992"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18" name="TextBox 17"/>
          <p:cNvSpPr txBox="1"/>
          <p:nvPr/>
        </p:nvSpPr>
        <p:spPr>
          <a:xfrm>
            <a:off x="7680960" y="6451092"/>
            <a:ext cx="754380" cy="219456"/>
          </a:xfrm>
          <a:prstGeom prst="rect">
            <a:avLst/>
          </a:prstGeom>
          <a:noFill/>
        </p:spPr>
        <p:txBody>
          <a:bodyPr wrap="none" lIns="0" rIns="0" tIns="0" bIns="0">
            <a:spAutoFit/>
          </a:bodyPr>
          <a:lstStyle/>
          <a:p>
            <a:pPr algn="ctr"/>
            <a:r>
              <a:rPr sz="1100" b="1" i="0">
                <a:solidFill>
                  <a:srgbClr val="FFFFFF"/>
                </a:solidFill>
                <a:latin typeface="Helvetica Neue"/>
              </a:rPr>
              <a:t>STEP 16</a:t>
            </a:r>
          </a:p>
        </p:txBody>
      </p:sp>
      <p:sp>
        <p:nvSpPr>
          <p:cNvPr id="19" name="TextBox 18"/>
          <p:cNvSpPr txBox="1"/>
          <p:nvPr/>
        </p:nvSpPr>
        <p:spPr>
          <a:xfrm>
            <a:off x="8554212" y="6460236"/>
            <a:ext cx="2896819" cy="219456"/>
          </a:xfrm>
          <a:prstGeom prst="rect">
            <a:avLst/>
          </a:prstGeom>
          <a:noFill/>
        </p:spPr>
        <p:txBody>
          <a:bodyPr wrap="none" lIns="0" rIns="0" tIns="0" bIns="0">
            <a:spAutoFit/>
          </a:bodyPr>
          <a:lstStyle/>
          <a:p>
            <a:pPr algn="l"/>
            <a:r>
              <a:rPr sz="1000" b="1" i="0">
                <a:solidFill>
                  <a:srgbClr val="FFFFFF"/>
                </a:solidFill>
                <a:latin typeface="Helvetica Neue"/>
              </a:rPr>
              <a:t>YOUR KNOB: rewrite the descriptions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059669"/>
                </a:solidFill>
                <a:latin typeface="Helvetica Neue"/>
              </a:rPr>
              <a:t>DECIDE</a:t>
            </a:r>
          </a:p>
        </p:txBody>
      </p:sp>
      <p:sp>
        <p:nvSpPr>
          <p:cNvPr id="3" name="TextBox 2"/>
          <p:cNvSpPr txBox="1"/>
          <p:nvPr/>
        </p:nvSpPr>
        <p:spPr>
          <a:xfrm>
            <a:off x="640080" y="758952"/>
            <a:ext cx="7680960" cy="704088"/>
          </a:xfrm>
          <a:prstGeom prst="rect">
            <a:avLst/>
          </a:prstGeom>
          <a:noFill/>
        </p:spPr>
        <p:txBody>
          <a:bodyPr wrap="square" lIns="0" rIns="0" tIns="0" bIns="0">
            <a:spAutoFit/>
          </a:bodyPr>
          <a:lstStyle/>
          <a:p>
            <a:pPr algn="l"/>
            <a:r>
              <a:rPr sz="2650" b="1" i="0">
                <a:solidFill>
                  <a:srgbClr val="0F172A"/>
                </a:solidFill>
                <a:latin typeface="Helvetica Neue"/>
              </a:rPr>
              <a:t>An average is a bad way to run a product.</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Ask WHICH tickets it gets wrong. The weak buckets are the ones whose descriptions overlap.</a:t>
            </a:r>
          </a:p>
        </p:txBody>
      </p:sp>
      <p:sp>
        <p:nvSpPr>
          <p:cNvPr id="5" name="Rounded Rectangle 4"/>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586215"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31351"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1</a:t>
            </a:r>
          </a:p>
        </p:txBody>
      </p:sp>
      <p:sp>
        <p:nvSpPr>
          <p:cNvPr id="8" name="Rounded Rectangle 7"/>
          <p:cNvSpPr/>
          <p:nvPr/>
        </p:nvSpPr>
        <p:spPr>
          <a:xfrm>
            <a:off x="9244584"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89719"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2</a:t>
            </a:r>
          </a:p>
        </p:txBody>
      </p:sp>
      <p:sp>
        <p:nvSpPr>
          <p:cNvPr id="10" name="Rounded Rectangle 9"/>
          <p:cNvSpPr/>
          <p:nvPr/>
        </p:nvSpPr>
        <p:spPr>
          <a:xfrm>
            <a:off x="9866376" y="438912"/>
            <a:ext cx="329184" cy="329184"/>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11511"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3</a:t>
            </a:r>
          </a:p>
        </p:txBody>
      </p:sp>
      <p:sp>
        <p:nvSpPr>
          <p:cNvPr id="12" name="Rounded Rectangle 11"/>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4" name="TextBox 13"/>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5" name="Picture 14" descr="fig_recall.png"/>
          <p:cNvPicPr>
            <a:picLocks noChangeAspect="1"/>
          </p:cNvPicPr>
          <p:nvPr/>
        </p:nvPicPr>
        <p:blipFill>
          <a:blip r:embed="rId2"/>
          <a:stretch>
            <a:fillRect/>
          </a:stretch>
        </p:blipFill>
        <p:spPr>
          <a:xfrm>
            <a:off x="2205165" y="2057400"/>
            <a:ext cx="7781363" cy="3977639"/>
          </a:xfrm>
          <a:prstGeom prst="rect">
            <a:avLst/>
          </a:prstGeom>
        </p:spPr>
      </p:pic>
      <p:sp>
        <p:nvSpPr>
          <p:cNvPr id="16" name="Rounded Rectangle 15"/>
          <p:cNvSpPr/>
          <p:nvPr/>
        </p:nvSpPr>
        <p:spPr>
          <a:xfrm>
            <a:off x="7573060" y="6345936"/>
            <a:ext cx="3978554"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615476" y="6396228"/>
            <a:ext cx="75438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28508"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19" name="TextBox 18"/>
          <p:cNvSpPr txBox="1"/>
          <p:nvPr/>
        </p:nvSpPr>
        <p:spPr>
          <a:xfrm>
            <a:off x="8615476" y="6451092"/>
            <a:ext cx="754380" cy="219456"/>
          </a:xfrm>
          <a:prstGeom prst="rect">
            <a:avLst/>
          </a:prstGeom>
          <a:noFill/>
        </p:spPr>
        <p:txBody>
          <a:bodyPr wrap="none" lIns="0" rIns="0" tIns="0" bIns="0">
            <a:spAutoFit/>
          </a:bodyPr>
          <a:lstStyle/>
          <a:p>
            <a:pPr algn="ctr"/>
            <a:r>
              <a:rPr sz="1100" b="1" i="0">
                <a:solidFill>
                  <a:srgbClr val="FFFFFF"/>
                </a:solidFill>
                <a:latin typeface="Helvetica Neue"/>
              </a:rPr>
              <a:t>STEP 18</a:t>
            </a:r>
          </a:p>
        </p:txBody>
      </p:sp>
      <p:sp>
        <p:nvSpPr>
          <p:cNvPr id="20" name="TextBox 19"/>
          <p:cNvSpPr txBox="1"/>
          <p:nvPr/>
        </p:nvSpPr>
        <p:spPr>
          <a:xfrm>
            <a:off x="9488728" y="6460236"/>
            <a:ext cx="1962302" cy="219456"/>
          </a:xfrm>
          <a:prstGeom prst="rect">
            <a:avLst/>
          </a:prstGeom>
          <a:noFill/>
        </p:spPr>
        <p:txBody>
          <a:bodyPr wrap="none" lIns="0" rIns="0" tIns="0" bIns="0">
            <a:spAutoFit/>
          </a:bodyPr>
          <a:lstStyle/>
          <a:p>
            <a:pPr algn="l"/>
            <a:r>
              <a:rPr sz="1000" b="1" i="0">
                <a:solidFill>
                  <a:srgbClr val="FFFFFF"/>
                </a:solidFill>
                <a:latin typeface="Helvetica Neue"/>
              </a:rPr>
              <a:t>Find the weak buckets</a:t>
            </a:r>
          </a:p>
        </p:txBody>
      </p:sp>
      <p:sp>
        <p:nvSpPr>
          <p:cNvPr id="21" name="TextBox 20"/>
          <p:cNvSpPr txBox="1"/>
          <p:nvPr/>
        </p:nvSpPr>
        <p:spPr>
          <a:xfrm>
            <a:off x="640080" y="6080760"/>
            <a:ext cx="10881360" cy="365760"/>
          </a:xfrm>
          <a:prstGeom prst="rect">
            <a:avLst/>
          </a:prstGeom>
          <a:noFill/>
        </p:spPr>
        <p:txBody>
          <a:bodyPr wrap="square" lIns="0" rIns="0" tIns="0" bIns="0">
            <a:spAutoFit/>
          </a:bodyPr>
          <a:lstStyle/>
          <a:p>
            <a:pPr algn="ctr"/>
            <a:r>
              <a:rPr sz="1500" b="0" i="1">
                <a:solidFill>
                  <a:srgbClr val="475569"/>
                </a:solidFill>
                <a:latin typeface="Helvetica Neue"/>
              </a:rPr>
              <a:t>When a classifier underperforms, look at your taxonomy before you look at your model.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059669"/>
                </a:solidFill>
                <a:latin typeface="Helvetica Neue"/>
              </a:rPr>
              <a:t>DECIDE</a:t>
            </a:r>
          </a:p>
        </p:txBody>
      </p:sp>
      <p:sp>
        <p:nvSpPr>
          <p:cNvPr id="3" name="TextBox 2"/>
          <p:cNvSpPr txBox="1"/>
          <p:nvPr/>
        </p:nvSpPr>
        <p:spPr>
          <a:xfrm>
            <a:off x="640080" y="758952"/>
            <a:ext cx="7680960" cy="704088"/>
          </a:xfrm>
          <a:prstGeom prst="rect">
            <a:avLst/>
          </a:prstGeom>
          <a:noFill/>
        </p:spPr>
        <p:txBody>
          <a:bodyPr wrap="square" lIns="0" rIns="0" tIns="0" bIns="0">
            <a:spAutoFit/>
          </a:bodyPr>
          <a:lstStyle/>
          <a:p>
            <a:pPr algn="l"/>
            <a:r>
              <a:rPr sz="2900" b="1" i="0">
                <a:solidFill>
                  <a:srgbClr val="0F172A"/>
                </a:solidFill>
                <a:latin typeface="Helvetica Neue"/>
              </a:rPr>
              <a:t>Confident is not the same as correct.</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86215"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31351"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1</a:t>
            </a:r>
          </a:p>
        </p:txBody>
      </p:sp>
      <p:sp>
        <p:nvSpPr>
          <p:cNvPr id="7" name="Rounded Rectangle 6"/>
          <p:cNvSpPr/>
          <p:nvPr/>
        </p:nvSpPr>
        <p:spPr>
          <a:xfrm>
            <a:off x="9244584"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89719"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2</a:t>
            </a:r>
          </a:p>
        </p:txBody>
      </p:sp>
      <p:sp>
        <p:nvSpPr>
          <p:cNvPr id="9" name="Rounded Rectangle 8"/>
          <p:cNvSpPr/>
          <p:nvPr/>
        </p:nvSpPr>
        <p:spPr>
          <a:xfrm>
            <a:off x="9866376" y="438912"/>
            <a:ext cx="329184" cy="329184"/>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11511"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3</a:t>
            </a:r>
          </a:p>
        </p:txBody>
      </p:sp>
      <p:sp>
        <p:nvSpPr>
          <p:cNvPr id="11" name="Rounded Rectangle 10"/>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4" name="Picture 13" descr="d_softmax.png"/>
          <p:cNvPicPr>
            <a:picLocks noChangeAspect="1"/>
          </p:cNvPicPr>
          <p:nvPr/>
        </p:nvPicPr>
        <p:blipFill>
          <a:blip r:embed="rId2"/>
          <a:stretch>
            <a:fillRect/>
          </a:stretch>
        </p:blipFill>
        <p:spPr>
          <a:xfrm>
            <a:off x="518007" y="2197772"/>
            <a:ext cx="11155680" cy="3834054"/>
          </a:xfrm>
          <a:prstGeom prst="rect">
            <a:avLst/>
          </a:prstGeom>
        </p:spPr>
      </p:pic>
      <p:sp>
        <p:nvSpPr>
          <p:cNvPr id="15" name="Rounded Rectangle 14"/>
          <p:cNvSpPr/>
          <p:nvPr/>
        </p:nvSpPr>
        <p:spPr>
          <a:xfrm>
            <a:off x="7172553" y="6345936"/>
            <a:ext cx="4379061"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214969" y="6396228"/>
            <a:ext cx="75438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28001"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18" name="TextBox 17"/>
          <p:cNvSpPr txBox="1"/>
          <p:nvPr/>
        </p:nvSpPr>
        <p:spPr>
          <a:xfrm>
            <a:off x="8214969" y="6451092"/>
            <a:ext cx="754380" cy="219456"/>
          </a:xfrm>
          <a:prstGeom prst="rect">
            <a:avLst/>
          </a:prstGeom>
          <a:noFill/>
        </p:spPr>
        <p:txBody>
          <a:bodyPr wrap="none" lIns="0" rIns="0" tIns="0" bIns="0">
            <a:spAutoFit/>
          </a:bodyPr>
          <a:lstStyle/>
          <a:p>
            <a:pPr algn="ctr"/>
            <a:r>
              <a:rPr sz="1100" b="1" i="0">
                <a:solidFill>
                  <a:srgbClr val="FFFFFF"/>
                </a:solidFill>
                <a:latin typeface="Helvetica Neue"/>
              </a:rPr>
              <a:t>STEP 19</a:t>
            </a:r>
          </a:p>
        </p:txBody>
      </p:sp>
      <p:sp>
        <p:nvSpPr>
          <p:cNvPr id="19" name="TextBox 18"/>
          <p:cNvSpPr txBox="1"/>
          <p:nvPr/>
        </p:nvSpPr>
        <p:spPr>
          <a:xfrm>
            <a:off x="9088221" y="6460236"/>
            <a:ext cx="2362809" cy="219456"/>
          </a:xfrm>
          <a:prstGeom prst="rect">
            <a:avLst/>
          </a:prstGeom>
          <a:noFill/>
        </p:spPr>
        <p:txBody>
          <a:bodyPr wrap="none" lIns="0" rIns="0" tIns="0" bIns="0">
            <a:spAutoFit/>
          </a:bodyPr>
          <a:lstStyle/>
          <a:p>
            <a:pPr algn="l"/>
            <a:r>
              <a:rPr sz="1000" b="1" i="0">
                <a:solidFill>
                  <a:srgbClr val="FFFFFF"/>
                </a:solidFill>
                <a:latin typeface="Helvetica Neue"/>
              </a:rPr>
              <a:t>Feed it an off-topic ticket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059669"/>
                </a:solidFill>
                <a:latin typeface="Helvetica Neue"/>
              </a:rPr>
              <a:t>DECIDE</a:t>
            </a:r>
          </a:p>
        </p:txBody>
      </p:sp>
      <p:sp>
        <p:nvSpPr>
          <p:cNvPr id="3" name="TextBox 2"/>
          <p:cNvSpPr txBox="1"/>
          <p:nvPr/>
        </p:nvSpPr>
        <p:spPr>
          <a:xfrm>
            <a:off x="640080" y="758952"/>
            <a:ext cx="7680960" cy="704088"/>
          </a:xfrm>
          <a:prstGeom prst="rect">
            <a:avLst/>
          </a:prstGeom>
          <a:noFill/>
        </p:spPr>
        <p:txBody>
          <a:bodyPr wrap="square" lIns="0" rIns="0" tIns="0" bIns="0">
            <a:spAutoFit/>
          </a:bodyPr>
          <a:lstStyle/>
          <a:p>
            <a:pPr algn="l"/>
            <a:r>
              <a:rPr sz="2650" b="1" i="0">
                <a:solidFill>
                  <a:srgbClr val="0F172A"/>
                </a:solidFill>
                <a:latin typeface="Helvetica Neue"/>
              </a:rPr>
              <a:t>What a mistake costs decides the setting.</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Same copilot, same tickets, six companies. Ask your neighbour: for the hospital, high bar or low?</a:t>
            </a:r>
          </a:p>
        </p:txBody>
      </p:sp>
      <p:sp>
        <p:nvSpPr>
          <p:cNvPr id="5" name="Rounded Rectangle 4"/>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586215"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31351"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1</a:t>
            </a:r>
          </a:p>
        </p:txBody>
      </p:sp>
      <p:sp>
        <p:nvSpPr>
          <p:cNvPr id="8" name="Rounded Rectangle 7"/>
          <p:cNvSpPr/>
          <p:nvPr/>
        </p:nvSpPr>
        <p:spPr>
          <a:xfrm>
            <a:off x="9244584"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89719"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2</a:t>
            </a:r>
          </a:p>
        </p:txBody>
      </p:sp>
      <p:sp>
        <p:nvSpPr>
          <p:cNvPr id="10" name="Rounded Rectangle 9"/>
          <p:cNvSpPr/>
          <p:nvPr/>
        </p:nvSpPr>
        <p:spPr>
          <a:xfrm>
            <a:off x="9902951" y="475488"/>
            <a:ext cx="256032" cy="256032"/>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48087"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3</a:t>
            </a:r>
          </a:p>
        </p:txBody>
      </p:sp>
      <p:sp>
        <p:nvSpPr>
          <p:cNvPr id="12" name="Rounded Rectangle 11"/>
          <p:cNvSpPr/>
          <p:nvPr/>
        </p:nvSpPr>
        <p:spPr>
          <a:xfrm>
            <a:off x="10524744" y="438912"/>
            <a:ext cx="329184" cy="329184"/>
          </a:xfrm>
          <a:prstGeom prst="roundRect">
            <a:avLst>
              <a:gd name="adj" fmla="val 32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469880"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4</a:t>
            </a:r>
          </a:p>
        </p:txBody>
      </p:sp>
      <p:sp>
        <p:nvSpPr>
          <p:cNvPr id="14" name="TextBox 13"/>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5" name="Picture 14" descr="fig_game.png"/>
          <p:cNvPicPr>
            <a:picLocks noChangeAspect="1"/>
          </p:cNvPicPr>
          <p:nvPr/>
        </p:nvPicPr>
        <p:blipFill>
          <a:blip r:embed="rId2"/>
          <a:stretch>
            <a:fillRect/>
          </a:stretch>
        </p:blipFill>
        <p:spPr>
          <a:xfrm>
            <a:off x="2207847" y="2011680"/>
            <a:ext cx="7775999" cy="3931920"/>
          </a:xfrm>
          <a:prstGeom prst="rect">
            <a:avLst/>
          </a:prstGeom>
        </p:spPr>
      </p:pic>
      <p:sp>
        <p:nvSpPr>
          <p:cNvPr id="16" name="Rounded Rectangle 15"/>
          <p:cNvSpPr/>
          <p:nvPr/>
        </p:nvSpPr>
        <p:spPr>
          <a:xfrm>
            <a:off x="7105802" y="6345936"/>
            <a:ext cx="4445812"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148218" y="6396228"/>
            <a:ext cx="75438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61250"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19" name="TextBox 18"/>
          <p:cNvSpPr txBox="1"/>
          <p:nvPr/>
        </p:nvSpPr>
        <p:spPr>
          <a:xfrm>
            <a:off x="8148218" y="6451092"/>
            <a:ext cx="754380" cy="219456"/>
          </a:xfrm>
          <a:prstGeom prst="rect">
            <a:avLst/>
          </a:prstGeom>
          <a:noFill/>
        </p:spPr>
        <p:txBody>
          <a:bodyPr wrap="none" lIns="0" rIns="0" tIns="0" bIns="0">
            <a:spAutoFit/>
          </a:bodyPr>
          <a:lstStyle/>
          <a:p>
            <a:pPr algn="ctr"/>
            <a:r>
              <a:rPr sz="1100" b="1" i="0">
                <a:solidFill>
                  <a:srgbClr val="FFFFFF"/>
                </a:solidFill>
                <a:latin typeface="Helvetica Neue"/>
              </a:rPr>
              <a:t>STEP 21</a:t>
            </a:r>
          </a:p>
        </p:txBody>
      </p:sp>
      <p:sp>
        <p:nvSpPr>
          <p:cNvPr id="20" name="TextBox 19"/>
          <p:cNvSpPr txBox="1"/>
          <p:nvPr/>
        </p:nvSpPr>
        <p:spPr>
          <a:xfrm>
            <a:off x="9021470" y="6460236"/>
            <a:ext cx="2429560" cy="219456"/>
          </a:xfrm>
          <a:prstGeom prst="rect">
            <a:avLst/>
          </a:prstGeom>
          <a:noFill/>
        </p:spPr>
        <p:txBody>
          <a:bodyPr wrap="none" lIns="0" rIns="0" tIns="0" bIns="0">
            <a:spAutoFit/>
          </a:bodyPr>
          <a:lstStyle/>
          <a:p>
            <a:pPr algn="l"/>
            <a:r>
              <a:rPr sz="1000" b="1" i="0">
                <a:solidFill>
                  <a:srgbClr val="FFFFFF"/>
                </a:solidFill>
                <a:latin typeface="Helvetica Neue"/>
              </a:rPr>
              <a:t>YOUR KNOB: set the threshold</a:t>
            </a:r>
          </a:p>
        </p:txBody>
      </p:sp>
      <p:sp>
        <p:nvSpPr>
          <p:cNvPr id="21" name="TextBox 20"/>
          <p:cNvSpPr txBox="1"/>
          <p:nvPr/>
        </p:nvSpPr>
        <p:spPr>
          <a:xfrm>
            <a:off x="640080" y="6016752"/>
            <a:ext cx="10881360" cy="365760"/>
          </a:xfrm>
          <a:prstGeom prst="rect">
            <a:avLst/>
          </a:prstGeom>
          <a:noFill/>
        </p:spPr>
        <p:txBody>
          <a:bodyPr wrap="square" lIns="0" rIns="0" tIns="0" bIns="0">
            <a:spAutoFit/>
          </a:bodyPr>
          <a:lstStyle/>
          <a:p>
            <a:pPr algn="ctr"/>
            <a:r>
              <a:rPr sz="1500" b="0" i="1">
                <a:solidFill>
                  <a:srgbClr val="475569"/>
                </a:solidFill>
                <a:latin typeface="Helvetica Neue"/>
              </a:rPr>
              <a:t>Accuracy is a property of the model. The right threshold is a property of the business.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4F46E5"/>
                </a:solidFill>
                <a:latin typeface="Helvetica Neue"/>
              </a:rPr>
              <a:t>FULL CIRCLE</a:t>
            </a:r>
          </a:p>
        </p:txBody>
      </p:sp>
      <p:sp>
        <p:nvSpPr>
          <p:cNvPr id="3" name="TextBox 2"/>
          <p:cNvSpPr txBox="1"/>
          <p:nvPr/>
        </p:nvSpPr>
        <p:spPr>
          <a:xfrm>
            <a:off x="640080" y="758952"/>
            <a:ext cx="10972800" cy="704088"/>
          </a:xfrm>
          <a:prstGeom prst="rect">
            <a:avLst/>
          </a:prstGeom>
          <a:noFill/>
        </p:spPr>
        <p:txBody>
          <a:bodyPr wrap="square" lIns="0" rIns="0" tIns="0" bIns="0">
            <a:spAutoFit/>
          </a:bodyPr>
          <a:lstStyle/>
          <a:p>
            <a:pPr algn="l"/>
            <a:r>
              <a:rPr sz="2900" b="1" i="0">
                <a:solidFill>
                  <a:srgbClr val="0F172A"/>
                </a:solidFill>
                <a:latin typeface="Helvetica Neue"/>
              </a:rPr>
              <a:t>What we shipped today, for $0.</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No training data. No training run. No GPU bill. One afternoon.</a:t>
            </a:r>
          </a:p>
        </p:txBody>
      </p:sp>
      <p:sp>
        <p:nvSpPr>
          <p:cNvPr id="5" name="TextBox 4"/>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6" name="Picture 5" descr="d_shipped.png"/>
          <p:cNvPicPr>
            <a:picLocks noChangeAspect="1"/>
          </p:cNvPicPr>
          <p:nvPr/>
        </p:nvPicPr>
        <p:blipFill>
          <a:blip r:embed="rId2"/>
          <a:stretch>
            <a:fillRect/>
          </a:stretch>
        </p:blipFill>
        <p:spPr>
          <a:xfrm>
            <a:off x="518007" y="2943310"/>
            <a:ext cx="11155680" cy="1885778"/>
          </a:xfrm>
          <a:prstGeom prst="rect">
            <a:avLst/>
          </a:prstGeom>
        </p:spPr>
      </p:pic>
      <p:sp>
        <p:nvSpPr>
          <p:cNvPr id="7" name="TextBox 6"/>
          <p:cNvSpPr txBox="1"/>
          <p:nvPr/>
        </p:nvSpPr>
        <p:spPr>
          <a:xfrm>
            <a:off x="640080" y="5760720"/>
            <a:ext cx="10881360" cy="457200"/>
          </a:xfrm>
          <a:prstGeom prst="rect">
            <a:avLst/>
          </a:prstGeom>
          <a:noFill/>
        </p:spPr>
        <p:txBody>
          <a:bodyPr wrap="square" lIns="0" rIns="0" tIns="0" bIns="0">
            <a:spAutoFit/>
          </a:bodyPr>
          <a:lstStyle/>
          <a:p>
            <a:pPr algn="ctr"/>
            <a:r>
              <a:rPr sz="1600" b="0" i="1">
                <a:solidFill>
                  <a:srgbClr val="0F172A"/>
                </a:solidFill>
                <a:latin typeface="Helvetica Neue"/>
              </a:rPr>
              <a:t>Someone else already spent millions teaching a model to read English. Your job is to point it at your problem, cheaply, and know where it breaks.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4F46E5"/>
                </a:solidFill>
                <a:latin typeface="Helvetica Neue"/>
              </a:rPr>
              <a:t>BEFORE WE OPEN IT UP</a:t>
            </a:r>
          </a:p>
        </p:txBody>
      </p:sp>
      <p:sp>
        <p:nvSpPr>
          <p:cNvPr id="3" name="TextBox 2"/>
          <p:cNvSpPr txBox="1"/>
          <p:nvPr/>
        </p:nvSpPr>
        <p:spPr>
          <a:xfrm>
            <a:off x="640080" y="758952"/>
            <a:ext cx="10972800" cy="704088"/>
          </a:xfrm>
          <a:prstGeom prst="rect">
            <a:avLst/>
          </a:prstGeom>
          <a:noFill/>
        </p:spPr>
        <p:txBody>
          <a:bodyPr wrap="square" lIns="0" rIns="0" tIns="0" bIns="0">
            <a:spAutoFit/>
          </a:bodyPr>
          <a:lstStyle/>
          <a:p>
            <a:pPr algn="l"/>
            <a:r>
              <a:rPr sz="2900" b="1" i="0">
                <a:solidFill>
                  <a:srgbClr val="0F172A"/>
                </a:solidFill>
                <a:latin typeface="Helvetica Neue"/>
              </a:rPr>
              <a:t>What you actually saw tonight.</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Hold both columns in your head. We are about to need them.</a:t>
            </a:r>
          </a:p>
        </p:txBody>
      </p:sp>
      <p:sp>
        <p:nvSpPr>
          <p:cNvPr id="5" name="TextBox 4"/>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6" name="Picture 5" descr="d_saw.png"/>
          <p:cNvPicPr>
            <a:picLocks noChangeAspect="1"/>
          </p:cNvPicPr>
          <p:nvPr/>
        </p:nvPicPr>
        <p:blipFill>
          <a:blip r:embed="rId2"/>
          <a:stretch>
            <a:fillRect/>
          </a:stretch>
        </p:blipFill>
        <p:spPr>
          <a:xfrm>
            <a:off x="518007" y="3252244"/>
            <a:ext cx="11155680" cy="1862271"/>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E11D48"/>
                </a:solidFill>
                <a:latin typeface="Helvetica Neue"/>
              </a:rPr>
              <a:t>DISCUSSION</a:t>
            </a:r>
          </a:p>
        </p:txBody>
      </p:sp>
      <p:sp>
        <p:nvSpPr>
          <p:cNvPr id="3" name="TextBox 2"/>
          <p:cNvSpPr txBox="1"/>
          <p:nvPr/>
        </p:nvSpPr>
        <p:spPr>
          <a:xfrm>
            <a:off x="640080" y="758952"/>
            <a:ext cx="10972800" cy="704088"/>
          </a:xfrm>
          <a:prstGeom prst="rect">
            <a:avLst/>
          </a:prstGeom>
          <a:noFill/>
        </p:spPr>
        <p:txBody>
          <a:bodyPr wrap="square" lIns="0" rIns="0" tIns="0" bIns="0">
            <a:spAutoFit/>
          </a:bodyPr>
          <a:lstStyle/>
          <a:p>
            <a:pPr algn="l"/>
            <a:r>
              <a:rPr sz="2900" b="1" i="0">
                <a:solidFill>
                  <a:srgbClr val="0F172A"/>
                </a:solidFill>
                <a:latin typeface="Helvetica Neue"/>
              </a:rPr>
              <a:t>Last week, a model did this on its own.</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Not a thought experiment. This happened between the 16th and the 21st of July, six days ago.</a:t>
            </a:r>
          </a:p>
        </p:txBody>
      </p:sp>
      <p:sp>
        <p:nvSpPr>
          <p:cNvPr id="5" name="TextBox 4"/>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6" name="Picture 5" descr="d_incident.png"/>
          <p:cNvPicPr>
            <a:picLocks noChangeAspect="1"/>
          </p:cNvPicPr>
          <p:nvPr/>
        </p:nvPicPr>
        <p:blipFill>
          <a:blip r:embed="rId2"/>
          <a:stretch>
            <a:fillRect/>
          </a:stretch>
        </p:blipFill>
        <p:spPr>
          <a:xfrm>
            <a:off x="518007" y="2056061"/>
            <a:ext cx="11155680" cy="3934597"/>
          </a:xfrm>
          <a:prstGeom prst="rect">
            <a:avLst/>
          </a:prstGeom>
        </p:spPr>
      </p:pic>
      <p:sp>
        <p:nvSpPr>
          <p:cNvPr id="7" name="TextBox 6"/>
          <p:cNvSpPr txBox="1"/>
          <p:nvPr/>
        </p:nvSpPr>
        <p:spPr>
          <a:xfrm>
            <a:off x="640080" y="6108192"/>
            <a:ext cx="10881360" cy="365760"/>
          </a:xfrm>
          <a:prstGeom prst="rect">
            <a:avLst/>
          </a:prstGeom>
          <a:noFill/>
        </p:spPr>
        <p:txBody>
          <a:bodyPr wrap="square" lIns="0" rIns="0" tIns="0" bIns="0">
            <a:spAutoFit/>
          </a:bodyPr>
          <a:lstStyle/>
          <a:p>
            <a:pPr algn="ctr"/>
            <a:r>
              <a:rPr sz="1100" b="0" i="0">
                <a:solidFill>
                  <a:srgbClr val="BCC1CC"/>
                </a:solidFill>
                <a:latin typeface="Helvetica Neue"/>
              </a:rPr>
              <a:t>Sources: OpenAI incident report - Hugging Face disclosure - CNBC, Axios, The Hacker News, 21-22 July 2026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E11D48"/>
                </a:solidFill>
                <a:latin typeface="Helvetica Neue"/>
              </a:rPr>
              <a:t>DISCUSSION</a:t>
            </a:r>
          </a:p>
        </p:txBody>
      </p:sp>
      <p:sp>
        <p:nvSpPr>
          <p:cNvPr id="3" name="TextBox 2"/>
          <p:cNvSpPr txBox="1"/>
          <p:nvPr/>
        </p:nvSpPr>
        <p:spPr>
          <a:xfrm>
            <a:off x="640080" y="758952"/>
            <a:ext cx="10972800" cy="704088"/>
          </a:xfrm>
          <a:prstGeom prst="rect">
            <a:avLst/>
          </a:prstGeom>
          <a:noFill/>
        </p:spPr>
        <p:txBody>
          <a:bodyPr wrap="square" lIns="0" rIns="0" tIns="0" bIns="0">
            <a:spAutoFit/>
          </a:bodyPr>
          <a:lstStyle/>
          <a:p>
            <a:pPr algn="l"/>
            <a:r>
              <a:rPr sz="2900" b="1" i="0">
                <a:solidFill>
                  <a:srgbClr val="0F172A"/>
                </a:solidFill>
                <a:latin typeface="Helvetica Neue"/>
              </a:rPr>
              <a:t>Thirty minutes. No right answers.</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You have spent tonight deciding when a system may act without a human. Now scale the question up.</a:t>
            </a:r>
          </a:p>
        </p:txBody>
      </p:sp>
      <p:sp>
        <p:nvSpPr>
          <p:cNvPr id="5" name="TextBox 4"/>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6" name="Picture 5" descr="d_questions.png"/>
          <p:cNvPicPr>
            <a:picLocks noChangeAspect="1"/>
          </p:cNvPicPr>
          <p:nvPr/>
        </p:nvPicPr>
        <p:blipFill>
          <a:blip r:embed="rId2"/>
          <a:stretch>
            <a:fillRect/>
          </a:stretch>
        </p:blipFill>
        <p:spPr>
          <a:xfrm>
            <a:off x="1417882" y="2011680"/>
            <a:ext cx="9355930" cy="429768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