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eb.stanford.edu/~jurafsky/slp3/" TargetMode="External"/><Relationship Id="rId4" Type="http://schemas.openxmlformats.org/officeDocument/2006/relationships/hyperlink" Target="https://github.com/HandsOnLLM/Hands-On-Large-Language-Models" TargetMode="External"/><Relationship Id="rId5" Type="http://schemas.openxmlformats.org/officeDocument/2006/relationships/hyperlink" Target="https://github.com/nlp-with-transformers/notebooks" TargetMode="External"/><Relationship Id="rId6" Type="http://schemas.openxmlformats.org/officeDocument/2006/relationships/hyperlink" Target="https://arxiv.org/abs/1706.03762" TargetMode="External"/><Relationship Id="rId7" Type="http://schemas.openxmlformats.org/officeDocument/2006/relationships/hyperlink" Target="https://arxiv.org/abs/1810.04805" TargetMode="External"/><Relationship Id="rId8" Type="http://schemas.openxmlformats.org/officeDocument/2006/relationships/hyperlink" Target="https://arxiv.org/abs/1907.1169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7315200" cy="320040"/>
          </a:xfrm>
          <a:prstGeom prst="rect">
            <a:avLst/>
          </a:prstGeom>
          <a:noFill/>
        </p:spPr>
        <p:txBody>
          <a:bodyPr wrap="square" lIns="0" rIns="0" tIns="0" bIns="0">
            <a:spAutoFit/>
          </a:bodyPr>
          <a:lstStyle/>
          <a:p>
            <a:pPr algn="l"/>
            <a:r>
              <a:rPr sz="1300" b="1" i="0" spc="250">
                <a:solidFill>
                  <a:srgbClr val="4F46E5"/>
                </a:solidFill>
                <a:latin typeface="Helvetica Neue"/>
              </a:rPr>
              <a:t>WEEK 7 · LECTURE 13</a:t>
            </a:r>
          </a:p>
        </p:txBody>
      </p:sp>
      <p:sp>
        <p:nvSpPr>
          <p:cNvPr id="3" name="TextBox 2"/>
          <p:cNvSpPr txBox="1"/>
          <p:nvPr/>
        </p:nvSpPr>
        <p:spPr>
          <a:xfrm>
            <a:off x="640080" y="2852928"/>
            <a:ext cx="10972800" cy="914400"/>
          </a:xfrm>
          <a:prstGeom prst="rect">
            <a:avLst/>
          </a:prstGeom>
          <a:noFill/>
        </p:spPr>
        <p:txBody>
          <a:bodyPr wrap="square" lIns="0" rIns="0" tIns="0" bIns="0">
            <a:spAutoFit/>
          </a:bodyPr>
          <a:lstStyle/>
          <a:p>
            <a:pPr algn="l"/>
            <a:r>
              <a:rPr sz="5000" b="1" i="0">
                <a:solidFill>
                  <a:srgbClr val="0F172A"/>
                </a:solidFill>
                <a:latin typeface="Helvetica Neue"/>
              </a:rPr>
              <a:t>Building a Support Copilot</a:t>
            </a:r>
          </a:p>
        </p:txBody>
      </p:sp>
      <p:sp>
        <p:nvSpPr>
          <p:cNvPr id="4" name="TextBox 3"/>
          <p:cNvSpPr txBox="1"/>
          <p:nvPr/>
        </p:nvSpPr>
        <p:spPr>
          <a:xfrm>
            <a:off x="640080" y="3913632"/>
            <a:ext cx="10058400" cy="457200"/>
          </a:xfrm>
          <a:prstGeom prst="rect">
            <a:avLst/>
          </a:prstGeom>
          <a:noFill/>
        </p:spPr>
        <p:txBody>
          <a:bodyPr wrap="square" lIns="0" rIns="0" tIns="0" bIns="0">
            <a:spAutoFit/>
          </a:bodyPr>
          <a:lstStyle/>
          <a:p>
            <a:pPr algn="l"/>
            <a:r>
              <a:rPr sz="2300" b="0" i="0">
                <a:solidFill>
                  <a:srgbClr val="475569"/>
                </a:solidFill>
                <a:latin typeface="Helvetica Neue"/>
              </a:rPr>
              <a:t>Part 1: the layer that reads</a:t>
            </a:r>
          </a:p>
        </p:txBody>
      </p:sp>
      <p:sp>
        <p:nvSpPr>
          <p:cNvPr id="5" name="Rectangle 4"/>
          <p:cNvSpPr/>
          <p:nvPr/>
        </p:nvSpPr>
        <p:spPr>
          <a:xfrm>
            <a:off x="658368" y="4572000"/>
            <a:ext cx="8229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754880"/>
            <a:ext cx="10058400" cy="457200"/>
          </a:xfrm>
          <a:prstGeom prst="rect">
            <a:avLst/>
          </a:prstGeom>
          <a:noFill/>
        </p:spPr>
        <p:txBody>
          <a:bodyPr wrap="square" lIns="0" rIns="0" tIns="0" bIns="0">
            <a:spAutoFit/>
          </a:bodyPr>
          <a:lstStyle/>
          <a:p>
            <a:pPr algn="l"/>
            <a:r>
              <a:rPr sz="1700" b="0" i="1">
                <a:solidFill>
                  <a:srgbClr val="0F172A"/>
                </a:solidFill>
                <a:latin typeface="Helvetica Neue"/>
              </a:rPr>
              <a:t>5,000 tickets a week, three agents, and nothing in the queue has ever been sorted. Let's ship anyway.</a:t>
            </a:r>
          </a:p>
        </p:txBody>
      </p:sp>
      <p:sp>
        <p:nvSpPr>
          <p:cNvPr id="7" name="TextBox 6"/>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WEEK 7 · AT A GLANCE</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Language Models &amp; Transformers</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What we cover across both lectures, the models we actually run, and what to read alongside them.</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week.png"/>
          <p:cNvPicPr>
            <a:picLocks noChangeAspect="1"/>
          </p:cNvPicPr>
          <p:nvPr/>
        </p:nvPicPr>
        <p:blipFill>
          <a:blip r:embed="rId2"/>
          <a:stretch>
            <a:fillRect/>
          </a:stretch>
        </p:blipFill>
        <p:spPr>
          <a:xfrm>
            <a:off x="1500676" y="1810512"/>
            <a:ext cx="9190341" cy="3547872"/>
          </a:xfrm>
          <a:prstGeom prst="rect">
            <a:avLst/>
          </a:prstGeom>
        </p:spPr>
      </p:pic>
      <p:sp>
        <p:nvSpPr>
          <p:cNvPr id="7" name="Rectangle 6"/>
          <p:cNvSpPr/>
          <p:nvPr/>
        </p:nvSpPr>
        <p:spPr>
          <a:xfrm>
            <a:off x="640080" y="5394960"/>
            <a:ext cx="10927080" cy="12801"/>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468112"/>
            <a:ext cx="2743200" cy="219456"/>
          </a:xfrm>
          <a:prstGeom prst="rect">
            <a:avLst/>
          </a:prstGeom>
          <a:noFill/>
        </p:spPr>
        <p:txBody>
          <a:bodyPr wrap="square" lIns="0" rIns="0" tIns="0" bIns="0">
            <a:spAutoFit/>
          </a:bodyPr>
          <a:lstStyle/>
          <a:p>
            <a:pPr algn="l"/>
            <a:r>
              <a:rPr sz="1000" b="1" i="0" spc="180">
                <a:solidFill>
                  <a:srgbClr val="94A3B8"/>
                </a:solidFill>
                <a:latin typeface="Helvetica Neue"/>
              </a:rPr>
              <a:t>READINGS</a:t>
            </a:r>
          </a:p>
        </p:txBody>
      </p:sp>
      <p:sp>
        <p:nvSpPr>
          <p:cNvPr id="9" name="TextBox 8"/>
          <p:cNvSpPr txBox="1"/>
          <p:nvPr/>
        </p:nvSpPr>
        <p:spPr>
          <a:xfrm>
            <a:off x="640080" y="5705856"/>
            <a:ext cx="2724912" cy="292608"/>
          </a:xfrm>
          <a:prstGeom prst="rect">
            <a:avLst/>
          </a:prstGeom>
          <a:noFill/>
        </p:spPr>
        <p:txBody>
          <a:bodyPr wrap="none">
            <a:spAutoFit/>
          </a:bodyPr>
          <a:lstStyle/>
          <a:p>
            <a:r>
              <a:rPr sz="1000" b="1">
                <a:solidFill>
                  <a:srgbClr val="4F46E5"/>
                </a:solidFill>
                <a:latin typeface="Helvetica Neue"/>
              </a:rPr>
              <a:t>J&amp;M Ch. 7  </a:t>
            </a:r>
            <a:r>
              <a:rPr sz="1000" u="sng">
                <a:solidFill>
                  <a:srgbClr val="1D4ED8"/>
                </a:solidFill>
                <a:latin typeface="Helvetica Neue"/>
                <a:hlinkClick r:id="rId3"/>
              </a:rPr>
              <a:t>Large Language Models</a:t>
            </a:r>
          </a:p>
        </p:txBody>
      </p:sp>
      <p:sp>
        <p:nvSpPr>
          <p:cNvPr id="10" name="TextBox 9"/>
          <p:cNvSpPr txBox="1"/>
          <p:nvPr/>
        </p:nvSpPr>
        <p:spPr>
          <a:xfrm>
            <a:off x="3401568" y="5705856"/>
            <a:ext cx="2724912" cy="292608"/>
          </a:xfrm>
          <a:prstGeom prst="rect">
            <a:avLst/>
          </a:prstGeom>
          <a:noFill/>
        </p:spPr>
        <p:txBody>
          <a:bodyPr wrap="none">
            <a:spAutoFit/>
          </a:bodyPr>
          <a:lstStyle/>
          <a:p>
            <a:r>
              <a:rPr sz="1000" b="1">
                <a:solidFill>
                  <a:srgbClr val="4F46E5"/>
                </a:solidFill>
                <a:latin typeface="Helvetica Neue"/>
              </a:rPr>
              <a:t>J&amp;M Ch. 10  </a:t>
            </a:r>
            <a:r>
              <a:rPr sz="1000" u="sng">
                <a:solidFill>
                  <a:srgbClr val="1D4ED8"/>
                </a:solidFill>
                <a:latin typeface="Helvetica Neue"/>
                <a:hlinkClick r:id="rId3"/>
              </a:rPr>
              <a:t>BERT &amp; masked LMs</a:t>
            </a:r>
          </a:p>
        </p:txBody>
      </p:sp>
      <p:sp>
        <p:nvSpPr>
          <p:cNvPr id="11" name="TextBox 10"/>
          <p:cNvSpPr txBox="1"/>
          <p:nvPr/>
        </p:nvSpPr>
        <p:spPr>
          <a:xfrm>
            <a:off x="6163056" y="5705856"/>
            <a:ext cx="2724912" cy="292608"/>
          </a:xfrm>
          <a:prstGeom prst="rect">
            <a:avLst/>
          </a:prstGeom>
          <a:noFill/>
        </p:spPr>
        <p:txBody>
          <a:bodyPr wrap="none">
            <a:spAutoFit/>
          </a:bodyPr>
          <a:lstStyle/>
          <a:p>
            <a:r>
              <a:rPr sz="1000" b="1">
                <a:solidFill>
                  <a:srgbClr val="4F46E5"/>
                </a:solidFill>
                <a:latin typeface="Helvetica Neue"/>
              </a:rPr>
              <a:t>HOLLM Ch. 3  </a:t>
            </a:r>
            <a:r>
              <a:rPr sz="1000" u="sng">
                <a:solidFill>
                  <a:srgbClr val="1D4ED8"/>
                </a:solidFill>
                <a:latin typeface="Helvetica Neue"/>
                <a:hlinkClick r:id="rId4"/>
              </a:rPr>
              <a:t>inside transformer LLMs</a:t>
            </a:r>
          </a:p>
        </p:txBody>
      </p:sp>
      <p:sp>
        <p:nvSpPr>
          <p:cNvPr id="12" name="TextBox 11"/>
          <p:cNvSpPr txBox="1"/>
          <p:nvPr/>
        </p:nvSpPr>
        <p:spPr>
          <a:xfrm>
            <a:off x="8924544" y="5705856"/>
            <a:ext cx="2724912" cy="292608"/>
          </a:xfrm>
          <a:prstGeom prst="rect">
            <a:avLst/>
          </a:prstGeom>
          <a:noFill/>
        </p:spPr>
        <p:txBody>
          <a:bodyPr wrap="none">
            <a:spAutoFit/>
          </a:bodyPr>
          <a:lstStyle/>
          <a:p>
            <a:r>
              <a:rPr sz="1000" b="1">
                <a:solidFill>
                  <a:srgbClr val="4F46E5"/>
                </a:solidFill>
                <a:latin typeface="Helvetica Neue"/>
              </a:rPr>
              <a:t>Tunstall Ch. 10  </a:t>
            </a:r>
            <a:r>
              <a:rPr sz="1000" u="sng">
                <a:solidFill>
                  <a:srgbClr val="1D4ED8"/>
                </a:solidFill>
                <a:latin typeface="Helvetica Neue"/>
                <a:hlinkClick r:id="rId5"/>
              </a:rPr>
              <a:t>training from scratch</a:t>
            </a:r>
          </a:p>
        </p:txBody>
      </p:sp>
      <p:sp>
        <p:nvSpPr>
          <p:cNvPr id="13" name="TextBox 12"/>
          <p:cNvSpPr txBox="1"/>
          <p:nvPr/>
        </p:nvSpPr>
        <p:spPr>
          <a:xfrm>
            <a:off x="640080" y="6016752"/>
            <a:ext cx="2724912" cy="292608"/>
          </a:xfrm>
          <a:prstGeom prst="rect">
            <a:avLst/>
          </a:prstGeom>
          <a:noFill/>
        </p:spPr>
        <p:txBody>
          <a:bodyPr wrap="none">
            <a:spAutoFit/>
          </a:bodyPr>
          <a:lstStyle/>
          <a:p>
            <a:r>
              <a:rPr sz="1000" b="1">
                <a:solidFill>
                  <a:srgbClr val="4F46E5"/>
                </a:solidFill>
                <a:latin typeface="Helvetica Neue"/>
              </a:rPr>
              <a:t>Vaswani 2017  </a:t>
            </a:r>
            <a:r>
              <a:rPr sz="1000" u="sng">
                <a:solidFill>
                  <a:srgbClr val="1D4ED8"/>
                </a:solidFill>
                <a:latin typeface="Helvetica Neue"/>
                <a:hlinkClick r:id="rId6"/>
              </a:rPr>
              <a:t>Attention Is All You Need</a:t>
            </a:r>
          </a:p>
        </p:txBody>
      </p:sp>
      <p:sp>
        <p:nvSpPr>
          <p:cNvPr id="14" name="TextBox 13"/>
          <p:cNvSpPr txBox="1"/>
          <p:nvPr/>
        </p:nvSpPr>
        <p:spPr>
          <a:xfrm>
            <a:off x="3401568" y="6016752"/>
            <a:ext cx="2724912" cy="292608"/>
          </a:xfrm>
          <a:prstGeom prst="rect">
            <a:avLst/>
          </a:prstGeom>
          <a:noFill/>
        </p:spPr>
        <p:txBody>
          <a:bodyPr wrap="none">
            <a:spAutoFit/>
          </a:bodyPr>
          <a:lstStyle/>
          <a:p>
            <a:r>
              <a:rPr sz="1000" b="1">
                <a:solidFill>
                  <a:srgbClr val="4F46E5"/>
                </a:solidFill>
                <a:latin typeface="Helvetica Neue"/>
              </a:rPr>
              <a:t>Devlin 2018  </a:t>
            </a:r>
            <a:r>
              <a:rPr sz="1000" u="sng">
                <a:solidFill>
                  <a:srgbClr val="1D4ED8"/>
                </a:solidFill>
                <a:latin typeface="Helvetica Neue"/>
                <a:hlinkClick r:id="rId7"/>
              </a:rPr>
              <a:t>BERT</a:t>
            </a:r>
          </a:p>
        </p:txBody>
      </p:sp>
      <p:sp>
        <p:nvSpPr>
          <p:cNvPr id="15" name="TextBox 14"/>
          <p:cNvSpPr txBox="1"/>
          <p:nvPr/>
        </p:nvSpPr>
        <p:spPr>
          <a:xfrm>
            <a:off x="6163056" y="6016752"/>
            <a:ext cx="2724912" cy="292608"/>
          </a:xfrm>
          <a:prstGeom prst="rect">
            <a:avLst/>
          </a:prstGeom>
          <a:noFill/>
        </p:spPr>
        <p:txBody>
          <a:bodyPr wrap="none">
            <a:spAutoFit/>
          </a:bodyPr>
          <a:lstStyle/>
          <a:p>
            <a:r>
              <a:rPr sz="1000" b="1">
                <a:solidFill>
                  <a:srgbClr val="4F46E5"/>
                </a:solidFill>
                <a:latin typeface="Helvetica Neue"/>
              </a:rPr>
              <a:t>Liu 2019  </a:t>
            </a:r>
            <a:r>
              <a:rPr sz="1000" u="sng">
                <a:solidFill>
                  <a:srgbClr val="1D4ED8"/>
                </a:solidFill>
                <a:latin typeface="Helvetica Neue"/>
                <a:hlinkClick r:id="rId8"/>
              </a:rPr>
              <a:t>RoBERTa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BUSINESS</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First, what company are we walking into?</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Before any technology, you need to be able to picture the job. Here it is in three sentences.</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scene.png"/>
          <p:cNvPicPr>
            <a:picLocks noChangeAspect="1"/>
          </p:cNvPicPr>
          <p:nvPr/>
        </p:nvPicPr>
        <p:blipFill>
          <a:blip r:embed="rId2"/>
          <a:stretch>
            <a:fillRect/>
          </a:stretch>
        </p:blipFill>
        <p:spPr>
          <a:xfrm>
            <a:off x="518007" y="2046394"/>
            <a:ext cx="11155680" cy="3771050"/>
          </a:xfrm>
          <a:prstGeom prst="rect">
            <a:avLst/>
          </a:prstGeom>
        </p:spPr>
      </p:pic>
      <p:sp>
        <p:nvSpPr>
          <p:cNvPr id="7" name="TextBox 6"/>
          <p:cNvSpPr txBox="1"/>
          <p:nvPr/>
        </p:nvSpPr>
        <p:spPr>
          <a:xfrm>
            <a:off x="640080" y="6053328"/>
            <a:ext cx="10881360" cy="365760"/>
          </a:xfrm>
          <a:prstGeom prst="rect">
            <a:avLst/>
          </a:prstGeom>
          <a:noFill/>
        </p:spPr>
        <p:txBody>
          <a:bodyPr wrap="square" lIns="0" rIns="0" tIns="0" bIns="0">
            <a:spAutoFit/>
          </a:bodyPr>
          <a:lstStyle/>
          <a:p>
            <a:pPr algn="ctr"/>
            <a:r>
              <a:rPr sz="1500" b="0" i="1">
                <a:solidFill>
                  <a:srgbClr val="475569"/>
                </a:solidFill>
                <a:latin typeface="Helvetica Neue"/>
              </a:rPr>
              <a:t>Five thousand of these arrive every week. Three people answer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PROBLEM</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Every ticket has to be read before it can be answered.</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And that reading is where the three agents lose their day.</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
        <p:nvSpPr>
          <p:cNvPr id="6" name="Rounded Rectangle 5"/>
          <p:cNvSpPr/>
          <p:nvPr/>
        </p:nvSpPr>
        <p:spPr>
          <a:xfrm>
            <a:off x="685800"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~5,000 tickets a week</a:t>
            </a:r>
          </a:p>
        </p:txBody>
      </p:sp>
      <p:sp>
        <p:nvSpPr>
          <p:cNvPr id="8" name="TextBox 7"/>
          <p:cNvSpPr txBox="1"/>
          <p:nvPr/>
        </p:nvSpPr>
        <p:spPr>
          <a:xfrm>
            <a:off x="886968"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and three people to answer them</a:t>
            </a:r>
          </a:p>
        </p:txBody>
      </p:sp>
      <p:sp>
        <p:nvSpPr>
          <p:cNvPr id="9" name="Rounded Rectangle 8"/>
          <p:cNvSpPr/>
          <p:nvPr/>
        </p:nvSpPr>
        <p:spPr>
          <a:xfrm>
            <a:off x="3483864"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5032"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~40% are repeats</a:t>
            </a:r>
          </a:p>
        </p:txBody>
      </p:sp>
      <p:sp>
        <p:nvSpPr>
          <p:cNvPr id="11" name="TextBox 10"/>
          <p:cNvSpPr txBox="1"/>
          <p:nvPr/>
        </p:nvSpPr>
        <p:spPr>
          <a:xfrm>
            <a:off x="3685032"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the same handful of questions</a:t>
            </a:r>
          </a:p>
        </p:txBody>
      </p:sp>
      <p:sp>
        <p:nvSpPr>
          <p:cNvPr id="12" name="Rounded Rectangle 11"/>
          <p:cNvSpPr/>
          <p:nvPr/>
        </p:nvSpPr>
        <p:spPr>
          <a:xfrm>
            <a:off x="6281928"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Nothing is sorted</a:t>
            </a:r>
          </a:p>
        </p:txBody>
      </p:sp>
      <p:sp>
        <p:nvSpPr>
          <p:cNvPr id="14" name="TextBox 13"/>
          <p:cNvSpPr txBox="1"/>
          <p:nvPr/>
        </p:nvSpPr>
        <p:spPr>
          <a:xfrm>
            <a:off x="6483096"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no tags, no categories, just text</a:t>
            </a:r>
          </a:p>
        </p:txBody>
      </p:sp>
      <p:sp>
        <p:nvSpPr>
          <p:cNvPr id="15" name="Rounded Rectangle 14"/>
          <p:cNvSpPr/>
          <p:nvPr/>
        </p:nvSpPr>
        <p:spPr>
          <a:xfrm>
            <a:off x="9079992"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Minutes lost per ticket</a:t>
            </a:r>
          </a:p>
        </p:txBody>
      </p:sp>
      <p:sp>
        <p:nvSpPr>
          <p:cNvPr id="17" name="TextBox 16"/>
          <p:cNvSpPr txBox="1"/>
          <p:nvPr/>
        </p:nvSpPr>
        <p:spPr>
          <a:xfrm>
            <a:off x="9281160"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just working out who should own it</a:t>
            </a:r>
          </a:p>
        </p:txBody>
      </p:sp>
      <p:sp>
        <p:nvSpPr>
          <p:cNvPr id="18" name="Rounded Rectangle 17"/>
          <p:cNvSpPr/>
          <p:nvPr/>
        </p:nvSpPr>
        <p:spPr>
          <a:xfrm>
            <a:off x="640080" y="3703320"/>
            <a:ext cx="10908792" cy="1481328"/>
          </a:xfrm>
          <a:prstGeom prst="roundRect">
            <a:avLst>
              <a:gd name="adj" fmla="val 6000"/>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58768"/>
            <a:ext cx="10424160" cy="274320"/>
          </a:xfrm>
          <a:prstGeom prst="rect">
            <a:avLst/>
          </a:prstGeom>
          <a:noFill/>
        </p:spPr>
        <p:txBody>
          <a:bodyPr wrap="square" lIns="0" rIns="0" tIns="0" bIns="0">
            <a:spAutoFit/>
          </a:bodyPr>
          <a:lstStyle/>
          <a:p>
            <a:pPr algn="l"/>
            <a:r>
              <a:rPr sz="1150" b="1" i="0" spc="180">
                <a:solidFill>
                  <a:srgbClr val="B45309"/>
                </a:solidFill>
                <a:latin typeface="Helvetica Neue"/>
              </a:rPr>
              <a:t>WHY THAT THIRD BOX IS THE HARD ONE</a:t>
            </a:r>
          </a:p>
        </p:txBody>
      </p:sp>
      <p:sp>
        <p:nvSpPr>
          <p:cNvPr id="20" name="TextBox 19"/>
          <p:cNvSpPr txBox="1"/>
          <p:nvPr/>
        </p:nvSpPr>
        <p:spPr>
          <a:xfrm>
            <a:off x="914400" y="4169663"/>
            <a:ext cx="10378440" cy="914400"/>
          </a:xfrm>
          <a:prstGeom prst="rect">
            <a:avLst/>
          </a:prstGeom>
          <a:noFill/>
        </p:spPr>
        <p:txBody>
          <a:bodyPr wrap="square" lIns="0" rIns="0" tIns="0" bIns="0">
            <a:spAutoFit/>
          </a:bodyPr>
          <a:lstStyle/>
          <a:p>
            <a:pPr algn="l"/>
            <a:r>
              <a:rPr sz="1500" b="0" i="0">
                <a:solidFill>
                  <a:srgbClr val="334155"/>
                </a:solidFill>
                <a:latin typeface="Helvetica Neue"/>
              </a:rPr>
              <a:t>The normal way to teach a computer to sort text is to hand it a few thousand examples that a person has already sorted by hand. Those hand-sorted examples are called training data, and most machine learning cannot start without them. Cobalt has none. Building that pile would mean paying people to read and tag thousands of tickets before you could write a line of code.</a:t>
            </a:r>
          </a:p>
        </p:txBody>
      </p:sp>
      <p:sp>
        <p:nvSpPr>
          <p:cNvPr id="21" name="TextBox 20"/>
          <p:cNvSpPr txBox="1"/>
          <p:nvPr/>
        </p:nvSpPr>
        <p:spPr>
          <a:xfrm>
            <a:off x="640080" y="5413248"/>
            <a:ext cx="10881360" cy="457200"/>
          </a:xfrm>
          <a:prstGeom prst="rect">
            <a:avLst/>
          </a:prstGeom>
          <a:noFill/>
        </p:spPr>
        <p:txBody>
          <a:bodyPr wrap="square" lIns="0" rIns="0" tIns="0" bIns="0">
            <a:spAutoFit/>
          </a:bodyPr>
          <a:lstStyle/>
          <a:p>
            <a:pPr algn="l"/>
            <a:r>
              <a:rPr sz="1600" b="0" i="1">
                <a:solidFill>
                  <a:srgbClr val="0F172A"/>
                </a:solidFill>
                <a:latin typeface="Helvetica Neue"/>
              </a:rPr>
              <a:t>So tonight we build something that never needs them. We start with the half that READS the inbox: search it, sort it, and decide what a person actually has to see.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PLAN</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Four capabilities, built in order.</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Each one is useful on its own. Together they are a product.</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plan.png"/>
          <p:cNvPicPr>
            <a:picLocks noChangeAspect="1"/>
          </p:cNvPicPr>
          <p:nvPr/>
        </p:nvPicPr>
        <p:blipFill>
          <a:blip r:embed="rId2"/>
          <a:stretch>
            <a:fillRect/>
          </a:stretch>
        </p:blipFill>
        <p:spPr>
          <a:xfrm>
            <a:off x="518007" y="2630057"/>
            <a:ext cx="11155680" cy="310664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Search that finds what you meant.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Before any theory: watch it find tickets that do not contain a single word you typed.</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search.png"/>
          <p:cNvPicPr>
            <a:picLocks noChangeAspect="1"/>
          </p:cNvPicPr>
          <p:nvPr/>
        </p:nvPicPr>
        <p:blipFill>
          <a:blip r:embed="rId2"/>
          <a:stretch>
            <a:fillRect/>
          </a:stretch>
        </p:blipFill>
        <p:spPr>
          <a:xfrm>
            <a:off x="518007" y="2013030"/>
            <a:ext cx="11155680" cy="4157819"/>
          </a:xfrm>
          <a:prstGeom prst="rect">
            <a:avLst/>
          </a:prstGeom>
        </p:spPr>
      </p:pic>
      <p:sp>
        <p:nvSpPr>
          <p:cNvPr id="16" name="Rounded Rectangle 15"/>
          <p:cNvSpPr/>
          <p:nvPr/>
        </p:nvSpPr>
        <p:spPr>
          <a:xfrm>
            <a:off x="6505041" y="6345936"/>
            <a:ext cx="5046573"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547457"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60489"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7547457"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3</a:t>
            </a:r>
          </a:p>
        </p:txBody>
      </p:sp>
      <p:sp>
        <p:nvSpPr>
          <p:cNvPr id="20" name="TextBox 19"/>
          <p:cNvSpPr txBox="1"/>
          <p:nvPr/>
        </p:nvSpPr>
        <p:spPr>
          <a:xfrm>
            <a:off x="8352129" y="6460236"/>
            <a:ext cx="3098901" cy="219456"/>
          </a:xfrm>
          <a:prstGeom prst="rect">
            <a:avLst/>
          </a:prstGeom>
          <a:noFill/>
        </p:spPr>
        <p:txBody>
          <a:bodyPr wrap="none" lIns="0" rIns="0" tIns="0" bIns="0">
            <a:spAutoFit/>
          </a:bodyPr>
          <a:lstStyle/>
          <a:p>
            <a:pPr algn="l"/>
            <a:r>
              <a:rPr sz="1000" b="1" i="0">
                <a:solidFill>
                  <a:srgbClr val="FFFFFF"/>
                </a:solidFill>
                <a:latin typeface="Helvetica Neue"/>
              </a:rPr>
              <a:t>Turn tickets into vectors, then 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Structure was already in the text.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Nobody sorted these. Plot the tickets and the neighbourhoods appear on their own.</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map.png"/>
          <p:cNvPicPr>
            <a:picLocks noChangeAspect="1"/>
          </p:cNvPicPr>
          <p:nvPr/>
        </p:nvPicPr>
        <p:blipFill>
          <a:blip r:embed="rId2"/>
          <a:stretch>
            <a:fillRect/>
          </a:stretch>
        </p:blipFill>
        <p:spPr>
          <a:xfrm>
            <a:off x="3290383" y="1965960"/>
            <a:ext cx="5610928" cy="4251960"/>
          </a:xfrm>
          <a:prstGeom prst="rect">
            <a:avLst/>
          </a:prstGeom>
        </p:spPr>
      </p:pic>
      <p:sp>
        <p:nvSpPr>
          <p:cNvPr id="16" name="Rounded Rectangle 15"/>
          <p:cNvSpPr/>
          <p:nvPr/>
        </p:nvSpPr>
        <p:spPr>
          <a:xfrm>
            <a:off x="7773314" y="6345936"/>
            <a:ext cx="3778300"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15730"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876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815730"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5</a:t>
            </a:r>
          </a:p>
        </p:txBody>
      </p:sp>
      <p:sp>
        <p:nvSpPr>
          <p:cNvPr id="20" name="TextBox 19"/>
          <p:cNvSpPr txBox="1"/>
          <p:nvPr/>
        </p:nvSpPr>
        <p:spPr>
          <a:xfrm>
            <a:off x="9620402" y="6460236"/>
            <a:ext cx="1830628" cy="219456"/>
          </a:xfrm>
          <a:prstGeom prst="rect">
            <a:avLst/>
          </a:prstGeom>
          <a:noFill/>
        </p:spPr>
        <p:txBody>
          <a:bodyPr wrap="none" lIns="0" rIns="0" tIns="0" bIns="0">
            <a:spAutoFit/>
          </a:bodyPr>
          <a:lstStyle/>
          <a:p>
            <a:pPr algn="l"/>
            <a:r>
              <a:rPr sz="1000" b="1" i="0">
                <a:solidFill>
                  <a:srgbClr val="FFFFFF"/>
                </a:solidFill>
                <a:latin typeface="Helvetica Neue"/>
              </a:rPr>
              <a:t>Map the whole inbox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300" b="1" i="0">
                <a:solidFill>
                  <a:srgbClr val="0F172A"/>
                </a:solidFill>
                <a:latin typeface="Helvetica Neue"/>
              </a:rPr>
              <a:t>One gotcha before you promise anyone this works.</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The model turns text into numbers by splitting it into chunks. Watch what that does to your product vocabulary.</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jargon.png"/>
          <p:cNvPicPr>
            <a:picLocks noChangeAspect="1"/>
          </p:cNvPicPr>
          <p:nvPr/>
        </p:nvPicPr>
        <p:blipFill>
          <a:blip r:embed="rId2"/>
          <a:stretch>
            <a:fillRect/>
          </a:stretch>
        </p:blipFill>
        <p:spPr>
          <a:xfrm>
            <a:off x="518007" y="2436196"/>
            <a:ext cx="11155680" cy="3311487"/>
          </a:xfrm>
          <a:prstGeom prst="rect">
            <a:avLst/>
          </a:prstGeom>
        </p:spPr>
      </p:pic>
      <p:sp>
        <p:nvSpPr>
          <p:cNvPr id="16" name="Rounded Rectangle 15"/>
          <p:cNvSpPr/>
          <p:nvPr/>
        </p:nvSpPr>
        <p:spPr>
          <a:xfrm>
            <a:off x="7172553" y="6345936"/>
            <a:ext cx="437906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14969"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28001"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214969"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7</a:t>
            </a:r>
          </a:p>
        </p:txBody>
      </p:sp>
      <p:sp>
        <p:nvSpPr>
          <p:cNvPr id="20" name="TextBox 19"/>
          <p:cNvSpPr txBox="1"/>
          <p:nvPr/>
        </p:nvSpPr>
        <p:spPr>
          <a:xfrm>
            <a:off x="9019641" y="6460236"/>
            <a:ext cx="2431389" cy="219456"/>
          </a:xfrm>
          <a:prstGeom prst="rect">
            <a:avLst/>
          </a:prstGeom>
          <a:noFill/>
        </p:spPr>
        <p:txBody>
          <a:bodyPr wrap="none" lIns="0" rIns="0" tIns="0" bIns="0">
            <a:spAutoFit/>
          </a:bodyPr>
          <a:lstStyle/>
          <a:p>
            <a:pPr algn="l"/>
            <a:r>
              <a:rPr sz="1000" b="1" i="0">
                <a:solidFill>
                  <a:srgbClr val="FFFFFF"/>
                </a:solidFill>
                <a:latin typeface="Helvetica Neue"/>
              </a:rPr>
              <a:t>Test your product vocabulary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How the meaning gets in there.</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49640"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fig_blockflow.png"/>
          <p:cNvPicPr>
            <a:picLocks noChangeAspect="1"/>
          </p:cNvPicPr>
          <p:nvPr/>
        </p:nvPicPr>
        <p:blipFill>
          <a:blip r:embed="rId2"/>
          <a:stretch>
            <a:fillRect/>
          </a:stretch>
        </p:blipFill>
        <p:spPr>
          <a:xfrm>
            <a:off x="607178" y="1632204"/>
            <a:ext cx="10977337" cy="4315968"/>
          </a:xfrm>
          <a:prstGeom prst="rect">
            <a:avLst/>
          </a:prstGeom>
        </p:spPr>
      </p:pic>
      <p:sp>
        <p:nvSpPr>
          <p:cNvPr id="15" name="TextBox 14"/>
          <p:cNvSpPr txBox="1"/>
          <p:nvPr/>
        </p:nvSpPr>
        <p:spPr>
          <a:xfrm>
            <a:off x="640080" y="6035040"/>
            <a:ext cx="10881360" cy="320040"/>
          </a:xfrm>
          <a:prstGeom prst="rect">
            <a:avLst/>
          </a:prstGeom>
          <a:noFill/>
        </p:spPr>
        <p:txBody>
          <a:bodyPr wrap="square" lIns="0" rIns="0" tIns="0" bIns="0">
            <a:spAutoFit/>
          </a:bodyPr>
          <a:lstStyle/>
          <a:p>
            <a:pPr algn="ctr"/>
            <a:r>
              <a:rPr sz="1500" b="0" i="1">
                <a:solidFill>
                  <a:srgbClr val="475569"/>
                </a:solidFill>
                <a:latin typeface="Helvetica Neue"/>
              </a:rPr>
              <a:t>You built this in Lecture 11. Tonight you only need the shape of it.</a:t>
            </a:r>
          </a:p>
        </p:txBody>
      </p:sp>
      <p:sp>
        <p:nvSpPr>
          <p:cNvPr id="16" name="Rounded Rectangle 15"/>
          <p:cNvSpPr/>
          <p:nvPr/>
        </p:nvSpPr>
        <p:spPr>
          <a:xfrm>
            <a:off x="7105802" y="6345936"/>
            <a:ext cx="4445812"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48218"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1250"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148218"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9</a:t>
            </a:r>
          </a:p>
        </p:txBody>
      </p:sp>
      <p:sp>
        <p:nvSpPr>
          <p:cNvPr id="20" name="TextBox 19"/>
          <p:cNvSpPr txBox="1"/>
          <p:nvPr/>
        </p:nvSpPr>
        <p:spPr>
          <a:xfrm>
            <a:off x="8952890" y="6460236"/>
            <a:ext cx="2498140" cy="219456"/>
          </a:xfrm>
          <a:prstGeom prst="rect">
            <a:avLst/>
          </a:prstGeom>
          <a:noFill/>
        </p:spPr>
        <p:txBody>
          <a:bodyPr wrap="none" lIns="0" rIns="0" tIns="0" bIns="0">
            <a:spAutoFit/>
          </a:bodyPr>
          <a:lstStyle/>
          <a:p>
            <a:pPr algn="l"/>
            <a:r>
              <a:rPr sz="1000" b="1" i="0">
                <a:solidFill>
                  <a:srgbClr val="FFFFFF"/>
                </a:solidFill>
                <a:latin typeface="Helvetica Neue"/>
              </a:rPr>
              <a:t>Watch attention change a word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1179576"/>
          </a:xfrm>
          <a:prstGeom prst="rect">
            <a:avLst/>
          </a:prstGeom>
          <a:noFill/>
        </p:spPr>
        <p:txBody>
          <a:bodyPr wrap="square" lIns="0" rIns="0" tIns="0" bIns="0">
            <a:spAutoFit/>
          </a:bodyPr>
          <a:lstStyle/>
          <a:p>
            <a:pPr algn="l"/>
            <a:r>
              <a:rPr sz="2900" b="1" i="0">
                <a:solidFill>
                  <a:srgbClr val="0F172A"/>
                </a:solidFill>
                <a:latin typeface="Helvetica Neue"/>
              </a:rPr>
              <a:t>Sort the inbox with no training data at all.</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08008"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zs.png"/>
          <p:cNvPicPr>
            <a:picLocks noChangeAspect="1"/>
          </p:cNvPicPr>
          <p:nvPr/>
        </p:nvPicPr>
        <p:blipFill>
          <a:blip r:embed="rId2"/>
          <a:stretch>
            <a:fillRect/>
          </a:stretch>
        </p:blipFill>
        <p:spPr>
          <a:xfrm>
            <a:off x="1473370" y="1965960"/>
            <a:ext cx="9244954" cy="4297679"/>
          </a:xfrm>
          <a:prstGeom prst="rect">
            <a:avLst/>
          </a:prstGeom>
        </p:spPr>
      </p:pic>
      <p:sp>
        <p:nvSpPr>
          <p:cNvPr id="15" name="Rounded Rectangle 14"/>
          <p:cNvSpPr/>
          <p:nvPr/>
        </p:nvSpPr>
        <p:spPr>
          <a:xfrm>
            <a:off x="6505041" y="6345936"/>
            <a:ext cx="5046573"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47457"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0489"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547457"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13</a:t>
            </a:r>
          </a:p>
        </p:txBody>
      </p:sp>
      <p:sp>
        <p:nvSpPr>
          <p:cNvPr id="19" name="TextBox 18"/>
          <p:cNvSpPr txBox="1"/>
          <p:nvPr/>
        </p:nvSpPr>
        <p:spPr>
          <a:xfrm>
            <a:off x="8420709" y="6460236"/>
            <a:ext cx="3030321" cy="219456"/>
          </a:xfrm>
          <a:prstGeom prst="rect">
            <a:avLst/>
          </a:prstGeom>
          <a:noFill/>
        </p:spPr>
        <p:txBody>
          <a:bodyPr wrap="none" lIns="0" rIns="0" tIns="0" bIns="0">
            <a:spAutoFit/>
          </a:bodyPr>
          <a:lstStyle/>
          <a:p>
            <a:pPr algn="l"/>
            <a:r>
              <a:rPr sz="1000" b="1" i="0">
                <a:solidFill>
                  <a:srgbClr val="FFFFFF"/>
                </a:solidFill>
                <a:latin typeface="Helvetica Neue"/>
              </a:rPr>
              <a:t>Route the inbox with no training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450" b="1" i="0">
                <a:solidFill>
                  <a:srgbClr val="0F172A"/>
                </a:solidFill>
                <a:latin typeface="Helvetica Neue"/>
              </a:rPr>
              <a:t>It is not a classifier. It is a fact-checker.</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The model judges whether a sentence YOU wrote is true of the ticket.</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08008"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nli.png"/>
          <p:cNvPicPr>
            <a:picLocks noChangeAspect="1"/>
          </p:cNvPicPr>
          <p:nvPr/>
        </p:nvPicPr>
        <p:blipFill>
          <a:blip r:embed="rId2"/>
          <a:stretch>
            <a:fillRect/>
          </a:stretch>
        </p:blipFill>
        <p:spPr>
          <a:xfrm>
            <a:off x="518007" y="2596680"/>
            <a:ext cx="11155680" cy="2350438"/>
          </a:xfrm>
          <a:prstGeom prst="rect">
            <a:avLst/>
          </a:prstGeom>
        </p:spPr>
      </p:pic>
      <p:sp>
        <p:nvSpPr>
          <p:cNvPr id="16" name="Rounded Rectangle 15"/>
          <p:cNvSpPr/>
          <p:nvPr/>
        </p:nvSpPr>
        <p:spPr>
          <a:xfrm>
            <a:off x="7306056" y="6345936"/>
            <a:ext cx="4245559"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48472"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1504"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348472"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17</a:t>
            </a:r>
          </a:p>
        </p:txBody>
      </p:sp>
      <p:sp>
        <p:nvSpPr>
          <p:cNvPr id="20" name="TextBox 19"/>
          <p:cNvSpPr txBox="1"/>
          <p:nvPr/>
        </p:nvSpPr>
        <p:spPr>
          <a:xfrm>
            <a:off x="9221724" y="6460236"/>
            <a:ext cx="2229307" cy="219456"/>
          </a:xfrm>
          <a:prstGeom prst="rect">
            <a:avLst/>
          </a:prstGeom>
          <a:noFill/>
        </p:spPr>
        <p:txBody>
          <a:bodyPr wrap="none" lIns="0" rIns="0" tIns="0" bIns="0">
            <a:spAutoFit/>
          </a:bodyPr>
          <a:lstStyle/>
          <a:p>
            <a:pPr algn="l"/>
            <a:r>
              <a:rPr sz="1000" b="1" i="0">
                <a:solidFill>
                  <a:srgbClr val="FFFFFF"/>
                </a:solidFill>
                <a:latin typeface="Helvetica Neue"/>
              </a:rPr>
              <a:t>See the entailment scores</a:t>
            </a:r>
          </a:p>
        </p:txBody>
      </p:sp>
      <p:sp>
        <p:nvSpPr>
          <p:cNvPr id="21" name="TextBox 20"/>
          <p:cNvSpPr txBox="1"/>
          <p:nvPr/>
        </p:nvSpPr>
        <p:spPr>
          <a:xfrm>
            <a:off x="640080" y="5532120"/>
            <a:ext cx="10881360" cy="640080"/>
          </a:xfrm>
          <a:prstGeom prst="rect">
            <a:avLst/>
          </a:prstGeom>
          <a:noFill/>
        </p:spPr>
        <p:txBody>
          <a:bodyPr wrap="square" lIns="0" rIns="0" tIns="0" bIns="0">
            <a:spAutoFit/>
          </a:bodyPr>
          <a:lstStyle/>
          <a:p>
            <a:pPr algn="ctr"/>
            <a:r>
              <a:rPr sz="1500" b="0" i="1">
                <a:solidFill>
                  <a:srgbClr val="475569"/>
                </a:solidFill>
                <a:latin typeface="Helvetica Neue"/>
              </a:rPr>
              <a:t>Every category becomes a sentence: "This example is {your description}." The model scores all eight and picks whichever it most believes.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1179576"/>
          </a:xfrm>
          <a:prstGeom prst="rect">
            <a:avLst/>
          </a:prstGeom>
          <a:noFill/>
        </p:spPr>
        <p:txBody>
          <a:bodyPr wrap="square" lIns="0" rIns="0" tIns="0" bIns="0">
            <a:spAutoFit/>
          </a:bodyPr>
          <a:lstStyle/>
          <a:p>
            <a:pPr algn="l"/>
            <a:r>
              <a:rPr sz="2900" b="1" i="0">
                <a:solidFill>
                  <a:srgbClr val="0F172A"/>
                </a:solidFill>
                <a:latin typeface="Helvetica Neue"/>
              </a:rPr>
              <a:t>The descriptions you write ARE the program.</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08008"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wording.png"/>
          <p:cNvPicPr>
            <a:picLocks noChangeAspect="1"/>
          </p:cNvPicPr>
          <p:nvPr/>
        </p:nvPicPr>
        <p:blipFill>
          <a:blip r:embed="rId2"/>
          <a:stretch>
            <a:fillRect/>
          </a:stretch>
        </p:blipFill>
        <p:spPr>
          <a:xfrm>
            <a:off x="518007" y="2769342"/>
            <a:ext cx="11155680" cy="2599474"/>
          </a:xfrm>
          <a:prstGeom prst="rect">
            <a:avLst/>
          </a:prstGeom>
        </p:spPr>
      </p:pic>
      <p:sp>
        <p:nvSpPr>
          <p:cNvPr id="15" name="Rounded Rectangle 14"/>
          <p:cNvSpPr/>
          <p:nvPr/>
        </p:nvSpPr>
        <p:spPr>
          <a:xfrm>
            <a:off x="6638544" y="6345936"/>
            <a:ext cx="491307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680960"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399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680960"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16</a:t>
            </a:r>
          </a:p>
        </p:txBody>
      </p:sp>
      <p:sp>
        <p:nvSpPr>
          <p:cNvPr id="19" name="TextBox 18"/>
          <p:cNvSpPr txBox="1"/>
          <p:nvPr/>
        </p:nvSpPr>
        <p:spPr>
          <a:xfrm>
            <a:off x="8554212" y="6460236"/>
            <a:ext cx="2896819" cy="219456"/>
          </a:xfrm>
          <a:prstGeom prst="rect">
            <a:avLst/>
          </a:prstGeom>
          <a:noFill/>
        </p:spPr>
        <p:txBody>
          <a:bodyPr wrap="none" lIns="0" rIns="0" tIns="0" bIns="0">
            <a:spAutoFit/>
          </a:bodyPr>
          <a:lstStyle/>
          <a:p>
            <a:pPr algn="l"/>
            <a:r>
              <a:rPr sz="1000" b="1" i="0">
                <a:solidFill>
                  <a:srgbClr val="FFFFFF"/>
                </a:solidFill>
                <a:latin typeface="Helvetica Neue"/>
              </a:rPr>
              <a:t>YOUR KNOB: rewrite the descriptions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650" b="1" i="0">
                <a:solidFill>
                  <a:srgbClr val="0F172A"/>
                </a:solidFill>
                <a:latin typeface="Helvetica Neue"/>
              </a:rPr>
              <a:t>An average is a bad way to run a product.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Ask WHICH tickets it gets wrong. The weak buckets are the ones whose descriptions overlap.</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recall.png"/>
          <p:cNvPicPr>
            <a:picLocks noChangeAspect="1"/>
          </p:cNvPicPr>
          <p:nvPr/>
        </p:nvPicPr>
        <p:blipFill>
          <a:blip r:embed="rId2"/>
          <a:stretch>
            <a:fillRect/>
          </a:stretch>
        </p:blipFill>
        <p:spPr>
          <a:xfrm>
            <a:off x="2205165" y="2057400"/>
            <a:ext cx="7781363" cy="3977639"/>
          </a:xfrm>
          <a:prstGeom prst="rect">
            <a:avLst/>
          </a:prstGeom>
        </p:spPr>
      </p:pic>
      <p:sp>
        <p:nvSpPr>
          <p:cNvPr id="16" name="Rounded Rectangle 15"/>
          <p:cNvSpPr/>
          <p:nvPr/>
        </p:nvSpPr>
        <p:spPr>
          <a:xfrm>
            <a:off x="7573060" y="6345936"/>
            <a:ext cx="3978554"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15476"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8508"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615476"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18</a:t>
            </a:r>
          </a:p>
        </p:txBody>
      </p:sp>
      <p:sp>
        <p:nvSpPr>
          <p:cNvPr id="20" name="TextBox 19"/>
          <p:cNvSpPr txBox="1"/>
          <p:nvPr/>
        </p:nvSpPr>
        <p:spPr>
          <a:xfrm>
            <a:off x="9488728" y="6460236"/>
            <a:ext cx="1962302" cy="219456"/>
          </a:xfrm>
          <a:prstGeom prst="rect">
            <a:avLst/>
          </a:prstGeom>
          <a:noFill/>
        </p:spPr>
        <p:txBody>
          <a:bodyPr wrap="none" lIns="0" rIns="0" tIns="0" bIns="0">
            <a:spAutoFit/>
          </a:bodyPr>
          <a:lstStyle/>
          <a:p>
            <a:pPr algn="l"/>
            <a:r>
              <a:rPr sz="1000" b="1" i="0">
                <a:solidFill>
                  <a:srgbClr val="FFFFFF"/>
                </a:solidFill>
                <a:latin typeface="Helvetica Neue"/>
              </a:rPr>
              <a:t>Find the weak buckets</a:t>
            </a:r>
          </a:p>
        </p:txBody>
      </p:sp>
      <p:sp>
        <p:nvSpPr>
          <p:cNvPr id="21" name="TextBox 20"/>
          <p:cNvSpPr txBox="1"/>
          <p:nvPr/>
        </p:nvSpPr>
        <p:spPr>
          <a:xfrm>
            <a:off x="640080" y="6080760"/>
            <a:ext cx="10881360" cy="365760"/>
          </a:xfrm>
          <a:prstGeom prst="rect">
            <a:avLst/>
          </a:prstGeom>
          <a:noFill/>
        </p:spPr>
        <p:txBody>
          <a:bodyPr wrap="square" lIns="0" rIns="0" tIns="0" bIns="0">
            <a:spAutoFit/>
          </a:bodyPr>
          <a:lstStyle/>
          <a:p>
            <a:pPr algn="ctr"/>
            <a:r>
              <a:rPr sz="1500" b="0" i="1">
                <a:solidFill>
                  <a:srgbClr val="475569"/>
                </a:solidFill>
                <a:latin typeface="Helvetica Neue"/>
              </a:rPr>
              <a:t>When a classifier underperforms, look at your taxonomy before you look at your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Confident is not the same as correct.</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softmax.png"/>
          <p:cNvPicPr>
            <a:picLocks noChangeAspect="1"/>
          </p:cNvPicPr>
          <p:nvPr/>
        </p:nvPicPr>
        <p:blipFill>
          <a:blip r:embed="rId2"/>
          <a:stretch>
            <a:fillRect/>
          </a:stretch>
        </p:blipFill>
        <p:spPr>
          <a:xfrm>
            <a:off x="518007" y="2197772"/>
            <a:ext cx="11155680" cy="3834054"/>
          </a:xfrm>
          <a:prstGeom prst="rect">
            <a:avLst/>
          </a:prstGeom>
        </p:spPr>
      </p:pic>
      <p:sp>
        <p:nvSpPr>
          <p:cNvPr id="15" name="Rounded Rectangle 14"/>
          <p:cNvSpPr/>
          <p:nvPr/>
        </p:nvSpPr>
        <p:spPr>
          <a:xfrm>
            <a:off x="7172553" y="6345936"/>
            <a:ext cx="437906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4969"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8001"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214969"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19</a:t>
            </a:r>
          </a:p>
        </p:txBody>
      </p:sp>
      <p:sp>
        <p:nvSpPr>
          <p:cNvPr id="19" name="TextBox 18"/>
          <p:cNvSpPr txBox="1"/>
          <p:nvPr/>
        </p:nvSpPr>
        <p:spPr>
          <a:xfrm>
            <a:off x="9088221" y="6460236"/>
            <a:ext cx="2362809" cy="219456"/>
          </a:xfrm>
          <a:prstGeom prst="rect">
            <a:avLst/>
          </a:prstGeom>
          <a:noFill/>
        </p:spPr>
        <p:txBody>
          <a:bodyPr wrap="none" lIns="0" rIns="0" tIns="0" bIns="0">
            <a:spAutoFit/>
          </a:bodyPr>
          <a:lstStyle/>
          <a:p>
            <a:pPr algn="l"/>
            <a:r>
              <a:rPr sz="1000" b="1" i="0">
                <a:solidFill>
                  <a:srgbClr val="FFFFFF"/>
                </a:solidFill>
                <a:latin typeface="Helvetica Neue"/>
              </a:rPr>
              <a:t>Feed it an off-topic ticket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650" b="1" i="0">
                <a:solidFill>
                  <a:srgbClr val="0F172A"/>
                </a:solidFill>
                <a:latin typeface="Helvetica Neue"/>
              </a:rPr>
              <a:t>What a mistake costs decides the setting.</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Same copilot, same tickets, six companies. Ask your neighbour: for the hospital, high bar or low?</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2" name="Rounded Rectangle 11"/>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game.png"/>
          <p:cNvPicPr>
            <a:picLocks noChangeAspect="1"/>
          </p:cNvPicPr>
          <p:nvPr/>
        </p:nvPicPr>
        <p:blipFill>
          <a:blip r:embed="rId2"/>
          <a:stretch>
            <a:fillRect/>
          </a:stretch>
        </p:blipFill>
        <p:spPr>
          <a:xfrm>
            <a:off x="2207847" y="2011680"/>
            <a:ext cx="7775999" cy="3931920"/>
          </a:xfrm>
          <a:prstGeom prst="rect">
            <a:avLst/>
          </a:prstGeom>
        </p:spPr>
      </p:pic>
      <p:sp>
        <p:nvSpPr>
          <p:cNvPr id="16" name="Rounded Rectangle 15"/>
          <p:cNvSpPr/>
          <p:nvPr/>
        </p:nvSpPr>
        <p:spPr>
          <a:xfrm>
            <a:off x="7105802" y="6345936"/>
            <a:ext cx="4445812"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48218"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1250"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148218"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21</a:t>
            </a:r>
          </a:p>
        </p:txBody>
      </p:sp>
      <p:sp>
        <p:nvSpPr>
          <p:cNvPr id="20" name="TextBox 19"/>
          <p:cNvSpPr txBox="1"/>
          <p:nvPr/>
        </p:nvSpPr>
        <p:spPr>
          <a:xfrm>
            <a:off x="9021470" y="6460236"/>
            <a:ext cx="2429560" cy="219456"/>
          </a:xfrm>
          <a:prstGeom prst="rect">
            <a:avLst/>
          </a:prstGeom>
          <a:noFill/>
        </p:spPr>
        <p:txBody>
          <a:bodyPr wrap="none" lIns="0" rIns="0" tIns="0" bIns="0">
            <a:spAutoFit/>
          </a:bodyPr>
          <a:lstStyle/>
          <a:p>
            <a:pPr algn="l"/>
            <a:r>
              <a:rPr sz="1000" b="1" i="0">
                <a:solidFill>
                  <a:srgbClr val="FFFFFF"/>
                </a:solidFill>
                <a:latin typeface="Helvetica Neue"/>
              </a:rPr>
              <a:t>YOUR KNOB: set the threshold</a:t>
            </a:r>
          </a:p>
        </p:txBody>
      </p:sp>
      <p:sp>
        <p:nvSpPr>
          <p:cNvPr id="21" name="TextBox 20"/>
          <p:cNvSpPr txBox="1"/>
          <p:nvPr/>
        </p:nvSpPr>
        <p:spPr>
          <a:xfrm>
            <a:off x="640080" y="6016752"/>
            <a:ext cx="10881360" cy="365760"/>
          </a:xfrm>
          <a:prstGeom prst="rect">
            <a:avLst/>
          </a:prstGeom>
          <a:noFill/>
        </p:spPr>
        <p:txBody>
          <a:bodyPr wrap="square" lIns="0" rIns="0" tIns="0" bIns="0">
            <a:spAutoFit/>
          </a:bodyPr>
          <a:lstStyle/>
          <a:p>
            <a:pPr algn="ctr"/>
            <a:r>
              <a:rPr sz="1500" b="0" i="1">
                <a:solidFill>
                  <a:srgbClr val="475569"/>
                </a:solidFill>
                <a:latin typeface="Helvetica Neue"/>
              </a:rPr>
              <a:t>Accuracy is a property of the model. The right threshold is a property of the business.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FULL CIRCLE</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What we shipped today, for $0.</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No training data. No training run. No GPU bill. One afternoon.</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shipped.png"/>
          <p:cNvPicPr>
            <a:picLocks noChangeAspect="1"/>
          </p:cNvPicPr>
          <p:nvPr/>
        </p:nvPicPr>
        <p:blipFill>
          <a:blip r:embed="rId2"/>
          <a:stretch>
            <a:fillRect/>
          </a:stretch>
        </p:blipFill>
        <p:spPr>
          <a:xfrm>
            <a:off x="518007" y="2943310"/>
            <a:ext cx="11155680" cy="1885778"/>
          </a:xfrm>
          <a:prstGeom prst="rect">
            <a:avLst/>
          </a:prstGeom>
        </p:spPr>
      </p:pic>
      <p:sp>
        <p:nvSpPr>
          <p:cNvPr id="7" name="TextBox 6"/>
          <p:cNvSpPr txBox="1"/>
          <p:nvPr/>
        </p:nvSpPr>
        <p:spPr>
          <a:xfrm>
            <a:off x="640080" y="5760720"/>
            <a:ext cx="10881360" cy="457200"/>
          </a:xfrm>
          <a:prstGeom prst="rect">
            <a:avLst/>
          </a:prstGeom>
          <a:noFill/>
        </p:spPr>
        <p:txBody>
          <a:bodyPr wrap="square" lIns="0" rIns="0" tIns="0" bIns="0">
            <a:spAutoFit/>
          </a:bodyPr>
          <a:lstStyle/>
          <a:p>
            <a:pPr algn="ctr"/>
            <a:r>
              <a:rPr sz="1600" b="0" i="1">
                <a:solidFill>
                  <a:srgbClr val="0F172A"/>
                </a:solidFill>
                <a:latin typeface="Helvetica Neue"/>
              </a:rPr>
              <a:t>Someone else already spent millions teaching a model to read English. Your job is to point it at your problem, cheaply, and know where it breaks.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BEFORE WE OPEN IT UP</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What you actually saw tonight.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Hold both columns in your head. We are about to need them.</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saw.png"/>
          <p:cNvPicPr>
            <a:picLocks noChangeAspect="1"/>
          </p:cNvPicPr>
          <p:nvPr/>
        </p:nvPicPr>
        <p:blipFill>
          <a:blip r:embed="rId2"/>
          <a:stretch>
            <a:fillRect/>
          </a:stretch>
        </p:blipFill>
        <p:spPr>
          <a:xfrm>
            <a:off x="518007" y="3252244"/>
            <a:ext cx="11155680" cy="186227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E11D48"/>
                </a:solidFill>
                <a:latin typeface="Helvetica Neue"/>
              </a:rPr>
              <a:t>DISCUSSION</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Last week, a model did this on its own.</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Not a thought experiment. This happened between the 16th and the 21st of July, six days ago.</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incident.png"/>
          <p:cNvPicPr>
            <a:picLocks noChangeAspect="1"/>
          </p:cNvPicPr>
          <p:nvPr/>
        </p:nvPicPr>
        <p:blipFill>
          <a:blip r:embed="rId2"/>
          <a:stretch>
            <a:fillRect/>
          </a:stretch>
        </p:blipFill>
        <p:spPr>
          <a:xfrm>
            <a:off x="518007" y="2056061"/>
            <a:ext cx="11155680" cy="3934597"/>
          </a:xfrm>
          <a:prstGeom prst="rect">
            <a:avLst/>
          </a:prstGeom>
        </p:spPr>
      </p:pic>
      <p:sp>
        <p:nvSpPr>
          <p:cNvPr id="7" name="TextBox 6"/>
          <p:cNvSpPr txBox="1"/>
          <p:nvPr/>
        </p:nvSpPr>
        <p:spPr>
          <a:xfrm>
            <a:off x="640080" y="6108192"/>
            <a:ext cx="10881360" cy="365760"/>
          </a:xfrm>
          <a:prstGeom prst="rect">
            <a:avLst/>
          </a:prstGeom>
          <a:noFill/>
        </p:spPr>
        <p:txBody>
          <a:bodyPr wrap="square" lIns="0" rIns="0" tIns="0" bIns="0">
            <a:spAutoFit/>
          </a:bodyPr>
          <a:lstStyle/>
          <a:p>
            <a:pPr algn="ctr"/>
            <a:r>
              <a:rPr sz="1100" b="0" i="0">
                <a:solidFill>
                  <a:srgbClr val="BCC1CC"/>
                </a:solidFill>
                <a:latin typeface="Helvetica Neue"/>
              </a:rPr>
              <a:t>Sources: OpenAI incident report - Hugging Face disclosure - CNBC, Axios, The Hacker News, 21-22 July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E11D48"/>
                </a:solidFill>
                <a:latin typeface="Helvetica Neue"/>
              </a:rPr>
              <a:t>DISCUSSION</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Thirty minutes. No right answers.</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You have spent tonight deciding when a system may act without a human. Now scale the question up.</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questions.png"/>
          <p:cNvPicPr>
            <a:picLocks noChangeAspect="1"/>
          </p:cNvPicPr>
          <p:nvPr/>
        </p:nvPicPr>
        <p:blipFill>
          <a:blip r:embed="rId2"/>
          <a:stretch>
            <a:fillRect/>
          </a:stretch>
        </p:blipFill>
        <p:spPr>
          <a:xfrm>
            <a:off x="1417882" y="2011680"/>
            <a:ext cx="9355930" cy="4297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