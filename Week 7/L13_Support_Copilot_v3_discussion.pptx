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theory: watch it find tickets that do not contain a single word you typed.</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search.png"/>
          <p:cNvPicPr>
            <a:picLocks noChangeAspect="1"/>
          </p:cNvPicPr>
          <p:nvPr/>
        </p:nvPicPr>
        <p:blipFill>
          <a:blip r:embed="rId2"/>
          <a:stretch>
            <a:fillRect/>
          </a:stretch>
        </p:blipFill>
        <p:spPr>
          <a:xfrm>
            <a:off x="518007" y="2013030"/>
            <a:ext cx="11155680" cy="4157819"/>
          </a:xfrm>
          <a:prstGeom prst="rect">
            <a:avLst/>
          </a:prstGeom>
        </p:spPr>
      </p:pic>
      <p:sp>
        <p:nvSpPr>
          <p:cNvPr id="16" name="Rounded Rectangle 15"/>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47457"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7547457"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3</a:t>
            </a:r>
          </a:p>
        </p:txBody>
      </p:sp>
      <p:sp>
        <p:nvSpPr>
          <p:cNvPr id="20" name="TextBox 19"/>
          <p:cNvSpPr txBox="1"/>
          <p:nvPr/>
        </p:nvSpPr>
        <p:spPr>
          <a:xfrm>
            <a:off x="8352129" y="6460236"/>
            <a:ext cx="3098901" cy="219456"/>
          </a:xfrm>
          <a:prstGeom prst="rect">
            <a:avLst/>
          </a:prstGeom>
          <a:noFill/>
        </p:spPr>
        <p:txBody>
          <a:bodyPr wrap="none" lIns="0" rIns="0" tIns="0" bIns="0">
            <a:spAutoFit/>
          </a:bodyPr>
          <a:lstStyle/>
          <a:p>
            <a:pPr algn="l"/>
            <a:r>
              <a:rPr sz="1000" b="1" i="0">
                <a:solidFill>
                  <a:srgbClr val="FFFFFF"/>
                </a:solidFill>
                <a:latin typeface="Helvetica Neue"/>
              </a:rPr>
              <a:t>Turn tickets into vectors, then search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tickets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90383" y="1965960"/>
            <a:ext cx="5610928" cy="4251960"/>
          </a:xfrm>
          <a:prstGeom prst="rect">
            <a:avLst/>
          </a:prstGeom>
        </p:spPr>
      </p:pic>
      <p:sp>
        <p:nvSpPr>
          <p:cNvPr id="16" name="Rounded Rectangle 15"/>
          <p:cNvSpPr/>
          <p:nvPr/>
        </p:nvSpPr>
        <p:spPr>
          <a:xfrm>
            <a:off x="7773314" y="6345936"/>
            <a:ext cx="37783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815730"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876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815730"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5</a:t>
            </a:r>
          </a:p>
        </p:txBody>
      </p:sp>
      <p:sp>
        <p:nvSpPr>
          <p:cNvPr id="20" name="TextBox 19"/>
          <p:cNvSpPr txBox="1"/>
          <p:nvPr/>
        </p:nvSpPr>
        <p:spPr>
          <a:xfrm>
            <a:off x="9620402" y="6460236"/>
            <a:ext cx="1830628" cy="219456"/>
          </a:xfrm>
          <a:prstGeom prst="rect">
            <a:avLst/>
          </a:prstGeom>
          <a:noFill/>
        </p:spPr>
        <p:txBody>
          <a:bodyPr wrap="none" lIns="0" rIns="0" tIns="0" bIns="0">
            <a:spAutoFit/>
          </a:bodyPr>
          <a:lstStyle/>
          <a:p>
            <a:pPr algn="l"/>
            <a:r>
              <a:rPr sz="1000" b="1" i="0">
                <a:solidFill>
                  <a:srgbClr val="FFFFFF"/>
                </a:solidFill>
                <a:latin typeface="Helvetica Neue"/>
              </a:rPr>
              <a:t>Map the whole inbox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300" b="1" i="0">
                <a:solidFill>
                  <a:srgbClr val="0F172A"/>
                </a:solidFill>
                <a:latin typeface="Helvetica Neue"/>
              </a:rPr>
              <a:t>One gotcha before you promise anyone this works.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turns text into numbers by splitting it into chunks. Watch what that does to your product vocabulary.</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jargon.png"/>
          <p:cNvPicPr>
            <a:picLocks noChangeAspect="1"/>
          </p:cNvPicPr>
          <p:nvPr/>
        </p:nvPicPr>
        <p:blipFill>
          <a:blip r:embed="rId2"/>
          <a:stretch>
            <a:fillRect/>
          </a:stretch>
        </p:blipFill>
        <p:spPr>
          <a:xfrm>
            <a:off x="518007" y="2436196"/>
            <a:ext cx="11155680" cy="3311487"/>
          </a:xfrm>
          <a:prstGeom prst="rect">
            <a:avLst/>
          </a:prstGeom>
        </p:spPr>
      </p:pic>
      <p:sp>
        <p:nvSpPr>
          <p:cNvPr id="16" name="Rounded Rectangle 15"/>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214969"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214969"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7</a:t>
            </a:r>
          </a:p>
        </p:txBody>
      </p:sp>
      <p:sp>
        <p:nvSpPr>
          <p:cNvPr id="20" name="TextBox 19"/>
          <p:cNvSpPr txBox="1"/>
          <p:nvPr/>
        </p:nvSpPr>
        <p:spPr>
          <a:xfrm>
            <a:off x="9019641" y="6460236"/>
            <a:ext cx="2431389" cy="219456"/>
          </a:xfrm>
          <a:prstGeom prst="rect">
            <a:avLst/>
          </a:prstGeom>
          <a:noFill/>
        </p:spPr>
        <p:txBody>
          <a:bodyPr wrap="none" lIns="0" rIns="0" tIns="0" bIns="0">
            <a:spAutoFit/>
          </a:bodyPr>
          <a:lstStyle/>
          <a:p>
            <a:pPr algn="l"/>
            <a:r>
              <a:rPr sz="1000" b="1" i="0">
                <a:solidFill>
                  <a:srgbClr val="FFFFFF"/>
                </a:solidFill>
                <a:latin typeface="Helvetica Neue"/>
              </a:rPr>
              <a:t>Test your product vocabulary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How the meaning gets in there.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fig_blockflow.png"/>
          <p:cNvPicPr>
            <a:picLocks noChangeAspect="1"/>
          </p:cNvPicPr>
          <p:nvPr/>
        </p:nvPicPr>
        <p:blipFill>
          <a:blip r:embed="rId2"/>
          <a:stretch>
            <a:fillRect/>
          </a:stretch>
        </p:blipFill>
        <p:spPr>
          <a:xfrm>
            <a:off x="621096" y="1632204"/>
            <a:ext cx="10949502" cy="4315968"/>
          </a:xfrm>
          <a:prstGeom prst="rect">
            <a:avLst/>
          </a:prstGeom>
        </p:spPr>
      </p:pic>
      <p:sp>
        <p:nvSpPr>
          <p:cNvPr id="15" name="TextBox 14"/>
          <p:cNvSpPr txBox="1"/>
          <p:nvPr/>
        </p:nvSpPr>
        <p:spPr>
          <a:xfrm>
            <a:off x="640080" y="6035040"/>
            <a:ext cx="10881360" cy="320040"/>
          </a:xfrm>
          <a:prstGeom prst="rect">
            <a:avLst/>
          </a:prstGeom>
          <a:noFill/>
        </p:spPr>
        <p:txBody>
          <a:bodyPr wrap="square" lIns="0" rIns="0" tIns="0" bIns="0">
            <a:spAutoFit/>
          </a:bodyPr>
          <a:lstStyle/>
          <a:p>
            <a:pPr algn="ctr"/>
            <a:r>
              <a:rPr sz="1500" b="0" i="1">
                <a:solidFill>
                  <a:srgbClr val="475569"/>
                </a:solidFill>
                <a:latin typeface="Helvetica Neue"/>
              </a:rPr>
              <a:t>You built this in Lecture 11. Tonight you only need the shape of it.</a:t>
            </a:r>
          </a:p>
        </p:txBody>
      </p:sp>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68580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685800" cy="219456"/>
          </a:xfrm>
          <a:prstGeom prst="rect">
            <a:avLst/>
          </a:prstGeom>
          <a:noFill/>
        </p:spPr>
        <p:txBody>
          <a:bodyPr wrap="none" lIns="0" rIns="0" tIns="0" bIns="0">
            <a:spAutoFit/>
          </a:bodyPr>
          <a:lstStyle/>
          <a:p>
            <a:pPr algn="ctr"/>
            <a:r>
              <a:rPr sz="1100" b="1" i="0">
                <a:solidFill>
                  <a:srgbClr val="FFFFFF"/>
                </a:solidFill>
                <a:latin typeface="Helvetica Neue"/>
              </a:rPr>
              <a:t>STEP 9</a:t>
            </a:r>
          </a:p>
        </p:txBody>
      </p:sp>
      <p:sp>
        <p:nvSpPr>
          <p:cNvPr id="20" name="TextBox 19"/>
          <p:cNvSpPr txBox="1"/>
          <p:nvPr/>
        </p:nvSpPr>
        <p:spPr>
          <a:xfrm>
            <a:off x="8952890" y="6460236"/>
            <a:ext cx="2498140" cy="219456"/>
          </a:xfrm>
          <a:prstGeom prst="rect">
            <a:avLst/>
          </a:prstGeom>
          <a:noFill/>
        </p:spPr>
        <p:txBody>
          <a:bodyPr wrap="none" lIns="0" rIns="0" tIns="0" bIns="0">
            <a:spAutoFit/>
          </a:bodyPr>
          <a:lstStyle/>
          <a:p>
            <a:pPr algn="l"/>
            <a:r>
              <a:rPr sz="1000" b="1" i="0">
                <a:solidFill>
                  <a:srgbClr val="FFFFFF"/>
                </a:solidFill>
                <a:latin typeface="Helvetica Neue"/>
              </a:rPr>
              <a:t>Watch attention change a word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505041" y="6345936"/>
            <a:ext cx="5046573"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547457"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60489"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547457"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13</a:t>
            </a:r>
          </a:p>
        </p:txBody>
      </p:sp>
      <p:sp>
        <p:nvSpPr>
          <p:cNvPr id="19" name="TextBox 18"/>
          <p:cNvSpPr txBox="1"/>
          <p:nvPr/>
        </p:nvSpPr>
        <p:spPr>
          <a:xfrm>
            <a:off x="8420709" y="6460236"/>
            <a:ext cx="3030321" cy="219456"/>
          </a:xfrm>
          <a:prstGeom prst="rect">
            <a:avLst/>
          </a:prstGeom>
          <a:noFill/>
        </p:spPr>
        <p:txBody>
          <a:bodyPr wrap="none" lIns="0" rIns="0" tIns="0" bIns="0">
            <a:spAutoFit/>
          </a:bodyPr>
          <a:lstStyle/>
          <a:p>
            <a:pPr algn="l"/>
            <a:r>
              <a:rPr sz="1000" b="1" i="0">
                <a:solidFill>
                  <a:srgbClr val="FFFFFF"/>
                </a:solidFill>
                <a:latin typeface="Helvetica Neue"/>
              </a:rPr>
              <a:t>Route the inbox with no training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45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306056" y="6345936"/>
            <a:ext cx="4245559"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48472"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61504"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348472"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17</a:t>
            </a:r>
          </a:p>
        </p:txBody>
      </p:sp>
      <p:sp>
        <p:nvSpPr>
          <p:cNvPr id="20" name="TextBox 19"/>
          <p:cNvSpPr txBox="1"/>
          <p:nvPr/>
        </p:nvSpPr>
        <p:spPr>
          <a:xfrm>
            <a:off x="9221724" y="6460236"/>
            <a:ext cx="2229307" cy="219456"/>
          </a:xfrm>
          <a:prstGeom prst="rect">
            <a:avLst/>
          </a:prstGeom>
          <a:noFill/>
        </p:spPr>
        <p:txBody>
          <a:bodyPr wrap="none" lIns="0" rIns="0" tIns="0" bIns="0">
            <a:spAutoFit/>
          </a:bodyPr>
          <a:lstStyle/>
          <a:p>
            <a:pPr algn="l"/>
            <a:r>
              <a:rPr sz="1000" b="1" i="0">
                <a:solidFill>
                  <a:srgbClr val="FFFFFF"/>
                </a:solidFill>
                <a:latin typeface="Helvetica Neue"/>
              </a:rPr>
              <a:t>See 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1179576"/>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638544" y="6345936"/>
            <a:ext cx="491307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80960"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3992"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7680960"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16</a:t>
            </a:r>
          </a:p>
        </p:txBody>
      </p:sp>
      <p:sp>
        <p:nvSpPr>
          <p:cNvPr id="19" name="TextBox 18"/>
          <p:cNvSpPr txBox="1"/>
          <p:nvPr/>
        </p:nvSpPr>
        <p:spPr>
          <a:xfrm>
            <a:off x="8554212" y="6460236"/>
            <a:ext cx="2896819" cy="219456"/>
          </a:xfrm>
          <a:prstGeom prst="rect">
            <a:avLst/>
          </a:prstGeom>
          <a:noFill/>
        </p:spPr>
        <p:txBody>
          <a:bodyPr wrap="none" lIns="0" rIns="0" tIns="0" bIns="0">
            <a:spAutoFit/>
          </a:bodyPr>
          <a:lstStyle/>
          <a:p>
            <a:pPr algn="l"/>
            <a:r>
              <a:rPr sz="1000" b="1" i="0">
                <a:solidFill>
                  <a:srgbClr val="FFFFFF"/>
                </a:solidFill>
                <a:latin typeface="Helvetica Neue"/>
              </a:rPr>
              <a:t>YOUR KNOB: rewrite the descriptions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73060" y="6345936"/>
            <a:ext cx="39785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15476"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28508"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615476"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18</a:t>
            </a:r>
          </a:p>
        </p:txBody>
      </p:sp>
      <p:sp>
        <p:nvSpPr>
          <p:cNvPr id="20" name="TextBox 19"/>
          <p:cNvSpPr txBox="1"/>
          <p:nvPr/>
        </p:nvSpPr>
        <p:spPr>
          <a:xfrm>
            <a:off x="9488728" y="6460236"/>
            <a:ext cx="1962302" cy="219456"/>
          </a:xfrm>
          <a:prstGeom prst="rect">
            <a:avLst/>
          </a:prstGeom>
          <a:noFill/>
        </p:spPr>
        <p:txBody>
          <a:bodyPr wrap="none" lIns="0" rIns="0" tIns="0" bIns="0">
            <a:spAutoFit/>
          </a:bodyPr>
          <a:lstStyle/>
          <a:p>
            <a:pPr algn="l"/>
            <a:r>
              <a:rPr sz="1000" b="1" i="0">
                <a:solidFill>
                  <a:srgbClr val="FFFFFF"/>
                </a:solidFill>
                <a:latin typeface="Helvetica Neue"/>
              </a:rPr>
              <a:t>Find the weak buckets</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172553" y="6345936"/>
            <a:ext cx="437906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14969"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8001"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8" name="TextBox 17"/>
          <p:cNvSpPr txBox="1"/>
          <p:nvPr/>
        </p:nvSpPr>
        <p:spPr>
          <a:xfrm>
            <a:off x="8214969"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19</a:t>
            </a:r>
          </a:p>
        </p:txBody>
      </p:sp>
      <p:sp>
        <p:nvSpPr>
          <p:cNvPr id="19" name="TextBox 18"/>
          <p:cNvSpPr txBox="1"/>
          <p:nvPr/>
        </p:nvSpPr>
        <p:spPr>
          <a:xfrm>
            <a:off x="9088221" y="6460236"/>
            <a:ext cx="2362809" cy="219456"/>
          </a:xfrm>
          <a:prstGeom prst="rect">
            <a:avLst/>
          </a:prstGeom>
          <a:noFill/>
        </p:spPr>
        <p:txBody>
          <a:bodyPr wrap="none" lIns="0" rIns="0" tIns="0" bIns="0">
            <a:spAutoFit/>
          </a:bodyPr>
          <a:lstStyle/>
          <a:p>
            <a:pPr algn="l"/>
            <a:r>
              <a:rPr sz="1000" b="1" i="0">
                <a:solidFill>
                  <a:srgbClr val="FFFFFF"/>
                </a:solidFill>
                <a:latin typeface="Helvetica Neue"/>
              </a:rPr>
              <a:t>Feed it an off-topic ticket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704088"/>
          </a:xfrm>
          <a:prstGeom prst="rect">
            <a:avLst/>
          </a:prstGeom>
          <a:noFill/>
        </p:spPr>
        <p:txBody>
          <a:bodyPr wrap="square" lIns="0" rIns="0" tIns="0" bIns="0">
            <a:spAutoFit/>
          </a:bodyPr>
          <a:lstStyle/>
          <a:p>
            <a:pPr algn="l"/>
            <a:r>
              <a:rPr sz="2650" b="1" i="0">
                <a:solidFill>
                  <a:srgbClr val="0F172A"/>
                </a:solidFill>
                <a:latin typeface="Helvetica Neue"/>
              </a:rPr>
              <a:t>What a mistake costs decides the setting.</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Same copilot, same tickets, six companies. Ask your neighbour: for the hospital, high bar or low?</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game.png"/>
          <p:cNvPicPr>
            <a:picLocks noChangeAspect="1"/>
          </p:cNvPicPr>
          <p:nvPr/>
        </p:nvPicPr>
        <p:blipFill>
          <a:blip r:embed="rId2"/>
          <a:stretch>
            <a:fillRect/>
          </a:stretch>
        </p:blipFill>
        <p:spPr>
          <a:xfrm>
            <a:off x="2207847" y="2011680"/>
            <a:ext cx="7775999" cy="3931920"/>
          </a:xfrm>
          <a:prstGeom prst="rect">
            <a:avLst/>
          </a:prstGeom>
        </p:spPr>
      </p:pic>
      <p:sp>
        <p:nvSpPr>
          <p:cNvPr id="16" name="Rounded Rectangle 15"/>
          <p:cNvSpPr/>
          <p:nvPr/>
        </p:nvSpPr>
        <p:spPr>
          <a:xfrm>
            <a:off x="7105802" y="6345936"/>
            <a:ext cx="4445812"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8218" y="6396228"/>
            <a:ext cx="7543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1250" y="6460236"/>
            <a:ext cx="914400" cy="219456"/>
          </a:xfrm>
          <a:prstGeom prst="rect">
            <a:avLst/>
          </a:prstGeom>
          <a:noFill/>
        </p:spPr>
        <p:txBody>
          <a:bodyPr wrap="none" lIns="0" rIns="0" tIns="0" bIns="0">
            <a:spAutoFit/>
          </a:bodyPr>
          <a:lstStyle/>
          <a:p>
            <a:pPr algn="l"/>
            <a:r>
              <a:rPr sz="950" b="1" i="0">
                <a:solidFill>
                  <a:srgbClr val="A7F3D0"/>
                </a:solidFill>
                <a:latin typeface="Helvetica Neue"/>
              </a:rPr>
              <a:t>▶ NOTEBOOK</a:t>
            </a:r>
          </a:p>
        </p:txBody>
      </p:sp>
      <p:sp>
        <p:nvSpPr>
          <p:cNvPr id="19" name="TextBox 18"/>
          <p:cNvSpPr txBox="1"/>
          <p:nvPr/>
        </p:nvSpPr>
        <p:spPr>
          <a:xfrm>
            <a:off x="8148218" y="6451092"/>
            <a:ext cx="754380" cy="219456"/>
          </a:xfrm>
          <a:prstGeom prst="rect">
            <a:avLst/>
          </a:prstGeom>
          <a:noFill/>
        </p:spPr>
        <p:txBody>
          <a:bodyPr wrap="none" lIns="0" rIns="0" tIns="0" bIns="0">
            <a:spAutoFit/>
          </a:bodyPr>
          <a:lstStyle/>
          <a:p>
            <a:pPr algn="ctr"/>
            <a:r>
              <a:rPr sz="1100" b="1" i="0">
                <a:solidFill>
                  <a:srgbClr val="FFFFFF"/>
                </a:solidFill>
                <a:latin typeface="Helvetica Neue"/>
              </a:rPr>
              <a:t>STEP 21</a:t>
            </a:r>
          </a:p>
        </p:txBody>
      </p:sp>
      <p:sp>
        <p:nvSpPr>
          <p:cNvPr id="20" name="TextBox 19"/>
          <p:cNvSpPr txBox="1"/>
          <p:nvPr/>
        </p:nvSpPr>
        <p:spPr>
          <a:xfrm>
            <a:off x="9021470" y="6460236"/>
            <a:ext cx="2429560" cy="219456"/>
          </a:xfrm>
          <a:prstGeom prst="rect">
            <a:avLst/>
          </a:prstGeom>
          <a:noFill/>
        </p:spPr>
        <p:txBody>
          <a:bodyPr wrap="none" lIns="0" rIns="0" tIns="0" bIns="0">
            <a:spAutoFit/>
          </a:bodyPr>
          <a:lstStyle/>
          <a:p>
            <a:pPr algn="l"/>
            <a:r>
              <a:rPr sz="1000" b="1" i="0">
                <a:solidFill>
                  <a:srgbClr val="FFFFFF"/>
                </a:solidFill>
                <a:latin typeface="Helvetica Neue"/>
              </a:rPr>
              <a:t>YOUR KNOB: set the threshold</a:t>
            </a:r>
          </a:p>
        </p:txBody>
      </p:sp>
      <p:sp>
        <p:nvSpPr>
          <p:cNvPr id="21" name="TextBox 20"/>
          <p:cNvSpPr txBox="1"/>
          <p:nvPr/>
        </p:nvSpPr>
        <p:spPr>
          <a:xfrm>
            <a:off x="640080" y="6016752"/>
            <a:ext cx="10881360" cy="365760"/>
          </a:xfrm>
          <a:prstGeom prst="rect">
            <a:avLst/>
          </a:prstGeom>
          <a:noFill/>
        </p:spPr>
        <p:txBody>
          <a:bodyPr wrap="square" lIns="0" rIns="0" tIns="0" bIns="0">
            <a:spAutoFit/>
          </a:bodyPr>
          <a:lstStyle/>
          <a:p>
            <a:pPr algn="ctr"/>
            <a:r>
              <a:rPr sz="1500" b="0" i="1">
                <a:solidFill>
                  <a:srgbClr val="475569"/>
                </a:solidFill>
                <a:latin typeface="Helvetica Neue"/>
              </a:rPr>
              <a:t>Accuracy is a property of the model. The right threshold is a property of the business.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43310"/>
            <a:ext cx="11155680" cy="1885778"/>
          </a:xfrm>
          <a:prstGeom prst="rect">
            <a:avLst/>
          </a:prstGeom>
        </p:spPr>
      </p:pic>
      <p:sp>
        <p:nvSpPr>
          <p:cNvPr id="7" name="TextBox 6"/>
          <p:cNvSpPr txBox="1"/>
          <p:nvPr/>
        </p:nvSpPr>
        <p:spPr>
          <a:xfrm>
            <a:off x="640080" y="5760720"/>
            <a:ext cx="10881360" cy="457200"/>
          </a:xfrm>
          <a:prstGeom prst="rect">
            <a:avLst/>
          </a:prstGeom>
          <a:noFill/>
        </p:spPr>
        <p:txBody>
          <a:bodyPr wrap="square" lIns="0" rIns="0" tIns="0" bIns="0">
            <a:spAutoFit/>
          </a:bodyPr>
          <a:lstStyle/>
          <a:p>
            <a:pPr algn="ctr"/>
            <a:r>
              <a:rPr sz="1600" b="0" i="1">
                <a:solidFill>
                  <a:srgbClr val="0F172A"/>
                </a:solidFill>
                <a:latin typeface="Helvetica Neue"/>
              </a:rPr>
              <a:t>Someone else already spent millions teaching a model to read English. Your job is to point it at your problem, cheaply, and know where it breaks.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BEFORE WE OPEN IT UP</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What you actually saw tonight.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Hold both columns in your head. We are about to need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aw.png"/>
          <p:cNvPicPr>
            <a:picLocks noChangeAspect="1"/>
          </p:cNvPicPr>
          <p:nvPr/>
        </p:nvPicPr>
        <p:blipFill>
          <a:blip r:embed="rId2"/>
          <a:stretch>
            <a:fillRect/>
          </a:stretch>
        </p:blipFill>
        <p:spPr>
          <a:xfrm>
            <a:off x="518007" y="3252244"/>
            <a:ext cx="11155680" cy="186227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Last week, a model did this on its own.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Not a thought experiment. This happened between the 16th and the 21st of July, six days ago.</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incident.png"/>
          <p:cNvPicPr>
            <a:picLocks noChangeAspect="1"/>
          </p:cNvPicPr>
          <p:nvPr/>
        </p:nvPicPr>
        <p:blipFill>
          <a:blip r:embed="rId2"/>
          <a:stretch>
            <a:fillRect/>
          </a:stretch>
        </p:blipFill>
        <p:spPr>
          <a:xfrm>
            <a:off x="518007" y="2056061"/>
            <a:ext cx="11155680" cy="3934597"/>
          </a:xfrm>
          <a:prstGeom prst="rect">
            <a:avLst/>
          </a:prstGeom>
        </p:spPr>
      </p:pic>
      <p:sp>
        <p:nvSpPr>
          <p:cNvPr id="7" name="TextBox 6"/>
          <p:cNvSpPr txBox="1"/>
          <p:nvPr/>
        </p:nvSpPr>
        <p:spPr>
          <a:xfrm>
            <a:off x="640080" y="6108192"/>
            <a:ext cx="10881360" cy="365760"/>
          </a:xfrm>
          <a:prstGeom prst="rect">
            <a:avLst/>
          </a:prstGeom>
          <a:noFill/>
        </p:spPr>
        <p:txBody>
          <a:bodyPr wrap="square" lIns="0" rIns="0" tIns="0" bIns="0">
            <a:spAutoFit/>
          </a:bodyPr>
          <a:lstStyle/>
          <a:p>
            <a:pPr algn="ctr"/>
            <a:r>
              <a:rPr sz="1100" b="0" i="0">
                <a:solidFill>
                  <a:srgbClr val="BCC1CC"/>
                </a:solidFill>
                <a:latin typeface="Helvetica Neue"/>
              </a:rPr>
              <a:t>Sources: OpenAI incident report - Hugging Face disclosure - CNBC, Axios, The Hacker News, 21-22 July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E11D48"/>
                </a:solidFill>
                <a:latin typeface="Helvetica Neue"/>
              </a:rPr>
              <a:t>DISCUSSION</a:t>
            </a:r>
          </a:p>
        </p:txBody>
      </p:sp>
      <p:sp>
        <p:nvSpPr>
          <p:cNvPr id="3" name="TextBox 2"/>
          <p:cNvSpPr txBox="1"/>
          <p:nvPr/>
        </p:nvSpPr>
        <p:spPr>
          <a:xfrm>
            <a:off x="640080" y="758952"/>
            <a:ext cx="10972800" cy="704088"/>
          </a:xfrm>
          <a:prstGeom prst="rect">
            <a:avLst/>
          </a:prstGeom>
          <a:noFill/>
        </p:spPr>
        <p:txBody>
          <a:bodyPr wrap="square" lIns="0" rIns="0" tIns="0" bIns="0">
            <a:spAutoFit/>
          </a:bodyPr>
          <a:lstStyle/>
          <a:p>
            <a:pPr algn="l"/>
            <a:r>
              <a:rPr sz="2900" b="1" i="0">
                <a:solidFill>
                  <a:srgbClr val="0F172A"/>
                </a:solidFill>
                <a:latin typeface="Helvetica Neue"/>
              </a:rPr>
              <a:t>Thirty minutes. No right answers.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have spent tonight deciding when a system may act without a human. Now scale the question up.</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questions.png"/>
          <p:cNvPicPr>
            <a:picLocks noChangeAspect="1"/>
          </p:cNvPicPr>
          <p:nvPr/>
        </p:nvPicPr>
        <p:blipFill>
          <a:blip r:embed="rId2"/>
          <a:stretch>
            <a:fillRect/>
          </a:stretch>
        </p:blipFill>
        <p:spPr>
          <a:xfrm>
            <a:off x="1417882" y="2011680"/>
            <a:ext cx="9355930" cy="4297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