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72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 ·   LECTURE 8   ·   THURSDAY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the Black Box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PyTorch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675888"/>
            <a:ext cx="1737360" cy="0"/>
          </a:xfrm>
          <a:prstGeom prst="line">
            <a:avLst/>
          </a:prstGeom>
          <a:noFill/>
          <a:ln w="31750">
            <a:solidFill>
              <a:srgbClr val="B3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meaning comes from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66960" y="2148840"/>
            <a:ext cx="731520" cy="18288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66960" y="2148840"/>
            <a:ext cx="731520" cy="82296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V="1">
            <a:off x="9966960" y="2331720"/>
            <a:ext cx="731520" cy="45720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66960" y="2788920"/>
            <a:ext cx="731520" cy="18288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9966960" y="2331720"/>
            <a:ext cx="731520" cy="109728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9966960" y="2971800"/>
            <a:ext cx="731520" cy="45720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2331720"/>
            <a:ext cx="731520" cy="32004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10698480" y="2651760"/>
            <a:ext cx="731520" cy="320040"/>
          </a:xfrm>
          <a:prstGeom prst="line">
            <a:avLst/>
          </a:prstGeom>
          <a:noFill/>
          <a:ln w="1270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48088" y="2029968"/>
            <a:ext cx="237744" cy="237744"/>
          </a:xfrm>
          <a:prstGeom prst="ellipse">
            <a:avLst/>
          </a:prstGeom>
          <a:solidFill>
            <a:srgbClr val="B5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48088" y="2670048"/>
            <a:ext cx="237744" cy="237744"/>
          </a:xfrm>
          <a:prstGeom prst="ellipse">
            <a:avLst/>
          </a:prstGeom>
          <a:solidFill>
            <a:srgbClr val="B5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48088" y="3310128"/>
            <a:ext cx="237744" cy="237744"/>
          </a:xfrm>
          <a:prstGeom prst="ellipse">
            <a:avLst/>
          </a:prstGeom>
          <a:solidFill>
            <a:srgbClr val="B5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79608" y="2212848"/>
            <a:ext cx="237744" cy="237744"/>
          </a:xfrm>
          <a:prstGeom prst="ellipse">
            <a:avLst/>
          </a:prstGeom>
          <a:solidFill>
            <a:srgbClr val="B5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79608" y="2852928"/>
            <a:ext cx="237744" cy="237744"/>
          </a:xfrm>
          <a:prstGeom prst="ellipse">
            <a:avLst/>
          </a:prstGeom>
          <a:solidFill>
            <a:srgbClr val="B5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311128" y="2532888"/>
            <a:ext cx="237744" cy="237744"/>
          </a:xfrm>
          <a:prstGeom prst="ellipse">
            <a:avLst/>
          </a:prstGeom>
          <a:solidFill>
            <a:srgbClr val="B5A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FROM TUESDAY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searched by meaning. Where did meaning come from?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ranked passages by embedding vectors, but something had to produce those vectors.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2697480"/>
          </a:xfrm>
          <a:prstGeom prst="roundRect">
            <a:avLst>
              <a:gd name="adj" fmla="val 1695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5877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Tuesday gave 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709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that place similar meanings near each other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that beat keyword on paraphrases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turned text into dense vectors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2331720"/>
            <a:ext cx="5349240" cy="2697480"/>
          </a:xfrm>
          <a:prstGeom prst="roundRect">
            <a:avLst>
              <a:gd name="adj" fmla="val 1695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5877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asks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9672" y="3108960"/>
            <a:ext cx="4709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that model?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network learn from data?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build and train one in PyTorch?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5504688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embeddings you used are the output of a neural network. Today we open it up.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class you will be able 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2311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20440" y="2231136"/>
            <a:ext cx="8028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neuron and a layer actually compute: weights, bias, and a nonlinearity.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218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31638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0440" y="3163824"/>
            <a:ext cx="8028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loop: forward pass → loss → backpropagation → gradient step.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409651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20440" y="4096512"/>
            <a:ext cx="8028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PyTorch text model, and run it end to end on real data.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84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084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520440" y="5029200"/>
            <a:ext cx="8028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Plan Mode to plan a model before a single line is written.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used to pick the features. Now the network learns them.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you engineered TF-IDF features by hand. A neural net discovers its own representation from data.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2743200"/>
          </a:xfrm>
          <a:prstGeom prst="roundRect">
            <a:avLst>
              <a:gd name="adj" fmla="val 1667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56946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99008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engineer the 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matters: word counts, TF-IDF, n-grams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fits weights on top of your features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is set by the features you thought of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2331720"/>
            <a:ext cx="5349240" cy="2743200"/>
          </a:xfrm>
          <a:prstGeom prst="roundRect">
            <a:avLst>
              <a:gd name="adj" fmla="val 1667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56946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19672" y="299008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learns the features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9672" y="3383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in; the layers build their own representation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composes the one below into something richer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enough data, it finds patterns you would miss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504688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trades hand-built features for learned ones. That is the whole idea.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COMPUTATION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neuron: multiply, add, then squish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network is millions of copies of this one tiny operation.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225296" y="3054096"/>
            <a:ext cx="292608" cy="292608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17904" y="3200400"/>
            <a:ext cx="2304288" cy="731520"/>
          </a:xfrm>
          <a:prstGeom prst="line">
            <a:avLst/>
          </a:prstGeom>
          <a:noFill/>
          <a:ln w="19050">
            <a:solidFill>
              <a:srgbClr val="8A6D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74520" y="33101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25296" y="3785616"/>
            <a:ext cx="292608" cy="292608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17904" y="3931920"/>
            <a:ext cx="2304288" cy="914"/>
          </a:xfrm>
          <a:prstGeom prst="line">
            <a:avLst/>
          </a:prstGeom>
          <a:noFill/>
          <a:ln w="19050">
            <a:solidFill>
              <a:srgbClr val="8A6D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4520" y="36758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25296" y="4517136"/>
            <a:ext cx="292608" cy="292608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517904" y="3931920"/>
            <a:ext cx="2304288" cy="731520"/>
          </a:xfrm>
          <a:prstGeom prst="line">
            <a:avLst/>
          </a:prstGeom>
          <a:noFill/>
          <a:ln w="19050">
            <a:solidFill>
              <a:srgbClr val="8A6D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74520" y="4041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22192" y="3547872"/>
            <a:ext cx="768096" cy="768096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22192" y="35478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+b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4434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90288" y="3931920"/>
            <a:ext cx="1335024" cy="914"/>
          </a:xfrm>
          <a:prstGeom prst="line">
            <a:avLst/>
          </a:prstGeom>
          <a:noFill/>
          <a:ln w="19050">
            <a:solidFill>
              <a:srgbClr val="5B6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25312" y="3547872"/>
            <a:ext cx="768096" cy="768096"/>
          </a:xfrm>
          <a:prstGeom prst="ellipse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25312" y="35478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4434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93408" y="3931920"/>
            <a:ext cx="758952" cy="914"/>
          </a:xfrm>
          <a:prstGeom prst="line">
            <a:avLst/>
          </a:prstGeom>
          <a:noFill/>
          <a:ln w="19050">
            <a:solidFill>
              <a:srgbClr val="5B6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2331720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818120" y="2606040"/>
            <a:ext cx="3730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input by a weight, add them up, add a bias.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18120" y="326440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818120" y="3538728"/>
            <a:ext cx="3730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sum through a nonlinearity (like ReLU) so the network can bend, not just draw straight lines.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18120" y="4197096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it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818120" y="4471416"/>
            <a:ext cx="3730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 is trivial. Depth and scale are where the power comes from.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NEURONS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neuron to a network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 neurons in layers. Each layer transforms the layer below into a richer representation.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 flipV="1">
            <a:off x="2011680" y="278892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0" y="292608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2926080"/>
            <a:ext cx="2377440" cy="11430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926080"/>
            <a:ext cx="2377440" cy="178308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2926080"/>
            <a:ext cx="2377440" cy="2423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2011680" y="2788920"/>
            <a:ext cx="237744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2011680" y="342900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56616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3566160"/>
            <a:ext cx="2377440" cy="11430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0" y="3566160"/>
            <a:ext cx="2377440" cy="178308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2011680" y="2788920"/>
            <a:ext cx="2377440" cy="14173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2011680" y="3429000"/>
            <a:ext cx="237744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2011680" y="406908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0" y="420624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1680" y="4206240"/>
            <a:ext cx="2377440" cy="11430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2011680" y="2788920"/>
            <a:ext cx="2377440" cy="20574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011680" y="3429000"/>
            <a:ext cx="2377440" cy="14173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2011680" y="4069080"/>
            <a:ext cx="237744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2011680" y="470916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0" y="484632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89120" y="278892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0" y="2788920"/>
            <a:ext cx="237744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2788920"/>
            <a:ext cx="2377440" cy="14173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0" y="2788920"/>
            <a:ext cx="2377440" cy="20574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4389120" y="292608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89120" y="342900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89120" y="3429000"/>
            <a:ext cx="237744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89120" y="3429000"/>
            <a:ext cx="2377440" cy="14173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4389120" y="2926080"/>
            <a:ext cx="2377440" cy="11430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4389120" y="356616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89120" y="406908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389120" y="4069080"/>
            <a:ext cx="237744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4389120" y="2926080"/>
            <a:ext cx="2377440" cy="178308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4389120" y="3566160"/>
            <a:ext cx="2377440" cy="11430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4389120" y="420624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89120" y="4709160"/>
            <a:ext cx="237744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4389120" y="2926080"/>
            <a:ext cx="2377440" cy="2423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4389120" y="3566160"/>
            <a:ext cx="2377440" cy="178308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4389120" y="4206240"/>
            <a:ext cx="2377440" cy="11430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V="1">
            <a:off x="4389120" y="4846320"/>
            <a:ext cx="237744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66560" y="2926080"/>
            <a:ext cx="2011680" cy="5029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66560" y="2926080"/>
            <a:ext cx="2011680" cy="12344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flipV="1">
            <a:off x="6766560" y="3429000"/>
            <a:ext cx="2011680" cy="1371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66560" y="3566160"/>
            <a:ext cx="2011680" cy="59436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flipV="1">
            <a:off x="6766560" y="3429000"/>
            <a:ext cx="2011680" cy="77724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 flipV="1">
            <a:off x="6766560" y="4160520"/>
            <a:ext cx="2011680" cy="457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flipV="1">
            <a:off x="6766560" y="3429000"/>
            <a:ext cx="2011680" cy="141732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V="1">
            <a:off x="6766560" y="4160520"/>
            <a:ext cx="2011680" cy="685800"/>
          </a:xfrm>
          <a:prstGeom prst="line">
            <a:avLst/>
          </a:prstGeom>
          <a:noFill/>
          <a:ln w="9525">
            <a:solidFill>
              <a:srgbClr val="D3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874520" y="2788920"/>
            <a:ext cx="274320" cy="274320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874520" y="3429000"/>
            <a:ext cx="274320" cy="274320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874520" y="4069080"/>
            <a:ext cx="274320" cy="274320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874520" y="4709160"/>
            <a:ext cx="274320" cy="274320"/>
          </a:xfrm>
          <a:prstGeom prst="ellipse">
            <a:avLst/>
          </a:prstGeom>
          <a:solidFill>
            <a:srgbClr val="5B61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251960" y="265176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251960" y="329184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251960" y="393192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251960" y="457200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251960" y="521208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629400" y="278892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629400" y="342900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629400" y="406908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629400" y="4709160"/>
            <a:ext cx="274320" cy="27432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41080" y="3291840"/>
            <a:ext cx="274320" cy="274320"/>
          </a:xfrm>
          <a:prstGeom prst="ellipse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641080" y="4023360"/>
            <a:ext cx="274320" cy="274320"/>
          </a:xfrm>
          <a:prstGeom prst="ellipse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188720" y="5532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109728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text, as numbers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566160" y="5532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4747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features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943600" y="5532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85216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features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955280" y="5532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86384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0080" y="212140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 </a:t>
            </a:r>
            <a:r>
              <a:rPr lang="en-US" sz="13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means many layers, each one building on the representation beneath it.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network learns: guess, measure, adjust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four steps repeat, thousands of times, until the guesses stop improving.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pass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example through the network to get a prediction.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4992" y="246888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21024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02736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prediction to the true answer: how wrong were we?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9904" y="246888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45936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5936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27648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27648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error back to assign blame to every weight.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14816" y="246888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70848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70848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5256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step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52560" y="37947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each weight a little in the direction that lowers the loss.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5504688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is a loop: predict, measure the error, and adjust every weight to do a little better.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ideas, named in PyTorch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gives each concept an object. Learn these five and you can read most model code.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51760" cy="603504"/>
          </a:xfrm>
          <a:prstGeom prst="roundRect">
            <a:avLst>
              <a:gd name="adj" fmla="val 7576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20440" y="2331720"/>
            <a:ext cx="8028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and every weight: an array that also tracks how to differentiate itself.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651760" cy="603504"/>
          </a:xfrm>
          <a:prstGeom prst="roundRect">
            <a:avLst>
              <a:gd name="adj" fmla="val 7576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nn.Module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3108960"/>
            <a:ext cx="8028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model. You define the layers and how data flows forward through them.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2651760" cy="603504"/>
          </a:xfrm>
          <a:prstGeom prst="roundRect">
            <a:avLst>
              <a:gd name="adj" fmla="val 7576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886200"/>
            <a:ext cx="8028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prediction and a label into one number: how wrong.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2651760" cy="603504"/>
          </a:xfrm>
          <a:prstGeom prst="roundRect">
            <a:avLst>
              <a:gd name="adj" fmla="val 7576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4663440"/>
            <a:ext cx="8028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gradients and updates the weights (e.g. Adam, SGD).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2651760" cy="603504"/>
          </a:xfrm>
          <a:prstGeom prst="roundRect">
            <a:avLst>
              <a:gd name="adj" fmla="val 7576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5440680"/>
            <a:ext cx="8028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loss.backward() → optimizer.step(), repeated over the data.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text classifier,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the words, average them, pass through one linear layer. Small, but it really trains.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537960" cy="3246120"/>
          </a:xfrm>
          <a:prstGeom prst="roundRect">
            <a:avLst>
              <a:gd name="adj" fmla="val 1127"/>
            </a:avLst>
          </a:prstGeom>
          <a:solidFill>
            <a:srgbClr val="15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46888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torch.nn as nn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TextClf(nn.Module):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vocab, dim, n):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self.emb = nn.EmbeddingBag(vocab, dim)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  = nn.Linear(dim, n)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self.fc(self.emb(x))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2C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nn.CrossEntropyLoss()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2C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 = torch.optim.Adam(model.parameters())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0" y="23317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54112" y="22311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EmbeddingBag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54112" y="250545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 vector per word and averages them into your learned features.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31729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54112" y="307238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54112" y="334670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maps that vector to a score per class.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40142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54112" y="3913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+ optimizer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54112" y="41879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 scores the guess; Adam updates the weights.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48554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54112" y="47548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54112" y="50292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lines is a working neural net. The rest is the training loop.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DEMO  ·  FOLLOW ALONG IF YOU LIKE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look at Plan Mode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913632"/>
            <a:ext cx="1737360" cy="0"/>
          </a:xfrm>
          <a:prstGeom prst="line">
            <a:avLst/>
          </a:prstGeom>
          <a:noFill/>
          <a:ln w="31750">
            <a:solidFill>
              <a:srgbClr val="B3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09651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i="1" dirty="0">
                <a:solidFill>
                  <a:srgbClr val="C9C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classmate drives. Open Claude Code and follow along on your laptop if you want, or just watch how it works.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PLAN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first, code second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Plan Mode, Claude Code researches the task and proposes a plan, and changes nothing until you approve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relevant files and the task. Read-only, so it cannot edit or run anything yet.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4992" y="246888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21024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step-by-step approach: what it will build, which files it will touch.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9904" y="246888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45936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5936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27648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7648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steer the plan. Nothing happens until you say 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14816" y="246888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70848" y="2724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70848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52560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37490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does it implement the approved plan, step by step.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5504688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 the review step: you catch a wrong approach before any code is written, not after.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USEFUL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do in Plan Mode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turns a vague ask into a reviewable plan, exactly what you want before touching working code.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 feature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validation set and early stopping.” It returns the steps and the files.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3317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221284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 refactor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73952" y="252374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change laid out before anything moves, so nothing breaks silently.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236976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file list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4400" y="354787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it intends to touch, with no surprise edits across your project.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33558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73952" y="3236976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tests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73952" y="354787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plan how it will check the code actually works.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79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261104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approach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to understand how an expert would tackle the task.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4379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3952" y="4261104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in control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73952" y="45720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reject any step. It is a proposal, not an action.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· 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Updates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team gives a quick project check-in. About 5 minutes each.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22599" cy="1481328"/>
          </a:xfrm>
          <a:prstGeom prst="roundRect">
            <a:avLst>
              <a:gd name="adj" fmla="val 3086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23957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2462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834640"/>
            <a:ext cx="29653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Krystle Jozen Dario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 Fahimfar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Pai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2719" y="2212848"/>
            <a:ext cx="3422599" cy="1481328"/>
          </a:xfrm>
          <a:prstGeom prst="roundRect">
            <a:avLst>
              <a:gd name="adj" fmla="val 3086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0463" y="23957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0463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14239" y="2377440"/>
            <a:ext cx="2462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8751" y="2834640"/>
            <a:ext cx="29653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Agarwal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Simon Gonsalves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Jangra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Koduru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Ros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5358" y="2212848"/>
            <a:ext cx="3422599" cy="1481328"/>
          </a:xfrm>
          <a:prstGeom prst="roundRect">
            <a:avLst>
              <a:gd name="adj" fmla="val 3086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63102" y="23957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3102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56878" y="2377440"/>
            <a:ext cx="2462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1390" y="2834640"/>
            <a:ext cx="29653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Bin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 Jagadheshan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Yeseul Lee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Yinuo Luo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Kayal Rajkumar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22599" cy="1481328"/>
          </a:xfrm>
          <a:prstGeom prst="roundRect">
            <a:avLst>
              <a:gd name="adj" fmla="val 3086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7824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4005072"/>
            <a:ext cx="2462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4462272"/>
            <a:ext cx="29653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Sathvik Datla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Jiaru Li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Yujia Weng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2719" y="3840480"/>
            <a:ext cx="3422599" cy="1481328"/>
          </a:xfrm>
          <a:prstGeom prst="roundRect">
            <a:avLst>
              <a:gd name="adj" fmla="val 3086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20463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20463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114239" y="4005072"/>
            <a:ext cx="2462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7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38751" y="4462272"/>
            <a:ext cx="29653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Goel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 Konindala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Lin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Yue Lin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 Ostwal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5358" y="3840480"/>
            <a:ext cx="3422599" cy="1481328"/>
          </a:xfrm>
          <a:prstGeom prst="roundRect">
            <a:avLst>
              <a:gd name="adj" fmla="val 3086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63102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63102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856878" y="4005072"/>
            <a:ext cx="2462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8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81390" y="4462272"/>
            <a:ext cx="29653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Yitong Wang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Zhike Yan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0120" y="5504688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5 minutes per team: progress since last week, current blocker, and your next concrete step.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OWN  ·  TAKE-HOME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PyTorch classifier yourself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913632"/>
            <a:ext cx="1737360" cy="0"/>
          </a:xfrm>
          <a:prstGeom prst="line">
            <a:avLst/>
          </a:prstGeom>
          <a:noFill/>
          <a:ln w="31750">
            <a:solidFill>
              <a:srgbClr val="B3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09651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i="1" dirty="0">
                <a:solidFill>
                  <a:srgbClr val="C9C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will start together if there is time; otherwise it is yours to finish on your own.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EXERCISE  ·  ABOUT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task: a PyTorch text classifier, planned by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Claude Code this task in Plan Mode, read the plan it proposes, then approve it and run the result yourself.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989320" cy="1874520"/>
          </a:xfrm>
          <a:prstGeom prst="roundRect">
            <a:avLst>
              <a:gd name="adj" fmla="val 1951"/>
            </a:avLst>
          </a:prstGeom>
          <a:solidFill>
            <a:srgbClr val="15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IN PLAN MODE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5440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“Build a small PyTorch model that classifies movie reviews as positive or negative. Use an EmbeddingBag and one linear layer, train it on a few hundred examples, and print the accuracy. Plan it first.”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Plan Mode in Claude Code by pressing  Shift + Tab  until it shows “plan”.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2331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52360" y="228600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52360" y="2551176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Plan Mode, paste the prompt, and send.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3172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52360" y="312724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52360" y="3392424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Claude proposes. Does it match the lecture: embed, linear, loss, loop?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40142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5236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52360" y="4233672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it, and let Claude build the files and run the script.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03720" y="48554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4855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52360" y="480974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52360" y="5074920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accuracy, and note what you would change.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do it, and what to watch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4323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do 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Plan Mode with Shift + Tab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task and send it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Claude proposes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only once it looks right, then let it build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2194560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76200" dist="25400" dir="5400000" algn="bl" rotWithShape="0">
              <a:srgbClr val="9AA0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9672" y="24323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watch for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92608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plan name the same parts we learned: embedding, linear layer, loss, training loop?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 does it say it will create?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plan to actually measure accuracy?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steer it differently?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5029200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runs until you approve. Read the plan, steer it, and only then let Claude build.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plan with AI, but you still have to read the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groups, then report out. Both questions are about judgment, not code.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276856"/>
            <a:ext cx="10177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you let the AI plan?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2715768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plan saves time; a wrong plan hides a bad approach behind confident text. When is planning-first worth it, and when do you just write the code yourself?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694176"/>
            <a:ext cx="10177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today's lecture matter?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4133088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only judge the plan because you know what a text model needs: embed, linear, loss, loop. What happens to someone who approves a plan they don't understand?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in one 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neural network learns its own features by repeating one loop (guess, measure, adjust), and PyTorch is how you build it. Plan Mode lets you scaffold a model while you stay the one steering.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3288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builds its own representation, with no hand-engineering.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253288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training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288036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loss, backprop, step, repeated until it stops improving.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76732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in five parts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Tensor, nn.Module, loss, optimizer, and the loop that ties them.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9632" y="38953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73952" y="376732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then 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11480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proposes; you approve. Understanding lets you judge it.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5504688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up, Week 5: Deep Learning &amp; Topic Modeling. We take these networks further and turn them loose on real corpora.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2085</Words>
  <Application>Microsoft Macintosh PowerPoint</Application>
  <PresentationFormat>Widescreen</PresentationFormat>
  <Paragraphs>305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Jules Malin</cp:lastModifiedBy>
  <cp:revision>2</cp:revision>
  <dcterms:created xsi:type="dcterms:W3CDTF">2026-07-09T22:35:21Z</dcterms:created>
  <dcterms:modified xsi:type="dcterms:W3CDTF">2026-07-09T22:39:36Z</dcterms:modified>
</cp:coreProperties>
</file>