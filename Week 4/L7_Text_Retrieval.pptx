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10"/>
    <p:sldId id="259" r:id="rId5"/>
    <p:sldId id="261" r:id="rId7"/>
    <p:sldId id="260" r:id="rId6"/>
    <p:sldId id="262" r:id="rId8"/>
    <p:sldId id="265" r:id="rId11"/>
    <p:sldId id="263" r:id="rId9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06"/>
  </p:normalViewPr>
  <p:slideViewPr>
    <p:cSldViewPr snapToGrid="0" snapToObjects="1">
      <p:cViewPr varScale="1">
        <p:scale>
          <a:sx n="98" d="100"/>
          <a:sy n="98" d="100"/>
        </p:scale>
        <p:origin x="13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4.xml"/><Relationship Id="rId11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7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frame: last week we classified text (text to label); tonight we FIND it (query to ranked documents). One line for the night: keyword matches words, semantic matches meaning. PACING: keep the lecture to ~35 min (slides 1-9) so the hackathon gets its full 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Bridge from the bake-off. Last week gave us five classifiers on one leaderboard and the frontier idea: accuracy is one axis, cost another, no single best. Tonight, same frontier logic, new task: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verbs mapped to the night. Represent and Retrieve are the concepts (next slides); Measure and Judge are what the hackathon makes physical.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five tools, in order of ambition. They map straight onto the notebook: TF-IDF baseline, semantic in Step 2, BM25 + cross-encoder in the Toolbox, hybrid dial in Tuning. One line each — don't go deep, the hackathon is where they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MRR@10 = did the right passage land near the top (1.0 if #1, 0.5 if #2). Recall@5 = is it anywhere in the top five. Then speed, size, robustness. Same frontier lesson as last week: you pick a point, not a champion.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one concept worth slowing down on. Bi-encoder: encode query and passages separately, compare vectors — fast enough to search all 800. Cross-encoder: read the pair together, one score — far more accurate but too slow for the whole corpus, so re-rank only the top 50. In the hackathon this two-stage move is the single biggest quality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2 minutes here, then hand off to the facilitator run-sheet. Teams = final-project groups. Two rounds; best COMBINED MRR wins. The two rules to repeat: rank from the query only (no peeking at gold), and tune on dev, not the leaderboard. Leave this slide and the next up during the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Debrief. Plot each team's retriever by quality (MRR) against cost. TF-IDF is the cheap corner; hybrid/rerank the quality corner; everything else is dominated. Illustrative here — the real board fills in the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insight — slow down here. 'How do I get my money back?' and 'what is the refund policy?' mean the same thing but share almost no words. Keyword search sees two different questions; semantic search sees one. This gap is the whole lecture, and it IS the hackathon's Round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60-minute shape at kickoff. In Round 1 keyword/BM25 teams lead — DO NOT spoil why. At ~35 min announce the ranking flips to Combined MRR and re-sort the board; it reorders as semantic teams surge. Then demos (~11 min) and awards (~4). Drive this from the run-sheet.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minutes, small groups then report out. Q1: keyword beat semantic cheaply in Round 1 — when is the simpler, older method the right call to ship? Q2: re-ranking gave the biggest jump but costs a GPU per query — where's the line? Neither has a clean answer; that's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forward. Retrieval is the R in RAG (retrieval-augmented generation, Week 8) — the step that runs before a model generates an answer. It's also a candidate representation for the team project; reuse tonight's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families (sparse keyword / dense semantic), the retrieve-then-rerank two-stage move, and the frontier. Point ahead to Thursday: neural networks and PyTorch — the engine behind the embeddings they just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LECTURE 7  ·  TUESDAY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That Understands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Retrieval &amp; Semantic Search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86968" y="3611880"/>
            <a:ext cx="1554480" cy="41148"/>
          </a:xfrm>
          <a:prstGeom prst="rect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vs. words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411480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943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FROM LAST WEEK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classified text. Now you have to find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3749040"/>
          </a:xfrm>
          <a:prstGeom prst="roundRect">
            <a:avLst>
              <a:gd name="adj" fmla="val 1463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82512" y="1920240"/>
            <a:ext cx="5257800" cy="3749040"/>
          </a:xfrm>
          <a:prstGeom prst="roundRect">
            <a:avLst>
              <a:gd name="adj" fmla="val 1463"/>
            </a:avLst>
          </a:prstGeom>
          <a:solidFill>
            <a:srgbClr val="F7F3E9"/>
          </a:solidFill>
          <a:ln w="12700">
            <a:solidFill>
              <a:srgbClr val="E7DEC4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gave 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classifiers on one task, one leaderboard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frontier: accuracy is one axis, cost is another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best model — the best one for the job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02552" y="21488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asks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02552" y="26060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find the right document, fast?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keyword search miss paraphrases?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match meaning, not just words?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does that understanding cost?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class you will be able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9264"/>
          </a:xfrm>
          <a:prstGeom prst="roundRect">
            <a:avLst>
              <a:gd name="adj" fmla="val 5660"/>
            </a:avLst>
          </a:prstGeom>
          <a:solidFill>
            <a:srgbClr val="FBFBFD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6544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28800"/>
            <a:ext cx="2103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86200" y="1828800"/>
            <a:ext cx="7498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text into vectors — sparse words and dense meaning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962656"/>
            <a:ext cx="11091672" cy="969264"/>
          </a:xfrm>
          <a:prstGeom prst="roundRect">
            <a:avLst>
              <a:gd name="adj" fmla="val 566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962656"/>
            <a:ext cx="2103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886200" y="2962656"/>
            <a:ext cx="7498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 corpus of documents by similarity to a query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096512"/>
            <a:ext cx="11091672" cy="969264"/>
          </a:xfrm>
          <a:prstGeom prst="roundRect">
            <a:avLst>
              <a:gd name="adj" fmla="val 5660"/>
            </a:avLst>
          </a:prstGeom>
          <a:solidFill>
            <a:srgbClr val="FBFBFD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34256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096512"/>
            <a:ext cx="2103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886200" y="4096512"/>
            <a:ext cx="7498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ranking quality with MRR and Recall, against cost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230368"/>
            <a:ext cx="11091672" cy="969264"/>
          </a:xfrm>
          <a:prstGeom prst="roundRect">
            <a:avLst>
              <a:gd name="adj" fmla="val 566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68112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230368"/>
            <a:ext cx="2103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3886200" y="5230368"/>
            <a:ext cx="7498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keyword, semantic, hybrid, or re-rank for the job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VS.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question, worded two 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“Get my money back” and “refund policy” mean the same thing — but share almost no words. That gap is the whole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75304" cy="2651760"/>
          </a:xfrm>
          <a:prstGeom prst="roundRect">
            <a:avLst>
              <a:gd name="adj" fmla="val 2069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59736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(sparse)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3026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actual words — fast and exact, but “money back” never finds “refund.”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2148840"/>
            <a:ext cx="3575304" cy="2651760"/>
          </a:xfrm>
          <a:prstGeom prst="roundRect">
            <a:avLst>
              <a:gd name="adj" fmla="val 2069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459736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31089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(dense)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81144" y="3520440"/>
            <a:ext cx="3026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map both phrases to nearby vectors. It matches meaning, so paraphrases connect.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65008" y="2148840"/>
            <a:ext cx="3575304" cy="2651760"/>
          </a:xfrm>
          <a:prstGeom prst="roundRect">
            <a:avLst>
              <a:gd name="adj" fmla="val 2069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459736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9328" y="31089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339328" y="3520440"/>
            <a:ext cx="3026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needs a model and compute; keyword is instant. Neither wins everywhere — hybrid often does.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51A2E"/>
          </a:solidFill>
          <a:ln w="12700">
            <a:solidFill>
              <a:srgbClr val="15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68680" y="5029200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hackathon lives in this gap: Round 1 rewards words, Round 2 rewards meaning.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search the same 800 passages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343400" y="1737360"/>
            <a:ext cx="7040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match, weighted by rarity. Fast, exact — the bar to beat.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BFBFD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072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2432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343400" y="2624328"/>
            <a:ext cx="7040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keyword ranker — the default inside real search engines.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11296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9417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51129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embeddings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343400" y="3511296"/>
            <a:ext cx="7040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text into vectors; match by meaning, not by shared words.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398264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BFBFD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581144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39826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4343400" y="4398264"/>
            <a:ext cx="7040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keyword and semantic with one tunable dial. Best of both.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285232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68112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28523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re-rank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4343400" y="5285232"/>
            <a:ext cx="7040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the top few with a heavier model. The accuracy king.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66928" y="5989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J&amp;M ch. 6; HOLLM ch. 8 (semantic search &amp; retrieval)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TRICK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fast, then re-rank a shortlist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29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Bi-encoder — retrieve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query and each passage separately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them by cosine similarity in vector space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all 800 once — fast enough to search everything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1F2540"/>
          </a:solidFill>
          <a:ln w="12700">
            <a:solidFill>
              <a:srgbClr val="1F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2029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— re-rank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606040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query and a passage together, one score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accurate, but too slow for the whole corpus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re-score only the top 50 the bi-encoder found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7F3E9"/>
          </a:solidFill>
          <a:ln w="12700">
            <a:solidFill>
              <a:srgbClr val="E7D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5120640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lesson: retrieve broadly with a cheap model, then refine narrowly with an expensive one.</a:t>
            </a:r>
            <a:r>
              <a:rPr lang="en-US" sz="1450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is two numbers. Shipping needs two more.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724912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671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280720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MRR@10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86384" y="324612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right passage land near the top of the ranking.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47288" y="1874520"/>
            <a:ext cx="2724912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1671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85032" y="280720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Recall@5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685032" y="324612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right passage anywhere in your top five.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45936" y="1874520"/>
            <a:ext cx="2724912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1671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280720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&amp; size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83680" y="324612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 the index, and how fast each query returns.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244584" y="1874520"/>
            <a:ext cx="2724912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16712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82328" y="280720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482328" y="324612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up when the question is worded differently.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8463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51A2E"/>
          </a:solidFill>
          <a:ln w="12700">
            <a:solidFill>
              <a:srgbClr val="15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68680" y="48463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retriever is rarely best on all four. You are choosing a point on a frontier, not a champion.</a:t>
            </a:r>
            <a:r>
              <a:rPr lang="en-US" sz="1500" i="1" dirty="0">
                <a:solidFill>
                  <a:srgbClr val="E4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40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B31A38"/>
          </a:solidFill>
          <a:ln w="12700">
            <a:solidFill>
              <a:srgbClr val="B3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7498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TEAMS  ·  60 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81912" y="9326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Retrieval Hackathon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160020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C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Colab, loads from the course repo  ·  60 minutes  ·  one live leaderboard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224028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1F2540"/>
          </a:solidFill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201A22"/>
          </a:solidFill>
          <a:ln w="12700">
            <a:solidFill>
              <a:srgbClr val="3A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87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2898648"/>
            <a:ext cx="4617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is your final-project group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retriever over the shared 800-passage corpus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TF-IDF baseline — any model, any method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rounds: literal questions, then paraphrased ones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row to the class leaderboard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75120" y="2898648"/>
            <a:ext cx="4617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ranks on Main MRR (literal queries)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flips to Combined MRR (paraphrases count)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from the query only — no peeking at answers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the dev set, never on the leaderboard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combined score wins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86968" y="5897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search_hackathon  (course repo)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640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B1F2A"/>
          </a:solidFill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7589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60 MINUTES RUN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81912" y="9326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rounds, then read the board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60020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C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submit, and watch the leaderboard reorder when the goalposts move.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224028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1F2540"/>
          </a:solidFill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201A22"/>
          </a:solidFill>
          <a:ln w="12700">
            <a:solidFill>
              <a:srgbClr val="3A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87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Build sprint  (0–35 min)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8720" y="2898648"/>
            <a:ext cx="4617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runs the TF-IDF baseline — the number to beat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ladder: BM25, embeddings, hybrid, re-rank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the live board, ranked by Main MRR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teams lead here — that is expected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The reveal  (35–45 min)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75120" y="2898648"/>
            <a:ext cx="4617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flips to Combined MRR — paraphrases now count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teams surge; keyword-only teams slide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demos (~11 min): show a query the baseline misses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+ read the frontier together (~4 min)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6968" y="5897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data loads from the repo; TF-IDF and BM25 need no download or GPU.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read the board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every team's retriever by quality against cost. The best sit on the outer edge — the frontier. Anything below it is beaten on both axes at once.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2011680"/>
            <a:ext cx="10789920" cy="3840480"/>
          </a:xfrm>
          <a:prstGeom prst="roundRect">
            <a:avLst>
              <a:gd name="adj" fmla="val 1429"/>
            </a:avLst>
          </a:prstGeom>
          <a:solidFill>
            <a:srgbClr val="FBFBFD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0" y="2194560"/>
            <a:ext cx="0" cy="3200400"/>
          </a:xfrm>
          <a:prstGeom prst="line">
            <a:avLst/>
          </a:prstGeom>
          <a:noFill/>
          <a:ln w="15240">
            <a:solidFill>
              <a:srgbClr val="9A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5394960"/>
            <a:ext cx="7498080" cy="0"/>
          </a:xfrm>
          <a:prstGeom prst="line">
            <a:avLst/>
          </a:prstGeom>
          <a:noFill/>
          <a:ln w="15240">
            <a:solidFill>
              <a:srgbClr val="9A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 rot="16200000">
            <a:off x="137160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(MRR)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54681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compute, latency 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61872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9115" y="3474720"/>
            <a:ext cx="1274674" cy="0"/>
          </a:xfrm>
          <a:prstGeom prst="line">
            <a:avLst/>
          </a:prstGeom>
          <a:noFill/>
          <a:ln w="20320">
            <a:solidFill>
              <a:srgbClr val="B5A0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3789" y="3282696"/>
            <a:ext cx="2699309" cy="0"/>
          </a:xfrm>
          <a:prstGeom prst="line">
            <a:avLst/>
          </a:prstGeom>
          <a:noFill/>
          <a:ln w="20320">
            <a:solidFill>
              <a:srgbClr val="B5A0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53098" y="2770632"/>
            <a:ext cx="1349654" cy="0"/>
          </a:xfrm>
          <a:prstGeom prst="line">
            <a:avLst/>
          </a:prstGeom>
          <a:noFill/>
          <a:ln w="20320">
            <a:solidFill>
              <a:srgbClr val="B5A0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21992" y="4032504"/>
            <a:ext cx="164592" cy="164592"/>
          </a:xfrm>
          <a:prstGeom prst="ellipse">
            <a:avLst/>
          </a:prstGeom>
          <a:solidFill>
            <a:srgbClr val="1B1F2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96819" y="3392424"/>
            <a:ext cx="164592" cy="164592"/>
          </a:xfrm>
          <a:prstGeom prst="ellipse">
            <a:avLst/>
          </a:prstGeom>
          <a:solidFill>
            <a:srgbClr val="B31A3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71493" y="3200400"/>
            <a:ext cx="164592" cy="164592"/>
          </a:xfrm>
          <a:prstGeom prst="ellipse">
            <a:avLst/>
          </a:prstGeom>
          <a:solidFill>
            <a:srgbClr val="1B1F2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70802" y="2688336"/>
            <a:ext cx="164592" cy="164592"/>
          </a:xfrm>
          <a:prstGeom prst="ellipse">
            <a:avLst/>
          </a:prstGeom>
          <a:solidFill>
            <a:srgbClr val="1B1F2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39689" y="3493009"/>
            <a:ext cx="164592" cy="164592"/>
          </a:xfrm>
          <a:prstGeom prst="ellipse">
            <a:avLst/>
          </a:prstGeom>
          <a:solidFill>
            <a:srgbClr val="8A6D1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32304" y="407822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7131" y="343814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1805" y="328269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84418" y="28803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07585" y="3703321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554480" y="21762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Your leaderboard fills in the real points.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won Round 1. So when is the old way the right way?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groups, then report out. Neither question has a clean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FBEDEF"/>
          </a:solidFill>
          <a:ln w="12700">
            <a:solidFill>
              <a:srgbClr val="F2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777240" cy="777240"/>
          </a:xfrm>
          <a:prstGeom prst="ellipse">
            <a:avLst/>
          </a:prstGeom>
          <a:solidFill>
            <a:srgbClr val="B31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2249424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understands meaning, yet plain keyword search beat it on literal questions — for a fraction of the cost. When is “worse but cheaper and simpler” actually the better call to ship?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33101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newest model is not always the right tool.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4480560"/>
            <a:ext cx="777240" cy="777240"/>
          </a:xfrm>
          <a:prstGeom prst="ellipse">
            <a:avLst/>
          </a:prstGeom>
          <a:solidFill>
            <a:srgbClr val="1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4215384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gave the biggest accuracy jump, but scores every pair and needs a GPU. Where is the line between a number that looks better and a system you can afford to run?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52760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gain has a cost. The frontier is the honest picture.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is the R in your RAG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built tonight is the retrieval step every RAG system runs before it generates an answer. It also feeds your team project.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75304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2316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27248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 your corpus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356616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justify how you turn your project's documents into a searchable index.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2103120"/>
            <a:ext cx="3575304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423160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3127248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and measure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599432" y="356616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against real queries; report MRR or Recall on a held-out set.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65008" y="2103120"/>
            <a:ext cx="3575304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F"/>
            </a:solidFill>
            <a:prstDash val="solid"/>
          </a:ln>
          <a:effectLst>
            <a:outerShdw blurRad="88900" dist="25400" dir="5400000" algn="bl" rotWithShape="0">
              <a:srgbClr val="9AA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423160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7616" y="3127248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 the choice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357616" y="356616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it on more than quality: speed, size, and cost to run at scale.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98348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151A2E"/>
          </a:solidFill>
          <a:ln w="12700">
            <a:solidFill>
              <a:srgbClr val="15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68680" y="4983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Tonight's winner is a candidate retriever for your own system — reuse it.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2920" y="6373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064240" y="6373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50392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in one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 matches words; semantic search matches meaning. The best system knows when to use which — and what each costs.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3465576" cy="1874520"/>
          </a:xfrm>
          <a:prstGeom prst="roundRect">
            <a:avLst>
              <a:gd name="adj" fmla="val 2927"/>
            </a:avLst>
          </a:prstGeom>
          <a:solidFill>
            <a:srgbClr val="1F2540"/>
          </a:solidFill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7889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33558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families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61288" y="3703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keyword (TF-IDF, BM25) and dense embeddings — words versus meaning.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35424" y="2514600"/>
            <a:ext cx="3465576" cy="1874520"/>
          </a:xfrm>
          <a:prstGeom prst="roundRect">
            <a:avLst>
              <a:gd name="adj" fmla="val 2927"/>
            </a:avLst>
          </a:prstGeom>
          <a:solidFill>
            <a:srgbClr val="1F2540"/>
          </a:solidFill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889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28032" y="33558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Retrieve, then re-rank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28032" y="3703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model finds a shortlist; a costly one refines it. The biggest quality jump.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02168" y="2514600"/>
            <a:ext cx="3465576" cy="1874520"/>
          </a:xfrm>
          <a:prstGeom prst="roundRect">
            <a:avLst>
              <a:gd name="adj" fmla="val 2927"/>
            </a:avLst>
          </a:prstGeom>
          <a:solidFill>
            <a:srgbClr val="1F2540"/>
          </a:solidFill>
          <a:ln w="12700">
            <a:solidFill>
              <a:srgbClr val="2A3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788920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94776" y="33558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94776" y="3703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one axis; cost is another. The winner is a point on a curve.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68680" y="4663440"/>
            <a:ext cx="10451592" cy="914400"/>
          </a:xfrm>
          <a:prstGeom prst="roundRect">
            <a:avLst>
              <a:gd name="adj" fmla="val 6000"/>
            </a:avLst>
          </a:prstGeom>
          <a:solidFill>
            <a:srgbClr val="B31A38"/>
          </a:solidFill>
          <a:ln w="12700">
            <a:solidFill>
              <a:srgbClr val="B3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956048"/>
            <a:ext cx="457200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7548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Thursday: Deep Learning Intro — neural networks and PyTorch, the engine behind the embeddings you just used.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549640" y="47548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J&amp;M ch. 6 · HOLLM ch. 8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6868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· Natural Language Processing &amp; AI · Summer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2743</Words>
  <Application>Microsoft Macintosh PowerPoint</Application>
  <PresentationFormat>Widescreen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Jules Malin</cp:lastModifiedBy>
  <cp:revision>2</cp:revision>
  <dcterms:created xsi:type="dcterms:W3CDTF">2026-07-01T21:27:44Z</dcterms:created>
  <dcterms:modified xsi:type="dcterms:W3CDTF">2026-07-02T20:27:37Z</dcterms:modified>
</cp:coreProperties>
</file>