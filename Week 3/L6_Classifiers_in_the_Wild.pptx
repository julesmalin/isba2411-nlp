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06"/>
  </p:normalViewPr>
  <p:slideViewPr>
    <p:cSldViewPr snapToGrid="0" snapToObjects="1">
      <p:cViewPr varScale="1">
        <p:scale>
          <a:sx n="98" d="100"/>
          <a:sy n="98" d="100"/>
        </p:scale>
        <p:origin x="1304"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72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competitive frame: tonight is a bake-off. Tuesday everyone built the same baseline; tonight the class races five different classifiers on one job and reads the results together. One line for the night: there is no single best classifier, only the best one for a given job, budget, and need to explain it. Keep the energy on the leaderboard, the demo, and the discussion. This session also feeds Milestone 2 directly, so tell them their exercise result may become their project's improvement.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Tuesday. Tuesday delivered a working baseline and the discipline of honest evaluation, and it ended with AI writing the code. Tonight moves past the baseline to the real engineering question: with many classifiers available, which one do you choose, and on what basis besides accuracy? Ask the room to name the axes they would weigh before shipping a model; you are seeding the four-axis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mapped to the night. Compare and Measure are the lineup and the bake-off; Fuse is the AutoGluon multimodal demo; Choose is the discussion and the Milestone 2 tie-in. Name them so students know the exercise is hands-on and the discussion is a judgment call. The real test tonight is not can you train FastText, it is can you say which model you would ship and defend the choice.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five contenders quickly; do not lecture each one. The point is range: a fully interpretable linear baseline, a shockingly fast linear model with embeddings, a pipeline-native classifier, an AutoML system that builds models for you, and a heavy transformer. Tell them each team will run one of these in a few minutes, so listen for the personality of your assigned model. Reading is HOLLM ch. 4 and Tunstall ch.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core: best is multi-dimensional. Accuracy is the axis everyone quotes, but speed, cost and size, and interpretability decide real deployments. Introduce the frontier idea now so the leaderboard read later has a frame. The deeper point is the No Free Lunch theorem, proved by David Wolpert in the mid-1990s: averaged over all possible problems, no learning algorithm beats any other. In practice that means the winner is always relative to the job, which is exactly what tonight demonstrates.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the underdog. FastText, released by Facebook AI in 2016, averages word and character n-gram embeddings into a single linear classifier and trains with hierarchical softmax for speed. Their paper was titled Bag of Tricks for Efficient Text Classification, and the result was almost insulting to deep learning: on many benchmarks it matched neural networks while training in seconds on a laptop CPU. The lesson to plant: run the cheap, fast model first, because sometimes it is already the number to beat. This is the reliable surprise in the bake-off.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teams, one shared leaderboard. Assign your nine teams across the contenders, for example two tuning logistic regression, two on FastText, two on spaCy textcat, two on AutoGluon, and one fine-tuning DistilBERT. Keep the test split identical for everyone so numbers compare. The magic is social: a live leaderboard makes teams push for one more point in a way a worksheet never does. Circulate, and make sure every team posts training time and model size, not just accuracy, because those axes are the whole lesson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read the board as a class. Plot accuracy against cost and identify the frontier, the models nothing beats on both axes at once. The reliable pattern: FastText sits high and cheap on the upper left, AutoGluon and the transformer win on accuracy but pay for it on the right, and the plain baseline is often dominated. Do not hand them a champion; make them argue about which point they would pick for a spam filter versus a medical triage tool. The scatter on the slide is illustrative; their leaderboard supplies the real dots.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multimodal. Every real record is more than text: a review carries a price, a category, a rating, a verified-purchase flag. Text-only models discard all of it. Make the point concrete with one example row, the words plus the columns, then set up the demo question: does fusing the columns actually beat the text alone, or just cost more? Keep this short; the demo carries the idea.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fifteen-minute reveal, this slide is your run sheet. First run AutoGluon MultiModalPredictor on the text column alone and record accuracy. Then hand it the whole table, text and structured columns together, retrain, and compare. Fusion usually wins because the columns carry signal the words cannot. Then the honesty beat that keeps it from being a magic trick: check whether the structured columns alone already reached that accuracy, in which case the text, and the multimodal cost, added little. Pre-run once on a small dataset; keep a finished run in a second tab as insurance.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small groups, report out. Frame 1 lands the accountability point: when AutoGluon beats your hand-tuned model with a stack you cannot fully explain, is that a win, a risk, or both, and what do you still owe the result? Frame 2 makes it personal and career-relevant: if AutoML handles model selection, the human value moves to framing the problem, fixing the data, designing the evaluation, and judging deployment. Ask which of those is safest from automation. A useful anchor: AutoGluon has placed strongly in Kaggle competitions with almost no manual tuning, and the AutoGluon-Tabular paper showed it matching or beating most competitors and many human data scientists. Automation has done this before, from compilers replacing assembly to spreadsheets replacing hand ledgers; each wave moved the skill up a level rather than deleting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tying today to the deliverable. Milestone 2 asks for a baseline, one deliberate improvement, and a metric, all due July 12. Tonight was the menu of improvements. Tell each team to pick a contender, show the gain on the same fixed held-out set, and, most important, justify the choice on more than accuracy. A team that ships FastText because it is nearly as accurate and far cheaper has made a stronger argument than a team that ships the top scorer with no reasoning. Reuse the bake-off notebook as the scaffold.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Three takeaways: the lineup showed five ways to do one job, the frontier showed accuracy is one axis of four, and the discussion showed AutoML moves the skill up the stack rather than removing it. Point ahead to Week 4, Text Retrieval and a first look at deep learning, where a neural network shows up as a black box they will benchmark against tonight's winners. Reading: J&amp;M ch. 4, HOLLM ch. 4, Tunstall ch.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868680" y="1371600"/>
            <a:ext cx="9144000" cy="320040"/>
          </a:xfrm>
          <a:prstGeom prst="rect">
            <a:avLst/>
          </a:prstGeom>
          <a:noFill/>
          <a:ln/>
        </p:spPr>
        <p:txBody>
          <a:bodyPr wrap="square" rtlCol="0" anchor="ctr"/>
          <a:lstStyle/>
          <a:p>
            <a:pPr marL="0" indent="0">
              <a:buNone/>
            </a:pPr>
            <a:r>
              <a:rPr lang="en-US" sz="1300" b="1" kern="0" spc="300" dirty="0">
                <a:solidFill>
                  <a:srgbClr val="B5A06A"/>
                </a:solidFill>
                <a:latin typeface="Calibri" pitchFamily="34" charset="0"/>
                <a:ea typeface="Calibri" pitchFamily="34" charset="-122"/>
                <a:cs typeface="Calibri" pitchFamily="34" charset="-120"/>
              </a:rPr>
              <a:t>WEEK 3  ·  LECTURE 6  ·  THURSDAY</a:t>
            </a:r>
            <a:endParaRPr lang="en-US" sz="1300" dirty="0"/>
          </a:p>
        </p:txBody>
      </p:sp>
      <p:sp>
        <p:nvSpPr>
          <p:cNvPr id="3" name="Text 1"/>
          <p:cNvSpPr/>
          <p:nvPr/>
        </p:nvSpPr>
        <p:spPr>
          <a:xfrm>
            <a:off x="822960" y="1783080"/>
            <a:ext cx="10058400" cy="100584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Classifiers in the Wild</a:t>
            </a:r>
            <a:endParaRPr lang="en-US" sz="5000" dirty="0"/>
          </a:p>
        </p:txBody>
      </p:sp>
      <p:sp>
        <p:nvSpPr>
          <p:cNvPr id="4" name="Text 2"/>
          <p:cNvSpPr/>
          <p:nvPr/>
        </p:nvSpPr>
        <p:spPr>
          <a:xfrm>
            <a:off x="868680" y="2880360"/>
            <a:ext cx="9601200" cy="457200"/>
          </a:xfrm>
          <a:prstGeom prst="rect">
            <a:avLst/>
          </a:prstGeom>
          <a:noFill/>
          <a:ln/>
        </p:spPr>
        <p:txBody>
          <a:bodyPr wrap="square" rtlCol="0" anchor="ctr"/>
          <a:lstStyle/>
          <a:p>
            <a:pPr marL="0" indent="0">
              <a:buNone/>
            </a:pPr>
            <a:r>
              <a:rPr lang="en-US" sz="1900" dirty="0">
                <a:solidFill>
                  <a:srgbClr val="D7DAE6"/>
                </a:solidFill>
                <a:latin typeface="Calibri" pitchFamily="34" charset="0"/>
                <a:ea typeface="Calibri" pitchFamily="34" charset="-122"/>
                <a:cs typeface="Calibri" pitchFamily="34" charset="-120"/>
              </a:rPr>
              <a:t>FastText, spaCy &amp; Multimodal AutoGluon</a:t>
            </a:r>
            <a:endParaRPr lang="en-US" sz="1900" dirty="0"/>
          </a:p>
        </p:txBody>
      </p:sp>
      <p:sp>
        <p:nvSpPr>
          <p:cNvPr id="5" name="Shape 3"/>
          <p:cNvSpPr/>
          <p:nvPr/>
        </p:nvSpPr>
        <p:spPr>
          <a:xfrm>
            <a:off x="886968" y="3611880"/>
            <a:ext cx="1554480" cy="41148"/>
          </a:xfrm>
          <a:prstGeom prst="rect">
            <a:avLst/>
          </a:prstGeom>
          <a:solidFill>
            <a:srgbClr val="B31A38"/>
          </a:solidFill>
          <a:ln/>
        </p:spPr>
        <p:txBody>
          <a:bodyPr/>
          <a:lstStyle/>
          <a:p>
            <a:endParaRPr lang="en-US"/>
          </a:p>
        </p:txBody>
      </p:sp>
      <p:sp>
        <p:nvSpPr>
          <p:cNvPr id="6" name="Text 4"/>
          <p:cNvSpPr/>
          <p:nvPr/>
        </p:nvSpPr>
        <p:spPr>
          <a:xfrm>
            <a:off x="868680" y="3794760"/>
            <a:ext cx="7315200" cy="365760"/>
          </a:xfrm>
          <a:prstGeom prst="rect">
            <a:avLst/>
          </a:prstGeom>
          <a:noFill/>
          <a:ln/>
        </p:spPr>
        <p:txBody>
          <a:bodyPr wrap="square" rtlCol="0" anchor="ctr"/>
          <a:lstStyle/>
          <a:p>
            <a:pPr marL="0" indent="0">
              <a:buNone/>
            </a:pPr>
            <a:r>
              <a:rPr lang="en-US" sz="1500" i="1" dirty="0">
                <a:solidFill>
                  <a:srgbClr val="B5A06A"/>
                </a:solidFill>
                <a:latin typeface="Cambria" pitchFamily="34" charset="0"/>
                <a:ea typeface="Cambria" pitchFamily="34" charset="-122"/>
                <a:cs typeface="Cambria" pitchFamily="34" charset="-120"/>
              </a:rPr>
              <a:t>One job, five contenders</a:t>
            </a:r>
            <a:endParaRPr lang="en-US" sz="1500" dirty="0"/>
          </a:p>
        </p:txBody>
      </p:sp>
      <p:pic>
        <p:nvPicPr>
          <p:cNvPr id="7" name="Image 0" descr="preencoded.png"/>
          <p:cNvPicPr>
            <a:picLocks noChangeAspect="1"/>
          </p:cNvPicPr>
          <p:nvPr/>
        </p:nvPicPr>
        <p:blipFill>
          <a:blip r:embed="rId3"/>
          <a:stretch>
            <a:fillRect/>
          </a:stretch>
        </p:blipFill>
        <p:spPr>
          <a:xfrm>
            <a:off x="10195560" y="4114800"/>
            <a:ext cx="868680" cy="868680"/>
          </a:xfrm>
          <a:prstGeom prst="rect">
            <a:avLst/>
          </a:prstGeom>
        </p:spPr>
      </p:pic>
      <p:sp>
        <p:nvSpPr>
          <p:cNvPr id="8" name="Text 5"/>
          <p:cNvSpPr/>
          <p:nvPr/>
        </p:nvSpPr>
        <p:spPr>
          <a:xfrm>
            <a:off x="868680" y="5943600"/>
            <a:ext cx="9144000" cy="274320"/>
          </a:xfrm>
          <a:prstGeom prst="rect">
            <a:avLst/>
          </a:prstGeom>
          <a:noFill/>
          <a:ln/>
        </p:spPr>
        <p:txBody>
          <a:bodyPr wrap="square" rtlCol="0" anchor="ctr"/>
          <a:lstStyle/>
          <a:p>
            <a:pPr marL="0" indent="0">
              <a:buNone/>
            </a:pPr>
            <a:r>
              <a:rPr lang="en-US" sz="9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RECAP FROM TUESDAY</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You built a baseline. Now beat it, and know what you traded.</a:t>
            </a:r>
            <a:endParaRPr lang="en-US" sz="3000" dirty="0"/>
          </a:p>
        </p:txBody>
      </p:sp>
      <p:sp>
        <p:nvSpPr>
          <p:cNvPr id="4" name="Shape 2"/>
          <p:cNvSpPr/>
          <p:nvPr/>
        </p:nvSpPr>
        <p:spPr>
          <a:xfrm>
            <a:off x="548640" y="1920240"/>
            <a:ext cx="5257800" cy="3749040"/>
          </a:xfrm>
          <a:prstGeom prst="roundRect">
            <a:avLst>
              <a:gd name="adj" fmla="val 146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5" name="Shape 3"/>
          <p:cNvSpPr/>
          <p:nvPr/>
        </p:nvSpPr>
        <p:spPr>
          <a:xfrm>
            <a:off x="6382512" y="1920240"/>
            <a:ext cx="5257800" cy="3749040"/>
          </a:xfrm>
          <a:prstGeom prst="roundRect">
            <a:avLst>
              <a:gd name="adj" fmla="val 1463"/>
            </a:avLst>
          </a:prstGeom>
          <a:solidFill>
            <a:srgbClr val="F7F3E9"/>
          </a:solidFill>
          <a:ln w="12700">
            <a:solidFill>
              <a:srgbClr val="E7DEC4"/>
            </a:solidFill>
            <a:prstDash val="solid"/>
          </a:ln>
          <a:effectLst>
            <a:outerShdw blurRad="88900" dist="25400" dir="5400000" algn="bl" rotWithShape="0">
              <a:srgbClr val="9AA0B0">
                <a:alpha val="25000"/>
              </a:srgbClr>
            </a:outerShdw>
          </a:effectLst>
        </p:spPr>
        <p:txBody>
          <a:bodyPr/>
          <a:lstStyle/>
          <a:p>
            <a:endParaRPr lang="en-US"/>
          </a:p>
        </p:txBody>
      </p:sp>
      <p:sp>
        <p:nvSpPr>
          <p:cNvPr id="6" name="Text 4"/>
          <p:cNvSpPr/>
          <p:nvPr/>
        </p:nvSpPr>
        <p:spPr>
          <a:xfrm>
            <a:off x="868680" y="2148840"/>
            <a:ext cx="4709160" cy="320040"/>
          </a:xfrm>
          <a:prstGeom prst="rect">
            <a:avLst/>
          </a:prstGeom>
          <a:noFill/>
          <a:ln/>
        </p:spPr>
        <p:txBody>
          <a:bodyPr wrap="square" rtlCol="0" anchor="ctr"/>
          <a:lstStyle/>
          <a:p>
            <a:pPr marL="0" indent="0">
              <a:buNone/>
            </a:pPr>
            <a:r>
              <a:rPr lang="en-US" sz="1300" b="1" dirty="0">
                <a:solidFill>
                  <a:srgbClr val="B31A38"/>
                </a:solidFill>
                <a:latin typeface="Calibri" pitchFamily="34" charset="0"/>
                <a:ea typeface="Calibri" pitchFamily="34" charset="-122"/>
                <a:cs typeface="Calibri" pitchFamily="34" charset="-120"/>
              </a:rPr>
              <a:t>Tuesday gave us</a:t>
            </a:r>
            <a:endParaRPr lang="en-US" sz="1300" dirty="0"/>
          </a:p>
        </p:txBody>
      </p:sp>
      <p:sp>
        <p:nvSpPr>
          <p:cNvPr id="7" name="Text 5"/>
          <p:cNvSpPr/>
          <p:nvPr/>
        </p:nvSpPr>
        <p:spPr>
          <a:xfrm>
            <a:off x="868680" y="2606040"/>
            <a:ext cx="4663440" cy="2834640"/>
          </a:xfrm>
          <a:prstGeom prst="rect">
            <a:avLst/>
          </a:prstGeom>
          <a:noFill/>
          <a:ln/>
        </p:spPr>
        <p:txBody>
          <a:bodyPr wrap="square" rtlCol="0" anchor="t"/>
          <a:lstStyle/>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A working baseline: TF-IDF plus logistic regression</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The discipline: score on held-out data, never on train</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Generate fast, verify always: AI can write the code</a:t>
            </a:r>
            <a:endParaRPr lang="en-US" sz="1250" dirty="0"/>
          </a:p>
        </p:txBody>
      </p:sp>
      <p:sp>
        <p:nvSpPr>
          <p:cNvPr id="8" name="Text 6"/>
          <p:cNvSpPr/>
          <p:nvPr/>
        </p:nvSpPr>
        <p:spPr>
          <a:xfrm>
            <a:off x="6702552" y="2148840"/>
            <a:ext cx="4709160" cy="320040"/>
          </a:xfrm>
          <a:prstGeom prst="rect">
            <a:avLst/>
          </a:prstGeom>
          <a:noFill/>
          <a:ln/>
        </p:spPr>
        <p:txBody>
          <a:bodyPr wrap="square" rtlCol="0" anchor="ctr"/>
          <a:lstStyle/>
          <a:p>
            <a:pPr marL="0" indent="0">
              <a:buNone/>
            </a:pPr>
            <a:r>
              <a:rPr lang="en-US" sz="1300" b="1" dirty="0">
                <a:solidFill>
                  <a:srgbClr val="8A6D1F"/>
                </a:solidFill>
                <a:latin typeface="Calibri" pitchFamily="34" charset="0"/>
                <a:ea typeface="Calibri" pitchFamily="34" charset="-122"/>
                <a:cs typeface="Calibri" pitchFamily="34" charset="-120"/>
              </a:rPr>
              <a:t>Thursday asks</a:t>
            </a:r>
            <a:endParaRPr lang="en-US" sz="1300" dirty="0"/>
          </a:p>
        </p:txBody>
      </p:sp>
      <p:sp>
        <p:nvSpPr>
          <p:cNvPr id="9" name="Text 7"/>
          <p:cNvSpPr/>
          <p:nvPr/>
        </p:nvSpPr>
        <p:spPr>
          <a:xfrm>
            <a:off x="6702552" y="2606040"/>
            <a:ext cx="4663440" cy="2834640"/>
          </a:xfrm>
          <a:prstGeom prst="rect">
            <a:avLst/>
          </a:prstGeom>
          <a:noFill/>
          <a:ln/>
        </p:spPr>
        <p:txBody>
          <a:bodyPr wrap="square" rtlCol="0" anchor="t"/>
          <a:lstStyle/>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Which classifier for which job?</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What besides accuracy decides the winner?</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Can structured data beat text alone?</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If a tool auto-builds the model, what is your job?</a:t>
            </a:r>
            <a:endParaRPr lang="en-US" sz="1250" dirty="0"/>
          </a:p>
        </p:txBody>
      </p:sp>
      <p:sp>
        <p:nvSpPr>
          <p:cNvPr id="10" name="Text 8"/>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1" name="Text 9"/>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TODAY</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By the end of class you will be able to</a:t>
            </a:r>
            <a:endParaRPr lang="en-US" sz="3000" dirty="0"/>
          </a:p>
        </p:txBody>
      </p:sp>
      <p:sp>
        <p:nvSpPr>
          <p:cNvPr id="4" name="Shape 2"/>
          <p:cNvSpPr/>
          <p:nvPr/>
        </p:nvSpPr>
        <p:spPr>
          <a:xfrm>
            <a:off x="548640" y="1828800"/>
            <a:ext cx="11091672" cy="969264"/>
          </a:xfrm>
          <a:prstGeom prst="roundRect">
            <a:avLst>
              <a:gd name="adj" fmla="val 5660"/>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2066544"/>
            <a:ext cx="493776" cy="493776"/>
          </a:xfrm>
          <a:prstGeom prst="rect">
            <a:avLst/>
          </a:prstGeom>
        </p:spPr>
      </p:pic>
      <p:sp>
        <p:nvSpPr>
          <p:cNvPr id="6" name="Text 3"/>
          <p:cNvSpPr/>
          <p:nvPr/>
        </p:nvSpPr>
        <p:spPr>
          <a:xfrm>
            <a:off x="1691640" y="1828800"/>
            <a:ext cx="2103120" cy="969264"/>
          </a:xfrm>
          <a:prstGeom prst="rect">
            <a:avLst/>
          </a:prstGeom>
          <a:noFill/>
          <a:ln/>
        </p:spPr>
        <p:txBody>
          <a:bodyPr wrap="square" rtlCol="0" anchor="ctr"/>
          <a:lstStyle/>
          <a:p>
            <a:pPr marL="0" indent="0">
              <a:buNone/>
            </a:pPr>
            <a:r>
              <a:rPr lang="en-US" sz="1800" b="1" dirty="0">
                <a:solidFill>
                  <a:srgbClr val="B31A38"/>
                </a:solidFill>
                <a:latin typeface="Cambria" pitchFamily="34" charset="0"/>
                <a:ea typeface="Cambria" pitchFamily="34" charset="-122"/>
                <a:cs typeface="Cambria" pitchFamily="34" charset="-120"/>
              </a:rPr>
              <a:t>Compare</a:t>
            </a:r>
            <a:endParaRPr lang="en-US" sz="1800" dirty="0"/>
          </a:p>
        </p:txBody>
      </p:sp>
      <p:sp>
        <p:nvSpPr>
          <p:cNvPr id="7" name="Text 4"/>
          <p:cNvSpPr/>
          <p:nvPr/>
        </p:nvSpPr>
        <p:spPr>
          <a:xfrm>
            <a:off x="3886200" y="1828800"/>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Weigh five classifiers on one and the same task</a:t>
            </a:r>
            <a:endParaRPr lang="en-US" sz="1400" dirty="0"/>
          </a:p>
        </p:txBody>
      </p:sp>
      <p:sp>
        <p:nvSpPr>
          <p:cNvPr id="8" name="Shape 5"/>
          <p:cNvSpPr/>
          <p:nvPr/>
        </p:nvSpPr>
        <p:spPr>
          <a:xfrm>
            <a:off x="548640" y="2962656"/>
            <a:ext cx="11091672" cy="969264"/>
          </a:xfrm>
          <a:prstGeom prst="roundRect">
            <a:avLst>
              <a:gd name="adj" fmla="val 566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914400" y="3200400"/>
            <a:ext cx="493776" cy="493776"/>
          </a:xfrm>
          <a:prstGeom prst="rect">
            <a:avLst/>
          </a:prstGeom>
        </p:spPr>
      </p:pic>
      <p:sp>
        <p:nvSpPr>
          <p:cNvPr id="10" name="Text 6"/>
          <p:cNvSpPr/>
          <p:nvPr/>
        </p:nvSpPr>
        <p:spPr>
          <a:xfrm>
            <a:off x="1691640" y="2962656"/>
            <a:ext cx="2103120" cy="969264"/>
          </a:xfrm>
          <a:prstGeom prst="rect">
            <a:avLst/>
          </a:prstGeom>
          <a:noFill/>
          <a:ln/>
        </p:spPr>
        <p:txBody>
          <a:bodyPr wrap="square" rtlCol="0" anchor="ctr"/>
          <a:lstStyle/>
          <a:p>
            <a:pPr marL="0" indent="0">
              <a:buNone/>
            </a:pPr>
            <a:r>
              <a:rPr lang="en-US" sz="1800" b="1" dirty="0">
                <a:solidFill>
                  <a:srgbClr val="1B1F2A"/>
                </a:solidFill>
                <a:latin typeface="Cambria" pitchFamily="34" charset="0"/>
                <a:ea typeface="Cambria" pitchFamily="34" charset="-122"/>
                <a:cs typeface="Cambria" pitchFamily="34" charset="-120"/>
              </a:rPr>
              <a:t>Measure</a:t>
            </a:r>
            <a:endParaRPr lang="en-US" sz="1800" dirty="0"/>
          </a:p>
        </p:txBody>
      </p:sp>
      <p:sp>
        <p:nvSpPr>
          <p:cNvPr id="11" name="Text 7"/>
          <p:cNvSpPr/>
          <p:nvPr/>
        </p:nvSpPr>
        <p:spPr>
          <a:xfrm>
            <a:off x="3886200" y="2962656"/>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Score more than accuracy: speed, size, and interpretability</a:t>
            </a:r>
            <a:endParaRPr lang="en-US" sz="1400" dirty="0"/>
          </a:p>
        </p:txBody>
      </p:sp>
      <p:sp>
        <p:nvSpPr>
          <p:cNvPr id="12" name="Shape 8"/>
          <p:cNvSpPr/>
          <p:nvPr/>
        </p:nvSpPr>
        <p:spPr>
          <a:xfrm>
            <a:off x="548640" y="4096512"/>
            <a:ext cx="11091672" cy="969264"/>
          </a:xfrm>
          <a:prstGeom prst="roundRect">
            <a:avLst>
              <a:gd name="adj" fmla="val 5660"/>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914400" y="4334256"/>
            <a:ext cx="493776" cy="493776"/>
          </a:xfrm>
          <a:prstGeom prst="rect">
            <a:avLst/>
          </a:prstGeom>
        </p:spPr>
      </p:pic>
      <p:sp>
        <p:nvSpPr>
          <p:cNvPr id="14" name="Text 9"/>
          <p:cNvSpPr/>
          <p:nvPr/>
        </p:nvSpPr>
        <p:spPr>
          <a:xfrm>
            <a:off x="1691640" y="4096512"/>
            <a:ext cx="2103120" cy="969264"/>
          </a:xfrm>
          <a:prstGeom prst="rect">
            <a:avLst/>
          </a:prstGeom>
          <a:noFill/>
          <a:ln/>
        </p:spPr>
        <p:txBody>
          <a:bodyPr wrap="square" rtlCol="0" anchor="ctr"/>
          <a:lstStyle/>
          <a:p>
            <a:pPr marL="0" indent="0">
              <a:buNone/>
            </a:pPr>
            <a:r>
              <a:rPr lang="en-US" sz="1800" b="1" dirty="0">
                <a:solidFill>
                  <a:srgbClr val="8A6D1F"/>
                </a:solidFill>
                <a:latin typeface="Cambria" pitchFamily="34" charset="0"/>
                <a:ea typeface="Cambria" pitchFamily="34" charset="-122"/>
                <a:cs typeface="Cambria" pitchFamily="34" charset="-120"/>
              </a:rPr>
              <a:t>Fuse</a:t>
            </a:r>
            <a:endParaRPr lang="en-US" sz="1800" dirty="0"/>
          </a:p>
        </p:txBody>
      </p:sp>
      <p:sp>
        <p:nvSpPr>
          <p:cNvPr id="15" name="Text 10"/>
          <p:cNvSpPr/>
          <p:nvPr/>
        </p:nvSpPr>
        <p:spPr>
          <a:xfrm>
            <a:off x="3886200" y="4096512"/>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Combine text and structured data with a multimodal model</a:t>
            </a:r>
            <a:endParaRPr lang="en-US" sz="1400" dirty="0"/>
          </a:p>
        </p:txBody>
      </p:sp>
      <p:sp>
        <p:nvSpPr>
          <p:cNvPr id="16" name="Shape 11"/>
          <p:cNvSpPr/>
          <p:nvPr/>
        </p:nvSpPr>
        <p:spPr>
          <a:xfrm>
            <a:off x="548640" y="5230368"/>
            <a:ext cx="11091672" cy="969264"/>
          </a:xfrm>
          <a:prstGeom prst="roundRect">
            <a:avLst>
              <a:gd name="adj" fmla="val 566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914400" y="5468112"/>
            <a:ext cx="493776" cy="493776"/>
          </a:xfrm>
          <a:prstGeom prst="rect">
            <a:avLst/>
          </a:prstGeom>
        </p:spPr>
      </p:pic>
      <p:sp>
        <p:nvSpPr>
          <p:cNvPr id="18" name="Text 12"/>
          <p:cNvSpPr/>
          <p:nvPr/>
        </p:nvSpPr>
        <p:spPr>
          <a:xfrm>
            <a:off x="1691640" y="5230368"/>
            <a:ext cx="2103120" cy="969264"/>
          </a:xfrm>
          <a:prstGeom prst="rect">
            <a:avLst/>
          </a:prstGeom>
          <a:noFill/>
          <a:ln/>
        </p:spPr>
        <p:txBody>
          <a:bodyPr wrap="square" rtlCol="0" anchor="ctr"/>
          <a:lstStyle/>
          <a:p>
            <a:pPr marL="0" indent="0">
              <a:buNone/>
            </a:pPr>
            <a:r>
              <a:rPr lang="en-US" sz="1800" b="1" dirty="0">
                <a:solidFill>
                  <a:srgbClr val="B31A38"/>
                </a:solidFill>
                <a:latin typeface="Cambria" pitchFamily="34" charset="0"/>
                <a:ea typeface="Cambria" pitchFamily="34" charset="-122"/>
                <a:cs typeface="Cambria" pitchFamily="34" charset="-120"/>
              </a:rPr>
              <a:t>Choose</a:t>
            </a:r>
            <a:endParaRPr lang="en-US" sz="1800" dirty="0"/>
          </a:p>
        </p:txBody>
      </p:sp>
      <p:sp>
        <p:nvSpPr>
          <p:cNvPr id="19" name="Text 13"/>
          <p:cNvSpPr/>
          <p:nvPr/>
        </p:nvSpPr>
        <p:spPr>
          <a:xfrm>
            <a:off x="3886200" y="5230368"/>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Decide which model you would actually ship, and defend it</a:t>
            </a:r>
            <a:endParaRPr lang="en-US" sz="1400" dirty="0"/>
          </a:p>
        </p:txBody>
      </p:sp>
      <p:sp>
        <p:nvSpPr>
          <p:cNvPr id="20"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1"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THE LINEUP</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Five ways to classify the same reviews</a:t>
            </a:r>
            <a:endParaRPr lang="en-US" sz="3000" dirty="0"/>
          </a:p>
        </p:txBody>
      </p:sp>
      <p:sp>
        <p:nvSpPr>
          <p:cNvPr id="4" name="Shape 2"/>
          <p:cNvSpPr/>
          <p:nvPr/>
        </p:nvSpPr>
        <p:spPr>
          <a:xfrm>
            <a:off x="548640" y="1737360"/>
            <a:ext cx="11091672" cy="786384"/>
          </a:xfrm>
          <a:prstGeom prst="roundRect">
            <a:avLst>
              <a:gd name="adj" fmla="val 6977"/>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1920240"/>
            <a:ext cx="420624" cy="420624"/>
          </a:xfrm>
          <a:prstGeom prst="rect">
            <a:avLst/>
          </a:prstGeom>
        </p:spPr>
      </p:pic>
      <p:sp>
        <p:nvSpPr>
          <p:cNvPr id="6" name="Text 3"/>
          <p:cNvSpPr/>
          <p:nvPr/>
        </p:nvSpPr>
        <p:spPr>
          <a:xfrm>
            <a:off x="1463040" y="1737360"/>
            <a:ext cx="2743200" cy="786384"/>
          </a:xfrm>
          <a:prstGeom prst="rect">
            <a:avLst/>
          </a:prstGeom>
          <a:noFill/>
          <a:ln/>
        </p:spPr>
        <p:txBody>
          <a:bodyPr wrap="square" rtlCol="0" anchor="ctr"/>
          <a:lstStyle/>
          <a:p>
            <a:pPr marL="0" indent="0">
              <a:buNone/>
            </a:pPr>
            <a:r>
              <a:rPr lang="en-US" sz="1550" b="1" dirty="0">
                <a:solidFill>
                  <a:srgbClr val="1B1F2A"/>
                </a:solidFill>
                <a:latin typeface="Cambria" pitchFamily="34" charset="0"/>
                <a:ea typeface="Cambria" pitchFamily="34" charset="-122"/>
                <a:cs typeface="Cambria" pitchFamily="34" charset="-120"/>
              </a:rPr>
              <a:t>Logistic regression</a:t>
            </a:r>
            <a:endParaRPr lang="en-US" sz="1550" dirty="0"/>
          </a:p>
        </p:txBody>
      </p:sp>
      <p:sp>
        <p:nvSpPr>
          <p:cNvPr id="7" name="Text 4"/>
          <p:cNvSpPr/>
          <p:nvPr/>
        </p:nvSpPr>
        <p:spPr>
          <a:xfrm>
            <a:off x="4343400" y="1737360"/>
            <a:ext cx="7040880" cy="786384"/>
          </a:xfrm>
          <a:prstGeom prst="rect">
            <a:avLst/>
          </a:prstGeom>
          <a:noFill/>
          <a:ln/>
        </p:spPr>
        <p:txBody>
          <a:bodyPr wrap="square" rtlCol="0" anchor="ctr"/>
          <a:lstStyle/>
          <a:p>
            <a:pPr marL="0" indent="0">
              <a:lnSpc>
                <a:spcPct val="100000"/>
              </a:lnSpc>
              <a:buNone/>
            </a:pPr>
            <a:r>
              <a:rPr lang="en-US" sz="1250" dirty="0">
                <a:solidFill>
                  <a:srgbClr val="1B1F2A"/>
                </a:solidFill>
                <a:latin typeface="Calibri" pitchFamily="34" charset="0"/>
                <a:ea typeface="Calibri" pitchFamily="34" charset="-122"/>
                <a:cs typeface="Calibri" pitchFamily="34" charset="-120"/>
              </a:rPr>
              <a:t>Tuesday's baseline. Linear, fully interpretable, the bar everything else must clear.</a:t>
            </a:r>
            <a:endParaRPr lang="en-US" sz="1250" dirty="0"/>
          </a:p>
        </p:txBody>
      </p:sp>
      <p:sp>
        <p:nvSpPr>
          <p:cNvPr id="8" name="Shape 5"/>
          <p:cNvSpPr/>
          <p:nvPr/>
        </p:nvSpPr>
        <p:spPr>
          <a:xfrm>
            <a:off x="548640" y="2624328"/>
            <a:ext cx="11091672" cy="786384"/>
          </a:xfrm>
          <a:prstGeom prst="roundRect">
            <a:avLst>
              <a:gd name="adj" fmla="val 6977"/>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868680" y="2807208"/>
            <a:ext cx="420624" cy="420624"/>
          </a:xfrm>
          <a:prstGeom prst="rect">
            <a:avLst/>
          </a:prstGeom>
        </p:spPr>
      </p:pic>
      <p:sp>
        <p:nvSpPr>
          <p:cNvPr id="10" name="Text 6"/>
          <p:cNvSpPr/>
          <p:nvPr/>
        </p:nvSpPr>
        <p:spPr>
          <a:xfrm>
            <a:off x="1463040" y="2624328"/>
            <a:ext cx="2743200" cy="786384"/>
          </a:xfrm>
          <a:prstGeom prst="rect">
            <a:avLst/>
          </a:prstGeom>
          <a:noFill/>
          <a:ln/>
        </p:spPr>
        <p:txBody>
          <a:bodyPr wrap="square" rtlCol="0" anchor="ctr"/>
          <a:lstStyle/>
          <a:p>
            <a:pPr marL="0" indent="0">
              <a:buNone/>
            </a:pPr>
            <a:r>
              <a:rPr lang="en-US" sz="1550" b="1" dirty="0">
                <a:solidFill>
                  <a:srgbClr val="B31A38"/>
                </a:solidFill>
                <a:latin typeface="Cambria" pitchFamily="34" charset="0"/>
                <a:ea typeface="Cambria" pitchFamily="34" charset="-122"/>
                <a:cs typeface="Cambria" pitchFamily="34" charset="-120"/>
              </a:rPr>
              <a:t>FastText</a:t>
            </a:r>
            <a:endParaRPr lang="en-US" sz="1550" dirty="0"/>
          </a:p>
        </p:txBody>
      </p:sp>
      <p:sp>
        <p:nvSpPr>
          <p:cNvPr id="11" name="Text 7"/>
          <p:cNvSpPr/>
          <p:nvPr/>
        </p:nvSpPr>
        <p:spPr>
          <a:xfrm>
            <a:off x="4343400" y="2624328"/>
            <a:ext cx="7040880" cy="786384"/>
          </a:xfrm>
          <a:prstGeom prst="rect">
            <a:avLst/>
          </a:prstGeom>
          <a:noFill/>
          <a:ln/>
        </p:spPr>
        <p:txBody>
          <a:bodyPr wrap="square" rtlCol="0" anchor="ctr"/>
          <a:lstStyle/>
          <a:p>
            <a:pPr marL="0" indent="0">
              <a:lnSpc>
                <a:spcPct val="100000"/>
              </a:lnSpc>
              <a:buNone/>
            </a:pPr>
            <a:r>
              <a:rPr lang="en-US" sz="1250" dirty="0">
                <a:solidFill>
                  <a:srgbClr val="1B1F2A"/>
                </a:solidFill>
                <a:latin typeface="Calibri" pitchFamily="34" charset="0"/>
                <a:ea typeface="Calibri" pitchFamily="34" charset="-122"/>
                <a:cs typeface="Calibri" pitchFamily="34" charset="-120"/>
              </a:rPr>
              <a:t>Linear over word and n-gram embeddings. Near the top on many tasks, trains in seconds.</a:t>
            </a:r>
            <a:endParaRPr lang="en-US" sz="1250" dirty="0"/>
          </a:p>
        </p:txBody>
      </p:sp>
      <p:sp>
        <p:nvSpPr>
          <p:cNvPr id="12" name="Shape 8"/>
          <p:cNvSpPr/>
          <p:nvPr/>
        </p:nvSpPr>
        <p:spPr>
          <a:xfrm>
            <a:off x="548640" y="3511296"/>
            <a:ext cx="11091672" cy="786384"/>
          </a:xfrm>
          <a:prstGeom prst="roundRect">
            <a:avLst>
              <a:gd name="adj" fmla="val 6977"/>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68680" y="3694176"/>
            <a:ext cx="420624" cy="420624"/>
          </a:xfrm>
          <a:prstGeom prst="rect">
            <a:avLst/>
          </a:prstGeom>
        </p:spPr>
      </p:pic>
      <p:sp>
        <p:nvSpPr>
          <p:cNvPr id="14" name="Text 9"/>
          <p:cNvSpPr/>
          <p:nvPr/>
        </p:nvSpPr>
        <p:spPr>
          <a:xfrm>
            <a:off x="1463040" y="3511296"/>
            <a:ext cx="2743200" cy="786384"/>
          </a:xfrm>
          <a:prstGeom prst="rect">
            <a:avLst/>
          </a:prstGeom>
          <a:noFill/>
          <a:ln/>
        </p:spPr>
        <p:txBody>
          <a:bodyPr wrap="square" rtlCol="0" anchor="ctr"/>
          <a:lstStyle/>
          <a:p>
            <a:pPr marL="0" indent="0">
              <a:buNone/>
            </a:pPr>
            <a:r>
              <a:rPr lang="en-US" sz="1550" b="1" dirty="0">
                <a:solidFill>
                  <a:srgbClr val="1B1F2A"/>
                </a:solidFill>
                <a:latin typeface="Cambria" pitchFamily="34" charset="0"/>
                <a:ea typeface="Cambria" pitchFamily="34" charset="-122"/>
                <a:cs typeface="Cambria" pitchFamily="34" charset="-120"/>
              </a:rPr>
              <a:t>spaCy textcat</a:t>
            </a:r>
            <a:endParaRPr lang="en-US" sz="1550" dirty="0"/>
          </a:p>
        </p:txBody>
      </p:sp>
      <p:sp>
        <p:nvSpPr>
          <p:cNvPr id="15" name="Text 10"/>
          <p:cNvSpPr/>
          <p:nvPr/>
        </p:nvSpPr>
        <p:spPr>
          <a:xfrm>
            <a:off x="4343400" y="3511296"/>
            <a:ext cx="7040880" cy="786384"/>
          </a:xfrm>
          <a:prstGeom prst="rect">
            <a:avLst/>
          </a:prstGeom>
          <a:noFill/>
          <a:ln/>
        </p:spPr>
        <p:txBody>
          <a:bodyPr wrap="square" rtlCol="0" anchor="ctr"/>
          <a:lstStyle/>
          <a:p>
            <a:pPr marL="0" indent="0">
              <a:lnSpc>
                <a:spcPct val="100000"/>
              </a:lnSpc>
              <a:buNone/>
            </a:pPr>
            <a:r>
              <a:rPr lang="en-US" sz="1250" dirty="0">
                <a:solidFill>
                  <a:srgbClr val="1B1F2A"/>
                </a:solidFill>
                <a:latin typeface="Calibri" pitchFamily="34" charset="0"/>
                <a:ea typeface="Calibri" pitchFamily="34" charset="-122"/>
                <a:cs typeface="Calibri" pitchFamily="34" charset="-120"/>
              </a:rPr>
              <a:t>A text categorizer that lives inside a production pipeline, beside your tagger and NER.</a:t>
            </a:r>
            <a:endParaRPr lang="en-US" sz="1250" dirty="0"/>
          </a:p>
        </p:txBody>
      </p:sp>
      <p:sp>
        <p:nvSpPr>
          <p:cNvPr id="16" name="Shape 11"/>
          <p:cNvSpPr/>
          <p:nvPr/>
        </p:nvSpPr>
        <p:spPr>
          <a:xfrm>
            <a:off x="548640" y="4398264"/>
            <a:ext cx="11091672" cy="786384"/>
          </a:xfrm>
          <a:prstGeom prst="roundRect">
            <a:avLst>
              <a:gd name="adj" fmla="val 6977"/>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868680" y="4581144"/>
            <a:ext cx="420624" cy="420624"/>
          </a:xfrm>
          <a:prstGeom prst="rect">
            <a:avLst/>
          </a:prstGeom>
        </p:spPr>
      </p:pic>
      <p:sp>
        <p:nvSpPr>
          <p:cNvPr id="18" name="Text 12"/>
          <p:cNvSpPr/>
          <p:nvPr/>
        </p:nvSpPr>
        <p:spPr>
          <a:xfrm>
            <a:off x="1463040" y="4398264"/>
            <a:ext cx="2743200" cy="786384"/>
          </a:xfrm>
          <a:prstGeom prst="rect">
            <a:avLst/>
          </a:prstGeom>
          <a:noFill/>
          <a:ln/>
        </p:spPr>
        <p:txBody>
          <a:bodyPr wrap="square" rtlCol="0" anchor="ctr"/>
          <a:lstStyle/>
          <a:p>
            <a:pPr marL="0" indent="0">
              <a:buNone/>
            </a:pPr>
            <a:r>
              <a:rPr lang="en-US" sz="1550" b="1" dirty="0">
                <a:solidFill>
                  <a:srgbClr val="8A6D1F"/>
                </a:solidFill>
                <a:latin typeface="Cambria" pitchFamily="34" charset="0"/>
                <a:ea typeface="Cambria" pitchFamily="34" charset="-122"/>
                <a:cs typeface="Cambria" pitchFamily="34" charset="-120"/>
              </a:rPr>
              <a:t>AutoGluon</a:t>
            </a:r>
            <a:endParaRPr lang="en-US" sz="1550" dirty="0"/>
          </a:p>
        </p:txBody>
      </p:sp>
      <p:sp>
        <p:nvSpPr>
          <p:cNvPr id="19" name="Text 13"/>
          <p:cNvSpPr/>
          <p:nvPr/>
        </p:nvSpPr>
        <p:spPr>
          <a:xfrm>
            <a:off x="4343400" y="4398264"/>
            <a:ext cx="7040880" cy="786384"/>
          </a:xfrm>
          <a:prstGeom prst="rect">
            <a:avLst/>
          </a:prstGeom>
          <a:noFill/>
          <a:ln/>
        </p:spPr>
        <p:txBody>
          <a:bodyPr wrap="square" rtlCol="0" anchor="ctr"/>
          <a:lstStyle/>
          <a:p>
            <a:pPr marL="0" indent="0">
              <a:lnSpc>
                <a:spcPct val="100000"/>
              </a:lnSpc>
              <a:buNone/>
            </a:pPr>
            <a:r>
              <a:rPr lang="en-US" sz="1250" dirty="0">
                <a:solidFill>
                  <a:srgbClr val="1B1F2A"/>
                </a:solidFill>
                <a:latin typeface="Calibri" pitchFamily="34" charset="0"/>
                <a:ea typeface="Calibri" pitchFamily="34" charset="-122"/>
                <a:cs typeface="Calibri" pitchFamily="34" charset="-120"/>
              </a:rPr>
              <a:t>AutoML. It trains, tunes, and ensembles many models for you, then hands back the best.</a:t>
            </a:r>
            <a:endParaRPr lang="en-US" sz="1250" dirty="0"/>
          </a:p>
        </p:txBody>
      </p:sp>
      <p:sp>
        <p:nvSpPr>
          <p:cNvPr id="20" name="Shape 14"/>
          <p:cNvSpPr/>
          <p:nvPr/>
        </p:nvSpPr>
        <p:spPr>
          <a:xfrm>
            <a:off x="548640" y="5285232"/>
            <a:ext cx="11091672" cy="786384"/>
          </a:xfrm>
          <a:prstGeom prst="roundRect">
            <a:avLst>
              <a:gd name="adj" fmla="val 6977"/>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868680" y="5468112"/>
            <a:ext cx="420624" cy="420624"/>
          </a:xfrm>
          <a:prstGeom prst="rect">
            <a:avLst/>
          </a:prstGeom>
        </p:spPr>
      </p:pic>
      <p:sp>
        <p:nvSpPr>
          <p:cNvPr id="22" name="Text 15"/>
          <p:cNvSpPr/>
          <p:nvPr/>
        </p:nvSpPr>
        <p:spPr>
          <a:xfrm>
            <a:off x="1463040" y="5285232"/>
            <a:ext cx="2743200" cy="786384"/>
          </a:xfrm>
          <a:prstGeom prst="rect">
            <a:avLst/>
          </a:prstGeom>
          <a:noFill/>
          <a:ln/>
        </p:spPr>
        <p:txBody>
          <a:bodyPr wrap="square" rtlCol="0" anchor="ctr"/>
          <a:lstStyle/>
          <a:p>
            <a:pPr marL="0" indent="0">
              <a:buNone/>
            </a:pPr>
            <a:r>
              <a:rPr lang="en-US" sz="1550" b="1" dirty="0">
                <a:solidFill>
                  <a:srgbClr val="1B1F2A"/>
                </a:solidFill>
                <a:latin typeface="Cambria" pitchFamily="34" charset="0"/>
                <a:ea typeface="Cambria" pitchFamily="34" charset="-122"/>
                <a:cs typeface="Cambria" pitchFamily="34" charset="-120"/>
              </a:rPr>
              <a:t>DistilBERT (fine-tuned)</a:t>
            </a:r>
            <a:endParaRPr lang="en-US" sz="1550" dirty="0"/>
          </a:p>
        </p:txBody>
      </p:sp>
      <p:sp>
        <p:nvSpPr>
          <p:cNvPr id="23" name="Text 16"/>
          <p:cNvSpPr/>
          <p:nvPr/>
        </p:nvSpPr>
        <p:spPr>
          <a:xfrm>
            <a:off x="4343400" y="5285232"/>
            <a:ext cx="7040880" cy="786384"/>
          </a:xfrm>
          <a:prstGeom prst="rect">
            <a:avLst/>
          </a:prstGeom>
          <a:noFill/>
          <a:ln/>
        </p:spPr>
        <p:txBody>
          <a:bodyPr wrap="square" rtlCol="0" anchor="ctr"/>
          <a:lstStyle/>
          <a:p>
            <a:pPr marL="0" indent="0">
              <a:lnSpc>
                <a:spcPct val="100000"/>
              </a:lnSpc>
              <a:buNone/>
            </a:pPr>
            <a:r>
              <a:rPr lang="en-US" sz="1250" dirty="0">
                <a:solidFill>
                  <a:srgbClr val="1B1F2A"/>
                </a:solidFill>
                <a:latin typeface="Calibri" pitchFamily="34" charset="0"/>
                <a:ea typeface="Calibri" pitchFamily="34" charset="-122"/>
                <a:cs typeface="Calibri" pitchFamily="34" charset="-120"/>
              </a:rPr>
              <a:t>A small transformer. The highest accuracy here, but heavy, slower, and hard to explain.</a:t>
            </a:r>
            <a:endParaRPr lang="en-US" sz="1250" dirty="0"/>
          </a:p>
        </p:txBody>
      </p:sp>
      <p:sp>
        <p:nvSpPr>
          <p:cNvPr id="24" name="Text 17"/>
          <p:cNvSpPr/>
          <p:nvPr/>
        </p:nvSpPr>
        <p:spPr>
          <a:xfrm>
            <a:off x="566928" y="5989320"/>
            <a:ext cx="8229600" cy="274320"/>
          </a:xfrm>
          <a:prstGeom prst="rect">
            <a:avLst/>
          </a:prstGeom>
          <a:noFill/>
          <a:ln/>
        </p:spPr>
        <p:txBody>
          <a:bodyPr wrap="square" rtlCol="0" anchor="ctr"/>
          <a:lstStyle/>
          <a:p>
            <a:pPr marL="0" indent="0">
              <a:buNone/>
            </a:pPr>
            <a:r>
              <a:rPr lang="en-US" sz="1050" i="1" dirty="0">
                <a:solidFill>
                  <a:srgbClr val="B31A38"/>
                </a:solidFill>
                <a:latin typeface="Calibri" pitchFamily="34" charset="0"/>
                <a:ea typeface="Calibri" pitchFamily="34" charset="-122"/>
                <a:cs typeface="Calibri" pitchFamily="34" charset="-120"/>
              </a:rPr>
              <a:t>Reading: HOLLM ch. 4; Tunstall ch. 2 (text classification)</a:t>
            </a:r>
            <a:endParaRPr lang="en-US" sz="1050" dirty="0"/>
          </a:p>
        </p:txBody>
      </p:sp>
      <p:sp>
        <p:nvSpPr>
          <p:cNvPr id="25" name="Text 18"/>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6" name="Text 19"/>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WHAT “BEST” MEANS</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Accuracy is one axis. Shipping needs four.</a:t>
            </a:r>
            <a:endParaRPr lang="en-US" sz="3000" dirty="0"/>
          </a:p>
        </p:txBody>
      </p:sp>
      <p:sp>
        <p:nvSpPr>
          <p:cNvPr id="4" name="Shape 2"/>
          <p:cNvSpPr/>
          <p:nvPr/>
        </p:nvSpPr>
        <p:spPr>
          <a:xfrm>
            <a:off x="548640" y="1874520"/>
            <a:ext cx="2724912" cy="2697480"/>
          </a:xfrm>
          <a:prstGeom prst="roundRect">
            <a:avLst>
              <a:gd name="adj" fmla="val 2034"/>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04672" y="2167128"/>
            <a:ext cx="502920" cy="502920"/>
          </a:xfrm>
          <a:prstGeom prst="rect">
            <a:avLst/>
          </a:prstGeom>
        </p:spPr>
      </p:pic>
      <p:sp>
        <p:nvSpPr>
          <p:cNvPr id="6" name="Text 3"/>
          <p:cNvSpPr/>
          <p:nvPr/>
        </p:nvSpPr>
        <p:spPr>
          <a:xfrm>
            <a:off x="786384" y="2807208"/>
            <a:ext cx="2267712" cy="457200"/>
          </a:xfrm>
          <a:prstGeom prst="rect">
            <a:avLst/>
          </a:prstGeom>
          <a:noFill/>
          <a:ln/>
        </p:spPr>
        <p:txBody>
          <a:bodyPr wrap="square" rtlCol="0" anchor="t"/>
          <a:lstStyle/>
          <a:p>
            <a:pPr marL="0" indent="0">
              <a:buNone/>
            </a:pPr>
            <a:r>
              <a:rPr lang="en-US" sz="1550" b="1" dirty="0">
                <a:solidFill>
                  <a:srgbClr val="B31A38"/>
                </a:solidFill>
                <a:latin typeface="Cambria" pitchFamily="34" charset="0"/>
                <a:ea typeface="Cambria" pitchFamily="34" charset="-122"/>
                <a:cs typeface="Cambria" pitchFamily="34" charset="-120"/>
              </a:rPr>
              <a:t>Accuracy</a:t>
            </a:r>
            <a:endParaRPr lang="en-US" sz="1550" dirty="0"/>
          </a:p>
        </p:txBody>
      </p:sp>
      <p:sp>
        <p:nvSpPr>
          <p:cNvPr id="7" name="Text 4"/>
          <p:cNvSpPr/>
          <p:nvPr/>
        </p:nvSpPr>
        <p:spPr>
          <a:xfrm>
            <a:off x="786384" y="3246120"/>
            <a:ext cx="2267712" cy="1188720"/>
          </a:xfrm>
          <a:prstGeom prst="rect">
            <a:avLst/>
          </a:prstGeom>
          <a:noFill/>
          <a:ln/>
        </p:spPr>
        <p:txBody>
          <a:bodyPr wrap="square" rtlCol="0" anchor="t"/>
          <a:lstStyle/>
          <a:p>
            <a:pPr marL="0" indent="0">
              <a:lnSpc>
                <a:spcPct val="104000"/>
              </a:lnSpc>
              <a:buNone/>
            </a:pPr>
            <a:r>
              <a:rPr lang="en-US" sz="1200" dirty="0">
                <a:solidFill>
                  <a:srgbClr val="1B1F2A"/>
                </a:solidFill>
                <a:latin typeface="Calibri" pitchFamily="34" charset="0"/>
                <a:ea typeface="Calibri" pitchFamily="34" charset="-122"/>
                <a:cs typeface="Calibri" pitchFamily="34" charset="-120"/>
              </a:rPr>
              <a:t>Did it get the label right on data it has never seen.</a:t>
            </a:r>
            <a:endParaRPr lang="en-US" sz="1200" dirty="0"/>
          </a:p>
        </p:txBody>
      </p:sp>
      <p:sp>
        <p:nvSpPr>
          <p:cNvPr id="8" name="Shape 5"/>
          <p:cNvSpPr/>
          <p:nvPr/>
        </p:nvSpPr>
        <p:spPr>
          <a:xfrm>
            <a:off x="3447288" y="1874520"/>
            <a:ext cx="2724912" cy="2697480"/>
          </a:xfrm>
          <a:prstGeom prst="roundRect">
            <a:avLst>
              <a:gd name="adj" fmla="val 2034"/>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3703320" y="2167128"/>
            <a:ext cx="502920" cy="502920"/>
          </a:xfrm>
          <a:prstGeom prst="rect">
            <a:avLst/>
          </a:prstGeom>
        </p:spPr>
      </p:pic>
      <p:sp>
        <p:nvSpPr>
          <p:cNvPr id="10" name="Text 6"/>
          <p:cNvSpPr/>
          <p:nvPr/>
        </p:nvSpPr>
        <p:spPr>
          <a:xfrm>
            <a:off x="3685032" y="2807208"/>
            <a:ext cx="2267712" cy="457200"/>
          </a:xfrm>
          <a:prstGeom prst="rect">
            <a:avLst/>
          </a:prstGeom>
          <a:noFill/>
          <a:ln/>
        </p:spPr>
        <p:txBody>
          <a:bodyPr wrap="square" rtlCol="0" anchor="t"/>
          <a:lstStyle/>
          <a:p>
            <a:pPr marL="0" indent="0">
              <a:buNone/>
            </a:pPr>
            <a:r>
              <a:rPr lang="en-US" sz="1550" b="1" dirty="0">
                <a:solidFill>
                  <a:srgbClr val="1B1F2A"/>
                </a:solidFill>
                <a:latin typeface="Cambria" pitchFamily="34" charset="0"/>
                <a:ea typeface="Cambria" pitchFamily="34" charset="-122"/>
                <a:cs typeface="Cambria" pitchFamily="34" charset="-120"/>
              </a:rPr>
              <a:t>Speed</a:t>
            </a:r>
            <a:endParaRPr lang="en-US" sz="1550" dirty="0"/>
          </a:p>
        </p:txBody>
      </p:sp>
      <p:sp>
        <p:nvSpPr>
          <p:cNvPr id="11" name="Text 7"/>
          <p:cNvSpPr/>
          <p:nvPr/>
        </p:nvSpPr>
        <p:spPr>
          <a:xfrm>
            <a:off x="3685032" y="3246120"/>
            <a:ext cx="2267712" cy="1188720"/>
          </a:xfrm>
          <a:prstGeom prst="rect">
            <a:avLst/>
          </a:prstGeom>
          <a:noFill/>
          <a:ln/>
        </p:spPr>
        <p:txBody>
          <a:bodyPr wrap="square" rtlCol="0" anchor="t"/>
          <a:lstStyle/>
          <a:p>
            <a:pPr marL="0" indent="0">
              <a:lnSpc>
                <a:spcPct val="104000"/>
              </a:lnSpc>
              <a:buNone/>
            </a:pPr>
            <a:r>
              <a:rPr lang="en-US" sz="1200" dirty="0">
                <a:solidFill>
                  <a:srgbClr val="1B1F2A"/>
                </a:solidFill>
                <a:latin typeface="Calibri" pitchFamily="34" charset="0"/>
                <a:ea typeface="Calibri" pitchFamily="34" charset="-122"/>
                <a:cs typeface="Calibri" pitchFamily="34" charset="-120"/>
              </a:rPr>
              <a:t>How long to train, and how fast to predict in production.</a:t>
            </a:r>
            <a:endParaRPr lang="en-US" sz="1200" dirty="0"/>
          </a:p>
        </p:txBody>
      </p:sp>
      <p:sp>
        <p:nvSpPr>
          <p:cNvPr id="12" name="Shape 8"/>
          <p:cNvSpPr/>
          <p:nvPr/>
        </p:nvSpPr>
        <p:spPr>
          <a:xfrm>
            <a:off x="6345936" y="1874520"/>
            <a:ext cx="2724912" cy="2697480"/>
          </a:xfrm>
          <a:prstGeom prst="roundRect">
            <a:avLst>
              <a:gd name="adj" fmla="val 2034"/>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601968" y="2167128"/>
            <a:ext cx="502920" cy="502920"/>
          </a:xfrm>
          <a:prstGeom prst="rect">
            <a:avLst/>
          </a:prstGeom>
        </p:spPr>
      </p:pic>
      <p:sp>
        <p:nvSpPr>
          <p:cNvPr id="14" name="Text 9"/>
          <p:cNvSpPr/>
          <p:nvPr/>
        </p:nvSpPr>
        <p:spPr>
          <a:xfrm>
            <a:off x="6583680" y="2807208"/>
            <a:ext cx="2267712" cy="457200"/>
          </a:xfrm>
          <a:prstGeom prst="rect">
            <a:avLst/>
          </a:prstGeom>
          <a:noFill/>
          <a:ln/>
        </p:spPr>
        <p:txBody>
          <a:bodyPr wrap="square" rtlCol="0" anchor="t"/>
          <a:lstStyle/>
          <a:p>
            <a:pPr marL="0" indent="0">
              <a:buNone/>
            </a:pPr>
            <a:r>
              <a:rPr lang="en-US" sz="1550" b="1" dirty="0">
                <a:solidFill>
                  <a:srgbClr val="8A6D1F"/>
                </a:solidFill>
                <a:latin typeface="Cambria" pitchFamily="34" charset="0"/>
                <a:ea typeface="Cambria" pitchFamily="34" charset="-122"/>
                <a:cs typeface="Cambria" pitchFamily="34" charset="-120"/>
              </a:rPr>
              <a:t>Cost &amp; size</a:t>
            </a:r>
            <a:endParaRPr lang="en-US" sz="1550" dirty="0"/>
          </a:p>
        </p:txBody>
      </p:sp>
      <p:sp>
        <p:nvSpPr>
          <p:cNvPr id="15" name="Text 10"/>
          <p:cNvSpPr/>
          <p:nvPr/>
        </p:nvSpPr>
        <p:spPr>
          <a:xfrm>
            <a:off x="6583680" y="3246120"/>
            <a:ext cx="2267712" cy="1188720"/>
          </a:xfrm>
          <a:prstGeom prst="rect">
            <a:avLst/>
          </a:prstGeom>
          <a:noFill/>
          <a:ln/>
        </p:spPr>
        <p:txBody>
          <a:bodyPr wrap="square" rtlCol="0" anchor="t"/>
          <a:lstStyle/>
          <a:p>
            <a:pPr marL="0" indent="0">
              <a:lnSpc>
                <a:spcPct val="104000"/>
              </a:lnSpc>
              <a:buNone/>
            </a:pPr>
            <a:r>
              <a:rPr lang="en-US" sz="1200" dirty="0">
                <a:solidFill>
                  <a:srgbClr val="1B1F2A"/>
                </a:solidFill>
                <a:latin typeface="Calibri" pitchFamily="34" charset="0"/>
                <a:ea typeface="Calibri" pitchFamily="34" charset="-122"/>
                <a:cs typeface="Calibri" pitchFamily="34" charset="-120"/>
              </a:rPr>
              <a:t>The compute, memory, and dollars to run it at scale.</a:t>
            </a:r>
            <a:endParaRPr lang="en-US" sz="1200" dirty="0"/>
          </a:p>
        </p:txBody>
      </p:sp>
      <p:sp>
        <p:nvSpPr>
          <p:cNvPr id="16" name="Shape 11"/>
          <p:cNvSpPr/>
          <p:nvPr/>
        </p:nvSpPr>
        <p:spPr>
          <a:xfrm>
            <a:off x="9244584" y="1874520"/>
            <a:ext cx="2724912" cy="2697480"/>
          </a:xfrm>
          <a:prstGeom prst="roundRect">
            <a:avLst>
              <a:gd name="adj" fmla="val 2034"/>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9500616" y="2167128"/>
            <a:ext cx="502920" cy="502920"/>
          </a:xfrm>
          <a:prstGeom prst="rect">
            <a:avLst/>
          </a:prstGeom>
        </p:spPr>
      </p:pic>
      <p:sp>
        <p:nvSpPr>
          <p:cNvPr id="18" name="Text 12"/>
          <p:cNvSpPr/>
          <p:nvPr/>
        </p:nvSpPr>
        <p:spPr>
          <a:xfrm>
            <a:off x="9482328" y="2807208"/>
            <a:ext cx="2267712" cy="457200"/>
          </a:xfrm>
          <a:prstGeom prst="rect">
            <a:avLst/>
          </a:prstGeom>
          <a:noFill/>
          <a:ln/>
        </p:spPr>
        <p:txBody>
          <a:bodyPr wrap="square" rtlCol="0" anchor="t"/>
          <a:lstStyle/>
          <a:p>
            <a:pPr marL="0" indent="0">
              <a:buNone/>
            </a:pPr>
            <a:r>
              <a:rPr lang="en-US" sz="1550" b="1" dirty="0">
                <a:solidFill>
                  <a:srgbClr val="1B1F2A"/>
                </a:solidFill>
                <a:latin typeface="Cambria" pitchFamily="34" charset="0"/>
                <a:ea typeface="Cambria" pitchFamily="34" charset="-122"/>
                <a:cs typeface="Cambria" pitchFamily="34" charset="-120"/>
              </a:rPr>
              <a:t>Interpretability</a:t>
            </a:r>
            <a:endParaRPr lang="en-US" sz="1550" dirty="0"/>
          </a:p>
        </p:txBody>
      </p:sp>
      <p:sp>
        <p:nvSpPr>
          <p:cNvPr id="19" name="Text 13"/>
          <p:cNvSpPr/>
          <p:nvPr/>
        </p:nvSpPr>
        <p:spPr>
          <a:xfrm>
            <a:off x="9482328" y="3246120"/>
            <a:ext cx="2267712" cy="1188720"/>
          </a:xfrm>
          <a:prstGeom prst="rect">
            <a:avLst/>
          </a:prstGeom>
          <a:noFill/>
          <a:ln/>
        </p:spPr>
        <p:txBody>
          <a:bodyPr wrap="square" rtlCol="0" anchor="t"/>
          <a:lstStyle/>
          <a:p>
            <a:pPr marL="0" indent="0">
              <a:lnSpc>
                <a:spcPct val="104000"/>
              </a:lnSpc>
              <a:buNone/>
            </a:pPr>
            <a:r>
              <a:rPr lang="en-US" sz="1200" dirty="0">
                <a:solidFill>
                  <a:srgbClr val="1B1F2A"/>
                </a:solidFill>
                <a:latin typeface="Calibri" pitchFamily="34" charset="0"/>
                <a:ea typeface="Calibri" pitchFamily="34" charset="-122"/>
                <a:cs typeface="Calibri" pitchFamily="34" charset="-120"/>
              </a:rPr>
              <a:t>Can you explain why it made a given decision.</a:t>
            </a:r>
            <a:endParaRPr lang="en-US" sz="1200" dirty="0"/>
          </a:p>
        </p:txBody>
      </p:sp>
      <p:sp>
        <p:nvSpPr>
          <p:cNvPr id="20" name="Shape 14"/>
          <p:cNvSpPr/>
          <p:nvPr/>
        </p:nvSpPr>
        <p:spPr>
          <a:xfrm>
            <a:off x="548640" y="4846320"/>
            <a:ext cx="11091672" cy="868680"/>
          </a:xfrm>
          <a:prstGeom prst="roundRect">
            <a:avLst>
              <a:gd name="adj" fmla="val 6316"/>
            </a:avLst>
          </a:prstGeom>
          <a:solidFill>
            <a:srgbClr val="151A2E"/>
          </a:solidFill>
          <a:ln w="12700">
            <a:solidFill>
              <a:srgbClr val="151A2E"/>
            </a:solidFill>
            <a:prstDash val="solid"/>
          </a:ln>
        </p:spPr>
        <p:txBody>
          <a:bodyPr/>
          <a:lstStyle/>
          <a:p>
            <a:endParaRPr lang="en-US"/>
          </a:p>
        </p:txBody>
      </p:sp>
      <p:sp>
        <p:nvSpPr>
          <p:cNvPr id="21" name="Text 15"/>
          <p:cNvSpPr/>
          <p:nvPr/>
        </p:nvSpPr>
        <p:spPr>
          <a:xfrm>
            <a:off x="868680" y="4846320"/>
            <a:ext cx="10424160" cy="868680"/>
          </a:xfrm>
          <a:prstGeom prst="rect">
            <a:avLst/>
          </a:prstGeom>
          <a:noFill/>
          <a:ln/>
        </p:spPr>
        <p:txBody>
          <a:bodyPr wrap="square" rtlCol="0" anchor="ctr"/>
          <a:lstStyle/>
          <a:p>
            <a:pPr marL="0" indent="0">
              <a:buNone/>
            </a:pPr>
            <a:r>
              <a:rPr lang="en-US" sz="1500" b="1" i="1" dirty="0">
                <a:solidFill>
                  <a:srgbClr val="B5A06A"/>
                </a:solidFill>
                <a:latin typeface="Cambria" pitchFamily="34" charset="0"/>
                <a:ea typeface="Cambria" pitchFamily="34" charset="-122"/>
                <a:cs typeface="Cambria" pitchFamily="34" charset="-120"/>
              </a:rPr>
              <a:t>The winner is rarely best on all four. </a:t>
            </a:r>
            <a:r>
              <a:rPr lang="en-US" sz="1500" i="1" dirty="0">
                <a:solidFill>
                  <a:srgbClr val="E4E6EF"/>
                </a:solidFill>
                <a:latin typeface="Cambria" pitchFamily="34" charset="0"/>
                <a:ea typeface="Cambria" pitchFamily="34" charset="-122"/>
                <a:cs typeface="Cambria" pitchFamily="34" charset="-120"/>
              </a:rPr>
              <a:t>You are choosing a point on a frontier, not a single champion.</a:t>
            </a:r>
            <a:endParaRPr lang="en-US" sz="1500" dirty="0"/>
          </a:p>
        </p:txBody>
      </p:sp>
      <p:sp>
        <p:nvSpPr>
          <p:cNvPr id="22" name="Text 16"/>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3" name="Text 17"/>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THE UNDERDOG</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FastText: almost as good, absurdly faster</a:t>
            </a:r>
            <a:endParaRPr lang="en-US" sz="3000" dirty="0"/>
          </a:p>
        </p:txBody>
      </p:sp>
      <p:sp>
        <p:nvSpPr>
          <p:cNvPr id="4" name="Shape 2"/>
          <p:cNvSpPr/>
          <p:nvPr/>
        </p:nvSpPr>
        <p:spPr>
          <a:xfrm>
            <a:off x="548640" y="1783080"/>
            <a:ext cx="5394960" cy="3200400"/>
          </a:xfrm>
          <a:prstGeom prst="roundRect">
            <a:avLst>
              <a:gd name="adj" fmla="val 1714"/>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22960" y="2011680"/>
            <a:ext cx="457200" cy="457200"/>
          </a:xfrm>
          <a:prstGeom prst="rect">
            <a:avLst/>
          </a:prstGeom>
        </p:spPr>
      </p:pic>
      <p:sp>
        <p:nvSpPr>
          <p:cNvPr id="6" name="Text 3"/>
          <p:cNvSpPr/>
          <p:nvPr/>
        </p:nvSpPr>
        <p:spPr>
          <a:xfrm>
            <a:off x="1371600" y="2029968"/>
            <a:ext cx="4114800" cy="365760"/>
          </a:xfrm>
          <a:prstGeom prst="rect">
            <a:avLst/>
          </a:prstGeom>
          <a:noFill/>
          <a:ln/>
        </p:spPr>
        <p:txBody>
          <a:bodyPr wrap="square" rtlCol="0" anchor="ctr"/>
          <a:lstStyle/>
          <a:p>
            <a:pPr marL="0" indent="0">
              <a:buNone/>
            </a:pPr>
            <a:r>
              <a:rPr lang="en-US" sz="1500" b="1" dirty="0">
                <a:solidFill>
                  <a:srgbClr val="1B1F2A"/>
                </a:solidFill>
                <a:latin typeface="Cambria" pitchFamily="34" charset="0"/>
                <a:ea typeface="Cambria" pitchFamily="34" charset="-122"/>
                <a:cs typeface="Cambria" pitchFamily="34" charset="-120"/>
              </a:rPr>
              <a:t>What it does</a:t>
            </a:r>
            <a:endParaRPr lang="en-US" sz="1500" dirty="0"/>
          </a:p>
        </p:txBody>
      </p:sp>
      <p:sp>
        <p:nvSpPr>
          <p:cNvPr id="7" name="Text 4"/>
          <p:cNvSpPr/>
          <p:nvPr/>
        </p:nvSpPr>
        <p:spPr>
          <a:xfrm>
            <a:off x="868680" y="2606040"/>
            <a:ext cx="4800600" cy="2194560"/>
          </a:xfrm>
          <a:prstGeom prst="rect">
            <a:avLst/>
          </a:prstGeom>
          <a:noFill/>
          <a:ln/>
        </p:spPr>
        <p:txBody>
          <a:bodyPr wrap="square" rtlCol="0" anchor="t"/>
          <a:lstStyle/>
          <a:p>
            <a:pPr marL="177800" indent="-177800">
              <a:lnSpc>
                <a:spcPct val="102000"/>
              </a:lnSpc>
              <a:spcAft>
                <a:spcPts val="900"/>
              </a:spcAft>
              <a:buSzPct val="100000"/>
              <a:buChar char="•"/>
            </a:pPr>
            <a:r>
              <a:rPr lang="en-US" sz="1250" dirty="0">
                <a:solidFill>
                  <a:srgbClr val="1B1F2A"/>
                </a:solidFill>
                <a:latin typeface="Calibri" pitchFamily="34" charset="0"/>
                <a:ea typeface="Calibri" pitchFamily="34" charset="-122"/>
                <a:cs typeface="Calibri" pitchFamily="34" charset="-120"/>
              </a:rPr>
              <a:t>Averages word and character n-gram embeddings</a:t>
            </a:r>
            <a:endParaRPr lang="en-US" sz="1250" dirty="0"/>
          </a:p>
          <a:p>
            <a:pPr marL="177800" indent="-177800">
              <a:lnSpc>
                <a:spcPct val="102000"/>
              </a:lnSpc>
              <a:spcAft>
                <a:spcPts val="900"/>
              </a:spcAft>
              <a:buSzPct val="100000"/>
              <a:buChar char="•"/>
            </a:pPr>
            <a:r>
              <a:rPr lang="en-US" sz="1250" dirty="0">
                <a:solidFill>
                  <a:srgbClr val="1B1F2A"/>
                </a:solidFill>
                <a:latin typeface="Calibri" pitchFamily="34" charset="0"/>
                <a:ea typeface="Calibri" pitchFamily="34" charset="-122"/>
                <a:cs typeface="Calibri" pitchFamily="34" charset="-120"/>
              </a:rPr>
              <a:t>Feeds them to a single linear layer</a:t>
            </a:r>
            <a:endParaRPr lang="en-US" sz="1250" dirty="0"/>
          </a:p>
          <a:p>
            <a:pPr marL="177800" indent="-177800">
              <a:lnSpc>
                <a:spcPct val="102000"/>
              </a:lnSpc>
              <a:spcAft>
                <a:spcPts val="900"/>
              </a:spcAft>
              <a:buSzPct val="100000"/>
              <a:buChar char="•"/>
            </a:pPr>
            <a:r>
              <a:rPr lang="en-US" sz="1250" dirty="0">
                <a:solidFill>
                  <a:srgbClr val="1B1F2A"/>
                </a:solidFill>
                <a:latin typeface="Calibri" pitchFamily="34" charset="0"/>
                <a:ea typeface="Calibri" pitchFamily="34" charset="-122"/>
                <a:cs typeface="Calibri" pitchFamily="34" charset="-120"/>
              </a:rPr>
              <a:t>Uses hierarchical softmax so training stays fast</a:t>
            </a:r>
            <a:endParaRPr lang="en-US" sz="1250" dirty="0"/>
          </a:p>
        </p:txBody>
      </p:sp>
      <p:sp>
        <p:nvSpPr>
          <p:cNvPr id="8" name="Shape 5"/>
          <p:cNvSpPr/>
          <p:nvPr/>
        </p:nvSpPr>
        <p:spPr>
          <a:xfrm>
            <a:off x="6172200" y="1783080"/>
            <a:ext cx="5468112" cy="3200400"/>
          </a:xfrm>
          <a:prstGeom prst="roundRect">
            <a:avLst>
              <a:gd name="adj" fmla="val 1714"/>
            </a:avLst>
          </a:prstGeom>
          <a:solidFill>
            <a:srgbClr val="1F2540"/>
          </a:solidFill>
          <a:ln w="12700">
            <a:solidFill>
              <a:srgbClr val="1F2540"/>
            </a:solidFill>
            <a:prstDash val="solid"/>
          </a:ln>
        </p:spPr>
        <p:txBody>
          <a:bodyPr/>
          <a:lstStyle/>
          <a:p>
            <a:endParaRPr lang="en-US"/>
          </a:p>
        </p:txBody>
      </p:sp>
      <p:sp>
        <p:nvSpPr>
          <p:cNvPr id="9" name="Text 6"/>
          <p:cNvSpPr/>
          <p:nvPr/>
        </p:nvSpPr>
        <p:spPr>
          <a:xfrm>
            <a:off x="6492240" y="2029968"/>
            <a:ext cx="4572000" cy="365760"/>
          </a:xfrm>
          <a:prstGeom prst="rect">
            <a:avLst/>
          </a:prstGeom>
          <a:noFill/>
          <a:ln/>
        </p:spPr>
        <p:txBody>
          <a:bodyPr wrap="square" rtlCol="0" anchor="ctr"/>
          <a:lstStyle/>
          <a:p>
            <a:pPr marL="0" indent="0">
              <a:buNone/>
            </a:pPr>
            <a:r>
              <a:rPr lang="en-US" sz="1500" b="1" dirty="0">
                <a:solidFill>
                  <a:srgbClr val="B5A06A"/>
                </a:solidFill>
                <a:latin typeface="Cambria" pitchFamily="34" charset="0"/>
                <a:ea typeface="Cambria" pitchFamily="34" charset="-122"/>
                <a:cs typeface="Cambria" pitchFamily="34" charset="-120"/>
              </a:rPr>
              <a:t>Why it stuns</a:t>
            </a:r>
            <a:endParaRPr lang="en-US" sz="1500" dirty="0"/>
          </a:p>
        </p:txBody>
      </p:sp>
      <p:sp>
        <p:nvSpPr>
          <p:cNvPr id="10" name="Text 7"/>
          <p:cNvSpPr/>
          <p:nvPr/>
        </p:nvSpPr>
        <p:spPr>
          <a:xfrm>
            <a:off x="6492240" y="2606040"/>
            <a:ext cx="4892040" cy="2194560"/>
          </a:xfrm>
          <a:prstGeom prst="rect">
            <a:avLst/>
          </a:prstGeom>
          <a:noFill/>
          <a:ln/>
        </p:spPr>
        <p:txBody>
          <a:bodyPr wrap="square" rtlCol="0" anchor="t"/>
          <a:lstStyle/>
          <a:p>
            <a:pPr marL="177800" indent="-177800">
              <a:lnSpc>
                <a:spcPct val="102000"/>
              </a:lnSpc>
              <a:spcAft>
                <a:spcPts val="900"/>
              </a:spcAft>
              <a:buSzPct val="100000"/>
              <a:buChar char="•"/>
            </a:pPr>
            <a:r>
              <a:rPr lang="en-US" sz="1250" dirty="0">
                <a:solidFill>
                  <a:srgbClr val="E4E6EF"/>
                </a:solidFill>
                <a:latin typeface="Calibri" pitchFamily="34" charset="0"/>
                <a:ea typeface="Calibri" pitchFamily="34" charset="-122"/>
                <a:cs typeface="Calibri" pitchFamily="34" charset="-120"/>
              </a:rPr>
              <a:t>Matches deep networks on many text-classification benchmarks</a:t>
            </a:r>
            <a:endParaRPr lang="en-US" sz="1250" dirty="0"/>
          </a:p>
          <a:p>
            <a:pPr marL="177800" indent="-177800">
              <a:lnSpc>
                <a:spcPct val="102000"/>
              </a:lnSpc>
              <a:spcAft>
                <a:spcPts val="900"/>
              </a:spcAft>
              <a:buSzPct val="100000"/>
              <a:buChar char="•"/>
            </a:pPr>
            <a:r>
              <a:rPr lang="en-US" sz="1250" dirty="0">
                <a:solidFill>
                  <a:srgbClr val="E4E6EF"/>
                </a:solidFill>
                <a:latin typeface="Calibri" pitchFamily="34" charset="0"/>
                <a:ea typeface="Calibri" pitchFamily="34" charset="-122"/>
                <a:cs typeface="Calibri" pitchFamily="34" charset="-120"/>
              </a:rPr>
              <a:t>Trains in seconds on a plain CPU, not minutes on a GPU</a:t>
            </a:r>
            <a:endParaRPr lang="en-US" sz="1250" dirty="0"/>
          </a:p>
          <a:p>
            <a:pPr marL="177800" indent="-177800">
              <a:lnSpc>
                <a:spcPct val="102000"/>
              </a:lnSpc>
              <a:spcAft>
                <a:spcPts val="900"/>
              </a:spcAft>
              <a:buSzPct val="100000"/>
              <a:buChar char="•"/>
            </a:pPr>
            <a:r>
              <a:rPr lang="en-US" sz="1250" dirty="0">
                <a:solidFill>
                  <a:srgbClr val="E4E6EF"/>
                </a:solidFill>
                <a:latin typeface="Calibri" pitchFamily="34" charset="0"/>
                <a:ea typeface="Calibri" pitchFamily="34" charset="-122"/>
                <a:cs typeface="Calibri" pitchFamily="34" charset="-120"/>
              </a:rPr>
              <a:t>The model stays small enough to ship almost anywhere</a:t>
            </a:r>
            <a:endParaRPr lang="en-US" sz="1250" dirty="0"/>
          </a:p>
        </p:txBody>
      </p:sp>
      <p:sp>
        <p:nvSpPr>
          <p:cNvPr id="11" name="Shape 8"/>
          <p:cNvSpPr/>
          <p:nvPr/>
        </p:nvSpPr>
        <p:spPr>
          <a:xfrm>
            <a:off x="548640" y="5120640"/>
            <a:ext cx="11091672" cy="713232"/>
          </a:xfrm>
          <a:prstGeom prst="roundRect">
            <a:avLst>
              <a:gd name="adj" fmla="val 7692"/>
            </a:avLst>
          </a:prstGeom>
          <a:solidFill>
            <a:srgbClr val="F7F3E9"/>
          </a:solidFill>
          <a:ln w="12700">
            <a:solidFill>
              <a:srgbClr val="E7DEC4"/>
            </a:solidFill>
            <a:prstDash val="solid"/>
          </a:ln>
        </p:spPr>
        <p:txBody>
          <a:bodyPr/>
          <a:lstStyle/>
          <a:p>
            <a:endParaRPr lang="en-US"/>
          </a:p>
        </p:txBody>
      </p:sp>
      <p:sp>
        <p:nvSpPr>
          <p:cNvPr id="12" name="Text 9"/>
          <p:cNvSpPr/>
          <p:nvPr/>
        </p:nvSpPr>
        <p:spPr>
          <a:xfrm>
            <a:off x="868680" y="5120640"/>
            <a:ext cx="10424160" cy="713232"/>
          </a:xfrm>
          <a:prstGeom prst="rect">
            <a:avLst/>
          </a:prstGeom>
          <a:noFill/>
          <a:ln/>
        </p:spPr>
        <p:txBody>
          <a:bodyPr wrap="square" rtlCol="0" anchor="ctr"/>
          <a:lstStyle/>
          <a:p>
            <a:pPr marL="0" indent="0">
              <a:buNone/>
            </a:pPr>
            <a:r>
              <a:rPr lang="en-US" sz="1450" b="1" i="1" dirty="0">
                <a:solidFill>
                  <a:srgbClr val="B31A38"/>
                </a:solidFill>
                <a:latin typeface="Cambria" pitchFamily="34" charset="0"/>
                <a:ea typeface="Cambria" pitchFamily="34" charset="-122"/>
                <a:cs typeface="Cambria" pitchFamily="34" charset="-120"/>
              </a:rPr>
              <a:t>The lesson: </a:t>
            </a:r>
            <a:r>
              <a:rPr lang="en-US" sz="1450" i="1" dirty="0">
                <a:solidFill>
                  <a:srgbClr val="1B1F2A"/>
                </a:solidFill>
                <a:latin typeface="Cambria" pitchFamily="34" charset="0"/>
                <a:ea typeface="Cambria" pitchFamily="34" charset="-122"/>
                <a:cs typeface="Cambria" pitchFamily="34" charset="-120"/>
              </a:rPr>
              <a:t>run the cheap, fast model first. Often it is already good enough to beat.</a:t>
            </a:r>
            <a:endParaRPr lang="en-US" sz="1450" dirty="0"/>
          </a:p>
        </p:txBody>
      </p:sp>
      <p:sp>
        <p:nvSpPr>
          <p:cNvPr id="13" name="Text 10"/>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4" name="Text 11"/>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868680" y="640080"/>
            <a:ext cx="566928" cy="566928"/>
          </a:xfrm>
          <a:prstGeom prst="roundRect">
            <a:avLst>
              <a:gd name="adj" fmla="val 12903"/>
            </a:avLst>
          </a:prstGeom>
          <a:solidFill>
            <a:srgbClr val="B31A38"/>
          </a:solidFill>
          <a:ln w="12700">
            <a:solidFill>
              <a:srgbClr val="B31A38"/>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978408" y="749808"/>
            <a:ext cx="347472" cy="347472"/>
          </a:xfrm>
          <a:prstGeom prst="rect">
            <a:avLst/>
          </a:prstGeom>
        </p:spPr>
      </p:pic>
      <p:sp>
        <p:nvSpPr>
          <p:cNvPr id="4" name="Text 1"/>
          <p:cNvSpPr/>
          <p:nvPr/>
        </p:nvSpPr>
        <p:spPr>
          <a:xfrm>
            <a:off x="1600200" y="658368"/>
            <a:ext cx="82296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IN-CLASS EXERCISE  ·  TEAMS</a:t>
            </a:r>
            <a:endParaRPr lang="en-US" sz="1200" dirty="0"/>
          </a:p>
        </p:txBody>
      </p:sp>
      <p:sp>
        <p:nvSpPr>
          <p:cNvPr id="5" name="Text 2"/>
          <p:cNvSpPr/>
          <p:nvPr/>
        </p:nvSpPr>
        <p:spPr>
          <a:xfrm>
            <a:off x="1581912" y="932688"/>
            <a:ext cx="10058400" cy="640080"/>
          </a:xfrm>
          <a:prstGeom prst="rect">
            <a:avLst/>
          </a:prstGeom>
          <a:noFill/>
          <a:ln/>
        </p:spPr>
        <p:txBody>
          <a:bodyPr wrap="square"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The bake-off</a:t>
            </a:r>
            <a:endParaRPr lang="en-US" sz="3100" dirty="0"/>
          </a:p>
        </p:txBody>
      </p:sp>
      <p:sp>
        <p:nvSpPr>
          <p:cNvPr id="6" name="Text 3"/>
          <p:cNvSpPr/>
          <p:nvPr/>
        </p:nvSpPr>
        <p:spPr>
          <a:xfrm>
            <a:off x="1600200" y="1600200"/>
            <a:ext cx="10058400" cy="320040"/>
          </a:xfrm>
          <a:prstGeom prst="rect">
            <a:avLst/>
          </a:prstGeom>
          <a:noFill/>
          <a:ln/>
        </p:spPr>
        <p:txBody>
          <a:bodyPr wrap="square" rtlCol="0" anchor="ctr"/>
          <a:lstStyle/>
          <a:p>
            <a:pPr marL="0" indent="0">
              <a:buNone/>
            </a:pPr>
            <a:r>
              <a:rPr lang="en-US" sz="1300" i="1" dirty="0">
                <a:solidFill>
                  <a:srgbClr val="C9CDDA"/>
                </a:solidFill>
                <a:latin typeface="Cambria" pitchFamily="34" charset="0"/>
                <a:ea typeface="Cambria" pitchFamily="34" charset="-122"/>
                <a:cs typeface="Cambria" pitchFamily="34" charset="-120"/>
              </a:rPr>
              <a:t>Colab, no API key needed  ·  ~20 minutes  ·  one shared leaderboard</a:t>
            </a:r>
            <a:endParaRPr lang="en-US" sz="1300" dirty="0"/>
          </a:p>
        </p:txBody>
      </p:sp>
      <p:sp>
        <p:nvSpPr>
          <p:cNvPr id="7" name="Shape 4"/>
          <p:cNvSpPr/>
          <p:nvPr/>
        </p:nvSpPr>
        <p:spPr>
          <a:xfrm>
            <a:off x="868680" y="2240280"/>
            <a:ext cx="5257800" cy="3383280"/>
          </a:xfrm>
          <a:prstGeom prst="roundRect">
            <a:avLst>
              <a:gd name="adj" fmla="val 1622"/>
            </a:avLst>
          </a:prstGeom>
          <a:solidFill>
            <a:srgbClr val="1F2540"/>
          </a:solidFill>
          <a:ln w="12700">
            <a:solidFill>
              <a:srgbClr val="2A3252"/>
            </a:solidFill>
            <a:prstDash val="solid"/>
          </a:ln>
        </p:spPr>
        <p:txBody>
          <a:bodyPr/>
          <a:lstStyle/>
          <a:p>
            <a:endParaRPr lang="en-US"/>
          </a:p>
        </p:txBody>
      </p:sp>
      <p:sp>
        <p:nvSpPr>
          <p:cNvPr id="8" name="Shape 5"/>
          <p:cNvSpPr/>
          <p:nvPr/>
        </p:nvSpPr>
        <p:spPr>
          <a:xfrm>
            <a:off x="6355080" y="2240280"/>
            <a:ext cx="5257800" cy="3383280"/>
          </a:xfrm>
          <a:prstGeom prst="roundRect">
            <a:avLst>
              <a:gd name="adj" fmla="val 1622"/>
            </a:avLst>
          </a:prstGeom>
          <a:solidFill>
            <a:srgbClr val="201A22"/>
          </a:solidFill>
          <a:ln w="12700">
            <a:solidFill>
              <a:srgbClr val="3A2630"/>
            </a:solidFill>
            <a:prstDash val="solid"/>
          </a:ln>
        </p:spPr>
        <p:txBody>
          <a:bodyPr/>
          <a:lstStyle/>
          <a:p>
            <a:endParaRPr lang="en-US"/>
          </a:p>
        </p:txBody>
      </p:sp>
      <p:sp>
        <p:nvSpPr>
          <p:cNvPr id="9" name="Text 6"/>
          <p:cNvSpPr/>
          <p:nvPr/>
        </p:nvSpPr>
        <p:spPr>
          <a:xfrm>
            <a:off x="1188720" y="2468880"/>
            <a:ext cx="4572000" cy="274320"/>
          </a:xfrm>
          <a:prstGeom prst="rect">
            <a:avLst/>
          </a:prstGeom>
          <a:noFill/>
          <a:ln/>
        </p:spPr>
        <p:txBody>
          <a:bodyPr wrap="square" rtlCol="0" anchor="ctr"/>
          <a:lstStyle/>
          <a:p>
            <a:pPr marL="0" indent="0">
              <a:buNone/>
            </a:pPr>
            <a:r>
              <a:rPr lang="en-US" sz="1200" b="1" kern="0" spc="100" dirty="0">
                <a:solidFill>
                  <a:srgbClr val="B5A06A"/>
                </a:solidFill>
                <a:latin typeface="Calibri" pitchFamily="34" charset="0"/>
                <a:ea typeface="Calibri" pitchFamily="34" charset="-122"/>
                <a:cs typeface="Calibri" pitchFamily="34" charset="-120"/>
              </a:rPr>
              <a:t>Your task</a:t>
            </a:r>
            <a:endParaRPr lang="en-US" sz="1200" dirty="0"/>
          </a:p>
        </p:txBody>
      </p:sp>
      <p:sp>
        <p:nvSpPr>
          <p:cNvPr id="10" name="Text 7"/>
          <p:cNvSpPr/>
          <p:nvPr/>
        </p:nvSpPr>
        <p:spPr>
          <a:xfrm>
            <a:off x="1188720" y="2898648"/>
            <a:ext cx="4617720" cy="2514600"/>
          </a:xfrm>
          <a:prstGeom prst="rect">
            <a:avLst/>
          </a:prstGeom>
          <a:noFill/>
          <a:ln/>
        </p:spPr>
        <p:txBody>
          <a:bodyPr wrap="square" rtlCol="0" anchor="t"/>
          <a:lstStyle/>
          <a:p>
            <a:pPr marL="177800" indent="-177800">
              <a:lnSpc>
                <a:spcPct val="102000"/>
              </a:lnSpc>
              <a:spcAft>
                <a:spcPts val="800"/>
              </a:spcAft>
              <a:buSzPct val="100000"/>
              <a:buChar char="•"/>
            </a:pPr>
            <a:r>
              <a:rPr lang="en-US" sz="1250" dirty="0">
                <a:solidFill>
                  <a:srgbClr val="E4E6EF"/>
                </a:solidFill>
                <a:latin typeface="Calibri" pitchFamily="34" charset="0"/>
                <a:ea typeface="Calibri" pitchFamily="34" charset="-122"/>
                <a:cs typeface="Calibri" pitchFamily="34" charset="-120"/>
              </a:rPr>
              <a:t>Your team is assigned one contender from the lineup</a:t>
            </a:r>
            <a:endParaRPr lang="en-US" sz="1250" dirty="0"/>
          </a:p>
          <a:p>
            <a:pPr marL="177800" indent="-177800">
              <a:lnSpc>
                <a:spcPct val="102000"/>
              </a:lnSpc>
              <a:spcAft>
                <a:spcPts val="800"/>
              </a:spcAft>
              <a:buSzPct val="100000"/>
              <a:buChar char="•"/>
            </a:pPr>
            <a:r>
              <a:rPr lang="en-US" sz="1250" dirty="0">
                <a:solidFill>
                  <a:srgbClr val="E4E6EF"/>
                </a:solidFill>
                <a:latin typeface="Calibri" pitchFamily="34" charset="0"/>
                <a:ea typeface="Calibri" pitchFamily="34" charset="-122"/>
                <a:cs typeface="Calibri" pitchFamily="34" charset="-120"/>
              </a:rPr>
              <a:t>Train it on the shared review split (same data for everyone)</a:t>
            </a:r>
            <a:endParaRPr lang="en-US" sz="1250" dirty="0"/>
          </a:p>
          <a:p>
            <a:pPr marL="177800" indent="-177800">
              <a:lnSpc>
                <a:spcPct val="102000"/>
              </a:lnSpc>
              <a:spcAft>
                <a:spcPts val="800"/>
              </a:spcAft>
              <a:buSzPct val="100000"/>
              <a:buChar char="•"/>
            </a:pPr>
            <a:r>
              <a:rPr lang="en-US" sz="1250" dirty="0">
                <a:solidFill>
                  <a:srgbClr val="E4E6EF"/>
                </a:solidFill>
                <a:latin typeface="Calibri" pitchFamily="34" charset="0"/>
                <a:ea typeface="Calibri" pitchFamily="34" charset="-122"/>
                <a:cs typeface="Calibri" pitchFamily="34" charset="-120"/>
              </a:rPr>
              <a:t>Measure three things: held-out accuracy, training time, model size</a:t>
            </a:r>
            <a:endParaRPr lang="en-US" sz="1250" dirty="0"/>
          </a:p>
          <a:p>
            <a:pPr marL="177800" indent="-177800">
              <a:lnSpc>
                <a:spcPct val="102000"/>
              </a:lnSpc>
              <a:spcAft>
                <a:spcPts val="800"/>
              </a:spcAft>
              <a:buSzPct val="100000"/>
              <a:buChar char="•"/>
            </a:pPr>
            <a:r>
              <a:rPr lang="en-US" sz="1250" dirty="0">
                <a:solidFill>
                  <a:srgbClr val="E4E6EF"/>
                </a:solidFill>
                <a:latin typeface="Calibri" pitchFamily="34" charset="0"/>
                <a:ea typeface="Calibri" pitchFamily="34" charset="-122"/>
                <a:cs typeface="Calibri" pitchFamily="34" charset="-120"/>
              </a:rPr>
              <a:t>Post your row to the class leaderboard</a:t>
            </a:r>
            <a:endParaRPr lang="en-US" sz="1250" dirty="0"/>
          </a:p>
          <a:p>
            <a:pPr marL="177800" indent="-177800">
              <a:lnSpc>
                <a:spcPct val="102000"/>
              </a:lnSpc>
              <a:spcAft>
                <a:spcPts val="800"/>
              </a:spcAft>
              <a:buSzPct val="100000"/>
              <a:buChar char="•"/>
            </a:pPr>
            <a:r>
              <a:rPr lang="en-US" sz="1250" dirty="0">
                <a:solidFill>
                  <a:srgbClr val="E4E6EF"/>
                </a:solidFill>
                <a:latin typeface="Calibri" pitchFamily="34" charset="0"/>
                <a:ea typeface="Calibri" pitchFamily="34" charset="-122"/>
                <a:cs typeface="Calibri" pitchFamily="34" charset="-120"/>
              </a:rPr>
              <a:t>Keep the test set fixed so every number is comparable</a:t>
            </a:r>
            <a:endParaRPr lang="en-US" sz="1250" dirty="0"/>
          </a:p>
        </p:txBody>
      </p:sp>
      <p:sp>
        <p:nvSpPr>
          <p:cNvPr id="11" name="Text 8"/>
          <p:cNvSpPr/>
          <p:nvPr/>
        </p:nvSpPr>
        <p:spPr>
          <a:xfrm>
            <a:off x="6675120" y="2468880"/>
            <a:ext cx="4572000" cy="274320"/>
          </a:xfrm>
          <a:prstGeom prst="rect">
            <a:avLst/>
          </a:prstGeom>
          <a:noFill/>
          <a:ln/>
        </p:spPr>
        <p:txBody>
          <a:bodyPr wrap="square" rtlCol="0" anchor="ctr"/>
          <a:lstStyle/>
          <a:p>
            <a:pPr marL="0" indent="0">
              <a:buNone/>
            </a:pPr>
            <a:r>
              <a:rPr lang="en-US" sz="1200" b="1" kern="0" spc="100" dirty="0">
                <a:solidFill>
                  <a:srgbClr val="FF9BA8"/>
                </a:solidFill>
                <a:latin typeface="Calibri" pitchFamily="34" charset="0"/>
                <a:ea typeface="Calibri" pitchFamily="34" charset="-122"/>
                <a:cs typeface="Calibri" pitchFamily="34" charset="-120"/>
              </a:rPr>
              <a:t>Post to the leaderboard</a:t>
            </a:r>
            <a:endParaRPr lang="en-US" sz="1200" dirty="0"/>
          </a:p>
        </p:txBody>
      </p:sp>
      <p:sp>
        <p:nvSpPr>
          <p:cNvPr id="12" name="Text 9"/>
          <p:cNvSpPr/>
          <p:nvPr/>
        </p:nvSpPr>
        <p:spPr>
          <a:xfrm>
            <a:off x="6675120" y="2898648"/>
            <a:ext cx="4617720" cy="2514600"/>
          </a:xfrm>
          <a:prstGeom prst="rect">
            <a:avLst/>
          </a:prstGeom>
          <a:noFill/>
          <a:ln/>
        </p:spPr>
        <p:txBody>
          <a:bodyPr wrap="square" rtlCol="0" anchor="t"/>
          <a:lstStyle/>
          <a:p>
            <a:pPr marL="177800" indent="-177800">
              <a:lnSpc>
                <a:spcPct val="102000"/>
              </a:lnSpc>
              <a:spcAft>
                <a:spcPts val="1000"/>
              </a:spcAft>
              <a:buSzPct val="100000"/>
              <a:buChar char="•"/>
            </a:pPr>
            <a:r>
              <a:rPr lang="en-US" sz="1250" dirty="0">
                <a:solidFill>
                  <a:srgbClr val="E4E6EF"/>
                </a:solidFill>
                <a:latin typeface="Calibri" pitchFamily="34" charset="0"/>
                <a:ea typeface="Calibri" pitchFamily="34" charset="-122"/>
                <a:cs typeface="Calibri" pitchFamily="34" charset="-120"/>
              </a:rPr>
              <a:t>Team and model</a:t>
            </a:r>
            <a:endParaRPr lang="en-US" sz="1250" dirty="0"/>
          </a:p>
          <a:p>
            <a:pPr marL="177800" indent="-177800">
              <a:lnSpc>
                <a:spcPct val="102000"/>
              </a:lnSpc>
              <a:spcAft>
                <a:spcPts val="1000"/>
              </a:spcAft>
              <a:buSzPct val="100000"/>
              <a:buChar char="•"/>
            </a:pPr>
            <a:r>
              <a:rPr lang="en-US" sz="1250" dirty="0">
                <a:solidFill>
                  <a:srgbClr val="E4E6EF"/>
                </a:solidFill>
                <a:latin typeface="Calibri" pitchFamily="34" charset="0"/>
                <a:ea typeface="Calibri" pitchFamily="34" charset="-122"/>
                <a:cs typeface="Calibri" pitchFamily="34" charset="-120"/>
              </a:rPr>
              <a:t>Accuracy on the held-out test set</a:t>
            </a:r>
            <a:endParaRPr lang="en-US" sz="1250" dirty="0"/>
          </a:p>
          <a:p>
            <a:pPr marL="177800" indent="-177800">
              <a:lnSpc>
                <a:spcPct val="102000"/>
              </a:lnSpc>
              <a:spcAft>
                <a:spcPts val="1000"/>
              </a:spcAft>
              <a:buSzPct val="100000"/>
              <a:buChar char="•"/>
            </a:pPr>
            <a:r>
              <a:rPr lang="en-US" sz="1250" dirty="0">
                <a:solidFill>
                  <a:srgbClr val="E4E6EF"/>
                </a:solidFill>
                <a:latin typeface="Calibri" pitchFamily="34" charset="0"/>
                <a:ea typeface="Calibri" pitchFamily="34" charset="-122"/>
                <a:cs typeface="Calibri" pitchFamily="34" charset="-120"/>
              </a:rPr>
              <a:t>Training time (wall clock)</a:t>
            </a:r>
            <a:endParaRPr lang="en-US" sz="1250" dirty="0"/>
          </a:p>
          <a:p>
            <a:pPr marL="177800" indent="-177800">
              <a:lnSpc>
                <a:spcPct val="102000"/>
              </a:lnSpc>
              <a:spcAft>
                <a:spcPts val="1000"/>
              </a:spcAft>
              <a:buSzPct val="100000"/>
              <a:buChar char="•"/>
            </a:pPr>
            <a:r>
              <a:rPr lang="en-US" sz="1250" dirty="0">
                <a:solidFill>
                  <a:srgbClr val="E4E6EF"/>
                </a:solidFill>
                <a:latin typeface="Calibri" pitchFamily="34" charset="0"/>
                <a:ea typeface="Calibri" pitchFamily="34" charset="-122"/>
                <a:cs typeface="Calibri" pitchFamily="34" charset="-120"/>
              </a:rPr>
              <a:t>Model size, or a stand-in like feature count</a:t>
            </a:r>
            <a:endParaRPr lang="en-US" sz="1250" dirty="0"/>
          </a:p>
          <a:p>
            <a:pPr marL="177800" indent="-177800">
              <a:lnSpc>
                <a:spcPct val="102000"/>
              </a:lnSpc>
              <a:spcAft>
                <a:spcPts val="1000"/>
              </a:spcAft>
              <a:buSzPct val="100000"/>
              <a:buChar char="•"/>
            </a:pPr>
            <a:r>
              <a:rPr lang="en-US" sz="1250" dirty="0">
                <a:solidFill>
                  <a:srgbClr val="E4E6EF"/>
                </a:solidFill>
                <a:latin typeface="Calibri" pitchFamily="34" charset="0"/>
                <a:ea typeface="Calibri" pitchFamily="34" charset="-122"/>
                <a:cs typeface="Calibri" pitchFamily="34" charset="-120"/>
              </a:rPr>
              <a:t>One line: would you ship it, and why?</a:t>
            </a:r>
            <a:endParaRPr lang="en-US" sz="1250" dirty="0"/>
          </a:p>
        </p:txBody>
      </p:sp>
      <p:sp>
        <p:nvSpPr>
          <p:cNvPr id="13" name="Text 10"/>
          <p:cNvSpPr/>
          <p:nvPr/>
        </p:nvSpPr>
        <p:spPr>
          <a:xfrm>
            <a:off x="886968" y="5897880"/>
            <a:ext cx="7315200" cy="274320"/>
          </a:xfrm>
          <a:prstGeom prst="rect">
            <a:avLst/>
          </a:prstGeom>
          <a:noFill/>
          <a:ln/>
        </p:spPr>
        <p:txBody>
          <a:bodyPr wrap="square" rtlCol="0" anchor="ctr"/>
          <a:lstStyle/>
          <a:p>
            <a:pPr marL="0" indent="0">
              <a:buNone/>
            </a:pPr>
            <a:r>
              <a:rPr lang="en-US" sz="1050" i="1" dirty="0">
                <a:solidFill>
                  <a:srgbClr val="B5A06A"/>
                </a:solidFill>
                <a:latin typeface="Calibri" pitchFamily="34" charset="0"/>
                <a:ea typeface="Calibri" pitchFamily="34" charset="-122"/>
                <a:cs typeface="Calibri" pitchFamily="34" charset="-120"/>
              </a:rPr>
              <a:t>Notebook: ex2_bakeoff</a:t>
            </a:r>
            <a:endParaRPr lang="en-US" sz="1050" dirty="0"/>
          </a:p>
        </p:txBody>
      </p:sp>
      <p:sp>
        <p:nvSpPr>
          <p:cNvPr id="14" name="Text 11"/>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THE SCOREBOARD</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Now read the board together</a:t>
            </a:r>
            <a:endParaRPr lang="en-US" sz="3000" dirty="0"/>
          </a:p>
        </p:txBody>
      </p:sp>
      <p:sp>
        <p:nvSpPr>
          <p:cNvPr id="4" name="Text 2"/>
          <p:cNvSpPr/>
          <p:nvPr/>
        </p:nvSpPr>
        <p:spPr>
          <a:xfrm>
            <a:off x="566928" y="1463040"/>
            <a:ext cx="10972800" cy="502920"/>
          </a:xfrm>
          <a:prstGeom prst="rect">
            <a:avLst/>
          </a:prstGeom>
          <a:noFill/>
          <a:ln/>
        </p:spPr>
        <p:txBody>
          <a:bodyPr wrap="square" rtlCol="0" anchor="ctr"/>
          <a:lstStyle/>
          <a:p>
            <a:pPr marL="0" indent="0">
              <a:buNone/>
            </a:pPr>
            <a:r>
              <a:rPr lang="en-US" sz="1300" i="1" dirty="0">
                <a:solidFill>
                  <a:srgbClr val="5B6172"/>
                </a:solidFill>
                <a:latin typeface="Cambria" pitchFamily="34" charset="0"/>
                <a:ea typeface="Cambria" pitchFamily="34" charset="-122"/>
                <a:cs typeface="Cambria" pitchFamily="34" charset="-120"/>
              </a:rPr>
              <a:t>Plot every team's model by accuracy against cost. The best models sit on the outer edge, the frontier. Anything below it is beaten on both axes at once.</a:t>
            </a:r>
            <a:endParaRPr lang="en-US" sz="1300" dirty="0"/>
          </a:p>
        </p:txBody>
      </p:sp>
      <p:sp>
        <p:nvSpPr>
          <p:cNvPr id="5" name="Shape 3"/>
          <p:cNvSpPr/>
          <p:nvPr/>
        </p:nvSpPr>
        <p:spPr>
          <a:xfrm>
            <a:off x="1234440" y="2011680"/>
            <a:ext cx="10789920" cy="3840480"/>
          </a:xfrm>
          <a:prstGeom prst="roundRect">
            <a:avLst>
              <a:gd name="adj" fmla="val 1429"/>
            </a:avLst>
          </a:prstGeom>
          <a:solidFill>
            <a:srgbClr val="FBFBFD"/>
          </a:solidFill>
          <a:ln w="12700">
            <a:solidFill>
              <a:srgbClr val="E4E6EF"/>
            </a:solidFill>
            <a:prstDash val="solid"/>
          </a:ln>
        </p:spPr>
        <p:txBody>
          <a:bodyPr/>
          <a:lstStyle/>
          <a:p>
            <a:endParaRPr lang="en-US"/>
          </a:p>
        </p:txBody>
      </p:sp>
      <p:sp>
        <p:nvSpPr>
          <p:cNvPr id="6" name="Shape 4"/>
          <p:cNvSpPr/>
          <p:nvPr/>
        </p:nvSpPr>
        <p:spPr>
          <a:xfrm>
            <a:off x="1554480" y="2194560"/>
            <a:ext cx="0" cy="3200400"/>
          </a:xfrm>
          <a:prstGeom prst="line">
            <a:avLst/>
          </a:prstGeom>
          <a:noFill/>
          <a:ln w="15240">
            <a:solidFill>
              <a:srgbClr val="9AA0B0"/>
            </a:solidFill>
            <a:prstDash val="solid"/>
          </a:ln>
        </p:spPr>
        <p:txBody>
          <a:bodyPr/>
          <a:lstStyle/>
          <a:p>
            <a:endParaRPr lang="en-US"/>
          </a:p>
        </p:txBody>
      </p:sp>
      <p:sp>
        <p:nvSpPr>
          <p:cNvPr id="7" name="Shape 5"/>
          <p:cNvSpPr/>
          <p:nvPr/>
        </p:nvSpPr>
        <p:spPr>
          <a:xfrm>
            <a:off x="1554480" y="5394960"/>
            <a:ext cx="7498080" cy="0"/>
          </a:xfrm>
          <a:prstGeom prst="line">
            <a:avLst/>
          </a:prstGeom>
          <a:noFill/>
          <a:ln w="15240">
            <a:solidFill>
              <a:srgbClr val="9AA0B0"/>
            </a:solidFill>
            <a:prstDash val="solid"/>
          </a:ln>
        </p:spPr>
        <p:txBody>
          <a:bodyPr/>
          <a:lstStyle/>
          <a:p>
            <a:endParaRPr lang="en-US"/>
          </a:p>
        </p:txBody>
      </p:sp>
      <p:sp>
        <p:nvSpPr>
          <p:cNvPr id="8" name="Text 6"/>
          <p:cNvSpPr/>
          <p:nvPr/>
        </p:nvSpPr>
        <p:spPr>
          <a:xfrm rot="16200000">
            <a:off x="137160" y="3611880"/>
            <a:ext cx="1463040" cy="365760"/>
          </a:xfrm>
          <a:prstGeom prst="rect">
            <a:avLst/>
          </a:prstGeom>
          <a:noFill/>
          <a:ln/>
        </p:spPr>
        <p:txBody>
          <a:bodyPr wrap="square" rtlCol="0" anchor="ctr"/>
          <a:lstStyle/>
          <a:p>
            <a:pPr marL="0" indent="0" algn="ctr">
              <a:buNone/>
            </a:pPr>
            <a:r>
              <a:rPr lang="en-US" sz="1100" b="1" dirty="0">
                <a:solidFill>
                  <a:srgbClr val="5B6172"/>
                </a:solidFill>
                <a:latin typeface="Calibri" pitchFamily="34" charset="0"/>
                <a:ea typeface="Calibri" pitchFamily="34" charset="-122"/>
                <a:cs typeface="Calibri" pitchFamily="34" charset="-120"/>
              </a:rPr>
              <a:t>Accuracy</a:t>
            </a:r>
            <a:endParaRPr lang="en-US" sz="1100" dirty="0"/>
          </a:p>
        </p:txBody>
      </p:sp>
      <p:sp>
        <p:nvSpPr>
          <p:cNvPr id="9" name="Text 7"/>
          <p:cNvSpPr/>
          <p:nvPr/>
        </p:nvSpPr>
        <p:spPr>
          <a:xfrm>
            <a:off x="1554480" y="5468112"/>
            <a:ext cx="7498080" cy="274320"/>
          </a:xfrm>
          <a:prstGeom prst="rect">
            <a:avLst/>
          </a:prstGeom>
          <a:noFill/>
          <a:ln/>
        </p:spPr>
        <p:txBody>
          <a:bodyPr wrap="square" rtlCol="0" anchor="ctr"/>
          <a:lstStyle/>
          <a:p>
            <a:pPr marL="0" indent="0" algn="ctr">
              <a:buNone/>
            </a:pPr>
            <a:r>
              <a:rPr lang="en-US" sz="1100" b="1" dirty="0">
                <a:solidFill>
                  <a:srgbClr val="5B6172"/>
                </a:solidFill>
                <a:latin typeface="Calibri" pitchFamily="34" charset="0"/>
                <a:ea typeface="Calibri" pitchFamily="34" charset="-122"/>
                <a:cs typeface="Calibri" pitchFamily="34" charset="-120"/>
              </a:rPr>
              <a:t>Cost, compute, latency  →</a:t>
            </a:r>
            <a:endParaRPr lang="en-US" sz="1100" dirty="0"/>
          </a:p>
        </p:txBody>
      </p:sp>
      <p:sp>
        <p:nvSpPr>
          <p:cNvPr id="10" name="Text 8"/>
          <p:cNvSpPr/>
          <p:nvPr/>
        </p:nvSpPr>
        <p:spPr>
          <a:xfrm>
            <a:off x="1261872" y="2057400"/>
            <a:ext cx="274320" cy="274320"/>
          </a:xfrm>
          <a:prstGeom prst="rect">
            <a:avLst/>
          </a:prstGeom>
          <a:noFill/>
          <a:ln/>
        </p:spPr>
        <p:txBody>
          <a:bodyPr wrap="square" rtlCol="0" anchor="ctr"/>
          <a:lstStyle/>
          <a:p>
            <a:pPr marL="0" indent="0" algn="ctr">
              <a:buNone/>
            </a:pPr>
            <a:r>
              <a:rPr lang="en-US" sz="1300" b="1" dirty="0">
                <a:solidFill>
                  <a:srgbClr val="5B6172"/>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2979115" y="3474720"/>
            <a:ext cx="1274674" cy="0"/>
          </a:xfrm>
          <a:prstGeom prst="line">
            <a:avLst/>
          </a:prstGeom>
          <a:noFill/>
          <a:ln w="20320">
            <a:solidFill>
              <a:srgbClr val="B5A06A"/>
            </a:solidFill>
            <a:prstDash val="dash"/>
          </a:ln>
        </p:spPr>
        <p:txBody>
          <a:bodyPr/>
          <a:lstStyle/>
          <a:p>
            <a:endParaRPr lang="en-US"/>
          </a:p>
        </p:txBody>
      </p:sp>
      <p:sp>
        <p:nvSpPr>
          <p:cNvPr id="12" name="Shape 10"/>
          <p:cNvSpPr/>
          <p:nvPr/>
        </p:nvSpPr>
        <p:spPr>
          <a:xfrm>
            <a:off x="4253789" y="3282696"/>
            <a:ext cx="2699309" cy="0"/>
          </a:xfrm>
          <a:prstGeom prst="line">
            <a:avLst/>
          </a:prstGeom>
          <a:noFill/>
          <a:ln w="20320">
            <a:solidFill>
              <a:srgbClr val="B5A06A"/>
            </a:solidFill>
            <a:prstDash val="dash"/>
          </a:ln>
        </p:spPr>
        <p:txBody>
          <a:bodyPr/>
          <a:lstStyle/>
          <a:p>
            <a:endParaRPr lang="en-US"/>
          </a:p>
        </p:txBody>
      </p:sp>
      <p:sp>
        <p:nvSpPr>
          <p:cNvPr id="13" name="Shape 11"/>
          <p:cNvSpPr/>
          <p:nvPr/>
        </p:nvSpPr>
        <p:spPr>
          <a:xfrm>
            <a:off x="6953098" y="2770632"/>
            <a:ext cx="1349654" cy="0"/>
          </a:xfrm>
          <a:prstGeom prst="line">
            <a:avLst/>
          </a:prstGeom>
          <a:noFill/>
          <a:ln w="20320">
            <a:solidFill>
              <a:srgbClr val="B5A06A"/>
            </a:solidFill>
            <a:prstDash val="dash"/>
          </a:ln>
        </p:spPr>
        <p:txBody>
          <a:bodyPr/>
          <a:lstStyle/>
          <a:p>
            <a:endParaRPr lang="en-US"/>
          </a:p>
        </p:txBody>
      </p:sp>
      <p:sp>
        <p:nvSpPr>
          <p:cNvPr id="14" name="Text 12"/>
          <p:cNvSpPr/>
          <p:nvPr/>
        </p:nvSpPr>
        <p:spPr>
          <a:xfrm>
            <a:off x="5303520" y="2834640"/>
            <a:ext cx="1097280" cy="228600"/>
          </a:xfrm>
          <a:prstGeom prst="rect">
            <a:avLst/>
          </a:prstGeom>
          <a:noFill/>
          <a:ln/>
        </p:spPr>
        <p:txBody>
          <a:bodyPr wrap="square" rtlCol="0" anchor="ctr"/>
          <a:lstStyle/>
          <a:p>
            <a:pPr marL="0" indent="0">
              <a:buNone/>
            </a:pPr>
            <a:r>
              <a:rPr lang="en-US" sz="1000" b="1" i="1" dirty="0">
                <a:solidFill>
                  <a:srgbClr val="8A6D1F"/>
                </a:solidFill>
                <a:latin typeface="Calibri" pitchFamily="34" charset="0"/>
                <a:ea typeface="Calibri" pitchFamily="34" charset="-122"/>
                <a:cs typeface="Calibri" pitchFamily="34" charset="-120"/>
              </a:rPr>
              <a:t>frontier</a:t>
            </a:r>
            <a:endParaRPr lang="en-US" sz="1000" dirty="0"/>
          </a:p>
        </p:txBody>
      </p:sp>
      <p:sp>
        <p:nvSpPr>
          <p:cNvPr id="15" name="Shape 13"/>
          <p:cNvSpPr/>
          <p:nvPr/>
        </p:nvSpPr>
        <p:spPr>
          <a:xfrm>
            <a:off x="2221992" y="4032504"/>
            <a:ext cx="164592" cy="164592"/>
          </a:xfrm>
          <a:prstGeom prst="ellipse">
            <a:avLst/>
          </a:prstGeom>
          <a:solidFill>
            <a:srgbClr val="1B1F2A"/>
          </a:solidFill>
          <a:ln w="15240">
            <a:solidFill>
              <a:srgbClr val="FFFFFF"/>
            </a:solidFill>
            <a:prstDash val="solid"/>
          </a:ln>
        </p:spPr>
        <p:txBody>
          <a:bodyPr/>
          <a:lstStyle/>
          <a:p>
            <a:endParaRPr lang="en-US"/>
          </a:p>
        </p:txBody>
      </p:sp>
      <p:sp>
        <p:nvSpPr>
          <p:cNvPr id="16" name="Shape 14"/>
          <p:cNvSpPr/>
          <p:nvPr/>
        </p:nvSpPr>
        <p:spPr>
          <a:xfrm>
            <a:off x="2896819" y="3392424"/>
            <a:ext cx="164592" cy="164592"/>
          </a:xfrm>
          <a:prstGeom prst="ellipse">
            <a:avLst/>
          </a:prstGeom>
          <a:solidFill>
            <a:srgbClr val="B31A38"/>
          </a:solidFill>
          <a:ln w="15240">
            <a:solidFill>
              <a:srgbClr val="FFFFFF"/>
            </a:solidFill>
            <a:prstDash val="solid"/>
          </a:ln>
        </p:spPr>
        <p:txBody>
          <a:bodyPr/>
          <a:lstStyle/>
          <a:p>
            <a:endParaRPr lang="en-US"/>
          </a:p>
        </p:txBody>
      </p:sp>
      <p:sp>
        <p:nvSpPr>
          <p:cNvPr id="17" name="Shape 15"/>
          <p:cNvSpPr/>
          <p:nvPr/>
        </p:nvSpPr>
        <p:spPr>
          <a:xfrm>
            <a:off x="4171493" y="3200400"/>
            <a:ext cx="164592" cy="164592"/>
          </a:xfrm>
          <a:prstGeom prst="ellipse">
            <a:avLst/>
          </a:prstGeom>
          <a:solidFill>
            <a:srgbClr val="1B1F2A"/>
          </a:solidFill>
          <a:ln w="15240">
            <a:solidFill>
              <a:srgbClr val="FFFFFF"/>
            </a:solidFill>
            <a:prstDash val="solid"/>
          </a:ln>
        </p:spPr>
        <p:txBody>
          <a:bodyPr/>
          <a:lstStyle/>
          <a:p>
            <a:endParaRPr lang="en-US"/>
          </a:p>
        </p:txBody>
      </p:sp>
      <p:sp>
        <p:nvSpPr>
          <p:cNvPr id="18" name="Shape 16"/>
          <p:cNvSpPr/>
          <p:nvPr/>
        </p:nvSpPr>
        <p:spPr>
          <a:xfrm>
            <a:off x="6870802" y="2688336"/>
            <a:ext cx="164592" cy="164592"/>
          </a:xfrm>
          <a:prstGeom prst="ellipse">
            <a:avLst/>
          </a:prstGeom>
          <a:solidFill>
            <a:srgbClr val="1B1F2A"/>
          </a:solidFill>
          <a:ln w="15240">
            <a:solidFill>
              <a:srgbClr val="FFFFFF"/>
            </a:solidFill>
            <a:prstDash val="solid"/>
          </a:ln>
        </p:spPr>
        <p:txBody>
          <a:bodyPr/>
          <a:lstStyle/>
          <a:p>
            <a:endParaRPr lang="en-US"/>
          </a:p>
        </p:txBody>
      </p:sp>
      <p:sp>
        <p:nvSpPr>
          <p:cNvPr id="19" name="Shape 17"/>
          <p:cNvSpPr/>
          <p:nvPr/>
        </p:nvSpPr>
        <p:spPr>
          <a:xfrm>
            <a:off x="5739689" y="3493009"/>
            <a:ext cx="164592" cy="164592"/>
          </a:xfrm>
          <a:prstGeom prst="ellipse">
            <a:avLst/>
          </a:prstGeom>
          <a:solidFill>
            <a:srgbClr val="8A6D1F"/>
          </a:solidFill>
          <a:ln w="15240">
            <a:solidFill>
              <a:srgbClr val="FFFFFF"/>
            </a:solidFill>
            <a:prstDash val="solid"/>
          </a:ln>
        </p:spPr>
        <p:txBody>
          <a:bodyPr/>
          <a:lstStyle/>
          <a:p>
            <a:endParaRPr lang="en-US"/>
          </a:p>
        </p:txBody>
      </p:sp>
      <p:sp>
        <p:nvSpPr>
          <p:cNvPr id="20" name="Text 18"/>
          <p:cNvSpPr/>
          <p:nvPr/>
        </p:nvSpPr>
        <p:spPr>
          <a:xfrm>
            <a:off x="2432304" y="4078224"/>
            <a:ext cx="1051560" cy="274320"/>
          </a:xfrm>
          <a:prstGeom prst="rect">
            <a:avLst/>
          </a:prstGeom>
          <a:noFill/>
          <a:ln/>
        </p:spPr>
        <p:txBody>
          <a:bodyPr wrap="square" rtlCol="0" anchor="ctr"/>
          <a:lstStyle/>
          <a:p>
            <a:pPr marL="0" indent="0">
              <a:buNone/>
            </a:pPr>
            <a:r>
              <a:rPr lang="en-US" sz="1150" b="1" dirty="0">
                <a:solidFill>
                  <a:srgbClr val="1B1F2A"/>
                </a:solidFill>
                <a:latin typeface="Calibri" pitchFamily="34" charset="0"/>
                <a:ea typeface="Calibri" pitchFamily="34" charset="-122"/>
                <a:cs typeface="Calibri" pitchFamily="34" charset="-120"/>
              </a:rPr>
              <a:t>LogReg</a:t>
            </a:r>
            <a:endParaRPr lang="en-US" sz="1150" dirty="0"/>
          </a:p>
        </p:txBody>
      </p:sp>
      <p:sp>
        <p:nvSpPr>
          <p:cNvPr id="21" name="Text 19"/>
          <p:cNvSpPr/>
          <p:nvPr/>
        </p:nvSpPr>
        <p:spPr>
          <a:xfrm>
            <a:off x="3107131" y="3438144"/>
            <a:ext cx="1051560" cy="274320"/>
          </a:xfrm>
          <a:prstGeom prst="rect">
            <a:avLst/>
          </a:prstGeom>
          <a:noFill/>
          <a:ln/>
        </p:spPr>
        <p:txBody>
          <a:bodyPr wrap="square" rtlCol="0" anchor="ctr"/>
          <a:lstStyle/>
          <a:p>
            <a:pPr marL="0" indent="0">
              <a:buNone/>
            </a:pPr>
            <a:r>
              <a:rPr lang="en-US" sz="1150" b="1" dirty="0">
                <a:solidFill>
                  <a:srgbClr val="B31A38"/>
                </a:solidFill>
                <a:latin typeface="Calibri" pitchFamily="34" charset="0"/>
                <a:ea typeface="Calibri" pitchFamily="34" charset="-122"/>
                <a:cs typeface="Calibri" pitchFamily="34" charset="-120"/>
              </a:rPr>
              <a:t>FastText</a:t>
            </a:r>
            <a:endParaRPr lang="en-US" sz="1150" dirty="0"/>
          </a:p>
        </p:txBody>
      </p:sp>
      <p:sp>
        <p:nvSpPr>
          <p:cNvPr id="22" name="Text 20"/>
          <p:cNvSpPr/>
          <p:nvPr/>
        </p:nvSpPr>
        <p:spPr>
          <a:xfrm>
            <a:off x="4381805" y="3282696"/>
            <a:ext cx="1051560" cy="274320"/>
          </a:xfrm>
          <a:prstGeom prst="rect">
            <a:avLst/>
          </a:prstGeom>
          <a:noFill/>
          <a:ln/>
        </p:spPr>
        <p:txBody>
          <a:bodyPr wrap="square" rtlCol="0" anchor="ctr"/>
          <a:lstStyle/>
          <a:p>
            <a:pPr marL="0" indent="0">
              <a:buNone/>
            </a:pPr>
            <a:r>
              <a:rPr lang="en-US" sz="1150" b="1" dirty="0">
                <a:solidFill>
                  <a:srgbClr val="1B1F2A"/>
                </a:solidFill>
                <a:latin typeface="Calibri" pitchFamily="34" charset="0"/>
                <a:ea typeface="Calibri" pitchFamily="34" charset="-122"/>
                <a:cs typeface="Calibri" pitchFamily="34" charset="-120"/>
              </a:rPr>
              <a:t>spaCy</a:t>
            </a:r>
            <a:endParaRPr lang="en-US" sz="1150" dirty="0"/>
          </a:p>
        </p:txBody>
      </p:sp>
      <p:sp>
        <p:nvSpPr>
          <p:cNvPr id="23" name="Text 21"/>
          <p:cNvSpPr/>
          <p:nvPr/>
        </p:nvSpPr>
        <p:spPr>
          <a:xfrm>
            <a:off x="6084418" y="2880360"/>
            <a:ext cx="1051560" cy="274320"/>
          </a:xfrm>
          <a:prstGeom prst="rect">
            <a:avLst/>
          </a:prstGeom>
          <a:noFill/>
          <a:ln/>
        </p:spPr>
        <p:txBody>
          <a:bodyPr wrap="square" rtlCol="0" anchor="ctr"/>
          <a:lstStyle/>
          <a:p>
            <a:pPr marL="0" indent="0">
              <a:buNone/>
            </a:pPr>
            <a:r>
              <a:rPr lang="en-US" sz="1150" b="1" dirty="0">
                <a:solidFill>
                  <a:srgbClr val="1B1F2A"/>
                </a:solidFill>
                <a:latin typeface="Calibri" pitchFamily="34" charset="0"/>
                <a:ea typeface="Calibri" pitchFamily="34" charset="-122"/>
                <a:cs typeface="Calibri" pitchFamily="34" charset="-120"/>
              </a:rPr>
              <a:t>DistilBERT</a:t>
            </a:r>
            <a:endParaRPr lang="en-US" sz="1150" dirty="0"/>
          </a:p>
        </p:txBody>
      </p:sp>
      <p:sp>
        <p:nvSpPr>
          <p:cNvPr id="24" name="Text 22"/>
          <p:cNvSpPr/>
          <p:nvPr/>
        </p:nvSpPr>
        <p:spPr>
          <a:xfrm>
            <a:off x="4907585" y="3703321"/>
            <a:ext cx="1051560" cy="274320"/>
          </a:xfrm>
          <a:prstGeom prst="rect">
            <a:avLst/>
          </a:prstGeom>
          <a:noFill/>
          <a:ln/>
        </p:spPr>
        <p:txBody>
          <a:bodyPr wrap="square" rtlCol="0" anchor="ctr"/>
          <a:lstStyle/>
          <a:p>
            <a:pPr marL="0" indent="0">
              <a:buNone/>
            </a:pPr>
            <a:r>
              <a:rPr lang="en-US" sz="1150" b="1" dirty="0">
                <a:solidFill>
                  <a:srgbClr val="8A6D1F"/>
                </a:solidFill>
                <a:latin typeface="Calibri" pitchFamily="34" charset="0"/>
                <a:ea typeface="Calibri" pitchFamily="34" charset="-122"/>
                <a:cs typeface="Calibri" pitchFamily="34" charset="-120"/>
              </a:rPr>
              <a:t>AutoGluon</a:t>
            </a:r>
            <a:endParaRPr lang="en-US" sz="1150" dirty="0"/>
          </a:p>
        </p:txBody>
      </p:sp>
      <p:sp>
        <p:nvSpPr>
          <p:cNvPr id="25" name="Text 23"/>
          <p:cNvSpPr/>
          <p:nvPr/>
        </p:nvSpPr>
        <p:spPr>
          <a:xfrm>
            <a:off x="1554480" y="2176272"/>
            <a:ext cx="7498080" cy="274320"/>
          </a:xfrm>
          <a:prstGeom prst="rect">
            <a:avLst/>
          </a:prstGeom>
          <a:noFill/>
          <a:ln/>
        </p:spPr>
        <p:txBody>
          <a:bodyPr wrap="square" rtlCol="0" anchor="ctr"/>
          <a:lstStyle/>
          <a:p>
            <a:pPr marL="0" indent="0" algn="r">
              <a:buNone/>
            </a:pPr>
            <a:r>
              <a:rPr lang="en-US" sz="950" i="1" dirty="0">
                <a:solidFill>
                  <a:srgbClr val="8A90A2"/>
                </a:solidFill>
                <a:latin typeface="Calibri" pitchFamily="34" charset="0"/>
                <a:ea typeface="Calibri" pitchFamily="34" charset="-122"/>
                <a:cs typeface="Calibri" pitchFamily="34" charset="-120"/>
              </a:rPr>
              <a:t>Illustrative. Your leaderboard fills in the real points.</a:t>
            </a:r>
            <a:endParaRPr lang="en-US" sz="950" dirty="0"/>
          </a:p>
        </p:txBody>
      </p:sp>
      <p:sp>
        <p:nvSpPr>
          <p:cNvPr id="26" name="Text 2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7" name="Text 2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BEYOND TEXT</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Real problems are not only text</a:t>
            </a:r>
            <a:endParaRPr lang="en-US" sz="3000" dirty="0"/>
          </a:p>
        </p:txBody>
      </p:sp>
      <p:sp>
        <p:nvSpPr>
          <p:cNvPr id="4" name="Text 2"/>
          <p:cNvSpPr/>
          <p:nvPr/>
        </p:nvSpPr>
        <p:spPr>
          <a:xfrm>
            <a:off x="566928" y="1481328"/>
            <a:ext cx="10972800" cy="457200"/>
          </a:xfrm>
          <a:prstGeom prst="rect">
            <a:avLst/>
          </a:prstGeom>
          <a:noFill/>
          <a:ln/>
        </p:spPr>
        <p:txBody>
          <a:bodyPr wrap="square" rtlCol="0" anchor="ctr"/>
          <a:lstStyle/>
          <a:p>
            <a:pPr marL="0" indent="0">
              <a:buNone/>
            </a:pPr>
            <a:r>
              <a:rPr lang="en-US" sz="1400" i="1" dirty="0">
                <a:solidFill>
                  <a:srgbClr val="5B6172"/>
                </a:solidFill>
                <a:latin typeface="Cambria" pitchFamily="34" charset="0"/>
                <a:ea typeface="Cambria" pitchFamily="34" charset="-122"/>
                <a:cs typeface="Cambria" pitchFamily="34" charset="-120"/>
              </a:rPr>
              <a:t>A review is never just words. It ships with structured columns, and text-only models throw all of that away.</a:t>
            </a:r>
            <a:endParaRPr lang="en-US" sz="1400" dirty="0"/>
          </a:p>
        </p:txBody>
      </p:sp>
      <p:sp>
        <p:nvSpPr>
          <p:cNvPr id="5" name="Shape 3"/>
          <p:cNvSpPr/>
          <p:nvPr/>
        </p:nvSpPr>
        <p:spPr>
          <a:xfrm>
            <a:off x="548640" y="2148840"/>
            <a:ext cx="3575304" cy="2651760"/>
          </a:xfrm>
          <a:prstGeom prst="roundRect">
            <a:avLst>
              <a:gd name="adj" fmla="val 2069"/>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41248" y="2459736"/>
            <a:ext cx="502920" cy="502920"/>
          </a:xfrm>
          <a:prstGeom prst="rect">
            <a:avLst/>
          </a:prstGeom>
        </p:spPr>
      </p:pic>
      <p:sp>
        <p:nvSpPr>
          <p:cNvPr id="7" name="Text 4"/>
          <p:cNvSpPr/>
          <p:nvPr/>
        </p:nvSpPr>
        <p:spPr>
          <a:xfrm>
            <a:off x="822960" y="3108960"/>
            <a:ext cx="3026664" cy="411480"/>
          </a:xfrm>
          <a:prstGeom prst="rect">
            <a:avLst/>
          </a:prstGeom>
          <a:noFill/>
          <a:ln/>
        </p:spPr>
        <p:txBody>
          <a:bodyPr wrap="square" rtlCol="0" anchor="t"/>
          <a:lstStyle/>
          <a:p>
            <a:pPr marL="0" indent="0">
              <a:buNone/>
            </a:pPr>
            <a:r>
              <a:rPr lang="en-US" sz="1600" b="1" dirty="0">
                <a:solidFill>
                  <a:srgbClr val="1B1F2A"/>
                </a:solidFill>
                <a:latin typeface="Cambria" pitchFamily="34" charset="0"/>
                <a:ea typeface="Cambria" pitchFamily="34" charset="-122"/>
                <a:cs typeface="Cambria" pitchFamily="34" charset="-120"/>
              </a:rPr>
              <a:t>The text</a:t>
            </a:r>
            <a:endParaRPr lang="en-US" sz="1600" dirty="0"/>
          </a:p>
        </p:txBody>
      </p:sp>
      <p:sp>
        <p:nvSpPr>
          <p:cNvPr id="8" name="Text 5"/>
          <p:cNvSpPr/>
          <p:nvPr/>
        </p:nvSpPr>
        <p:spPr>
          <a:xfrm>
            <a:off x="822960" y="3520440"/>
            <a:ext cx="3026664" cy="118872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“Comfortable, but the strap broke in a week.” The words carry sentiment and detail.</a:t>
            </a:r>
            <a:endParaRPr lang="en-US" sz="1250" dirty="0"/>
          </a:p>
        </p:txBody>
      </p:sp>
      <p:sp>
        <p:nvSpPr>
          <p:cNvPr id="9" name="Shape 6"/>
          <p:cNvSpPr/>
          <p:nvPr/>
        </p:nvSpPr>
        <p:spPr>
          <a:xfrm>
            <a:off x="4306824" y="2148840"/>
            <a:ext cx="3575304" cy="2651760"/>
          </a:xfrm>
          <a:prstGeom prst="roundRect">
            <a:avLst>
              <a:gd name="adj" fmla="val 2069"/>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599432" y="2459736"/>
            <a:ext cx="502920" cy="502920"/>
          </a:xfrm>
          <a:prstGeom prst="rect">
            <a:avLst/>
          </a:prstGeom>
        </p:spPr>
      </p:pic>
      <p:sp>
        <p:nvSpPr>
          <p:cNvPr id="11" name="Text 7"/>
          <p:cNvSpPr/>
          <p:nvPr/>
        </p:nvSpPr>
        <p:spPr>
          <a:xfrm>
            <a:off x="4581144" y="3108960"/>
            <a:ext cx="3026664" cy="411480"/>
          </a:xfrm>
          <a:prstGeom prst="rect">
            <a:avLst/>
          </a:prstGeom>
          <a:noFill/>
          <a:ln/>
        </p:spPr>
        <p:txBody>
          <a:bodyPr wrap="square" rtlCol="0" anchor="t"/>
          <a:lstStyle/>
          <a:p>
            <a:pPr marL="0" indent="0">
              <a:buNone/>
            </a:pPr>
            <a:r>
              <a:rPr lang="en-US" sz="1600" b="1" dirty="0">
                <a:solidFill>
                  <a:srgbClr val="1B1F2A"/>
                </a:solidFill>
                <a:latin typeface="Cambria" pitchFamily="34" charset="0"/>
                <a:ea typeface="Cambria" pitchFamily="34" charset="-122"/>
                <a:cs typeface="Cambria" pitchFamily="34" charset="-120"/>
              </a:rPr>
              <a:t>The columns</a:t>
            </a:r>
            <a:endParaRPr lang="en-US" sz="1600" dirty="0"/>
          </a:p>
        </p:txBody>
      </p:sp>
      <p:sp>
        <p:nvSpPr>
          <p:cNvPr id="12" name="Text 8"/>
          <p:cNvSpPr/>
          <p:nvPr/>
        </p:nvSpPr>
        <p:spPr>
          <a:xfrm>
            <a:off x="4581144" y="3520440"/>
            <a:ext cx="3026664" cy="118872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Price, category, star rating, verified-purchase flag, return history. Structured signal, ignored by a text model.</a:t>
            </a:r>
            <a:endParaRPr lang="en-US" sz="1250" dirty="0"/>
          </a:p>
        </p:txBody>
      </p:sp>
      <p:sp>
        <p:nvSpPr>
          <p:cNvPr id="13" name="Shape 9"/>
          <p:cNvSpPr/>
          <p:nvPr/>
        </p:nvSpPr>
        <p:spPr>
          <a:xfrm>
            <a:off x="8065008" y="2148840"/>
            <a:ext cx="3575304" cy="2651760"/>
          </a:xfrm>
          <a:prstGeom prst="roundRect">
            <a:avLst>
              <a:gd name="adj" fmla="val 2069"/>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8357616" y="2459736"/>
            <a:ext cx="502920" cy="502920"/>
          </a:xfrm>
          <a:prstGeom prst="rect">
            <a:avLst/>
          </a:prstGeom>
        </p:spPr>
      </p:pic>
      <p:sp>
        <p:nvSpPr>
          <p:cNvPr id="15" name="Text 10"/>
          <p:cNvSpPr/>
          <p:nvPr/>
        </p:nvSpPr>
        <p:spPr>
          <a:xfrm>
            <a:off x="8339328" y="3108960"/>
            <a:ext cx="3026664" cy="411480"/>
          </a:xfrm>
          <a:prstGeom prst="rect">
            <a:avLst/>
          </a:prstGeom>
          <a:noFill/>
          <a:ln/>
        </p:spPr>
        <p:txBody>
          <a:bodyPr wrap="square" rtlCol="0" anchor="t"/>
          <a:lstStyle/>
          <a:p>
            <a:pPr marL="0" indent="0">
              <a:buNone/>
            </a:pPr>
            <a:r>
              <a:rPr lang="en-US" sz="1600" b="1" dirty="0">
                <a:solidFill>
                  <a:srgbClr val="B31A38"/>
                </a:solidFill>
                <a:latin typeface="Cambria" pitchFamily="34" charset="0"/>
                <a:ea typeface="Cambria" pitchFamily="34" charset="-122"/>
                <a:cs typeface="Cambria" pitchFamily="34" charset="-120"/>
              </a:rPr>
              <a:t>Fuse them</a:t>
            </a:r>
            <a:endParaRPr lang="en-US" sz="1600" dirty="0"/>
          </a:p>
        </p:txBody>
      </p:sp>
      <p:sp>
        <p:nvSpPr>
          <p:cNvPr id="16" name="Text 11"/>
          <p:cNvSpPr/>
          <p:nvPr/>
        </p:nvSpPr>
        <p:spPr>
          <a:xfrm>
            <a:off x="8339328" y="3520440"/>
            <a:ext cx="3026664" cy="118872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A multimodal model reads text and columns together, and often lands above either one alone.</a:t>
            </a:r>
            <a:endParaRPr lang="en-US" sz="1250" dirty="0"/>
          </a:p>
        </p:txBody>
      </p:sp>
      <p:sp>
        <p:nvSpPr>
          <p:cNvPr id="17" name="Shape 12"/>
          <p:cNvSpPr/>
          <p:nvPr/>
        </p:nvSpPr>
        <p:spPr>
          <a:xfrm>
            <a:off x="548640" y="5029200"/>
            <a:ext cx="11091672" cy="713232"/>
          </a:xfrm>
          <a:prstGeom prst="roundRect">
            <a:avLst>
              <a:gd name="adj" fmla="val 7692"/>
            </a:avLst>
          </a:prstGeom>
          <a:solidFill>
            <a:srgbClr val="151A2E"/>
          </a:solidFill>
          <a:ln w="12700">
            <a:solidFill>
              <a:srgbClr val="151A2E"/>
            </a:solidFill>
            <a:prstDash val="solid"/>
          </a:ln>
        </p:spPr>
        <p:txBody>
          <a:bodyPr/>
          <a:lstStyle/>
          <a:p>
            <a:endParaRPr lang="en-US"/>
          </a:p>
        </p:txBody>
      </p:sp>
      <p:sp>
        <p:nvSpPr>
          <p:cNvPr id="18" name="Text 13"/>
          <p:cNvSpPr/>
          <p:nvPr/>
        </p:nvSpPr>
        <p:spPr>
          <a:xfrm>
            <a:off x="868680" y="5029200"/>
            <a:ext cx="10424160" cy="713232"/>
          </a:xfrm>
          <a:prstGeom prst="rect">
            <a:avLst/>
          </a:prstGeom>
          <a:noFill/>
          <a:ln/>
        </p:spPr>
        <p:txBody>
          <a:bodyPr wrap="square" rtlCol="0" anchor="ctr"/>
          <a:lstStyle/>
          <a:p>
            <a:pPr marL="0" indent="0">
              <a:buNone/>
            </a:pPr>
            <a:r>
              <a:rPr lang="en-US" sz="1450" i="1" dirty="0">
                <a:solidFill>
                  <a:srgbClr val="FFFFFF"/>
                </a:solidFill>
                <a:latin typeface="Cambria" pitchFamily="34" charset="0"/>
                <a:ea typeface="Cambria" pitchFamily="34" charset="-122"/>
                <a:cs typeface="Cambria" pitchFamily="34" charset="-120"/>
              </a:rPr>
              <a:t>Watch next: does fusing the columns actually beat the text alone, or just cost more?</a:t>
            </a:r>
            <a:endParaRPr lang="en-US" sz="1450" dirty="0"/>
          </a:p>
        </p:txBody>
      </p:sp>
      <p:sp>
        <p:nvSpPr>
          <p:cNvPr id="19"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0"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868680" y="640080"/>
            <a:ext cx="566928" cy="566928"/>
          </a:xfrm>
          <a:prstGeom prst="roundRect">
            <a:avLst>
              <a:gd name="adj" fmla="val 12903"/>
            </a:avLst>
          </a:prstGeom>
          <a:solidFill>
            <a:srgbClr val="1B1F2A"/>
          </a:solidFill>
          <a:ln w="12700">
            <a:solidFill>
              <a:srgbClr val="2A3252"/>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987552" y="758952"/>
            <a:ext cx="329184" cy="329184"/>
          </a:xfrm>
          <a:prstGeom prst="rect">
            <a:avLst/>
          </a:prstGeom>
        </p:spPr>
      </p:pic>
      <p:sp>
        <p:nvSpPr>
          <p:cNvPr id="4" name="Text 1"/>
          <p:cNvSpPr/>
          <p:nvPr/>
        </p:nvSpPr>
        <p:spPr>
          <a:xfrm>
            <a:off x="1600200" y="658368"/>
            <a:ext cx="82296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LIVE DEMO  ·  ~15 MINUTES</a:t>
            </a:r>
            <a:endParaRPr lang="en-US" sz="1200" dirty="0"/>
          </a:p>
        </p:txBody>
      </p:sp>
      <p:sp>
        <p:nvSpPr>
          <p:cNvPr id="5" name="Text 2"/>
          <p:cNvSpPr/>
          <p:nvPr/>
        </p:nvSpPr>
        <p:spPr>
          <a:xfrm>
            <a:off x="1581912" y="932688"/>
            <a:ext cx="10058400" cy="640080"/>
          </a:xfrm>
          <a:prstGeom prst="rect">
            <a:avLst/>
          </a:prstGeom>
          <a:noFill/>
          <a:ln/>
        </p:spPr>
        <p:txBody>
          <a:bodyPr wrap="square"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Add the columns, watch the score move</a:t>
            </a:r>
            <a:endParaRPr lang="en-US" sz="2900" dirty="0"/>
          </a:p>
        </p:txBody>
      </p:sp>
      <p:sp>
        <p:nvSpPr>
          <p:cNvPr id="6" name="Text 3"/>
          <p:cNvSpPr/>
          <p:nvPr/>
        </p:nvSpPr>
        <p:spPr>
          <a:xfrm>
            <a:off x="1600200" y="1600200"/>
            <a:ext cx="10058400" cy="320040"/>
          </a:xfrm>
          <a:prstGeom prst="rect">
            <a:avLst/>
          </a:prstGeom>
          <a:noFill/>
          <a:ln/>
        </p:spPr>
        <p:txBody>
          <a:bodyPr wrap="square" rtlCol="0" anchor="ctr"/>
          <a:lstStyle/>
          <a:p>
            <a:pPr marL="0" indent="0">
              <a:buNone/>
            </a:pPr>
            <a:r>
              <a:rPr lang="en-US" sz="1300" i="1" dirty="0">
                <a:solidFill>
                  <a:srgbClr val="C9CDDA"/>
                </a:solidFill>
                <a:latin typeface="Cambria" pitchFamily="34" charset="0"/>
                <a:ea typeface="Cambria" pitchFamily="34" charset="-122"/>
                <a:cs typeface="Cambria" pitchFamily="34" charset="-120"/>
              </a:rPr>
              <a:t>AutoGluon MultiModalPredictor on a review set with text plus structured columns.</a:t>
            </a:r>
            <a:endParaRPr lang="en-US" sz="1300" dirty="0"/>
          </a:p>
        </p:txBody>
      </p:sp>
      <p:sp>
        <p:nvSpPr>
          <p:cNvPr id="7" name="Shape 4"/>
          <p:cNvSpPr/>
          <p:nvPr/>
        </p:nvSpPr>
        <p:spPr>
          <a:xfrm>
            <a:off x="868680" y="2240280"/>
            <a:ext cx="5257800" cy="3383280"/>
          </a:xfrm>
          <a:prstGeom prst="roundRect">
            <a:avLst>
              <a:gd name="adj" fmla="val 1622"/>
            </a:avLst>
          </a:prstGeom>
          <a:solidFill>
            <a:srgbClr val="1F2540"/>
          </a:solidFill>
          <a:ln w="12700">
            <a:solidFill>
              <a:srgbClr val="2A3252"/>
            </a:solidFill>
            <a:prstDash val="solid"/>
          </a:ln>
        </p:spPr>
        <p:txBody>
          <a:bodyPr/>
          <a:lstStyle/>
          <a:p>
            <a:endParaRPr lang="en-US"/>
          </a:p>
        </p:txBody>
      </p:sp>
      <p:sp>
        <p:nvSpPr>
          <p:cNvPr id="8" name="Shape 5"/>
          <p:cNvSpPr/>
          <p:nvPr/>
        </p:nvSpPr>
        <p:spPr>
          <a:xfrm>
            <a:off x="6355080" y="2240280"/>
            <a:ext cx="5257800" cy="3383280"/>
          </a:xfrm>
          <a:prstGeom prst="roundRect">
            <a:avLst>
              <a:gd name="adj" fmla="val 1622"/>
            </a:avLst>
          </a:prstGeom>
          <a:solidFill>
            <a:srgbClr val="201A22"/>
          </a:solidFill>
          <a:ln w="12700">
            <a:solidFill>
              <a:srgbClr val="3A2630"/>
            </a:solidFill>
            <a:prstDash val="solid"/>
          </a:ln>
        </p:spPr>
        <p:txBody>
          <a:bodyPr/>
          <a:lstStyle/>
          <a:p>
            <a:endParaRPr lang="en-US"/>
          </a:p>
        </p:txBody>
      </p:sp>
      <p:sp>
        <p:nvSpPr>
          <p:cNvPr id="9" name="Text 6"/>
          <p:cNvSpPr/>
          <p:nvPr/>
        </p:nvSpPr>
        <p:spPr>
          <a:xfrm>
            <a:off x="1188720" y="2468880"/>
            <a:ext cx="4572000" cy="274320"/>
          </a:xfrm>
          <a:prstGeom prst="rect">
            <a:avLst/>
          </a:prstGeom>
          <a:noFill/>
          <a:ln/>
        </p:spPr>
        <p:txBody>
          <a:bodyPr wrap="square" rtlCol="0" anchor="ctr"/>
          <a:lstStyle/>
          <a:p>
            <a:pPr marL="0" indent="0">
              <a:buNone/>
            </a:pPr>
            <a:r>
              <a:rPr lang="en-US" sz="1250" b="1" kern="0" spc="50" dirty="0">
                <a:solidFill>
                  <a:srgbClr val="B5A06A"/>
                </a:solidFill>
                <a:latin typeface="Calibri" pitchFamily="34" charset="0"/>
                <a:ea typeface="Calibri" pitchFamily="34" charset="-122"/>
                <a:cs typeface="Calibri" pitchFamily="34" charset="-120"/>
              </a:rPr>
              <a:t>1  ·  Text only  (~7 min)</a:t>
            </a:r>
            <a:endParaRPr lang="en-US" sz="1250" dirty="0"/>
          </a:p>
        </p:txBody>
      </p:sp>
      <p:sp>
        <p:nvSpPr>
          <p:cNvPr id="10" name="Text 7"/>
          <p:cNvSpPr/>
          <p:nvPr/>
        </p:nvSpPr>
        <p:spPr>
          <a:xfrm>
            <a:off x="1188720" y="2898648"/>
            <a:ext cx="4617720" cy="2514600"/>
          </a:xfrm>
          <a:prstGeom prst="rect">
            <a:avLst/>
          </a:prstGeom>
          <a:noFill/>
          <a:ln/>
        </p:spPr>
        <p:txBody>
          <a:bodyPr wrap="square" rtlCol="0" anchor="t"/>
          <a:lstStyle/>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Load the review set: one text column plus a few structured columns</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Train AutoGluon on the text column alone</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Read the held-out accuracy and write it on the board</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One prompt, no manual model choice: AutoML does the search</a:t>
            </a:r>
            <a:endParaRPr lang="en-US" sz="1200" dirty="0"/>
          </a:p>
        </p:txBody>
      </p:sp>
      <p:sp>
        <p:nvSpPr>
          <p:cNvPr id="11" name="Text 8"/>
          <p:cNvSpPr/>
          <p:nvPr/>
        </p:nvSpPr>
        <p:spPr>
          <a:xfrm>
            <a:off x="6675120" y="2468880"/>
            <a:ext cx="4572000" cy="274320"/>
          </a:xfrm>
          <a:prstGeom prst="rect">
            <a:avLst/>
          </a:prstGeom>
          <a:noFill/>
          <a:ln/>
        </p:spPr>
        <p:txBody>
          <a:bodyPr wrap="square" rtlCol="0" anchor="ctr"/>
          <a:lstStyle/>
          <a:p>
            <a:pPr marL="0" indent="0">
              <a:buNone/>
            </a:pPr>
            <a:r>
              <a:rPr lang="en-US" sz="1250" b="1" kern="0" spc="50" dirty="0">
                <a:solidFill>
                  <a:srgbClr val="FF9BA8"/>
                </a:solidFill>
                <a:latin typeface="Calibri" pitchFamily="34" charset="0"/>
                <a:ea typeface="Calibri" pitchFamily="34" charset="-122"/>
                <a:cs typeface="Calibri" pitchFamily="34" charset="-120"/>
              </a:rPr>
              <a:t>2  ·  Text + tabular  (~7 min)</a:t>
            </a:r>
            <a:endParaRPr lang="en-US" sz="1250" dirty="0"/>
          </a:p>
        </p:txBody>
      </p:sp>
      <p:sp>
        <p:nvSpPr>
          <p:cNvPr id="12" name="Text 9"/>
          <p:cNvSpPr/>
          <p:nvPr/>
        </p:nvSpPr>
        <p:spPr>
          <a:xfrm>
            <a:off x="6675120" y="2898648"/>
            <a:ext cx="4617720" cy="2514600"/>
          </a:xfrm>
          <a:prstGeom prst="rect">
            <a:avLst/>
          </a:prstGeom>
          <a:noFill/>
          <a:ln/>
        </p:spPr>
        <p:txBody>
          <a:bodyPr wrap="square" rtlCol="0" anchor="t"/>
          <a:lstStyle/>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Hand AutoGluon the whole table: text and columns together</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Retrain and compare accuracy to the text-only run</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Fusion usually wins: the columns carry signal text cannot</a:t>
            </a:r>
            <a:endParaRPr lang="en-US" sz="1200" dirty="0"/>
          </a:p>
          <a:p>
            <a:pPr marL="177800" indent="-177800">
              <a:lnSpc>
                <a:spcPct val="102000"/>
              </a:lnSpc>
              <a:spcAft>
                <a:spcPts val="900"/>
              </a:spcAft>
              <a:buSzPct val="100000"/>
              <a:buChar char="•"/>
            </a:pPr>
            <a:r>
              <a:rPr lang="en-US" sz="1200" dirty="0">
                <a:solidFill>
                  <a:srgbClr val="E4E6EF"/>
                </a:solidFill>
                <a:latin typeface="Calibri" pitchFamily="34" charset="0"/>
                <a:ea typeface="Calibri" pitchFamily="34" charset="-122"/>
                <a:cs typeface="Calibri" pitchFamily="34" charset="-120"/>
              </a:rPr>
              <a:t>Honesty beat: check whether the columns alone already got there</a:t>
            </a:r>
            <a:endParaRPr lang="en-US" sz="1200" dirty="0"/>
          </a:p>
        </p:txBody>
      </p:sp>
      <p:sp>
        <p:nvSpPr>
          <p:cNvPr id="13" name="Text 10"/>
          <p:cNvSpPr/>
          <p:nvPr/>
        </p:nvSpPr>
        <p:spPr>
          <a:xfrm>
            <a:off x="886968" y="5897880"/>
            <a:ext cx="10515600" cy="274320"/>
          </a:xfrm>
          <a:prstGeom prst="rect">
            <a:avLst/>
          </a:prstGeom>
          <a:noFill/>
          <a:ln/>
        </p:spPr>
        <p:txBody>
          <a:bodyPr wrap="square" rtlCol="0" anchor="ctr"/>
          <a:lstStyle/>
          <a:p>
            <a:pPr marL="0" indent="0">
              <a:buNone/>
            </a:pPr>
            <a:r>
              <a:rPr lang="en-US" sz="1000" i="1" dirty="0">
                <a:solidFill>
                  <a:srgbClr val="8A90A2"/>
                </a:solidFill>
                <a:latin typeface="Calibri" pitchFamily="34" charset="0"/>
                <a:ea typeface="Calibri" pitchFamily="34" charset="-122"/>
                <a:cs typeface="Calibri" pitchFamily="34" charset="-120"/>
              </a:rPr>
              <a:t>Insurance: small dataset, pre-run once, keep a finished run in a second tab.</a:t>
            </a:r>
            <a:endParaRPr lang="en-US" sz="1000" dirty="0"/>
          </a:p>
        </p:txBody>
      </p:sp>
      <p:sp>
        <p:nvSpPr>
          <p:cNvPr id="14" name="Text 11"/>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If a tool builds a better model in five minutes, what is your job?</a:t>
            </a:r>
            <a:endParaRPr lang="en-US" sz="3000" dirty="0"/>
          </a:p>
        </p:txBody>
      </p:sp>
      <p:sp>
        <p:nvSpPr>
          <p:cNvPr id="4" name="Text 2"/>
          <p:cNvSpPr/>
          <p:nvPr/>
        </p:nvSpPr>
        <p:spPr>
          <a:xfrm>
            <a:off x="566928" y="1463040"/>
            <a:ext cx="10058400" cy="320040"/>
          </a:xfrm>
          <a:prstGeom prst="rect">
            <a:avLst/>
          </a:prstGeom>
          <a:noFill/>
          <a:ln/>
        </p:spPr>
        <p:txBody>
          <a:bodyPr wrap="square" rtlCol="0" anchor="ctr"/>
          <a:lstStyle/>
          <a:p>
            <a:pPr marL="0" indent="0">
              <a:buNone/>
            </a:pPr>
            <a:r>
              <a:rPr lang="en-US" sz="1300" i="1" dirty="0">
                <a:solidFill>
                  <a:srgbClr val="5B6172"/>
                </a:solidFill>
                <a:latin typeface="Cambria" pitchFamily="34" charset="0"/>
                <a:ea typeface="Cambria" pitchFamily="34" charset="-122"/>
                <a:cs typeface="Cambria" pitchFamily="34" charset="-120"/>
              </a:rPr>
              <a:t>Small groups, then report out. Neither question has a clean answer.</a:t>
            </a:r>
            <a:endParaRPr lang="en-US" sz="1300" dirty="0"/>
          </a:p>
        </p:txBody>
      </p:sp>
      <p:sp>
        <p:nvSpPr>
          <p:cNvPr id="5" name="Shape 3"/>
          <p:cNvSpPr/>
          <p:nvPr/>
        </p:nvSpPr>
        <p:spPr>
          <a:xfrm>
            <a:off x="548640" y="2011680"/>
            <a:ext cx="11091672" cy="1828800"/>
          </a:xfrm>
          <a:prstGeom prst="roundRect">
            <a:avLst>
              <a:gd name="adj" fmla="val 3000"/>
            </a:avLst>
          </a:prstGeom>
          <a:solidFill>
            <a:srgbClr val="FBEDEF"/>
          </a:solidFill>
          <a:ln w="12700">
            <a:solidFill>
              <a:srgbClr val="F2D6DC"/>
            </a:solidFill>
            <a:prstDash val="solid"/>
          </a:ln>
        </p:spPr>
        <p:txBody>
          <a:bodyPr/>
          <a:lstStyle/>
          <a:p>
            <a:endParaRPr lang="en-US"/>
          </a:p>
        </p:txBody>
      </p:sp>
      <p:sp>
        <p:nvSpPr>
          <p:cNvPr id="6" name="Shape 4"/>
          <p:cNvSpPr/>
          <p:nvPr/>
        </p:nvSpPr>
        <p:spPr>
          <a:xfrm>
            <a:off x="868680" y="2514600"/>
            <a:ext cx="777240" cy="777240"/>
          </a:xfrm>
          <a:prstGeom prst="ellipse">
            <a:avLst/>
          </a:prstGeom>
          <a:solidFill>
            <a:srgbClr val="B31A38"/>
          </a:solidFill>
          <a:ln/>
        </p:spPr>
        <p:txBody>
          <a:bodyPr/>
          <a:lstStyle/>
          <a:p>
            <a:endParaRPr lang="en-US"/>
          </a:p>
        </p:txBody>
      </p:sp>
      <p:sp>
        <p:nvSpPr>
          <p:cNvPr id="7" name="Text 5"/>
          <p:cNvSpPr/>
          <p:nvPr/>
        </p:nvSpPr>
        <p:spPr>
          <a:xfrm>
            <a:off x="868680" y="2514600"/>
            <a:ext cx="777240" cy="7772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1920240" y="2249424"/>
            <a:ext cx="9418320" cy="1005840"/>
          </a:xfrm>
          <a:prstGeom prst="rect">
            <a:avLst/>
          </a:prstGeom>
          <a:noFill/>
          <a:ln/>
        </p:spPr>
        <p:txBody>
          <a:bodyPr wrap="square" rtlCol="0" anchor="ctr"/>
          <a:lstStyle/>
          <a:p>
            <a:pPr marL="0" indent="0">
              <a:lnSpc>
                <a:spcPct val="103000"/>
              </a:lnSpc>
              <a:buNone/>
            </a:pPr>
            <a:r>
              <a:rPr lang="en-US" sz="1400" dirty="0">
                <a:solidFill>
                  <a:srgbClr val="1B1F2A"/>
                </a:solidFill>
                <a:latin typeface="Calibri" pitchFamily="34" charset="0"/>
                <a:ea typeface="Calibri" pitchFamily="34" charset="-122"/>
                <a:cs typeface="Calibri" pitchFamily="34" charset="-120"/>
              </a:rPr>
              <a:t>AutoGluon just beat the model you hand-tuned all week, and you cannot fully explain what it chose or why. Is that a win, a risk, or both? What do you still owe the result that the tool cannot do for you?</a:t>
            </a:r>
            <a:endParaRPr lang="en-US" sz="1400" dirty="0"/>
          </a:p>
        </p:txBody>
      </p:sp>
      <p:sp>
        <p:nvSpPr>
          <p:cNvPr id="9" name="Text 7"/>
          <p:cNvSpPr/>
          <p:nvPr/>
        </p:nvSpPr>
        <p:spPr>
          <a:xfrm>
            <a:off x="1920240" y="3310128"/>
            <a:ext cx="9144000" cy="320040"/>
          </a:xfrm>
          <a:prstGeom prst="rect">
            <a:avLst/>
          </a:prstGeom>
          <a:noFill/>
          <a:ln/>
        </p:spPr>
        <p:txBody>
          <a:bodyPr wrap="square" rtlCol="0" anchor="ctr"/>
          <a:lstStyle/>
          <a:p>
            <a:pPr marL="0" indent="0">
              <a:buNone/>
            </a:pPr>
            <a:r>
              <a:rPr lang="en-US" sz="1250" b="1" i="1" dirty="0">
                <a:solidFill>
                  <a:srgbClr val="B31A38"/>
                </a:solidFill>
                <a:latin typeface="Cambria" pitchFamily="34" charset="0"/>
                <a:ea typeface="Cambria" pitchFamily="34" charset="-122"/>
                <a:cs typeface="Cambria" pitchFamily="34" charset="-120"/>
              </a:rPr>
              <a:t>The tool picks the model. You still own the problem.</a:t>
            </a:r>
            <a:endParaRPr lang="en-US" sz="1250" dirty="0"/>
          </a:p>
        </p:txBody>
      </p:sp>
      <p:sp>
        <p:nvSpPr>
          <p:cNvPr id="10" name="Shape 8"/>
          <p:cNvSpPr/>
          <p:nvPr/>
        </p:nvSpPr>
        <p:spPr>
          <a:xfrm>
            <a:off x="548640" y="3977640"/>
            <a:ext cx="11091672" cy="1828800"/>
          </a:xfrm>
          <a:prstGeom prst="roundRect">
            <a:avLst>
              <a:gd name="adj" fmla="val 3000"/>
            </a:avLst>
          </a:prstGeom>
          <a:solidFill>
            <a:srgbClr val="F4F5F8"/>
          </a:solidFill>
          <a:ln w="12700">
            <a:solidFill>
              <a:srgbClr val="E4E6EF"/>
            </a:solidFill>
            <a:prstDash val="solid"/>
          </a:ln>
        </p:spPr>
        <p:txBody>
          <a:bodyPr/>
          <a:lstStyle/>
          <a:p>
            <a:endParaRPr lang="en-US"/>
          </a:p>
        </p:txBody>
      </p:sp>
      <p:sp>
        <p:nvSpPr>
          <p:cNvPr id="11" name="Shape 9"/>
          <p:cNvSpPr/>
          <p:nvPr/>
        </p:nvSpPr>
        <p:spPr>
          <a:xfrm>
            <a:off x="868680" y="4480560"/>
            <a:ext cx="777240" cy="777240"/>
          </a:xfrm>
          <a:prstGeom prst="ellipse">
            <a:avLst/>
          </a:prstGeom>
          <a:solidFill>
            <a:srgbClr val="1B1F2A"/>
          </a:solidFill>
          <a:ln/>
        </p:spPr>
        <p:txBody>
          <a:bodyPr/>
          <a:lstStyle/>
          <a:p>
            <a:endParaRPr lang="en-US"/>
          </a:p>
        </p:txBody>
      </p:sp>
      <p:sp>
        <p:nvSpPr>
          <p:cNvPr id="12" name="Text 10"/>
          <p:cNvSpPr/>
          <p:nvPr/>
        </p:nvSpPr>
        <p:spPr>
          <a:xfrm>
            <a:off x="868680" y="4480560"/>
            <a:ext cx="777240" cy="7772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920240" y="4215384"/>
            <a:ext cx="9418320" cy="1005840"/>
          </a:xfrm>
          <a:prstGeom prst="rect">
            <a:avLst/>
          </a:prstGeom>
          <a:noFill/>
          <a:ln/>
        </p:spPr>
        <p:txBody>
          <a:bodyPr wrap="square" rtlCol="0" anchor="ctr"/>
          <a:lstStyle/>
          <a:p>
            <a:pPr marL="0" indent="0">
              <a:lnSpc>
                <a:spcPct val="103000"/>
              </a:lnSpc>
              <a:buNone/>
            </a:pPr>
            <a:r>
              <a:rPr lang="en-US" sz="1400" dirty="0">
                <a:solidFill>
                  <a:srgbClr val="1B1F2A"/>
                </a:solidFill>
                <a:latin typeface="Calibri" pitchFamily="34" charset="0"/>
                <a:ea typeface="Calibri" pitchFamily="34" charset="-122"/>
                <a:cs typeface="Calibri" pitchFamily="34" charset="-120"/>
              </a:rPr>
              <a:t>If AutoML handles model selection, where does a data scientist add value now: framing the problem, fixing the data, designing the evaluation, judging the deployment? Which of those is safest from automation?</a:t>
            </a:r>
            <a:endParaRPr lang="en-US" sz="1400" dirty="0"/>
          </a:p>
        </p:txBody>
      </p:sp>
      <p:sp>
        <p:nvSpPr>
          <p:cNvPr id="14" name="Text 12"/>
          <p:cNvSpPr/>
          <p:nvPr/>
        </p:nvSpPr>
        <p:spPr>
          <a:xfrm>
            <a:off x="1920240" y="5276088"/>
            <a:ext cx="9144000" cy="320040"/>
          </a:xfrm>
          <a:prstGeom prst="rect">
            <a:avLst/>
          </a:prstGeom>
          <a:noFill/>
          <a:ln/>
        </p:spPr>
        <p:txBody>
          <a:bodyPr wrap="square" rtlCol="0" anchor="ctr"/>
          <a:lstStyle/>
          <a:p>
            <a:pPr marL="0" indent="0">
              <a:buNone/>
            </a:pPr>
            <a:r>
              <a:rPr lang="en-US" sz="1250" b="1" i="1" dirty="0">
                <a:solidFill>
                  <a:srgbClr val="1B1F2A"/>
                </a:solidFill>
                <a:latin typeface="Cambria" pitchFamily="34" charset="0"/>
                <a:ea typeface="Cambria" pitchFamily="34" charset="-122"/>
                <a:cs typeface="Cambria" pitchFamily="34" charset="-120"/>
              </a:rPr>
              <a:t>Automation moves the skill. It does not delete it.</a:t>
            </a:r>
            <a:endParaRPr lang="en-US" sz="1250" dirty="0"/>
          </a:p>
        </p:txBody>
      </p:sp>
      <p:sp>
        <p:nvSpPr>
          <p:cNvPr id="15" name="Text 13"/>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6" name="Text 14"/>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YOUR PROJECT</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This is your Milestone 2 improvement</a:t>
            </a:r>
            <a:endParaRPr lang="en-US" sz="3000" dirty="0"/>
          </a:p>
        </p:txBody>
      </p:sp>
      <p:sp>
        <p:nvSpPr>
          <p:cNvPr id="4" name="Text 2"/>
          <p:cNvSpPr/>
          <p:nvPr/>
        </p:nvSpPr>
        <p:spPr>
          <a:xfrm>
            <a:off x="566928" y="1481328"/>
            <a:ext cx="10972800" cy="411480"/>
          </a:xfrm>
          <a:prstGeom prst="rect">
            <a:avLst/>
          </a:prstGeom>
          <a:noFill/>
          <a:ln/>
        </p:spPr>
        <p:txBody>
          <a:bodyPr wrap="square" rtlCol="0" anchor="ctr"/>
          <a:lstStyle/>
          <a:p>
            <a:pPr marL="0" indent="0">
              <a:buNone/>
            </a:pPr>
            <a:r>
              <a:rPr lang="en-US" sz="1350" i="1" dirty="0">
                <a:solidFill>
                  <a:srgbClr val="5B6172"/>
                </a:solidFill>
                <a:latin typeface="Cambria" pitchFamily="34" charset="0"/>
                <a:ea typeface="Cambria" pitchFamily="34" charset="-122"/>
                <a:cs typeface="Cambria" pitchFamily="34" charset="-120"/>
              </a:rPr>
              <a:t>Milestone 2 wants a baseline, one deliberate improvement, and a metric. Today handed you the menu. Due Sunday, July 12.</a:t>
            </a:r>
            <a:endParaRPr lang="en-US" sz="1350" dirty="0"/>
          </a:p>
        </p:txBody>
      </p:sp>
      <p:sp>
        <p:nvSpPr>
          <p:cNvPr id="5" name="Shape 3"/>
          <p:cNvSpPr/>
          <p:nvPr/>
        </p:nvSpPr>
        <p:spPr>
          <a:xfrm>
            <a:off x="548640"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2423160"/>
            <a:ext cx="530352" cy="530352"/>
          </a:xfrm>
          <a:prstGeom prst="rect">
            <a:avLst/>
          </a:prstGeom>
        </p:spPr>
      </p:pic>
      <p:sp>
        <p:nvSpPr>
          <p:cNvPr id="7" name="Text 4"/>
          <p:cNvSpPr/>
          <p:nvPr/>
        </p:nvSpPr>
        <p:spPr>
          <a:xfrm>
            <a:off x="841248" y="3127248"/>
            <a:ext cx="3026664" cy="457200"/>
          </a:xfrm>
          <a:prstGeom prst="rect">
            <a:avLst/>
          </a:prstGeom>
          <a:noFill/>
          <a:ln/>
        </p:spPr>
        <p:txBody>
          <a:bodyPr wrap="square" rtlCol="0" anchor="t"/>
          <a:lstStyle/>
          <a:p>
            <a:pPr marL="0" indent="0">
              <a:buNone/>
            </a:pPr>
            <a:r>
              <a:rPr lang="en-US" sz="1650" b="1" dirty="0">
                <a:solidFill>
                  <a:srgbClr val="B31A38"/>
                </a:solidFill>
                <a:latin typeface="Cambria" pitchFamily="34" charset="0"/>
                <a:ea typeface="Cambria" pitchFamily="34" charset="-122"/>
                <a:cs typeface="Cambria" pitchFamily="34" charset="-120"/>
              </a:rPr>
              <a:t>Pick a contender</a:t>
            </a:r>
            <a:endParaRPr lang="en-US" sz="1650" dirty="0"/>
          </a:p>
        </p:txBody>
      </p:sp>
      <p:sp>
        <p:nvSpPr>
          <p:cNvPr id="8" name="Text 5"/>
          <p:cNvSpPr/>
          <p:nvPr/>
        </p:nvSpPr>
        <p:spPr>
          <a:xfrm>
            <a:off x="841248" y="3566160"/>
            <a:ext cx="3026664" cy="100584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Choose one model from the lineup as your improvement over the baseline you already built.</a:t>
            </a:r>
            <a:endParaRPr lang="en-US" sz="1250" dirty="0"/>
          </a:p>
        </p:txBody>
      </p:sp>
      <p:sp>
        <p:nvSpPr>
          <p:cNvPr id="9" name="Shape 6"/>
          <p:cNvSpPr/>
          <p:nvPr/>
        </p:nvSpPr>
        <p:spPr>
          <a:xfrm>
            <a:off x="4306824"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626864" y="2423160"/>
            <a:ext cx="530352" cy="530352"/>
          </a:xfrm>
          <a:prstGeom prst="rect">
            <a:avLst/>
          </a:prstGeom>
        </p:spPr>
      </p:pic>
      <p:sp>
        <p:nvSpPr>
          <p:cNvPr id="11" name="Text 7"/>
          <p:cNvSpPr/>
          <p:nvPr/>
        </p:nvSpPr>
        <p:spPr>
          <a:xfrm>
            <a:off x="4599432" y="3127248"/>
            <a:ext cx="3026664" cy="457200"/>
          </a:xfrm>
          <a:prstGeom prst="rect">
            <a:avLst/>
          </a:prstGeom>
          <a:noFill/>
          <a:ln/>
        </p:spPr>
        <p:txBody>
          <a:bodyPr wrap="square" rtlCol="0" anchor="t"/>
          <a:lstStyle/>
          <a:p>
            <a:pPr marL="0" indent="0">
              <a:buNone/>
            </a:pPr>
            <a:r>
              <a:rPr lang="en-US" sz="1650" b="1" dirty="0">
                <a:solidFill>
                  <a:srgbClr val="1B1F2A"/>
                </a:solidFill>
                <a:latin typeface="Cambria" pitchFamily="34" charset="0"/>
                <a:ea typeface="Cambria" pitchFamily="34" charset="-122"/>
                <a:cs typeface="Cambria" pitchFamily="34" charset="-120"/>
              </a:rPr>
              <a:t>Beat the baseline</a:t>
            </a:r>
            <a:endParaRPr lang="en-US" sz="1650" dirty="0"/>
          </a:p>
        </p:txBody>
      </p:sp>
      <p:sp>
        <p:nvSpPr>
          <p:cNvPr id="12" name="Text 8"/>
          <p:cNvSpPr/>
          <p:nvPr/>
        </p:nvSpPr>
        <p:spPr>
          <a:xfrm>
            <a:off x="4599432" y="3566160"/>
            <a:ext cx="3026664" cy="100584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Show the gain on held-out data, the same fixed test set both models see.</a:t>
            </a:r>
            <a:endParaRPr lang="en-US" sz="1250" dirty="0"/>
          </a:p>
        </p:txBody>
      </p:sp>
      <p:sp>
        <p:nvSpPr>
          <p:cNvPr id="13" name="Shape 9"/>
          <p:cNvSpPr/>
          <p:nvPr/>
        </p:nvSpPr>
        <p:spPr>
          <a:xfrm>
            <a:off x="8065008"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8385048" y="2423160"/>
            <a:ext cx="530352" cy="530352"/>
          </a:xfrm>
          <a:prstGeom prst="rect">
            <a:avLst/>
          </a:prstGeom>
        </p:spPr>
      </p:pic>
      <p:sp>
        <p:nvSpPr>
          <p:cNvPr id="15" name="Text 10"/>
          <p:cNvSpPr/>
          <p:nvPr/>
        </p:nvSpPr>
        <p:spPr>
          <a:xfrm>
            <a:off x="8357616" y="3127248"/>
            <a:ext cx="3026664" cy="457200"/>
          </a:xfrm>
          <a:prstGeom prst="rect">
            <a:avLst/>
          </a:prstGeom>
          <a:noFill/>
          <a:ln/>
        </p:spPr>
        <p:txBody>
          <a:bodyPr wrap="square" rtlCol="0" anchor="t"/>
          <a:lstStyle/>
          <a:p>
            <a:pPr marL="0" indent="0">
              <a:buNone/>
            </a:pPr>
            <a:r>
              <a:rPr lang="en-US" sz="1650" b="1" dirty="0">
                <a:solidFill>
                  <a:srgbClr val="8A6D1F"/>
                </a:solidFill>
                <a:latin typeface="Cambria" pitchFamily="34" charset="0"/>
                <a:ea typeface="Cambria" pitchFamily="34" charset="-122"/>
                <a:cs typeface="Cambria" pitchFamily="34" charset="-120"/>
              </a:rPr>
              <a:t>Justify the choice</a:t>
            </a:r>
            <a:endParaRPr lang="en-US" sz="1650" dirty="0"/>
          </a:p>
        </p:txBody>
      </p:sp>
      <p:sp>
        <p:nvSpPr>
          <p:cNvPr id="16" name="Text 11"/>
          <p:cNvSpPr/>
          <p:nvPr/>
        </p:nvSpPr>
        <p:spPr>
          <a:xfrm>
            <a:off x="8357616" y="3566160"/>
            <a:ext cx="3026664" cy="1005840"/>
          </a:xfrm>
          <a:prstGeom prst="rect">
            <a:avLst/>
          </a:prstGeom>
          <a:noFill/>
          <a:ln/>
        </p:spPr>
        <p:txBody>
          <a:bodyPr wrap="square" rtlCol="0" anchor="t"/>
          <a:lstStyle/>
          <a:p>
            <a:pPr marL="0" indent="0">
              <a:lnSpc>
                <a:spcPct val="105000"/>
              </a:lnSpc>
              <a:buNone/>
            </a:pPr>
            <a:r>
              <a:rPr lang="en-US" sz="1250" dirty="0">
                <a:solidFill>
                  <a:srgbClr val="1B1F2A"/>
                </a:solidFill>
                <a:latin typeface="Calibri" pitchFamily="34" charset="0"/>
                <a:ea typeface="Calibri" pitchFamily="34" charset="-122"/>
                <a:cs typeface="Calibri" pitchFamily="34" charset="-120"/>
              </a:rPr>
              <a:t>Defend it on more than accuracy: speed, cost, interpretability, or multimodal signal.</a:t>
            </a:r>
            <a:endParaRPr lang="en-US" sz="1250" dirty="0"/>
          </a:p>
        </p:txBody>
      </p:sp>
      <p:sp>
        <p:nvSpPr>
          <p:cNvPr id="17" name="Shape 12"/>
          <p:cNvSpPr/>
          <p:nvPr/>
        </p:nvSpPr>
        <p:spPr>
          <a:xfrm>
            <a:off x="548640" y="4983480"/>
            <a:ext cx="11091672" cy="731520"/>
          </a:xfrm>
          <a:prstGeom prst="roundRect">
            <a:avLst>
              <a:gd name="adj" fmla="val 7500"/>
            </a:avLst>
          </a:prstGeom>
          <a:solidFill>
            <a:srgbClr val="151A2E"/>
          </a:solidFill>
          <a:ln w="12700">
            <a:solidFill>
              <a:srgbClr val="151A2E"/>
            </a:solidFill>
            <a:prstDash val="solid"/>
          </a:ln>
        </p:spPr>
        <p:txBody>
          <a:bodyPr/>
          <a:lstStyle/>
          <a:p>
            <a:endParaRPr lang="en-US"/>
          </a:p>
        </p:txBody>
      </p:sp>
      <p:sp>
        <p:nvSpPr>
          <p:cNvPr id="18" name="Text 13"/>
          <p:cNvSpPr/>
          <p:nvPr/>
        </p:nvSpPr>
        <p:spPr>
          <a:xfrm>
            <a:off x="868680" y="4983480"/>
            <a:ext cx="10424160" cy="731520"/>
          </a:xfrm>
          <a:prstGeom prst="rect">
            <a:avLst/>
          </a:prstGeom>
          <a:noFill/>
          <a:ln/>
        </p:spPr>
        <p:txBody>
          <a:bodyPr wrap="square"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Defend not just that it scored higher, but why it was the right tool for your job.</a:t>
            </a:r>
            <a:endParaRPr lang="en-US" sz="1500" dirty="0"/>
          </a:p>
        </p:txBody>
      </p:sp>
      <p:sp>
        <p:nvSpPr>
          <p:cNvPr id="19"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0"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868680" y="685800"/>
            <a:ext cx="54864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850392" y="96012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Today in one line</a:t>
            </a:r>
            <a:endParaRPr lang="en-US" sz="3200" dirty="0"/>
          </a:p>
        </p:txBody>
      </p:sp>
      <p:sp>
        <p:nvSpPr>
          <p:cNvPr id="4" name="Text 2"/>
          <p:cNvSpPr/>
          <p:nvPr/>
        </p:nvSpPr>
        <p:spPr>
          <a:xfrm>
            <a:off x="868680" y="1691640"/>
            <a:ext cx="10424160" cy="548640"/>
          </a:xfrm>
          <a:prstGeom prst="rect">
            <a:avLst/>
          </a:prstGeom>
          <a:noFill/>
          <a:ln/>
        </p:spPr>
        <p:txBody>
          <a:bodyPr wrap="square" rtlCol="0" anchor="ctr"/>
          <a:lstStyle/>
          <a:p>
            <a:pPr marL="0" indent="0">
              <a:buNone/>
            </a:pPr>
            <a:r>
              <a:rPr lang="en-US" sz="1500" i="1" dirty="0">
                <a:solidFill>
                  <a:srgbClr val="C9CDDA"/>
                </a:solidFill>
                <a:latin typeface="Cambria" pitchFamily="34" charset="0"/>
                <a:ea typeface="Cambria" pitchFamily="34" charset="-122"/>
                <a:cs typeface="Cambria" pitchFamily="34" charset="-120"/>
              </a:rPr>
              <a:t>There is no single best classifier. There is the best one for this job, this budget, and this need to explain it.</a:t>
            </a:r>
            <a:endParaRPr lang="en-US" sz="1500" dirty="0"/>
          </a:p>
        </p:txBody>
      </p:sp>
      <p:sp>
        <p:nvSpPr>
          <p:cNvPr id="5" name="Shape 3"/>
          <p:cNvSpPr/>
          <p:nvPr/>
        </p:nvSpPr>
        <p:spPr>
          <a:xfrm>
            <a:off x="868680"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61288" y="2788920"/>
            <a:ext cx="475488" cy="475488"/>
          </a:xfrm>
          <a:prstGeom prst="rect">
            <a:avLst/>
          </a:prstGeom>
        </p:spPr>
      </p:pic>
      <p:sp>
        <p:nvSpPr>
          <p:cNvPr id="7" name="Text 4"/>
          <p:cNvSpPr/>
          <p:nvPr/>
        </p:nvSpPr>
        <p:spPr>
          <a:xfrm>
            <a:off x="1161288"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Contenders</a:t>
            </a:r>
            <a:endParaRPr lang="en-US" sz="1600" dirty="0"/>
          </a:p>
        </p:txBody>
      </p:sp>
      <p:sp>
        <p:nvSpPr>
          <p:cNvPr id="8" name="Text 5"/>
          <p:cNvSpPr/>
          <p:nvPr/>
        </p:nvSpPr>
        <p:spPr>
          <a:xfrm>
            <a:off x="1161288" y="3703320"/>
            <a:ext cx="2916936" cy="640080"/>
          </a:xfrm>
          <a:prstGeom prst="rect">
            <a:avLst/>
          </a:prstGeom>
          <a:noFill/>
          <a:ln/>
        </p:spPr>
        <p:txBody>
          <a:bodyPr wrap="square" rtlCol="0" anchor="t"/>
          <a:lstStyle/>
          <a:p>
            <a:pPr marL="0" indent="0">
              <a:lnSpc>
                <a:spcPct val="103000"/>
              </a:lnSpc>
              <a:buNone/>
            </a:pPr>
            <a:r>
              <a:rPr lang="en-US" sz="1150" dirty="0">
                <a:solidFill>
                  <a:srgbClr val="C9CDDA"/>
                </a:solidFill>
                <a:latin typeface="Calibri" pitchFamily="34" charset="0"/>
                <a:ea typeface="Calibri" pitchFamily="34" charset="-122"/>
                <a:cs typeface="Calibri" pitchFamily="34" charset="-120"/>
              </a:rPr>
              <a:t>Five models, one task. FastText, spaCy, AutoGluon, a transformer, all against the baseline.</a:t>
            </a:r>
            <a:endParaRPr lang="en-US" sz="1150" dirty="0"/>
          </a:p>
        </p:txBody>
      </p:sp>
      <p:sp>
        <p:nvSpPr>
          <p:cNvPr id="9" name="Shape 6"/>
          <p:cNvSpPr/>
          <p:nvPr/>
        </p:nvSpPr>
        <p:spPr>
          <a:xfrm>
            <a:off x="4535424"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828032" y="2788920"/>
            <a:ext cx="475488" cy="475488"/>
          </a:xfrm>
          <a:prstGeom prst="rect">
            <a:avLst/>
          </a:prstGeom>
        </p:spPr>
      </p:pic>
      <p:sp>
        <p:nvSpPr>
          <p:cNvPr id="11" name="Text 7"/>
          <p:cNvSpPr/>
          <p:nvPr/>
        </p:nvSpPr>
        <p:spPr>
          <a:xfrm>
            <a:off x="4828032"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The frontier</a:t>
            </a:r>
            <a:endParaRPr lang="en-US" sz="1600" dirty="0"/>
          </a:p>
        </p:txBody>
      </p:sp>
      <p:sp>
        <p:nvSpPr>
          <p:cNvPr id="12" name="Text 8"/>
          <p:cNvSpPr/>
          <p:nvPr/>
        </p:nvSpPr>
        <p:spPr>
          <a:xfrm>
            <a:off x="4828032" y="3703320"/>
            <a:ext cx="2916936" cy="640080"/>
          </a:xfrm>
          <a:prstGeom prst="rect">
            <a:avLst/>
          </a:prstGeom>
          <a:noFill/>
          <a:ln/>
        </p:spPr>
        <p:txBody>
          <a:bodyPr wrap="square" rtlCol="0" anchor="t"/>
          <a:lstStyle/>
          <a:p>
            <a:pPr marL="0" indent="0">
              <a:lnSpc>
                <a:spcPct val="103000"/>
              </a:lnSpc>
              <a:buNone/>
            </a:pPr>
            <a:r>
              <a:rPr lang="en-US" sz="1150" dirty="0">
                <a:solidFill>
                  <a:srgbClr val="C9CDDA"/>
                </a:solidFill>
                <a:latin typeface="Calibri" pitchFamily="34" charset="0"/>
                <a:ea typeface="Calibri" pitchFamily="34" charset="-122"/>
                <a:cs typeface="Calibri" pitchFamily="34" charset="-120"/>
              </a:rPr>
              <a:t>Accuracy is one axis of four. The winner is a point on a curve, not a champion.</a:t>
            </a:r>
            <a:endParaRPr lang="en-US" sz="1150" dirty="0"/>
          </a:p>
        </p:txBody>
      </p:sp>
      <p:sp>
        <p:nvSpPr>
          <p:cNvPr id="13" name="Shape 9"/>
          <p:cNvSpPr/>
          <p:nvPr/>
        </p:nvSpPr>
        <p:spPr>
          <a:xfrm>
            <a:off x="8202168"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494776" y="2788920"/>
            <a:ext cx="475488" cy="475488"/>
          </a:xfrm>
          <a:prstGeom prst="rect">
            <a:avLst/>
          </a:prstGeom>
        </p:spPr>
      </p:pic>
      <p:sp>
        <p:nvSpPr>
          <p:cNvPr id="15" name="Text 10"/>
          <p:cNvSpPr/>
          <p:nvPr/>
        </p:nvSpPr>
        <p:spPr>
          <a:xfrm>
            <a:off x="8494776"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Judgment</a:t>
            </a:r>
            <a:endParaRPr lang="en-US" sz="1600" dirty="0"/>
          </a:p>
        </p:txBody>
      </p:sp>
      <p:sp>
        <p:nvSpPr>
          <p:cNvPr id="16" name="Text 11"/>
          <p:cNvSpPr/>
          <p:nvPr/>
        </p:nvSpPr>
        <p:spPr>
          <a:xfrm>
            <a:off x="8494776" y="3703320"/>
            <a:ext cx="2916936" cy="640080"/>
          </a:xfrm>
          <a:prstGeom prst="rect">
            <a:avLst/>
          </a:prstGeom>
          <a:noFill/>
          <a:ln/>
        </p:spPr>
        <p:txBody>
          <a:bodyPr wrap="square" rtlCol="0" anchor="t"/>
          <a:lstStyle/>
          <a:p>
            <a:pPr marL="0" indent="0">
              <a:lnSpc>
                <a:spcPct val="103000"/>
              </a:lnSpc>
              <a:buNone/>
            </a:pPr>
            <a:r>
              <a:rPr lang="en-US" sz="1150" dirty="0">
                <a:solidFill>
                  <a:srgbClr val="C9CDDA"/>
                </a:solidFill>
                <a:latin typeface="Calibri" pitchFamily="34" charset="0"/>
                <a:ea typeface="Calibri" pitchFamily="34" charset="-122"/>
                <a:cs typeface="Calibri" pitchFamily="34" charset="-120"/>
              </a:rPr>
              <a:t>AutoML moves the skill up the stack. You still own the problem and the call to ship.</a:t>
            </a:r>
            <a:endParaRPr lang="en-US" sz="1150" dirty="0"/>
          </a:p>
        </p:txBody>
      </p:sp>
      <p:sp>
        <p:nvSpPr>
          <p:cNvPr id="17" name="Shape 12"/>
          <p:cNvSpPr/>
          <p:nvPr/>
        </p:nvSpPr>
        <p:spPr>
          <a:xfrm>
            <a:off x="868680" y="4663440"/>
            <a:ext cx="10451592" cy="914400"/>
          </a:xfrm>
          <a:prstGeom prst="roundRect">
            <a:avLst>
              <a:gd name="adj" fmla="val 6000"/>
            </a:avLst>
          </a:prstGeom>
          <a:solidFill>
            <a:srgbClr val="B31A38"/>
          </a:solidFill>
          <a:ln w="12700">
            <a:solidFill>
              <a:srgbClr val="B31A38"/>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1188720" y="4956048"/>
            <a:ext cx="457200" cy="347472"/>
          </a:xfrm>
          <a:prstGeom prst="rect">
            <a:avLst/>
          </a:prstGeom>
        </p:spPr>
      </p:pic>
      <p:sp>
        <p:nvSpPr>
          <p:cNvPr id="19" name="Text 13"/>
          <p:cNvSpPr/>
          <p:nvPr/>
        </p:nvSpPr>
        <p:spPr>
          <a:xfrm>
            <a:off x="1828800" y="4754880"/>
            <a:ext cx="6583680" cy="73152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Next week: Text Retrieval &amp; Deep Learning Intro, where a neural net arrives as a black box you benchmark against tonight's winners</a:t>
            </a:r>
            <a:endParaRPr lang="en-US" sz="1400" dirty="0"/>
          </a:p>
        </p:txBody>
      </p:sp>
      <p:sp>
        <p:nvSpPr>
          <p:cNvPr id="20" name="Text 14"/>
          <p:cNvSpPr/>
          <p:nvPr/>
        </p:nvSpPr>
        <p:spPr>
          <a:xfrm>
            <a:off x="8549640" y="4754880"/>
            <a:ext cx="2606040" cy="731520"/>
          </a:xfrm>
          <a:prstGeom prst="rect">
            <a:avLst/>
          </a:prstGeom>
          <a:noFill/>
          <a:ln/>
        </p:spPr>
        <p:txBody>
          <a:bodyPr wrap="square" rtlCol="0" anchor="ctr"/>
          <a:lstStyle/>
          <a:p>
            <a:pPr marL="0" indent="0" algn="r">
              <a:buNone/>
            </a:pPr>
            <a:r>
              <a:rPr lang="en-US" sz="1050" i="1" dirty="0">
                <a:solidFill>
                  <a:srgbClr val="FFE3E8"/>
                </a:solidFill>
                <a:latin typeface="Calibri" pitchFamily="34" charset="0"/>
                <a:ea typeface="Calibri" pitchFamily="34" charset="-122"/>
                <a:cs typeface="Calibri" pitchFamily="34" charset="-120"/>
              </a:rPr>
              <a:t>Read: J&amp;M ch. 4 · HOLLM ch. 4 · Tunstall ch. 2</a:t>
            </a:r>
            <a:endParaRPr lang="en-US" sz="1050" dirty="0"/>
          </a:p>
        </p:txBody>
      </p:sp>
      <p:sp>
        <p:nvSpPr>
          <p:cNvPr id="21" name="Text 15"/>
          <p:cNvSpPr/>
          <p:nvPr/>
        </p:nvSpPr>
        <p:spPr>
          <a:xfrm>
            <a:off x="868680" y="6355080"/>
            <a:ext cx="91440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1274</TotalTime>
  <Words>2743</Words>
  <Application>Microsoft Macintosh PowerPoint</Application>
  <PresentationFormat>Widescreen</PresentationFormat>
  <Paragraphs>191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Jules Malin</cp:lastModifiedBy>
  <cp:revision>2</cp:revision>
  <dcterms:created xsi:type="dcterms:W3CDTF">2026-07-01T21:27:44Z</dcterms:created>
  <dcterms:modified xsi:type="dcterms:W3CDTF">2026-07-02T20:27:37Z</dcterms:modified>
</cp:coreProperties>
</file>