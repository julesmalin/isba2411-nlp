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9" d="100"/>
          <a:sy n="119" d="100"/>
        </p:scale>
        <p:origin x="5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7094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Tonight the machine starts to learn. Last week we described language; tonight we predict from it. One line for the night: supervised learning turns labeled examples into a model, and AI can now write that code, so the skill that matters is judging whether the code is right. Cold open: ask who in the room has shipped code an AI wrote without reading it closely. Tonight is about the discipline that makes that safe.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Week 2. We spent two sessions turning raw text into structure: tokens, POS, entities, parses, and the token economics around them. All of that was description. Tonight we cross into prediction: feed a model labeled examples and have it learn a decision. Ask the room: what is the simplest business task that is just text-in, label-out? (spam, sentiment, ticket routing, fraud flags.) That is supervised text classification, and it is the backbone of Milestone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verbs, mapped to the night. Represent and Build are the lecture plus the demo; Evaluate is the scoring discussion; Judge is the whole point of the AI-coding demo. Name them so students know which moments are hands-on (the exercise and the demo) and which are judgment calls (evaluation and the discussion). The test of tonight is not can you call .fit(), it is can you tell whether the number it printed is real.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pivot of the course. Last week the logic was hand-written; supervised learning replaces hand-written rules with labeled examples and a learner that infers the rule. Use spam as the canonical example: nobody writes if contains('viagra') anymore, you label thousands of messages and let the model find the pattern. The recipe band is the mental model to carry all term: data, features, a learner, a model. Everything from logistic regression to a fine-tuned transformer is a variation on this recipe. Reading is J&amp;M ch.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representation half of Milestone 2, so slow down. A model cannot read; it needs numbers. Bag of words lists terms and counts them; TF-IDF then down-weights words that appear everywhere (the, film) and up-weights rare, discriminating words. Walk the worked example: film appears in every doc so its weight is low; dull and funny are rare and carry the class signal. Flag the limitation now: bag of words throws away order, so 'not good' looks positive. Bigrams fix it, which is exactly the lever in the exercise and the demo. Reading: J&amp;M ch. 4, Tunstall ch.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 the humble baseline. Logistic regression over TF-IDF is linear, fast, and interpretable: you can literally print the words with the biggest positive and negative weights and see what the model learned. It lands around 76 to 78 percent on rotten_tomatoes, and that number is the bar a transformer has to beat to justify its cost. The discipline line is the one to repeat: a score on training data is not a result. The three traps band previews the exact mistakes the exercise and the demo will surface, so plant them here. Reading: HOLLM ch.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pairs, no API key. This is a rehearsal of the entire Milestone 2 shape: baseline, then one deliberate improvement, then a metric that says whether it helped. Circulate and hunt for the teachable failure: a pair whose training accuracy jumps but test accuracy drops after they 'improve' the model. That is the lesson made physical. The satisfying win is bigrams catching 'not good'. Have each pair name the one review that fools their model; you will reuse those in the report-out and they set up the verify-always demo.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precision and recall concrete with a cost, the way Week 2 did with NER redaction. Accuracy hides which class you fail on; a 95 percent-accurate classifier can still miss half of a rare positive class. Precision is the false-alarm rate, recall is the miss rate, and which one matters depends on the business cost. The dark callout is the single most important habit of the night: train and test must be different data. The demo will show Gemini fall into exactly this trap, so this slide is the setup for the punchline.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of framing before you open the laptop. Put the board line up: today the AI writes the code, your job is to know if it is right. Gemini is a smart pair of hands inside one cell; Claude Code is a teammate you hand a whole task to. Generate fast, verify always. Logistics: be logged into Claude Code before class, it is a paid-plan watch-me demo, and the only fragile step is the dataset download, so pre-run once or keep the finished folder in a second tab.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30-minute centerpiece; this slide is your run sheet, narrate over it. Gemini block (~15 min): tour the four features, then have it generate the TF-IDF + logistic regression model, run whatever it gives, and then do the real teaching, find the miss (no n-grams, no min_df, or evaluating on the training split), fix that one thing, and watch the number move. Claude Code block (~12 min): from an empty folder, one prompt becomes a multi-file project it runs and fixes itself; then iterate by adding a unit test. The point is not the model, they already built that with Gemini, it is watching one instruction become a structured project. Fallback: reviews.csv with the fallback cell if the wifi blocks the download.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small groups, report out. Frame 1 lands the verify-always lesson with stakes: when AI-written code looks perfect but secretly tested on the training set, who is accountable, and how would a reviewer catch it without reading every line? Push past 'the tool's fault' to a real answer about review process. Frame 2 makes it personal to the final project: agents can build your classifier, but you will defend it in the demo, so where is the line between leverage and not understanding your own system? There is no clean answer to either; that is the 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connecting tonight to the deliverable. Milestone 2 is Baseline and Representation, due Sunday July 12. Representation: each team justifies how they featurize their own text. Baseline: a simple, honest classifier. Metric: one number on held-out data that becomes the reference point for the rest of the term. The closing line is the through-line of the whole project arc, every fancier model later only earns its place by beating tonight's baseline. Tell them to reuse tonight's exercise notebook as their starting scaffold.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Three takeaways: representation (TF-IDF and the term-document matrix), baseline (simple, honestly evaluated), verification (generate fast, verify always). Point ahead to Thursday: classifiers in the wild, FastText, spaCy, and multimodal classification with AutoGluon, where we push past the linear baseline. Close the loop, the baseline you build for Milestone 2 starts tonight. Reading: J&amp;M ch. 4, HOLLM ch. 4, Tunstall ch.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A2E"/>
        </a:solidFill>
        <a:effectLst/>
      </p:bgPr>
    </p:bg>
    <p:spTree>
      <p:nvGrpSpPr>
        <p:cNvPr id="1" name=""/>
        <p:cNvGrpSpPr/>
        <p:nvPr/>
      </p:nvGrpSpPr>
      <p:grpSpPr>
        <a:xfrm>
          <a:off x="0" y="0"/>
          <a:ext cx="0" cy="0"/>
          <a:chOff x="0" y="0"/>
          <a:chExt cx="0" cy="0"/>
        </a:xfrm>
      </p:grpSpPr>
      <p:sp>
        <p:nvSpPr>
          <p:cNvPr id="2" name="Text 0"/>
          <p:cNvSpPr/>
          <p:nvPr/>
        </p:nvSpPr>
        <p:spPr>
          <a:xfrm>
            <a:off x="868680" y="1371600"/>
            <a:ext cx="9144000" cy="320040"/>
          </a:xfrm>
          <a:prstGeom prst="rect">
            <a:avLst/>
          </a:prstGeom>
          <a:noFill/>
          <a:ln/>
        </p:spPr>
        <p:txBody>
          <a:bodyPr wrap="square" rtlCol="0" anchor="ctr"/>
          <a:lstStyle/>
          <a:p>
            <a:pPr marL="0" indent="0">
              <a:buNone/>
            </a:pPr>
            <a:r>
              <a:rPr lang="en-US" sz="1300" b="1" kern="0" spc="300" dirty="0">
                <a:solidFill>
                  <a:srgbClr val="B5A06A"/>
                </a:solidFill>
                <a:latin typeface="Calibri" pitchFamily="34" charset="0"/>
                <a:ea typeface="Calibri" pitchFamily="34" charset="-122"/>
                <a:cs typeface="Calibri" pitchFamily="34" charset="-120"/>
              </a:rPr>
              <a:t>WEEK 3  ·  LECTURE 5  ·  TUESDAY</a:t>
            </a:r>
            <a:endParaRPr lang="en-US" sz="1300" dirty="0"/>
          </a:p>
        </p:txBody>
      </p:sp>
      <p:sp>
        <p:nvSpPr>
          <p:cNvPr id="3" name="Text 1"/>
          <p:cNvSpPr/>
          <p:nvPr/>
        </p:nvSpPr>
        <p:spPr>
          <a:xfrm>
            <a:off x="822960" y="1783080"/>
            <a:ext cx="10058400" cy="1005840"/>
          </a:xfrm>
          <a:prstGeom prst="rect">
            <a:avLst/>
          </a:prstGeom>
          <a:noFill/>
          <a:ln/>
        </p:spPr>
        <p:txBody>
          <a:bodyPr wrap="square"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Learning from Labels</a:t>
            </a:r>
            <a:endParaRPr lang="en-US" sz="5200" dirty="0"/>
          </a:p>
        </p:txBody>
      </p:sp>
      <p:sp>
        <p:nvSpPr>
          <p:cNvPr id="4" name="Text 2"/>
          <p:cNvSpPr/>
          <p:nvPr/>
        </p:nvSpPr>
        <p:spPr>
          <a:xfrm>
            <a:off x="868680" y="2880360"/>
            <a:ext cx="9601200" cy="457200"/>
          </a:xfrm>
          <a:prstGeom prst="rect">
            <a:avLst/>
          </a:prstGeom>
          <a:noFill/>
          <a:ln/>
        </p:spPr>
        <p:txBody>
          <a:bodyPr wrap="square" rtlCol="0" anchor="ctr"/>
          <a:lstStyle/>
          <a:p>
            <a:pPr marL="0" indent="0">
              <a:buNone/>
            </a:pPr>
            <a:r>
              <a:rPr lang="en-US" sz="1900" dirty="0">
                <a:solidFill>
                  <a:srgbClr val="D7DAE6"/>
                </a:solidFill>
                <a:latin typeface="Calibri" pitchFamily="34" charset="0"/>
                <a:ea typeface="Calibri" pitchFamily="34" charset="-122"/>
                <a:cs typeface="Calibri" pitchFamily="34" charset="-120"/>
              </a:rPr>
              <a:t>Supervised Text Classification &amp; Representation</a:t>
            </a:r>
            <a:endParaRPr lang="en-US" sz="1900" dirty="0"/>
          </a:p>
        </p:txBody>
      </p:sp>
      <p:sp>
        <p:nvSpPr>
          <p:cNvPr id="5" name="Shape 3"/>
          <p:cNvSpPr/>
          <p:nvPr/>
        </p:nvSpPr>
        <p:spPr>
          <a:xfrm>
            <a:off x="886968" y="3611880"/>
            <a:ext cx="1554480" cy="41148"/>
          </a:xfrm>
          <a:prstGeom prst="rect">
            <a:avLst/>
          </a:prstGeom>
          <a:solidFill>
            <a:srgbClr val="B31A38"/>
          </a:solidFill>
          <a:ln/>
        </p:spPr>
        <p:txBody>
          <a:bodyPr/>
          <a:lstStyle/>
          <a:p>
            <a:endParaRPr lang="en-US"/>
          </a:p>
        </p:txBody>
      </p:sp>
      <p:sp>
        <p:nvSpPr>
          <p:cNvPr id="6" name="Text 4"/>
          <p:cNvSpPr/>
          <p:nvPr/>
        </p:nvSpPr>
        <p:spPr>
          <a:xfrm>
            <a:off x="868680" y="3794760"/>
            <a:ext cx="7315200" cy="365760"/>
          </a:xfrm>
          <a:prstGeom prst="rect">
            <a:avLst/>
          </a:prstGeom>
          <a:noFill/>
          <a:ln/>
        </p:spPr>
        <p:txBody>
          <a:bodyPr wrap="square" rtlCol="0" anchor="ctr"/>
          <a:lstStyle/>
          <a:p>
            <a:pPr marL="0" indent="0">
              <a:buNone/>
            </a:pPr>
            <a:r>
              <a:rPr lang="en-US" sz="1500" i="1" dirty="0">
                <a:solidFill>
                  <a:srgbClr val="B5A06A"/>
                </a:solidFill>
                <a:latin typeface="Cambria" pitchFamily="34" charset="0"/>
                <a:ea typeface="Cambria" pitchFamily="34" charset="-122"/>
                <a:cs typeface="Cambria" pitchFamily="34" charset="-120"/>
              </a:rPr>
              <a:t>From rules to learning</a:t>
            </a:r>
            <a:endParaRPr lang="en-US" sz="1500" dirty="0"/>
          </a:p>
        </p:txBody>
      </p:sp>
      <p:pic>
        <p:nvPicPr>
          <p:cNvPr id="7" name="Image 0" descr="preencoded.png"/>
          <p:cNvPicPr>
            <a:picLocks noChangeAspect="1"/>
          </p:cNvPicPr>
          <p:nvPr/>
        </p:nvPicPr>
        <p:blipFill>
          <a:blip r:embed="rId3"/>
          <a:stretch>
            <a:fillRect/>
          </a:stretch>
        </p:blipFill>
        <p:spPr>
          <a:xfrm>
            <a:off x="10104120" y="4160520"/>
            <a:ext cx="914400" cy="914400"/>
          </a:xfrm>
          <a:prstGeom prst="rect">
            <a:avLst/>
          </a:prstGeom>
        </p:spPr>
      </p:pic>
      <p:sp>
        <p:nvSpPr>
          <p:cNvPr id="8" name="Text 5"/>
          <p:cNvSpPr/>
          <p:nvPr/>
        </p:nvSpPr>
        <p:spPr>
          <a:xfrm>
            <a:off x="868680" y="5943600"/>
            <a:ext cx="9144000" cy="274320"/>
          </a:xfrm>
          <a:prstGeom prst="rect">
            <a:avLst/>
          </a:prstGeom>
          <a:noFill/>
          <a:ln/>
        </p:spPr>
        <p:txBody>
          <a:bodyPr wrap="square" rtlCol="0" anchor="ctr"/>
          <a:lstStyle/>
          <a:p>
            <a:pPr marL="0" indent="0">
              <a:buNone/>
            </a:pPr>
            <a:r>
              <a:rPr lang="en-US" sz="9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RECAP FROM LAST WEEK</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We can structure text. Now we make it decide.</a:t>
            </a:r>
            <a:endParaRPr lang="en-US" sz="3000" dirty="0"/>
          </a:p>
        </p:txBody>
      </p:sp>
      <p:sp>
        <p:nvSpPr>
          <p:cNvPr id="4" name="Shape 2"/>
          <p:cNvSpPr/>
          <p:nvPr/>
        </p:nvSpPr>
        <p:spPr>
          <a:xfrm>
            <a:off x="548640" y="1920240"/>
            <a:ext cx="5257800" cy="3749040"/>
          </a:xfrm>
          <a:prstGeom prst="roundRect">
            <a:avLst>
              <a:gd name="adj" fmla="val 1463"/>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sp>
        <p:nvSpPr>
          <p:cNvPr id="5" name="Shape 3"/>
          <p:cNvSpPr/>
          <p:nvPr/>
        </p:nvSpPr>
        <p:spPr>
          <a:xfrm>
            <a:off x="6382512" y="1920240"/>
            <a:ext cx="5257800" cy="3749040"/>
          </a:xfrm>
          <a:prstGeom prst="roundRect">
            <a:avLst>
              <a:gd name="adj" fmla="val 1463"/>
            </a:avLst>
          </a:prstGeom>
          <a:solidFill>
            <a:srgbClr val="F7F3E9"/>
          </a:solidFill>
          <a:ln w="12700">
            <a:solidFill>
              <a:srgbClr val="E7DEC4"/>
            </a:solidFill>
            <a:prstDash val="solid"/>
          </a:ln>
          <a:effectLst>
            <a:outerShdw blurRad="88900" dist="25400" dir="5400000" algn="bl" rotWithShape="0">
              <a:srgbClr val="9AA0B0">
                <a:alpha val="25000"/>
              </a:srgbClr>
            </a:outerShdw>
          </a:effectLst>
        </p:spPr>
        <p:txBody>
          <a:bodyPr/>
          <a:lstStyle/>
          <a:p>
            <a:endParaRPr lang="en-US"/>
          </a:p>
        </p:txBody>
      </p:sp>
      <p:sp>
        <p:nvSpPr>
          <p:cNvPr id="6" name="Text 4"/>
          <p:cNvSpPr/>
          <p:nvPr/>
        </p:nvSpPr>
        <p:spPr>
          <a:xfrm>
            <a:off x="868680" y="2148840"/>
            <a:ext cx="4709160" cy="320040"/>
          </a:xfrm>
          <a:prstGeom prst="rect">
            <a:avLst/>
          </a:prstGeom>
          <a:noFill/>
          <a:ln/>
        </p:spPr>
        <p:txBody>
          <a:bodyPr wrap="square" rtlCol="0" anchor="ctr"/>
          <a:lstStyle/>
          <a:p>
            <a:pPr marL="0" indent="0">
              <a:buNone/>
            </a:pPr>
            <a:r>
              <a:rPr lang="en-US" sz="1300" b="1" dirty="0">
                <a:solidFill>
                  <a:srgbClr val="B31A38"/>
                </a:solidFill>
                <a:latin typeface="Calibri" pitchFamily="34" charset="0"/>
                <a:ea typeface="Calibri" pitchFamily="34" charset="-122"/>
                <a:cs typeface="Calibri" pitchFamily="34" charset="-120"/>
              </a:rPr>
              <a:t>Week 2 gave us</a:t>
            </a:r>
            <a:endParaRPr lang="en-US" sz="1300" dirty="0"/>
          </a:p>
        </p:txBody>
      </p:sp>
      <p:sp>
        <p:nvSpPr>
          <p:cNvPr id="7" name="Text 5"/>
          <p:cNvSpPr/>
          <p:nvPr/>
        </p:nvSpPr>
        <p:spPr>
          <a:xfrm>
            <a:off x="868680" y="2606040"/>
            <a:ext cx="4663440" cy="2834640"/>
          </a:xfrm>
          <a:prstGeom prst="rect">
            <a:avLst/>
          </a:prstGeom>
          <a:noFill/>
          <a:ln/>
        </p:spPr>
        <p:txBody>
          <a:bodyPr wrap="square" rtlCol="0" anchor="t"/>
          <a:lstStyle/>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Subword tokenization: BPE, WordPiece, SentencePiece</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POS tags and named entities: structure over raw tokens</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Constituency and dependency parsing</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The token tax, and tokenizer-model bugs </a:t>
            </a:r>
            <a:r>
              <a:rPr lang="en-US" sz="1250">
                <a:solidFill>
                  <a:srgbClr val="1B1F2A"/>
                </a:solidFill>
                <a:latin typeface="Calibri" pitchFamily="34" charset="0"/>
                <a:ea typeface="Calibri" pitchFamily="34" charset="-122"/>
                <a:cs typeface="Calibri" pitchFamily="34" charset="-120"/>
              </a:rPr>
              <a:t>to prevent</a:t>
            </a:r>
            <a:endParaRPr lang="en-US" sz="1250" dirty="0"/>
          </a:p>
        </p:txBody>
      </p:sp>
      <p:sp>
        <p:nvSpPr>
          <p:cNvPr id="8" name="Text 6"/>
          <p:cNvSpPr/>
          <p:nvPr/>
        </p:nvSpPr>
        <p:spPr>
          <a:xfrm>
            <a:off x="6702552" y="2148840"/>
            <a:ext cx="4709160" cy="320040"/>
          </a:xfrm>
          <a:prstGeom prst="rect">
            <a:avLst/>
          </a:prstGeom>
          <a:noFill/>
          <a:ln/>
        </p:spPr>
        <p:txBody>
          <a:bodyPr wrap="square" rtlCol="0" anchor="ctr"/>
          <a:lstStyle/>
          <a:p>
            <a:pPr marL="0" indent="0">
              <a:buNone/>
            </a:pPr>
            <a:r>
              <a:rPr lang="en-US" sz="1300" b="1" dirty="0">
                <a:solidFill>
                  <a:srgbClr val="8A6D1F"/>
                </a:solidFill>
                <a:latin typeface="Calibri" pitchFamily="34" charset="0"/>
                <a:ea typeface="Calibri" pitchFamily="34" charset="-122"/>
                <a:cs typeface="Calibri" pitchFamily="34" charset="-120"/>
              </a:rPr>
              <a:t>Week 3 asks</a:t>
            </a:r>
            <a:endParaRPr lang="en-US" sz="1300" dirty="0"/>
          </a:p>
        </p:txBody>
      </p:sp>
      <p:sp>
        <p:nvSpPr>
          <p:cNvPr id="9" name="Text 7"/>
          <p:cNvSpPr/>
          <p:nvPr/>
        </p:nvSpPr>
        <p:spPr>
          <a:xfrm>
            <a:off x="6702552" y="2606040"/>
            <a:ext cx="4663440" cy="2834640"/>
          </a:xfrm>
          <a:prstGeom prst="rect">
            <a:avLst/>
          </a:prstGeom>
          <a:noFill/>
          <a:ln/>
        </p:spPr>
        <p:txBody>
          <a:bodyPr wrap="square" rtlCol="0" anchor="t"/>
          <a:lstStyle/>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How do we turn text into numbers a model can learn from?</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How does a model learn to classify from labeled examples?</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How do we know whether it is actually any good?</a:t>
            </a:r>
            <a:endParaRPr lang="en-US" sz="1250" dirty="0"/>
          </a:p>
          <a:p>
            <a:pPr marL="177800" indent="-177800">
              <a:lnSpc>
                <a:spcPct val="102000"/>
              </a:lnSpc>
              <a:spcAft>
                <a:spcPts val="600"/>
              </a:spcAft>
              <a:buSzPct val="100000"/>
              <a:buChar char="•"/>
            </a:pPr>
            <a:r>
              <a:rPr lang="en-US" sz="1250" dirty="0">
                <a:solidFill>
                  <a:srgbClr val="1B1F2A"/>
                </a:solidFill>
                <a:latin typeface="Calibri" pitchFamily="34" charset="0"/>
                <a:ea typeface="Calibri" pitchFamily="34" charset="-122"/>
                <a:cs typeface="Calibri" pitchFamily="34" charset="-120"/>
              </a:rPr>
              <a:t>And: AI can now write this code. What stays our job?</a:t>
            </a:r>
            <a:endParaRPr lang="en-US" sz="1250" dirty="0"/>
          </a:p>
        </p:txBody>
      </p:sp>
      <p:sp>
        <p:nvSpPr>
          <p:cNvPr id="10" name="Text 8"/>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11" name="Text 9"/>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TODAY</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By the end of class you will be able to</a:t>
            </a:r>
            <a:endParaRPr lang="en-US" sz="3000" dirty="0"/>
          </a:p>
        </p:txBody>
      </p:sp>
      <p:sp>
        <p:nvSpPr>
          <p:cNvPr id="4" name="Shape 2"/>
          <p:cNvSpPr/>
          <p:nvPr/>
        </p:nvSpPr>
        <p:spPr>
          <a:xfrm>
            <a:off x="548640" y="1828800"/>
            <a:ext cx="11091672" cy="969264"/>
          </a:xfrm>
          <a:prstGeom prst="roundRect">
            <a:avLst>
              <a:gd name="adj" fmla="val 5660"/>
            </a:avLst>
          </a:prstGeom>
          <a:solidFill>
            <a:srgbClr val="FBFBFD"/>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914400" y="2066544"/>
            <a:ext cx="493776" cy="493776"/>
          </a:xfrm>
          <a:prstGeom prst="rect">
            <a:avLst/>
          </a:prstGeom>
        </p:spPr>
      </p:pic>
      <p:sp>
        <p:nvSpPr>
          <p:cNvPr id="6" name="Text 3"/>
          <p:cNvSpPr/>
          <p:nvPr/>
        </p:nvSpPr>
        <p:spPr>
          <a:xfrm>
            <a:off x="1691640" y="1828800"/>
            <a:ext cx="2103120" cy="969264"/>
          </a:xfrm>
          <a:prstGeom prst="rect">
            <a:avLst/>
          </a:prstGeom>
          <a:noFill/>
          <a:ln/>
        </p:spPr>
        <p:txBody>
          <a:bodyPr wrap="square" rtlCol="0" anchor="ctr"/>
          <a:lstStyle/>
          <a:p>
            <a:pPr marL="0" indent="0">
              <a:buNone/>
            </a:pPr>
            <a:r>
              <a:rPr lang="en-US" sz="1800" b="1" dirty="0">
                <a:solidFill>
                  <a:srgbClr val="B31A38"/>
                </a:solidFill>
                <a:latin typeface="Cambria" pitchFamily="34" charset="0"/>
                <a:ea typeface="Cambria" pitchFamily="34" charset="-122"/>
                <a:cs typeface="Cambria" pitchFamily="34" charset="-120"/>
              </a:rPr>
              <a:t>Represent</a:t>
            </a:r>
            <a:endParaRPr lang="en-US" sz="1800" dirty="0"/>
          </a:p>
        </p:txBody>
      </p:sp>
      <p:sp>
        <p:nvSpPr>
          <p:cNvPr id="7" name="Text 4"/>
          <p:cNvSpPr/>
          <p:nvPr/>
        </p:nvSpPr>
        <p:spPr>
          <a:xfrm>
            <a:off x="3886200" y="1828800"/>
            <a:ext cx="7498080" cy="969264"/>
          </a:xfrm>
          <a:prstGeom prst="rect">
            <a:avLst/>
          </a:prstGeom>
          <a:noFill/>
          <a:ln/>
        </p:spPr>
        <p:txBody>
          <a:bodyPr wrap="square" rtlCol="0" anchor="ctr"/>
          <a:lstStyle/>
          <a:p>
            <a:pPr marL="0" indent="0">
              <a:buNone/>
            </a:pPr>
            <a:r>
              <a:rPr lang="en-US" sz="1400" dirty="0">
                <a:solidFill>
                  <a:srgbClr val="1B1F2A"/>
                </a:solidFill>
                <a:latin typeface="Calibri" pitchFamily="34" charset="0"/>
                <a:ea typeface="Calibri" pitchFamily="34" charset="-122"/>
                <a:cs typeface="Calibri" pitchFamily="34" charset="-120"/>
              </a:rPr>
              <a:t>Turn raw text into a term-document matrix with TF-IDF</a:t>
            </a:r>
            <a:endParaRPr lang="en-US" sz="1400" dirty="0"/>
          </a:p>
        </p:txBody>
      </p:sp>
      <p:sp>
        <p:nvSpPr>
          <p:cNvPr id="8" name="Shape 5"/>
          <p:cNvSpPr/>
          <p:nvPr/>
        </p:nvSpPr>
        <p:spPr>
          <a:xfrm>
            <a:off x="548640" y="2962656"/>
            <a:ext cx="11091672" cy="969264"/>
          </a:xfrm>
          <a:prstGeom prst="roundRect">
            <a:avLst>
              <a:gd name="adj" fmla="val 5660"/>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914400" y="3200400"/>
            <a:ext cx="493776" cy="493776"/>
          </a:xfrm>
          <a:prstGeom prst="rect">
            <a:avLst/>
          </a:prstGeom>
        </p:spPr>
      </p:pic>
      <p:sp>
        <p:nvSpPr>
          <p:cNvPr id="10" name="Text 6"/>
          <p:cNvSpPr/>
          <p:nvPr/>
        </p:nvSpPr>
        <p:spPr>
          <a:xfrm>
            <a:off x="1691640" y="2962656"/>
            <a:ext cx="2103120" cy="969264"/>
          </a:xfrm>
          <a:prstGeom prst="rect">
            <a:avLst/>
          </a:prstGeom>
          <a:noFill/>
          <a:ln/>
        </p:spPr>
        <p:txBody>
          <a:bodyPr wrap="square" rtlCol="0" anchor="ctr"/>
          <a:lstStyle/>
          <a:p>
            <a:pPr marL="0" indent="0">
              <a:buNone/>
            </a:pPr>
            <a:r>
              <a:rPr lang="en-US" sz="1800" b="1" dirty="0">
                <a:solidFill>
                  <a:srgbClr val="1B1F2A"/>
                </a:solidFill>
                <a:latin typeface="Cambria" pitchFamily="34" charset="0"/>
                <a:ea typeface="Cambria" pitchFamily="34" charset="-122"/>
                <a:cs typeface="Cambria" pitchFamily="34" charset="-120"/>
              </a:rPr>
              <a:t>Build</a:t>
            </a:r>
            <a:endParaRPr lang="en-US" sz="1800" dirty="0"/>
          </a:p>
        </p:txBody>
      </p:sp>
      <p:sp>
        <p:nvSpPr>
          <p:cNvPr id="11" name="Text 7"/>
          <p:cNvSpPr/>
          <p:nvPr/>
        </p:nvSpPr>
        <p:spPr>
          <a:xfrm>
            <a:off x="3886200" y="2962656"/>
            <a:ext cx="7498080" cy="969264"/>
          </a:xfrm>
          <a:prstGeom prst="rect">
            <a:avLst/>
          </a:prstGeom>
          <a:noFill/>
          <a:ln/>
        </p:spPr>
        <p:txBody>
          <a:bodyPr wrap="square" rtlCol="0" anchor="ctr"/>
          <a:lstStyle/>
          <a:p>
            <a:pPr marL="0" indent="0">
              <a:buNone/>
            </a:pPr>
            <a:r>
              <a:rPr lang="en-US" sz="1400" dirty="0">
                <a:solidFill>
                  <a:srgbClr val="1B1F2A"/>
                </a:solidFill>
                <a:latin typeface="Calibri" pitchFamily="34" charset="0"/>
                <a:ea typeface="Calibri" pitchFamily="34" charset="-122"/>
                <a:cs typeface="Calibri" pitchFamily="34" charset="-120"/>
              </a:rPr>
              <a:t>Train a supervised text-classification baseline</a:t>
            </a:r>
            <a:endParaRPr lang="en-US" sz="1400" dirty="0"/>
          </a:p>
        </p:txBody>
      </p:sp>
      <p:sp>
        <p:nvSpPr>
          <p:cNvPr id="12" name="Shape 8"/>
          <p:cNvSpPr/>
          <p:nvPr/>
        </p:nvSpPr>
        <p:spPr>
          <a:xfrm>
            <a:off x="548640" y="4096512"/>
            <a:ext cx="11091672" cy="969264"/>
          </a:xfrm>
          <a:prstGeom prst="roundRect">
            <a:avLst>
              <a:gd name="adj" fmla="val 5660"/>
            </a:avLst>
          </a:prstGeom>
          <a:solidFill>
            <a:srgbClr val="FBFBFD"/>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914400" y="4334256"/>
            <a:ext cx="493776" cy="493776"/>
          </a:xfrm>
          <a:prstGeom prst="rect">
            <a:avLst/>
          </a:prstGeom>
        </p:spPr>
      </p:pic>
      <p:sp>
        <p:nvSpPr>
          <p:cNvPr id="14" name="Text 9"/>
          <p:cNvSpPr/>
          <p:nvPr/>
        </p:nvSpPr>
        <p:spPr>
          <a:xfrm>
            <a:off x="1691640" y="4096512"/>
            <a:ext cx="2103120" cy="969264"/>
          </a:xfrm>
          <a:prstGeom prst="rect">
            <a:avLst/>
          </a:prstGeom>
          <a:noFill/>
          <a:ln/>
        </p:spPr>
        <p:txBody>
          <a:bodyPr wrap="square" rtlCol="0" anchor="ctr"/>
          <a:lstStyle/>
          <a:p>
            <a:pPr marL="0" indent="0">
              <a:buNone/>
            </a:pPr>
            <a:r>
              <a:rPr lang="en-US" sz="1800" b="1" dirty="0">
                <a:solidFill>
                  <a:srgbClr val="8A6D1F"/>
                </a:solidFill>
                <a:latin typeface="Cambria" pitchFamily="34" charset="0"/>
                <a:ea typeface="Cambria" pitchFamily="34" charset="-122"/>
                <a:cs typeface="Cambria" pitchFamily="34" charset="-120"/>
              </a:rPr>
              <a:t>Evaluate</a:t>
            </a:r>
            <a:endParaRPr lang="en-US" sz="1800" dirty="0"/>
          </a:p>
        </p:txBody>
      </p:sp>
      <p:sp>
        <p:nvSpPr>
          <p:cNvPr id="15" name="Text 10"/>
          <p:cNvSpPr/>
          <p:nvPr/>
        </p:nvSpPr>
        <p:spPr>
          <a:xfrm>
            <a:off x="3886200" y="4096512"/>
            <a:ext cx="7498080" cy="969264"/>
          </a:xfrm>
          <a:prstGeom prst="rect">
            <a:avLst/>
          </a:prstGeom>
          <a:noFill/>
          <a:ln/>
        </p:spPr>
        <p:txBody>
          <a:bodyPr wrap="square" rtlCol="0" anchor="ctr"/>
          <a:lstStyle/>
          <a:p>
            <a:pPr marL="0" indent="0">
              <a:buNone/>
            </a:pPr>
            <a:r>
              <a:rPr lang="en-US" sz="1400" dirty="0">
                <a:solidFill>
                  <a:srgbClr val="1B1F2A"/>
                </a:solidFill>
                <a:latin typeface="Calibri" pitchFamily="34" charset="0"/>
                <a:ea typeface="Calibri" pitchFamily="34" charset="-122"/>
                <a:cs typeface="Calibri" pitchFamily="34" charset="-120"/>
              </a:rPr>
              <a:t>Read accuracy, precision and recall, and spot the train-on-test trap</a:t>
            </a:r>
            <a:endParaRPr lang="en-US" sz="1400" dirty="0"/>
          </a:p>
        </p:txBody>
      </p:sp>
      <p:sp>
        <p:nvSpPr>
          <p:cNvPr id="16" name="Shape 11"/>
          <p:cNvSpPr/>
          <p:nvPr/>
        </p:nvSpPr>
        <p:spPr>
          <a:xfrm>
            <a:off x="548640" y="5230368"/>
            <a:ext cx="11091672" cy="969264"/>
          </a:xfrm>
          <a:prstGeom prst="roundRect">
            <a:avLst>
              <a:gd name="adj" fmla="val 5660"/>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914400" y="5468112"/>
            <a:ext cx="493776" cy="493776"/>
          </a:xfrm>
          <a:prstGeom prst="rect">
            <a:avLst/>
          </a:prstGeom>
        </p:spPr>
      </p:pic>
      <p:sp>
        <p:nvSpPr>
          <p:cNvPr id="18" name="Text 12"/>
          <p:cNvSpPr/>
          <p:nvPr/>
        </p:nvSpPr>
        <p:spPr>
          <a:xfrm>
            <a:off x="1691640" y="5230368"/>
            <a:ext cx="2103120" cy="969264"/>
          </a:xfrm>
          <a:prstGeom prst="rect">
            <a:avLst/>
          </a:prstGeom>
          <a:noFill/>
          <a:ln/>
        </p:spPr>
        <p:txBody>
          <a:bodyPr wrap="square" rtlCol="0" anchor="ctr"/>
          <a:lstStyle/>
          <a:p>
            <a:pPr marL="0" indent="0">
              <a:buNone/>
            </a:pPr>
            <a:r>
              <a:rPr lang="en-US" sz="1800" b="1" dirty="0">
                <a:solidFill>
                  <a:srgbClr val="B31A38"/>
                </a:solidFill>
                <a:latin typeface="Cambria" pitchFamily="34" charset="0"/>
                <a:ea typeface="Cambria" pitchFamily="34" charset="-122"/>
                <a:cs typeface="Cambria" pitchFamily="34" charset="-120"/>
              </a:rPr>
              <a:t>Judge</a:t>
            </a:r>
            <a:endParaRPr lang="en-US" sz="1800" dirty="0"/>
          </a:p>
        </p:txBody>
      </p:sp>
      <p:sp>
        <p:nvSpPr>
          <p:cNvPr id="19" name="Text 13"/>
          <p:cNvSpPr/>
          <p:nvPr/>
        </p:nvSpPr>
        <p:spPr>
          <a:xfrm>
            <a:off x="3886200" y="5230368"/>
            <a:ext cx="7498080" cy="969264"/>
          </a:xfrm>
          <a:prstGeom prst="rect">
            <a:avLst/>
          </a:prstGeom>
          <a:noFill/>
          <a:ln/>
        </p:spPr>
        <p:txBody>
          <a:bodyPr wrap="square" rtlCol="0" anchor="ctr"/>
          <a:lstStyle/>
          <a:p>
            <a:pPr marL="0" indent="0">
              <a:buNone/>
            </a:pPr>
            <a:r>
              <a:rPr lang="en-US" sz="1400" dirty="0">
                <a:solidFill>
                  <a:srgbClr val="1B1F2A"/>
                </a:solidFill>
                <a:latin typeface="Calibri" pitchFamily="34" charset="0"/>
                <a:ea typeface="Calibri" pitchFamily="34" charset="-122"/>
                <a:cs typeface="Calibri" pitchFamily="34" charset="-120"/>
              </a:rPr>
              <a:t>Decide whether AI-generated code is actually correct</a:t>
            </a:r>
            <a:endParaRPr lang="en-US" sz="1400" dirty="0"/>
          </a:p>
        </p:txBody>
      </p:sp>
      <p:sp>
        <p:nvSpPr>
          <p:cNvPr id="20" name="Text 14"/>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21" name="Text 15"/>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THE BIG IDEA</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Stop writing rules. Start showing examples.</a:t>
            </a:r>
            <a:endParaRPr lang="en-US" sz="3000" dirty="0"/>
          </a:p>
        </p:txBody>
      </p:sp>
      <p:sp>
        <p:nvSpPr>
          <p:cNvPr id="4" name="Text 2"/>
          <p:cNvSpPr/>
          <p:nvPr/>
        </p:nvSpPr>
        <p:spPr>
          <a:xfrm>
            <a:off x="566928" y="1481328"/>
            <a:ext cx="10972800" cy="457200"/>
          </a:xfrm>
          <a:prstGeom prst="rect">
            <a:avLst/>
          </a:prstGeom>
          <a:noFill/>
          <a:ln/>
        </p:spPr>
        <p:txBody>
          <a:bodyPr wrap="square" rtlCol="0" anchor="ctr"/>
          <a:lstStyle/>
          <a:p>
            <a:pPr marL="0" indent="0">
              <a:buNone/>
            </a:pPr>
            <a:r>
              <a:rPr lang="en-US" sz="1350" i="1" dirty="0">
                <a:solidFill>
                  <a:srgbClr val="5B6172"/>
                </a:solidFill>
                <a:latin typeface="Cambria" pitchFamily="34" charset="0"/>
                <a:ea typeface="Cambria" pitchFamily="34" charset="-122"/>
                <a:cs typeface="Cambria" pitchFamily="34" charset="-120"/>
              </a:rPr>
              <a:t>Last week you wrote the logic by hand. Supervised learning flips it: show labeled examples, let the model infer the rule.</a:t>
            </a:r>
            <a:endParaRPr lang="en-US" sz="1350" dirty="0"/>
          </a:p>
        </p:txBody>
      </p:sp>
      <p:sp>
        <p:nvSpPr>
          <p:cNvPr id="5" name="Shape 3"/>
          <p:cNvSpPr/>
          <p:nvPr/>
        </p:nvSpPr>
        <p:spPr>
          <a:xfrm>
            <a:off x="548640" y="2148840"/>
            <a:ext cx="5257800" cy="2331720"/>
          </a:xfrm>
          <a:prstGeom prst="roundRect">
            <a:avLst>
              <a:gd name="adj" fmla="val 2353"/>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sp>
        <p:nvSpPr>
          <p:cNvPr id="6" name="Shape 4"/>
          <p:cNvSpPr/>
          <p:nvPr/>
        </p:nvSpPr>
        <p:spPr>
          <a:xfrm>
            <a:off x="548640" y="2148840"/>
            <a:ext cx="5257800" cy="548640"/>
          </a:xfrm>
          <a:prstGeom prst="roundRect">
            <a:avLst>
              <a:gd name="adj" fmla="val 10000"/>
            </a:avLst>
          </a:prstGeom>
          <a:solidFill>
            <a:srgbClr val="1B1F2A"/>
          </a:solidFill>
          <a:ln w="12700">
            <a:solidFill>
              <a:srgbClr val="1B1F2A"/>
            </a:solidFill>
            <a:prstDash val="solid"/>
          </a:ln>
        </p:spPr>
        <p:txBody>
          <a:bodyPr/>
          <a:lstStyle/>
          <a:p>
            <a:endParaRPr lang="en-US"/>
          </a:p>
        </p:txBody>
      </p:sp>
      <p:sp>
        <p:nvSpPr>
          <p:cNvPr id="7" name="Text 5"/>
          <p:cNvSpPr/>
          <p:nvPr/>
        </p:nvSpPr>
        <p:spPr>
          <a:xfrm>
            <a:off x="548640" y="2148840"/>
            <a:ext cx="525780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Rule-based (last week)</a:t>
            </a:r>
            <a:endParaRPr lang="en-US" sz="1500" dirty="0"/>
          </a:p>
        </p:txBody>
      </p:sp>
      <p:sp>
        <p:nvSpPr>
          <p:cNvPr id="8" name="Text 6"/>
          <p:cNvSpPr/>
          <p:nvPr/>
        </p:nvSpPr>
        <p:spPr>
          <a:xfrm>
            <a:off x="868680" y="2898648"/>
            <a:ext cx="4663440" cy="146304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You hand-code the if / then logic</a:t>
            </a:r>
            <a:endParaRPr lang="en-US" sz="1300" dirty="0"/>
          </a:p>
          <a:p>
            <a:pPr marL="177800" indent="-177800">
              <a:lnSpc>
                <a:spcPct val="102000"/>
              </a:lnSpc>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Brittle: every new case needs a new rule</a:t>
            </a:r>
            <a:endParaRPr lang="en-US" sz="1300" dirty="0"/>
          </a:p>
          <a:p>
            <a:pPr marL="177800" indent="-177800">
              <a:lnSpc>
                <a:spcPct val="102000"/>
              </a:lnSpc>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Hard to scale past a toy example</a:t>
            </a:r>
            <a:endParaRPr lang="en-US" sz="1300" dirty="0"/>
          </a:p>
        </p:txBody>
      </p:sp>
      <p:sp>
        <p:nvSpPr>
          <p:cNvPr id="9" name="Shape 7"/>
          <p:cNvSpPr/>
          <p:nvPr/>
        </p:nvSpPr>
        <p:spPr>
          <a:xfrm>
            <a:off x="6382512" y="2148840"/>
            <a:ext cx="5257800" cy="2331720"/>
          </a:xfrm>
          <a:prstGeom prst="roundRect">
            <a:avLst>
              <a:gd name="adj" fmla="val 2353"/>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sp>
        <p:nvSpPr>
          <p:cNvPr id="10" name="Shape 8"/>
          <p:cNvSpPr/>
          <p:nvPr/>
        </p:nvSpPr>
        <p:spPr>
          <a:xfrm>
            <a:off x="6382512" y="2148840"/>
            <a:ext cx="5257800" cy="548640"/>
          </a:xfrm>
          <a:prstGeom prst="roundRect">
            <a:avLst>
              <a:gd name="adj" fmla="val 10000"/>
            </a:avLst>
          </a:prstGeom>
          <a:solidFill>
            <a:srgbClr val="B31A38"/>
          </a:solidFill>
          <a:ln w="12700">
            <a:solidFill>
              <a:srgbClr val="B31A38"/>
            </a:solidFill>
            <a:prstDash val="solid"/>
          </a:ln>
        </p:spPr>
        <p:txBody>
          <a:bodyPr/>
          <a:lstStyle/>
          <a:p>
            <a:endParaRPr lang="en-US"/>
          </a:p>
        </p:txBody>
      </p:sp>
      <p:sp>
        <p:nvSpPr>
          <p:cNvPr id="11" name="Text 9"/>
          <p:cNvSpPr/>
          <p:nvPr/>
        </p:nvSpPr>
        <p:spPr>
          <a:xfrm>
            <a:off x="6382512" y="2148840"/>
            <a:ext cx="525780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Supervised learning (today)</a:t>
            </a:r>
            <a:endParaRPr lang="en-US" sz="1500" dirty="0"/>
          </a:p>
        </p:txBody>
      </p:sp>
      <p:sp>
        <p:nvSpPr>
          <p:cNvPr id="12" name="Text 10"/>
          <p:cNvSpPr/>
          <p:nvPr/>
        </p:nvSpPr>
        <p:spPr>
          <a:xfrm>
            <a:off x="6702552" y="2898648"/>
            <a:ext cx="4663440" cy="146304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You label examples; the model learns the mapping</a:t>
            </a:r>
            <a:endParaRPr lang="en-US" sz="1300" dirty="0"/>
          </a:p>
          <a:p>
            <a:pPr marL="177800" indent="-177800">
              <a:lnSpc>
                <a:spcPct val="102000"/>
              </a:lnSpc>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Generalizes to cases you never wrote down</a:t>
            </a:r>
            <a:endParaRPr lang="en-US" sz="1300" dirty="0"/>
          </a:p>
          <a:p>
            <a:pPr marL="177800" indent="-177800">
              <a:lnSpc>
                <a:spcPct val="102000"/>
              </a:lnSpc>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The same recipe powers spam filters and sentiment</a:t>
            </a:r>
            <a:endParaRPr lang="en-US" sz="1300" dirty="0"/>
          </a:p>
        </p:txBody>
      </p:sp>
      <p:sp>
        <p:nvSpPr>
          <p:cNvPr id="13" name="Shape 11"/>
          <p:cNvSpPr/>
          <p:nvPr/>
        </p:nvSpPr>
        <p:spPr>
          <a:xfrm>
            <a:off x="548640" y="4754880"/>
            <a:ext cx="11091672" cy="960120"/>
          </a:xfrm>
          <a:prstGeom prst="roundRect">
            <a:avLst>
              <a:gd name="adj" fmla="val 5714"/>
            </a:avLst>
          </a:prstGeom>
          <a:solidFill>
            <a:srgbClr val="F7F3E9"/>
          </a:solidFill>
          <a:ln w="12700">
            <a:solidFill>
              <a:srgbClr val="E7DEC4"/>
            </a:solidFill>
            <a:prstDash val="solid"/>
          </a:ln>
        </p:spPr>
        <p:txBody>
          <a:bodyPr/>
          <a:lstStyle/>
          <a:p>
            <a:endParaRPr lang="en-US"/>
          </a:p>
        </p:txBody>
      </p:sp>
      <p:sp>
        <p:nvSpPr>
          <p:cNvPr id="14" name="Text 12"/>
          <p:cNvSpPr/>
          <p:nvPr/>
        </p:nvSpPr>
        <p:spPr>
          <a:xfrm>
            <a:off x="868680" y="4882896"/>
            <a:ext cx="2743200" cy="274320"/>
          </a:xfrm>
          <a:prstGeom prst="rect">
            <a:avLst/>
          </a:prstGeom>
          <a:noFill/>
          <a:ln/>
        </p:spPr>
        <p:txBody>
          <a:bodyPr wrap="square" rtlCol="0" anchor="ctr"/>
          <a:lstStyle/>
          <a:p>
            <a:pPr marL="0" indent="0">
              <a:buNone/>
            </a:pPr>
            <a:r>
              <a:rPr lang="en-US" sz="1100" b="1" kern="0" spc="100" dirty="0">
                <a:solidFill>
                  <a:srgbClr val="8A6D1F"/>
                </a:solidFill>
                <a:latin typeface="Calibri" pitchFamily="34" charset="0"/>
                <a:ea typeface="Calibri" pitchFamily="34" charset="-122"/>
                <a:cs typeface="Calibri" pitchFamily="34" charset="-120"/>
              </a:rPr>
              <a:t>The recipe</a:t>
            </a:r>
            <a:endParaRPr lang="en-US" sz="1100" dirty="0"/>
          </a:p>
        </p:txBody>
      </p:sp>
      <p:sp>
        <p:nvSpPr>
          <p:cNvPr id="15" name="Text 13"/>
          <p:cNvSpPr/>
          <p:nvPr/>
        </p:nvSpPr>
        <p:spPr>
          <a:xfrm>
            <a:off x="868680" y="5138928"/>
            <a:ext cx="10424160" cy="457200"/>
          </a:xfrm>
          <a:prstGeom prst="rect">
            <a:avLst/>
          </a:prstGeom>
          <a:noFill/>
          <a:ln/>
        </p:spPr>
        <p:txBody>
          <a:bodyPr wrap="square" rtlCol="0" anchor="ctr"/>
          <a:lstStyle/>
          <a:p>
            <a:pPr marL="0" indent="0">
              <a:buNone/>
            </a:pPr>
            <a:r>
              <a:rPr lang="en-US" sz="1400" b="1" dirty="0">
                <a:solidFill>
                  <a:srgbClr val="1B1F2A"/>
                </a:solidFill>
                <a:latin typeface="Calibri" pitchFamily="34" charset="0"/>
                <a:ea typeface="Calibri" pitchFamily="34" charset="-122"/>
                <a:cs typeface="Calibri" pitchFamily="34" charset="-120"/>
              </a:rPr>
              <a:t>labeled data </a:t>
            </a:r>
            <a:r>
              <a:rPr lang="en-US" sz="1400" b="1" dirty="0">
                <a:solidFill>
                  <a:srgbClr val="B31A38"/>
                </a:solidFill>
                <a:latin typeface="Calibri" pitchFamily="34" charset="0"/>
                <a:ea typeface="Calibri" pitchFamily="34" charset="-122"/>
                <a:cs typeface="Calibri" pitchFamily="34" charset="-120"/>
              </a:rPr>
              <a:t> →  </a:t>
            </a:r>
            <a:r>
              <a:rPr lang="en-US" sz="1400" b="1" dirty="0">
                <a:solidFill>
                  <a:srgbClr val="1B1F2A"/>
                </a:solidFill>
                <a:latin typeface="Calibri" pitchFamily="34" charset="0"/>
                <a:ea typeface="Calibri" pitchFamily="34" charset="-122"/>
                <a:cs typeface="Calibri" pitchFamily="34" charset="-120"/>
              </a:rPr>
              <a:t>features </a:t>
            </a:r>
            <a:r>
              <a:rPr lang="en-US" sz="1400" b="1" dirty="0">
                <a:solidFill>
                  <a:srgbClr val="B31A38"/>
                </a:solidFill>
                <a:latin typeface="Calibri" pitchFamily="34" charset="0"/>
                <a:ea typeface="Calibri" pitchFamily="34" charset="-122"/>
                <a:cs typeface="Calibri" pitchFamily="34" charset="-120"/>
              </a:rPr>
              <a:t> →  </a:t>
            </a:r>
            <a:r>
              <a:rPr lang="en-US" sz="1400" b="1" dirty="0">
                <a:solidFill>
                  <a:srgbClr val="1B1F2A"/>
                </a:solidFill>
                <a:latin typeface="Calibri" pitchFamily="34" charset="0"/>
                <a:ea typeface="Calibri" pitchFamily="34" charset="-122"/>
                <a:cs typeface="Calibri" pitchFamily="34" charset="-120"/>
              </a:rPr>
              <a:t>a learner </a:t>
            </a:r>
            <a:r>
              <a:rPr lang="en-US" sz="1400" b="1" dirty="0">
                <a:solidFill>
                  <a:srgbClr val="B31A38"/>
                </a:solidFill>
                <a:latin typeface="Calibri" pitchFamily="34" charset="0"/>
                <a:ea typeface="Calibri" pitchFamily="34" charset="-122"/>
                <a:cs typeface="Calibri" pitchFamily="34" charset="-120"/>
              </a:rPr>
              <a:t> →  </a:t>
            </a:r>
            <a:r>
              <a:rPr lang="en-US" sz="1400" dirty="0">
                <a:solidFill>
                  <a:srgbClr val="1B1F2A"/>
                </a:solidFill>
                <a:latin typeface="Calibri" pitchFamily="34" charset="0"/>
                <a:ea typeface="Calibri" pitchFamily="34" charset="-122"/>
                <a:cs typeface="Calibri" pitchFamily="34" charset="-120"/>
              </a:rPr>
              <a:t>a model that predicts the label of text it has never seen</a:t>
            </a:r>
            <a:endParaRPr lang="en-US" sz="1400" dirty="0"/>
          </a:p>
        </p:txBody>
      </p:sp>
      <p:sp>
        <p:nvSpPr>
          <p:cNvPr id="16" name="Text 14"/>
          <p:cNvSpPr/>
          <p:nvPr/>
        </p:nvSpPr>
        <p:spPr>
          <a:xfrm>
            <a:off x="566928" y="5870448"/>
            <a:ext cx="8229600" cy="274320"/>
          </a:xfrm>
          <a:prstGeom prst="rect">
            <a:avLst/>
          </a:prstGeom>
          <a:noFill/>
          <a:ln/>
        </p:spPr>
        <p:txBody>
          <a:bodyPr wrap="square" rtlCol="0" anchor="ctr"/>
          <a:lstStyle/>
          <a:p>
            <a:pPr marL="0" indent="0">
              <a:buNone/>
            </a:pPr>
            <a:r>
              <a:rPr lang="en-US" sz="1050" i="1" dirty="0">
                <a:solidFill>
                  <a:srgbClr val="B31A38"/>
                </a:solidFill>
                <a:latin typeface="Calibri" pitchFamily="34" charset="0"/>
                <a:ea typeface="Calibri" pitchFamily="34" charset="-122"/>
                <a:cs typeface="Calibri" pitchFamily="34" charset="-120"/>
              </a:rPr>
              <a:t>Reading: J&amp;M ch. 4 (Naive Bayes, text classification &amp; sentiment)</a:t>
            </a:r>
            <a:endParaRPr lang="en-US" sz="1050" dirty="0"/>
          </a:p>
        </p:txBody>
      </p:sp>
      <p:sp>
        <p:nvSpPr>
          <p:cNvPr id="17" name="Text 15"/>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18" name="Text 16"/>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REPRESENTATION</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Text in, numbers out: the term-document matrix</a:t>
            </a:r>
            <a:endParaRPr lang="en-US" sz="3000" dirty="0"/>
          </a:p>
        </p:txBody>
      </p:sp>
      <p:sp>
        <p:nvSpPr>
          <p:cNvPr id="4" name="Shape 2"/>
          <p:cNvSpPr/>
          <p:nvPr/>
        </p:nvSpPr>
        <p:spPr>
          <a:xfrm>
            <a:off x="548640" y="1783080"/>
            <a:ext cx="5029200" cy="3886200"/>
          </a:xfrm>
          <a:prstGeom prst="roundRect">
            <a:avLst>
              <a:gd name="adj" fmla="val 1412"/>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sp>
        <p:nvSpPr>
          <p:cNvPr id="5" name="Text 3"/>
          <p:cNvSpPr/>
          <p:nvPr/>
        </p:nvSpPr>
        <p:spPr>
          <a:xfrm>
            <a:off x="868680" y="1993392"/>
            <a:ext cx="4389120" cy="320040"/>
          </a:xfrm>
          <a:prstGeom prst="rect">
            <a:avLst/>
          </a:prstGeom>
          <a:noFill/>
          <a:ln/>
        </p:spPr>
        <p:txBody>
          <a:bodyPr wrap="square" rtlCol="0" anchor="ctr"/>
          <a:lstStyle/>
          <a:p>
            <a:pPr marL="0" indent="0">
              <a:buNone/>
            </a:pPr>
            <a:r>
              <a:rPr lang="en-US" sz="1200" b="1" kern="0" spc="100" dirty="0">
                <a:solidFill>
                  <a:srgbClr val="B31A38"/>
                </a:solidFill>
                <a:latin typeface="Calibri" pitchFamily="34" charset="0"/>
                <a:ea typeface="Calibri" pitchFamily="34" charset="-122"/>
                <a:cs typeface="Calibri" pitchFamily="34" charset="-120"/>
              </a:rPr>
              <a:t>The pipeline</a:t>
            </a:r>
            <a:endParaRPr lang="en-US" sz="1200" dirty="0"/>
          </a:p>
        </p:txBody>
      </p:sp>
      <p:sp>
        <p:nvSpPr>
          <p:cNvPr id="6" name="Text 4"/>
          <p:cNvSpPr/>
          <p:nvPr/>
        </p:nvSpPr>
        <p:spPr>
          <a:xfrm>
            <a:off x="868680" y="2377440"/>
            <a:ext cx="4434840" cy="2194560"/>
          </a:xfrm>
          <a:prstGeom prst="rect">
            <a:avLst/>
          </a:prstGeom>
          <a:noFill/>
          <a:ln/>
        </p:spPr>
        <p:txBody>
          <a:bodyPr wrap="square" rtlCol="0" anchor="t"/>
          <a:lstStyle/>
          <a:p>
            <a:pPr marL="177800" indent="-177800">
              <a:lnSpc>
                <a:spcPct val="102000"/>
              </a:lnSpc>
              <a:spcAft>
                <a:spcPts val="900"/>
              </a:spcAft>
              <a:buSzPct val="100000"/>
              <a:buChar char="•"/>
            </a:pPr>
            <a:r>
              <a:rPr lang="en-US" sz="1300" dirty="0">
                <a:solidFill>
                  <a:srgbClr val="1B1F2A"/>
                </a:solidFill>
                <a:latin typeface="Calibri" pitchFamily="34" charset="0"/>
                <a:ea typeface="Calibri" pitchFamily="34" charset="-122"/>
                <a:cs typeface="Calibri" pitchFamily="34" charset="-120"/>
              </a:rPr>
              <a:t>Bag of words: list every term, ignore order</a:t>
            </a:r>
            <a:endParaRPr lang="en-US" sz="1300" dirty="0"/>
          </a:p>
          <a:p>
            <a:pPr marL="177800" indent="-177800">
              <a:lnSpc>
                <a:spcPct val="102000"/>
              </a:lnSpc>
              <a:spcAft>
                <a:spcPts val="900"/>
              </a:spcAft>
              <a:buSzPct val="100000"/>
              <a:buChar char="•"/>
            </a:pPr>
            <a:r>
              <a:rPr lang="en-US" sz="1300" dirty="0">
                <a:solidFill>
                  <a:srgbClr val="1B1F2A"/>
                </a:solidFill>
                <a:latin typeface="Calibri" pitchFamily="34" charset="0"/>
                <a:ea typeface="Calibri" pitchFamily="34" charset="-122"/>
                <a:cs typeface="Calibri" pitchFamily="34" charset="-120"/>
              </a:rPr>
              <a:t>Count how often each term appears per document</a:t>
            </a:r>
            <a:endParaRPr lang="en-US" sz="1300" dirty="0"/>
          </a:p>
          <a:p>
            <a:pPr marL="177800" indent="-177800">
              <a:lnSpc>
                <a:spcPct val="102000"/>
              </a:lnSpc>
              <a:spcAft>
                <a:spcPts val="900"/>
              </a:spcAft>
              <a:buSzPct val="100000"/>
              <a:buChar char="•"/>
            </a:pPr>
            <a:r>
              <a:rPr lang="en-US" sz="1300" dirty="0">
                <a:solidFill>
                  <a:srgbClr val="1B1F2A"/>
                </a:solidFill>
                <a:latin typeface="Calibri" pitchFamily="34" charset="0"/>
                <a:ea typeface="Calibri" pitchFamily="34" charset="-122"/>
                <a:cs typeface="Calibri" pitchFamily="34" charset="-120"/>
              </a:rPr>
              <a:t>TF-IDF: weight each count by how rare the term is across all documents</a:t>
            </a:r>
            <a:endParaRPr lang="en-US" sz="1300" dirty="0"/>
          </a:p>
          <a:p>
            <a:pPr marL="177800" indent="-177800">
              <a:lnSpc>
                <a:spcPct val="102000"/>
              </a:lnSpc>
              <a:spcAft>
                <a:spcPts val="900"/>
              </a:spcAft>
              <a:buSzPct val="100000"/>
              <a:buChar char="•"/>
            </a:pPr>
            <a:r>
              <a:rPr lang="en-US" sz="1300" dirty="0">
                <a:solidFill>
                  <a:srgbClr val="1B1F2A"/>
                </a:solidFill>
                <a:latin typeface="Calibri" pitchFamily="34" charset="0"/>
                <a:ea typeface="Calibri" pitchFamily="34" charset="-122"/>
                <a:cs typeface="Calibri" pitchFamily="34" charset="-120"/>
              </a:rPr>
              <a:t>Result: one sparse number-vector per document the model can learn on</a:t>
            </a:r>
            <a:endParaRPr lang="en-US" sz="1300" dirty="0"/>
          </a:p>
        </p:txBody>
      </p:sp>
      <p:sp>
        <p:nvSpPr>
          <p:cNvPr id="7" name="Shape 5"/>
          <p:cNvSpPr/>
          <p:nvPr/>
        </p:nvSpPr>
        <p:spPr>
          <a:xfrm>
            <a:off x="868680" y="4800600"/>
            <a:ext cx="4434840" cy="713232"/>
          </a:xfrm>
          <a:prstGeom prst="roundRect">
            <a:avLst>
              <a:gd name="adj" fmla="val 7692"/>
            </a:avLst>
          </a:prstGeom>
          <a:solidFill>
            <a:srgbClr val="F7F3E9"/>
          </a:solidFill>
          <a:ln w="12700">
            <a:solidFill>
              <a:srgbClr val="E7DEC4"/>
            </a:solidFill>
            <a:prstDash val="solid"/>
          </a:ln>
        </p:spPr>
        <p:txBody>
          <a:bodyPr/>
          <a:lstStyle/>
          <a:p>
            <a:endParaRPr lang="en-US"/>
          </a:p>
        </p:txBody>
      </p:sp>
      <p:sp>
        <p:nvSpPr>
          <p:cNvPr id="8" name="Text 6"/>
          <p:cNvSpPr/>
          <p:nvPr/>
        </p:nvSpPr>
        <p:spPr>
          <a:xfrm>
            <a:off x="1051560" y="4800600"/>
            <a:ext cx="4114800" cy="713232"/>
          </a:xfrm>
          <a:prstGeom prst="rect">
            <a:avLst/>
          </a:prstGeom>
          <a:noFill/>
          <a:ln/>
        </p:spPr>
        <p:txBody>
          <a:bodyPr wrap="square" rtlCol="0" anchor="ctr"/>
          <a:lstStyle/>
          <a:p>
            <a:pPr marL="0" indent="0">
              <a:buNone/>
            </a:pPr>
            <a:r>
              <a:rPr lang="en-US" sz="1150" b="1" dirty="0">
                <a:solidFill>
                  <a:srgbClr val="1B1F2A"/>
                </a:solidFill>
                <a:latin typeface="Calibri" pitchFamily="34" charset="0"/>
                <a:ea typeface="Calibri" pitchFamily="34" charset="-122"/>
                <a:cs typeface="Calibri" pitchFamily="34" charset="-120"/>
              </a:rPr>
              <a:t>Bag of words throws away order. </a:t>
            </a:r>
            <a:r>
              <a:rPr lang="en-US" sz="1150" dirty="0">
                <a:solidFill>
                  <a:srgbClr val="1B1F2A"/>
                </a:solidFill>
                <a:latin typeface="Calibri" pitchFamily="34" charset="0"/>
                <a:ea typeface="Calibri" pitchFamily="34" charset="-122"/>
                <a:cs typeface="Calibri" pitchFamily="34" charset="-120"/>
              </a:rPr>
              <a:t>“not good” looks like “good” — bigrams put the pair back.</a:t>
            </a:r>
            <a:endParaRPr lang="en-US" sz="1150" dirty="0"/>
          </a:p>
        </p:txBody>
      </p:sp>
      <p:sp>
        <p:nvSpPr>
          <p:cNvPr id="9" name="Shape 7"/>
          <p:cNvSpPr/>
          <p:nvPr/>
        </p:nvSpPr>
        <p:spPr>
          <a:xfrm>
            <a:off x="5806440" y="1783080"/>
            <a:ext cx="5833872" cy="3886200"/>
          </a:xfrm>
          <a:prstGeom prst="roundRect">
            <a:avLst>
              <a:gd name="adj" fmla="val 1412"/>
            </a:avLst>
          </a:prstGeom>
          <a:solidFill>
            <a:srgbClr val="1F2540"/>
          </a:solidFill>
          <a:ln w="12700">
            <a:solidFill>
              <a:srgbClr val="1F2540"/>
            </a:solidFill>
            <a:prstDash val="solid"/>
          </a:ln>
        </p:spPr>
        <p:txBody>
          <a:bodyPr/>
          <a:lstStyle/>
          <a:p>
            <a:endParaRPr lang="en-US"/>
          </a:p>
        </p:txBody>
      </p:sp>
      <p:sp>
        <p:nvSpPr>
          <p:cNvPr id="10" name="Text 8"/>
          <p:cNvSpPr/>
          <p:nvPr/>
        </p:nvSpPr>
        <p:spPr>
          <a:xfrm>
            <a:off x="6126480" y="1993392"/>
            <a:ext cx="5303520" cy="320040"/>
          </a:xfrm>
          <a:prstGeom prst="rect">
            <a:avLst/>
          </a:prstGeom>
          <a:noFill/>
          <a:ln/>
        </p:spPr>
        <p:txBody>
          <a:bodyPr wrap="square" rtlCol="0" anchor="ctr"/>
          <a:lstStyle/>
          <a:p>
            <a:pPr marL="0" indent="0">
              <a:buNone/>
            </a:pPr>
            <a:r>
              <a:rPr lang="en-US" sz="1200" b="1" dirty="0">
                <a:solidFill>
                  <a:srgbClr val="B5A06A"/>
                </a:solidFill>
                <a:latin typeface="Calibri" pitchFamily="34" charset="0"/>
                <a:ea typeface="Calibri" pitchFamily="34" charset="-122"/>
                <a:cs typeface="Calibri" pitchFamily="34" charset="-120"/>
              </a:rPr>
              <a:t>Worked example  ·  TF-IDF weights</a:t>
            </a:r>
            <a:endParaRPr lang="en-US" sz="1200" dirty="0"/>
          </a:p>
        </p:txBody>
      </p:sp>
      <p:sp>
        <p:nvSpPr>
          <p:cNvPr id="11" name="Text 9"/>
          <p:cNvSpPr/>
          <p:nvPr/>
        </p:nvSpPr>
        <p:spPr>
          <a:xfrm>
            <a:off x="6126480" y="2395728"/>
            <a:ext cx="5394960" cy="3154680"/>
          </a:xfrm>
          <a:prstGeom prst="rect">
            <a:avLst/>
          </a:prstGeom>
          <a:noFill/>
          <a:ln/>
        </p:spPr>
        <p:txBody>
          <a:bodyPr wrap="square" rtlCol="0" anchor="t"/>
          <a:lstStyle/>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docs:</a:t>
            </a:r>
            <a:endParaRPr lang="en-US" sz="1150" dirty="0"/>
          </a:p>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  d1  “a dull, lifeless film”        → neg</a:t>
            </a:r>
            <a:endParaRPr lang="en-US" sz="1150" dirty="0"/>
          </a:p>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  d2  “a sharp, funny film”         → pos</a:t>
            </a:r>
            <a:endParaRPr lang="en-US" sz="1150" dirty="0"/>
          </a:p>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  d3  “a funny, sharp film, not dull” → pos</a:t>
            </a:r>
            <a:endParaRPr lang="en-US" sz="1150" dirty="0"/>
          </a:p>
          <a:p>
            <a:pPr marL="0" indent="0">
              <a:lnSpc>
                <a:spcPct val="106000"/>
              </a:lnSpc>
              <a:buNone/>
            </a:pPr>
            <a:endParaRPr lang="en-US" sz="1150" dirty="0"/>
          </a:p>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term-document matrix (tf-idf):</a:t>
            </a:r>
            <a:endParaRPr lang="en-US" sz="1150" dirty="0"/>
          </a:p>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          dull   funny  sharp  film</a:t>
            </a:r>
            <a:endParaRPr lang="en-US" sz="1150" dirty="0"/>
          </a:p>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   d1     0.79   0.00   0.00   0.61</a:t>
            </a:r>
            <a:endParaRPr lang="en-US" sz="1150" dirty="0"/>
          </a:p>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   d2     0.00   0.62   0.62   0.48</a:t>
            </a:r>
            <a:endParaRPr lang="en-US" sz="1150" dirty="0"/>
          </a:p>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   d3     0.53   0.53   0.53   0.41</a:t>
            </a:r>
            <a:endParaRPr lang="en-US" sz="1150" dirty="0"/>
          </a:p>
          <a:p>
            <a:pPr marL="0" indent="0">
              <a:lnSpc>
                <a:spcPct val="106000"/>
              </a:lnSpc>
              <a:buNone/>
            </a:pPr>
            <a:endParaRPr lang="en-US" sz="1150" dirty="0"/>
          </a:p>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“film” is everywhere → low weight.</a:t>
            </a:r>
            <a:endParaRPr lang="en-US" sz="1150" dirty="0"/>
          </a:p>
          <a:p>
            <a:pPr marL="0" indent="0">
              <a:lnSpc>
                <a:spcPct val="106000"/>
              </a:lnSpc>
              <a:buNone/>
            </a:pPr>
            <a:r>
              <a:rPr lang="en-US" sz="1150" dirty="0">
                <a:solidFill>
                  <a:srgbClr val="D7DAE6"/>
                </a:solidFill>
                <a:latin typeface="Consolas" pitchFamily="34" charset="0"/>
                <a:ea typeface="Consolas" pitchFamily="34" charset="-122"/>
                <a:cs typeface="Consolas" pitchFamily="34" charset="-120"/>
              </a:rPr>
              <a:t>“dull / funny” are rare → high signal.</a:t>
            </a:r>
            <a:endParaRPr lang="en-US" sz="1150" dirty="0"/>
          </a:p>
        </p:txBody>
      </p:sp>
      <p:sp>
        <p:nvSpPr>
          <p:cNvPr id="12" name="Text 10"/>
          <p:cNvSpPr/>
          <p:nvPr/>
        </p:nvSpPr>
        <p:spPr>
          <a:xfrm>
            <a:off x="566928" y="5870448"/>
            <a:ext cx="8229600" cy="274320"/>
          </a:xfrm>
          <a:prstGeom prst="rect">
            <a:avLst/>
          </a:prstGeom>
          <a:noFill/>
          <a:ln/>
        </p:spPr>
        <p:txBody>
          <a:bodyPr wrap="square" rtlCol="0" anchor="ctr"/>
          <a:lstStyle/>
          <a:p>
            <a:pPr marL="0" indent="0">
              <a:buNone/>
            </a:pPr>
            <a:r>
              <a:rPr lang="en-US" sz="1050" i="1" dirty="0">
                <a:solidFill>
                  <a:srgbClr val="B31A38"/>
                </a:solidFill>
                <a:latin typeface="Calibri" pitchFamily="34" charset="0"/>
                <a:ea typeface="Calibri" pitchFamily="34" charset="-122"/>
                <a:cs typeface="Calibri" pitchFamily="34" charset="-120"/>
              </a:rPr>
              <a:t>Reading: J&amp;M ch. 4; Tunstall ch. 2 (text classification)</a:t>
            </a:r>
            <a:endParaRPr lang="en-US" sz="1050" dirty="0"/>
          </a:p>
        </p:txBody>
      </p:sp>
      <p:sp>
        <p:nvSpPr>
          <p:cNvPr id="13" name="Text 11"/>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14" name="Text 12"/>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THE BASELINE</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Logistic regression: simple, strong, honest</a:t>
            </a:r>
            <a:endParaRPr lang="en-US" sz="3000" dirty="0"/>
          </a:p>
        </p:txBody>
      </p:sp>
      <p:sp>
        <p:nvSpPr>
          <p:cNvPr id="4" name="Shape 2"/>
          <p:cNvSpPr/>
          <p:nvPr/>
        </p:nvSpPr>
        <p:spPr>
          <a:xfrm>
            <a:off x="548640" y="1874520"/>
            <a:ext cx="3575304" cy="2743200"/>
          </a:xfrm>
          <a:prstGeom prst="roundRect">
            <a:avLst>
              <a:gd name="adj" fmla="val 2000"/>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868680" y="2194560"/>
            <a:ext cx="548640" cy="548640"/>
          </a:xfrm>
          <a:prstGeom prst="rect">
            <a:avLst/>
          </a:prstGeom>
        </p:spPr>
      </p:pic>
      <p:sp>
        <p:nvSpPr>
          <p:cNvPr id="6" name="Text 3"/>
          <p:cNvSpPr/>
          <p:nvPr/>
        </p:nvSpPr>
        <p:spPr>
          <a:xfrm>
            <a:off x="841248" y="2898648"/>
            <a:ext cx="2990088" cy="640080"/>
          </a:xfrm>
          <a:prstGeom prst="rect">
            <a:avLst/>
          </a:prstGeom>
          <a:noFill/>
          <a:ln/>
        </p:spPr>
        <p:txBody>
          <a:bodyPr wrap="square" rtlCol="0" anchor="t"/>
          <a:lstStyle/>
          <a:p>
            <a:pPr marL="0" indent="0">
              <a:buNone/>
            </a:pPr>
            <a:r>
              <a:rPr lang="en-US" sz="1600" b="1" dirty="0">
                <a:solidFill>
                  <a:srgbClr val="B31A38"/>
                </a:solidFill>
                <a:latin typeface="Cambria" pitchFamily="34" charset="0"/>
                <a:ea typeface="Cambria" pitchFamily="34" charset="-122"/>
                <a:cs typeface="Cambria" pitchFamily="34" charset="-120"/>
              </a:rPr>
              <a:t>Linear &amp; interpretable</a:t>
            </a:r>
            <a:endParaRPr lang="en-US" sz="1600" dirty="0"/>
          </a:p>
        </p:txBody>
      </p:sp>
      <p:sp>
        <p:nvSpPr>
          <p:cNvPr id="7" name="Text 4"/>
          <p:cNvSpPr/>
          <p:nvPr/>
        </p:nvSpPr>
        <p:spPr>
          <a:xfrm>
            <a:off x="841248" y="3502152"/>
            <a:ext cx="2990088" cy="1005840"/>
          </a:xfrm>
          <a:prstGeom prst="rect">
            <a:avLst/>
          </a:prstGeom>
          <a:noFill/>
          <a:ln/>
        </p:spPr>
        <p:txBody>
          <a:bodyPr wrap="square" rtlCol="0" anchor="t"/>
          <a:lstStyle/>
          <a:p>
            <a:pPr marL="0" indent="0">
              <a:lnSpc>
                <a:spcPct val="104000"/>
              </a:lnSpc>
              <a:buNone/>
            </a:pPr>
            <a:r>
              <a:rPr lang="en-US" sz="1250" dirty="0">
                <a:solidFill>
                  <a:srgbClr val="1B1F2A"/>
                </a:solidFill>
                <a:latin typeface="Calibri" pitchFamily="34" charset="0"/>
                <a:ea typeface="Calibri" pitchFamily="34" charset="-122"/>
                <a:cs typeface="Calibri" pitchFamily="34" charset="-120"/>
              </a:rPr>
              <a:t>Every word gets a weight. You can read exactly what the model learned to trust.</a:t>
            </a:r>
            <a:endParaRPr lang="en-US" sz="1250" dirty="0"/>
          </a:p>
        </p:txBody>
      </p:sp>
      <p:sp>
        <p:nvSpPr>
          <p:cNvPr id="8" name="Shape 5"/>
          <p:cNvSpPr/>
          <p:nvPr/>
        </p:nvSpPr>
        <p:spPr>
          <a:xfrm>
            <a:off x="4306824" y="1874520"/>
            <a:ext cx="3575304" cy="2743200"/>
          </a:xfrm>
          <a:prstGeom prst="roundRect">
            <a:avLst>
              <a:gd name="adj" fmla="val 2000"/>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626864" y="2194560"/>
            <a:ext cx="548640" cy="548640"/>
          </a:xfrm>
          <a:prstGeom prst="rect">
            <a:avLst/>
          </a:prstGeom>
        </p:spPr>
      </p:pic>
      <p:sp>
        <p:nvSpPr>
          <p:cNvPr id="10" name="Text 6"/>
          <p:cNvSpPr/>
          <p:nvPr/>
        </p:nvSpPr>
        <p:spPr>
          <a:xfrm>
            <a:off x="4599432" y="2898648"/>
            <a:ext cx="2990088" cy="640080"/>
          </a:xfrm>
          <a:prstGeom prst="rect">
            <a:avLst/>
          </a:prstGeom>
          <a:noFill/>
          <a:ln/>
        </p:spPr>
        <p:txBody>
          <a:bodyPr wrap="square" rtlCol="0" anchor="t"/>
          <a:lstStyle/>
          <a:p>
            <a:pPr marL="0" indent="0">
              <a:buNone/>
            </a:pPr>
            <a:r>
              <a:rPr lang="en-US" sz="1600" b="1" dirty="0">
                <a:solidFill>
                  <a:srgbClr val="8A6D1F"/>
                </a:solidFill>
                <a:latin typeface="Cambria" pitchFamily="34" charset="0"/>
                <a:ea typeface="Cambria" pitchFamily="34" charset="-122"/>
                <a:cs typeface="Cambria" pitchFamily="34" charset="-120"/>
              </a:rPr>
              <a:t>A real bar to clear</a:t>
            </a:r>
            <a:endParaRPr lang="en-US" sz="1600" dirty="0"/>
          </a:p>
        </p:txBody>
      </p:sp>
      <p:sp>
        <p:nvSpPr>
          <p:cNvPr id="11" name="Text 7"/>
          <p:cNvSpPr/>
          <p:nvPr/>
        </p:nvSpPr>
        <p:spPr>
          <a:xfrm>
            <a:off x="4599432" y="3502152"/>
            <a:ext cx="2990088" cy="1005840"/>
          </a:xfrm>
          <a:prstGeom prst="rect">
            <a:avLst/>
          </a:prstGeom>
          <a:noFill/>
          <a:ln/>
        </p:spPr>
        <p:txBody>
          <a:bodyPr wrap="square" rtlCol="0" anchor="t"/>
          <a:lstStyle/>
          <a:p>
            <a:pPr marL="0" indent="0">
              <a:lnSpc>
                <a:spcPct val="104000"/>
              </a:lnSpc>
              <a:buNone/>
            </a:pPr>
            <a:r>
              <a:rPr lang="en-US" sz="1250" dirty="0">
                <a:solidFill>
                  <a:srgbClr val="1B1F2A"/>
                </a:solidFill>
                <a:latin typeface="Calibri" pitchFamily="34" charset="0"/>
                <a:ea typeface="Calibri" pitchFamily="34" charset="-122"/>
                <a:cs typeface="Calibri" pitchFamily="34" charset="-120"/>
              </a:rPr>
              <a:t>TF-IDF + logistic regression lands ~76–78% on rotten_tomatoes. Beat that before you reach for a transformer.</a:t>
            </a:r>
            <a:endParaRPr lang="en-US" sz="1250" dirty="0"/>
          </a:p>
        </p:txBody>
      </p:sp>
      <p:sp>
        <p:nvSpPr>
          <p:cNvPr id="12" name="Shape 8"/>
          <p:cNvSpPr/>
          <p:nvPr/>
        </p:nvSpPr>
        <p:spPr>
          <a:xfrm>
            <a:off x="8065008" y="1874520"/>
            <a:ext cx="3575304" cy="2743200"/>
          </a:xfrm>
          <a:prstGeom prst="roundRect">
            <a:avLst>
              <a:gd name="adj" fmla="val 2000"/>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8385048" y="2194560"/>
            <a:ext cx="548640" cy="548640"/>
          </a:xfrm>
          <a:prstGeom prst="rect">
            <a:avLst/>
          </a:prstGeom>
        </p:spPr>
      </p:pic>
      <p:sp>
        <p:nvSpPr>
          <p:cNvPr id="14" name="Text 9"/>
          <p:cNvSpPr/>
          <p:nvPr/>
        </p:nvSpPr>
        <p:spPr>
          <a:xfrm>
            <a:off x="8357616" y="2898648"/>
            <a:ext cx="2990088" cy="640080"/>
          </a:xfrm>
          <a:prstGeom prst="rect">
            <a:avLst/>
          </a:prstGeom>
          <a:noFill/>
          <a:ln/>
        </p:spPr>
        <p:txBody>
          <a:bodyPr wrap="square" rtlCol="0" anchor="t"/>
          <a:lstStyle/>
          <a:p>
            <a:pPr marL="0" indent="0">
              <a:buNone/>
            </a:pPr>
            <a:r>
              <a:rPr lang="en-US" sz="1600" b="1" dirty="0">
                <a:solidFill>
                  <a:srgbClr val="1B1F2A"/>
                </a:solidFill>
                <a:latin typeface="Cambria" pitchFamily="34" charset="0"/>
                <a:ea typeface="Cambria" pitchFamily="34" charset="-122"/>
                <a:cs typeface="Cambria" pitchFamily="34" charset="-120"/>
              </a:rPr>
              <a:t>The discipline</a:t>
            </a:r>
            <a:endParaRPr lang="en-US" sz="1600" dirty="0"/>
          </a:p>
        </p:txBody>
      </p:sp>
      <p:sp>
        <p:nvSpPr>
          <p:cNvPr id="15" name="Text 10"/>
          <p:cNvSpPr/>
          <p:nvPr/>
        </p:nvSpPr>
        <p:spPr>
          <a:xfrm>
            <a:off x="8357616" y="3502152"/>
            <a:ext cx="2990088" cy="1005840"/>
          </a:xfrm>
          <a:prstGeom prst="rect">
            <a:avLst/>
          </a:prstGeom>
          <a:noFill/>
          <a:ln/>
        </p:spPr>
        <p:txBody>
          <a:bodyPr wrap="square" rtlCol="0" anchor="t"/>
          <a:lstStyle/>
          <a:p>
            <a:pPr marL="0" indent="0">
              <a:lnSpc>
                <a:spcPct val="104000"/>
              </a:lnSpc>
              <a:buNone/>
            </a:pPr>
            <a:r>
              <a:rPr lang="en-US" sz="1250" dirty="0">
                <a:solidFill>
                  <a:srgbClr val="1B1F2A"/>
                </a:solidFill>
                <a:latin typeface="Calibri" pitchFamily="34" charset="0"/>
                <a:ea typeface="Calibri" pitchFamily="34" charset="-122"/>
                <a:cs typeface="Calibri" pitchFamily="34" charset="-120"/>
              </a:rPr>
              <a:t>Always score on a held-out test set. Numbers measured on training data are a comforting lie.</a:t>
            </a:r>
            <a:endParaRPr lang="en-US" sz="1250" dirty="0"/>
          </a:p>
        </p:txBody>
      </p:sp>
      <p:sp>
        <p:nvSpPr>
          <p:cNvPr id="16" name="Shape 11"/>
          <p:cNvSpPr/>
          <p:nvPr/>
        </p:nvSpPr>
        <p:spPr>
          <a:xfrm>
            <a:off x="548640" y="4892040"/>
            <a:ext cx="11091672" cy="841248"/>
          </a:xfrm>
          <a:prstGeom prst="roundRect">
            <a:avLst>
              <a:gd name="adj" fmla="val 6522"/>
            </a:avLst>
          </a:prstGeom>
          <a:solidFill>
            <a:srgbClr val="151A2E"/>
          </a:solidFill>
          <a:ln w="12700">
            <a:solidFill>
              <a:srgbClr val="151A2E"/>
            </a:solidFill>
            <a:prstDash val="solid"/>
          </a:ln>
        </p:spPr>
        <p:txBody>
          <a:bodyPr/>
          <a:lstStyle/>
          <a:p>
            <a:endParaRPr lang="en-US"/>
          </a:p>
        </p:txBody>
      </p:sp>
      <p:sp>
        <p:nvSpPr>
          <p:cNvPr id="17" name="Text 12"/>
          <p:cNvSpPr/>
          <p:nvPr/>
        </p:nvSpPr>
        <p:spPr>
          <a:xfrm>
            <a:off x="868680" y="5010912"/>
            <a:ext cx="4572000" cy="274320"/>
          </a:xfrm>
          <a:prstGeom prst="rect">
            <a:avLst/>
          </a:prstGeom>
          <a:noFill/>
          <a:ln/>
        </p:spPr>
        <p:txBody>
          <a:bodyPr wrap="square" rtlCol="0" anchor="ctr"/>
          <a:lstStyle/>
          <a:p>
            <a:pPr marL="0" indent="0">
              <a:buNone/>
            </a:pPr>
            <a:r>
              <a:rPr lang="en-US" sz="1100" b="1" kern="0" spc="100" dirty="0">
                <a:solidFill>
                  <a:srgbClr val="B5A06A"/>
                </a:solidFill>
                <a:latin typeface="Calibri" pitchFamily="34" charset="0"/>
                <a:ea typeface="Calibri" pitchFamily="34" charset="-122"/>
                <a:cs typeface="Calibri" pitchFamily="34" charset="-120"/>
              </a:rPr>
              <a:t>Watch for three traps tonight</a:t>
            </a:r>
            <a:endParaRPr lang="en-US" sz="1100" dirty="0"/>
          </a:p>
        </p:txBody>
      </p:sp>
      <p:sp>
        <p:nvSpPr>
          <p:cNvPr id="18" name="Text 13"/>
          <p:cNvSpPr/>
          <p:nvPr/>
        </p:nvSpPr>
        <p:spPr>
          <a:xfrm>
            <a:off x="868680" y="5303520"/>
            <a:ext cx="1042416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no n-grams</a:t>
            </a:r>
            <a:r>
              <a:rPr lang="en-US" sz="1250" dirty="0">
                <a:solidFill>
                  <a:srgbClr val="C9CDDA"/>
                </a:solidFill>
                <a:latin typeface="Calibri" pitchFamily="34" charset="0"/>
                <a:ea typeface="Calibri" pitchFamily="34" charset="-122"/>
                <a:cs typeface="Calibri" pitchFamily="34" charset="-120"/>
              </a:rPr>
              <a:t>  (misses “not good”)      </a:t>
            </a:r>
            <a:r>
              <a:rPr lang="en-US" sz="1250" b="1" dirty="0">
                <a:solidFill>
                  <a:srgbClr val="FFFFFF"/>
                </a:solidFill>
                <a:latin typeface="Calibri" pitchFamily="34" charset="0"/>
                <a:ea typeface="Calibri" pitchFamily="34" charset="-122"/>
                <a:cs typeface="Calibri" pitchFamily="34" charset="-120"/>
              </a:rPr>
              <a:t>no min_df</a:t>
            </a:r>
            <a:r>
              <a:rPr lang="en-US" sz="1250" dirty="0">
                <a:solidFill>
                  <a:srgbClr val="C9CDDA"/>
                </a:solidFill>
                <a:latin typeface="Calibri" pitchFamily="34" charset="0"/>
                <a:ea typeface="Calibri" pitchFamily="34" charset="-122"/>
                <a:cs typeface="Calibri" pitchFamily="34" charset="-120"/>
              </a:rPr>
              <a:t>  (rare noise inflates features)      </a:t>
            </a:r>
            <a:r>
              <a:rPr lang="en-US" sz="1250" b="1" dirty="0">
                <a:solidFill>
                  <a:srgbClr val="FFFFFF"/>
                </a:solidFill>
                <a:latin typeface="Calibri" pitchFamily="34" charset="0"/>
                <a:ea typeface="Calibri" pitchFamily="34" charset="-122"/>
                <a:cs typeface="Calibri" pitchFamily="34" charset="-120"/>
              </a:rPr>
              <a:t>testing on train</a:t>
            </a:r>
            <a:r>
              <a:rPr lang="en-US" sz="1250" dirty="0">
                <a:solidFill>
                  <a:srgbClr val="C9CDDA"/>
                </a:solidFill>
                <a:latin typeface="Calibri" pitchFamily="34" charset="0"/>
                <a:ea typeface="Calibri" pitchFamily="34" charset="-122"/>
                <a:cs typeface="Calibri" pitchFamily="34" charset="-120"/>
              </a:rPr>
              <a:t>  (the score is a lie)</a:t>
            </a:r>
            <a:endParaRPr lang="en-US" sz="1250" dirty="0"/>
          </a:p>
        </p:txBody>
      </p:sp>
      <p:sp>
        <p:nvSpPr>
          <p:cNvPr id="19" name="Text 14"/>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20" name="Text 15"/>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A2E"/>
        </a:solidFill>
        <a:effectLst/>
      </p:bgPr>
    </p:bg>
    <p:spTree>
      <p:nvGrpSpPr>
        <p:cNvPr id="1" name=""/>
        <p:cNvGrpSpPr/>
        <p:nvPr/>
      </p:nvGrpSpPr>
      <p:grpSpPr>
        <a:xfrm>
          <a:off x="0" y="0"/>
          <a:ext cx="0" cy="0"/>
          <a:chOff x="0" y="0"/>
          <a:chExt cx="0" cy="0"/>
        </a:xfrm>
      </p:grpSpPr>
      <p:sp>
        <p:nvSpPr>
          <p:cNvPr id="2" name="Shape 0"/>
          <p:cNvSpPr/>
          <p:nvPr/>
        </p:nvSpPr>
        <p:spPr>
          <a:xfrm>
            <a:off x="868680" y="640080"/>
            <a:ext cx="566928" cy="566928"/>
          </a:xfrm>
          <a:prstGeom prst="roundRect">
            <a:avLst>
              <a:gd name="adj" fmla="val 12903"/>
            </a:avLst>
          </a:prstGeom>
          <a:solidFill>
            <a:srgbClr val="B31A38"/>
          </a:solidFill>
          <a:ln w="12700">
            <a:solidFill>
              <a:srgbClr val="B31A38"/>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978408" y="749808"/>
            <a:ext cx="347472" cy="347472"/>
          </a:xfrm>
          <a:prstGeom prst="rect">
            <a:avLst/>
          </a:prstGeom>
        </p:spPr>
      </p:pic>
      <p:sp>
        <p:nvSpPr>
          <p:cNvPr id="4" name="Text 1"/>
          <p:cNvSpPr/>
          <p:nvPr/>
        </p:nvSpPr>
        <p:spPr>
          <a:xfrm>
            <a:off x="1600200" y="658368"/>
            <a:ext cx="8229600" cy="274320"/>
          </a:xfrm>
          <a:prstGeom prst="rect">
            <a:avLst/>
          </a:prstGeom>
          <a:noFill/>
          <a:ln/>
        </p:spPr>
        <p:txBody>
          <a:bodyPr wrap="square" rtlCol="0" anchor="ctr"/>
          <a:lstStyle/>
          <a:p>
            <a:pPr marL="0" indent="0">
              <a:buNone/>
            </a:pPr>
            <a:r>
              <a:rPr lang="en-US" sz="1200" b="1" kern="0" spc="200" dirty="0">
                <a:solidFill>
                  <a:srgbClr val="B5A06A"/>
                </a:solidFill>
                <a:latin typeface="Calibri" pitchFamily="34" charset="0"/>
                <a:ea typeface="Calibri" pitchFamily="34" charset="-122"/>
                <a:cs typeface="Calibri" pitchFamily="34" charset="-120"/>
              </a:rPr>
              <a:t>IN-CLASS EXERCISE 1</a:t>
            </a:r>
            <a:endParaRPr lang="en-US" sz="1200" dirty="0"/>
          </a:p>
        </p:txBody>
      </p:sp>
      <p:sp>
        <p:nvSpPr>
          <p:cNvPr id="5" name="Text 2"/>
          <p:cNvSpPr/>
          <p:nvPr/>
        </p:nvSpPr>
        <p:spPr>
          <a:xfrm>
            <a:off x="1581912" y="932688"/>
            <a:ext cx="10058400" cy="640080"/>
          </a:xfrm>
          <a:prstGeom prst="rect">
            <a:avLst/>
          </a:prstGeom>
          <a:noFill/>
          <a:ln/>
        </p:spPr>
        <p:txBody>
          <a:bodyPr wrap="square"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The feature face-off</a:t>
            </a:r>
            <a:endParaRPr lang="en-US" sz="3100" dirty="0"/>
          </a:p>
        </p:txBody>
      </p:sp>
      <p:sp>
        <p:nvSpPr>
          <p:cNvPr id="6" name="Text 3"/>
          <p:cNvSpPr/>
          <p:nvPr/>
        </p:nvSpPr>
        <p:spPr>
          <a:xfrm>
            <a:off x="1600200" y="1600200"/>
            <a:ext cx="10058400" cy="320040"/>
          </a:xfrm>
          <a:prstGeom prst="rect">
            <a:avLst/>
          </a:prstGeom>
          <a:noFill/>
          <a:ln/>
        </p:spPr>
        <p:txBody>
          <a:bodyPr wrap="square" rtlCol="0" anchor="ctr"/>
          <a:lstStyle/>
          <a:p>
            <a:pPr marL="0" indent="0">
              <a:buNone/>
            </a:pPr>
            <a:r>
              <a:rPr lang="en-US" sz="1300" i="1" dirty="0">
                <a:solidFill>
                  <a:srgbClr val="C9CDDA"/>
                </a:solidFill>
                <a:latin typeface="Cambria" pitchFamily="34" charset="0"/>
                <a:ea typeface="Cambria" pitchFamily="34" charset="-122"/>
                <a:cs typeface="Cambria" pitchFamily="34" charset="-120"/>
              </a:rPr>
              <a:t>Colab, pure Python, no API key needed  ·  ~15 minutes  ·  pairs</a:t>
            </a:r>
            <a:endParaRPr lang="en-US" sz="1300" dirty="0"/>
          </a:p>
        </p:txBody>
      </p:sp>
      <p:sp>
        <p:nvSpPr>
          <p:cNvPr id="7" name="Shape 4"/>
          <p:cNvSpPr/>
          <p:nvPr/>
        </p:nvSpPr>
        <p:spPr>
          <a:xfrm>
            <a:off x="868680" y="2240280"/>
            <a:ext cx="5257800" cy="3383280"/>
          </a:xfrm>
          <a:prstGeom prst="roundRect">
            <a:avLst>
              <a:gd name="adj" fmla="val 1622"/>
            </a:avLst>
          </a:prstGeom>
          <a:solidFill>
            <a:srgbClr val="1F2540"/>
          </a:solidFill>
          <a:ln w="12700">
            <a:solidFill>
              <a:srgbClr val="2A3252"/>
            </a:solidFill>
            <a:prstDash val="solid"/>
          </a:ln>
        </p:spPr>
        <p:txBody>
          <a:bodyPr/>
          <a:lstStyle/>
          <a:p>
            <a:endParaRPr lang="en-US"/>
          </a:p>
        </p:txBody>
      </p:sp>
      <p:sp>
        <p:nvSpPr>
          <p:cNvPr id="8" name="Shape 5"/>
          <p:cNvSpPr/>
          <p:nvPr/>
        </p:nvSpPr>
        <p:spPr>
          <a:xfrm>
            <a:off x="6355080" y="2240280"/>
            <a:ext cx="5257800" cy="3383280"/>
          </a:xfrm>
          <a:prstGeom prst="roundRect">
            <a:avLst>
              <a:gd name="adj" fmla="val 1622"/>
            </a:avLst>
          </a:prstGeom>
          <a:solidFill>
            <a:srgbClr val="201A22"/>
          </a:solidFill>
          <a:ln w="12700">
            <a:solidFill>
              <a:srgbClr val="3A2630"/>
            </a:solidFill>
            <a:prstDash val="solid"/>
          </a:ln>
        </p:spPr>
        <p:txBody>
          <a:bodyPr/>
          <a:lstStyle/>
          <a:p>
            <a:endParaRPr lang="en-US"/>
          </a:p>
        </p:txBody>
      </p:sp>
      <p:sp>
        <p:nvSpPr>
          <p:cNvPr id="9" name="Text 6"/>
          <p:cNvSpPr/>
          <p:nvPr/>
        </p:nvSpPr>
        <p:spPr>
          <a:xfrm>
            <a:off x="1188720" y="2468880"/>
            <a:ext cx="4572000" cy="274320"/>
          </a:xfrm>
          <a:prstGeom prst="rect">
            <a:avLst/>
          </a:prstGeom>
          <a:noFill/>
          <a:ln/>
        </p:spPr>
        <p:txBody>
          <a:bodyPr wrap="square" rtlCol="0" anchor="ctr"/>
          <a:lstStyle/>
          <a:p>
            <a:pPr marL="0" indent="0">
              <a:buNone/>
            </a:pPr>
            <a:r>
              <a:rPr lang="en-US" sz="1200" b="1" kern="0" spc="100" dirty="0">
                <a:solidFill>
                  <a:srgbClr val="B5A06A"/>
                </a:solidFill>
                <a:latin typeface="Calibri" pitchFamily="34" charset="0"/>
                <a:ea typeface="Calibri" pitchFamily="34" charset="-122"/>
                <a:cs typeface="Calibri" pitchFamily="34" charset="-120"/>
              </a:rPr>
              <a:t>Your task</a:t>
            </a:r>
            <a:endParaRPr lang="en-US" sz="1200" dirty="0"/>
          </a:p>
        </p:txBody>
      </p:sp>
      <p:sp>
        <p:nvSpPr>
          <p:cNvPr id="10" name="Text 7"/>
          <p:cNvSpPr/>
          <p:nvPr/>
        </p:nvSpPr>
        <p:spPr>
          <a:xfrm>
            <a:off x="1188720" y="2898648"/>
            <a:ext cx="4617720" cy="2514600"/>
          </a:xfrm>
          <a:prstGeom prst="rect">
            <a:avLst/>
          </a:prstGeom>
          <a:noFill/>
          <a:ln/>
        </p:spPr>
        <p:txBody>
          <a:bodyPr wrap="square" rtlCol="0" anchor="t"/>
          <a:lstStyle/>
          <a:p>
            <a:pPr marL="177800" indent="-177800">
              <a:lnSpc>
                <a:spcPct val="102000"/>
              </a:lnSpc>
              <a:spcAft>
                <a:spcPts val="900"/>
              </a:spcAft>
              <a:buSzPct val="100000"/>
              <a:buChar char="•"/>
            </a:pPr>
            <a:r>
              <a:rPr lang="en-US" sz="1300" dirty="0">
                <a:solidFill>
                  <a:srgbClr val="E4E6EF"/>
                </a:solidFill>
                <a:latin typeface="Calibri" pitchFamily="34" charset="0"/>
                <a:ea typeface="Calibri" pitchFamily="34" charset="-122"/>
                <a:cs typeface="Calibri" pitchFamily="34" charset="-120"/>
              </a:rPr>
              <a:t>Load a small labeled review set</a:t>
            </a:r>
            <a:endParaRPr lang="en-US" sz="1300" dirty="0"/>
          </a:p>
          <a:p>
            <a:pPr marL="177800" indent="-177800">
              <a:lnSpc>
                <a:spcPct val="102000"/>
              </a:lnSpc>
              <a:spcAft>
                <a:spcPts val="900"/>
              </a:spcAft>
              <a:buSzPct val="100000"/>
              <a:buChar char="•"/>
            </a:pPr>
            <a:r>
              <a:rPr lang="en-US" sz="1300" dirty="0">
                <a:solidFill>
                  <a:srgbClr val="E4E6EF"/>
                </a:solidFill>
                <a:latin typeface="Calibri" pitchFamily="34" charset="0"/>
                <a:ea typeface="Calibri" pitchFamily="34" charset="-122"/>
                <a:cs typeface="Calibri" pitchFamily="34" charset="-120"/>
              </a:rPr>
              <a:t>Build a TF-IDF + logistic regression baseline; report test accuracy</a:t>
            </a:r>
            <a:endParaRPr lang="en-US" sz="1300" dirty="0"/>
          </a:p>
          <a:p>
            <a:pPr marL="177800" indent="-177800">
              <a:lnSpc>
                <a:spcPct val="102000"/>
              </a:lnSpc>
              <a:spcAft>
                <a:spcPts val="900"/>
              </a:spcAft>
              <a:buSzPct val="100000"/>
              <a:buChar char="•"/>
            </a:pPr>
            <a:r>
              <a:rPr lang="en-US" sz="1300" dirty="0">
                <a:solidFill>
                  <a:srgbClr val="E4E6EF"/>
                </a:solidFill>
                <a:latin typeface="Calibri" pitchFamily="34" charset="0"/>
                <a:ea typeface="Calibri" pitchFamily="34" charset="-122"/>
                <a:cs typeface="Calibri" pitchFamily="34" charset="-120"/>
              </a:rPr>
              <a:t>Make ONE deliberate change: add bigrams, set min_df, or drop stop words</a:t>
            </a:r>
            <a:endParaRPr lang="en-US" sz="1300" dirty="0"/>
          </a:p>
          <a:p>
            <a:pPr marL="177800" indent="-177800">
              <a:lnSpc>
                <a:spcPct val="102000"/>
              </a:lnSpc>
              <a:spcAft>
                <a:spcPts val="900"/>
              </a:spcAft>
              <a:buSzPct val="100000"/>
              <a:buChar char="•"/>
            </a:pPr>
            <a:r>
              <a:rPr lang="en-US" sz="1300" dirty="0">
                <a:solidFill>
                  <a:srgbClr val="E4E6EF"/>
                </a:solidFill>
                <a:latin typeface="Calibri" pitchFamily="34" charset="0"/>
                <a:ea typeface="Calibri" pitchFamily="34" charset="-122"/>
                <a:cs typeface="Calibri" pitchFamily="34" charset="-120"/>
              </a:rPr>
              <a:t>Re-measure on the test set: did your change help?</a:t>
            </a:r>
            <a:endParaRPr lang="en-US" sz="1300" dirty="0"/>
          </a:p>
          <a:p>
            <a:pPr marL="177800" indent="-177800">
              <a:lnSpc>
                <a:spcPct val="102000"/>
              </a:lnSpc>
              <a:spcAft>
                <a:spcPts val="900"/>
              </a:spcAft>
              <a:buSzPct val="100000"/>
              <a:buChar char="•"/>
            </a:pPr>
            <a:r>
              <a:rPr lang="en-US" sz="1300" dirty="0">
                <a:solidFill>
                  <a:srgbClr val="E4E6EF"/>
                </a:solidFill>
                <a:latin typeface="Calibri" pitchFamily="34" charset="0"/>
                <a:ea typeface="Calibri" pitchFamily="34" charset="-122"/>
                <a:cs typeface="Calibri" pitchFamily="34" charset="-120"/>
              </a:rPr>
              <a:t>Find one review the model still gets wrong</a:t>
            </a:r>
            <a:endParaRPr lang="en-US" sz="1300" dirty="0"/>
          </a:p>
        </p:txBody>
      </p:sp>
      <p:sp>
        <p:nvSpPr>
          <p:cNvPr id="11" name="Text 8"/>
          <p:cNvSpPr/>
          <p:nvPr/>
        </p:nvSpPr>
        <p:spPr>
          <a:xfrm>
            <a:off x="6675120" y="2468880"/>
            <a:ext cx="4572000" cy="274320"/>
          </a:xfrm>
          <a:prstGeom prst="rect">
            <a:avLst/>
          </a:prstGeom>
          <a:noFill/>
          <a:ln/>
        </p:spPr>
        <p:txBody>
          <a:bodyPr wrap="square" rtlCol="0" anchor="ctr"/>
          <a:lstStyle/>
          <a:p>
            <a:pPr marL="0" indent="0">
              <a:buNone/>
            </a:pPr>
            <a:r>
              <a:rPr lang="en-US" sz="1200" b="1" kern="0" spc="100" dirty="0">
                <a:solidFill>
                  <a:srgbClr val="FF9BA8"/>
                </a:solidFill>
                <a:latin typeface="Calibri" pitchFamily="34" charset="0"/>
                <a:ea typeface="Calibri" pitchFamily="34" charset="-122"/>
                <a:cs typeface="Calibri" pitchFamily="34" charset="-120"/>
              </a:rPr>
              <a:t>Bring back an answer to</a:t>
            </a:r>
            <a:endParaRPr lang="en-US" sz="1200" dirty="0"/>
          </a:p>
        </p:txBody>
      </p:sp>
      <p:sp>
        <p:nvSpPr>
          <p:cNvPr id="12" name="Text 9"/>
          <p:cNvSpPr/>
          <p:nvPr/>
        </p:nvSpPr>
        <p:spPr>
          <a:xfrm>
            <a:off x="6675120" y="2898648"/>
            <a:ext cx="4617720" cy="2514600"/>
          </a:xfrm>
          <a:prstGeom prst="rect">
            <a:avLst/>
          </a:prstGeom>
          <a:noFill/>
          <a:ln/>
        </p:spPr>
        <p:txBody>
          <a:bodyPr wrap="square" rtlCol="0" anchor="t"/>
          <a:lstStyle/>
          <a:p>
            <a:pPr marL="177800" indent="-177800">
              <a:lnSpc>
                <a:spcPct val="102000"/>
              </a:lnSpc>
              <a:spcAft>
                <a:spcPts val="1100"/>
              </a:spcAft>
              <a:buSzPct val="100000"/>
              <a:buChar char="•"/>
            </a:pPr>
            <a:r>
              <a:rPr lang="en-US" sz="1300" dirty="0">
                <a:solidFill>
                  <a:srgbClr val="E4E6EF"/>
                </a:solidFill>
                <a:latin typeface="Calibri" pitchFamily="34" charset="0"/>
                <a:ea typeface="Calibri" pitchFamily="34" charset="-122"/>
                <a:cs typeface="Calibri" pitchFamily="34" charset="-120"/>
              </a:rPr>
              <a:t>Which single change moved accuracy the most, and why?</a:t>
            </a:r>
            <a:endParaRPr lang="en-US" sz="1300" dirty="0"/>
          </a:p>
          <a:p>
            <a:pPr marL="177800" indent="-177800">
              <a:lnSpc>
                <a:spcPct val="102000"/>
              </a:lnSpc>
              <a:spcAft>
                <a:spcPts val="1100"/>
              </a:spcAft>
              <a:buSzPct val="100000"/>
              <a:buChar char="•"/>
            </a:pPr>
            <a:r>
              <a:rPr lang="en-US" sz="1300" dirty="0">
                <a:solidFill>
                  <a:srgbClr val="E4E6EF"/>
                </a:solidFill>
                <a:latin typeface="Calibri" pitchFamily="34" charset="0"/>
                <a:ea typeface="Calibri" pitchFamily="34" charset="-122"/>
                <a:cs typeface="Calibri" pitchFamily="34" charset="-120"/>
              </a:rPr>
              <a:t>Did your “improvement” help on the test set, or only on training?</a:t>
            </a:r>
            <a:endParaRPr lang="en-US" sz="1300" dirty="0"/>
          </a:p>
          <a:p>
            <a:pPr marL="177800" indent="-177800">
              <a:lnSpc>
                <a:spcPct val="102000"/>
              </a:lnSpc>
              <a:spcAft>
                <a:spcPts val="1100"/>
              </a:spcAft>
              <a:buSzPct val="100000"/>
              <a:buChar char="•"/>
            </a:pPr>
            <a:r>
              <a:rPr lang="en-US" sz="1300" dirty="0">
                <a:solidFill>
                  <a:srgbClr val="E4E6EF"/>
                </a:solidFill>
                <a:latin typeface="Calibri" pitchFamily="34" charset="0"/>
                <a:ea typeface="Calibri" pitchFamily="34" charset="-122"/>
                <a:cs typeface="Calibri" pitchFamily="34" charset="-120"/>
              </a:rPr>
              <a:t>What kind of review fools the model every time?</a:t>
            </a:r>
            <a:endParaRPr lang="en-US" sz="1300" dirty="0"/>
          </a:p>
        </p:txBody>
      </p:sp>
      <p:sp>
        <p:nvSpPr>
          <p:cNvPr id="13" name="Text 10"/>
          <p:cNvSpPr/>
          <p:nvPr/>
        </p:nvSpPr>
        <p:spPr>
          <a:xfrm>
            <a:off x="886968" y="5897880"/>
            <a:ext cx="7315200" cy="274320"/>
          </a:xfrm>
          <a:prstGeom prst="rect">
            <a:avLst/>
          </a:prstGeom>
          <a:noFill/>
          <a:ln/>
        </p:spPr>
        <p:txBody>
          <a:bodyPr wrap="square" rtlCol="0" anchor="ctr"/>
          <a:lstStyle/>
          <a:p>
            <a:pPr marL="0" indent="0">
              <a:buNone/>
            </a:pPr>
            <a:r>
              <a:rPr lang="en-US" sz="1050" i="1" dirty="0">
                <a:solidFill>
                  <a:srgbClr val="B5A06A"/>
                </a:solidFill>
                <a:latin typeface="Calibri" pitchFamily="34" charset="0"/>
                <a:ea typeface="Calibri" pitchFamily="34" charset="-122"/>
                <a:cs typeface="Calibri" pitchFamily="34" charset="-120"/>
              </a:rPr>
              <a:t>Notebook: ex1_text_classification</a:t>
            </a:r>
            <a:endParaRPr lang="en-US" sz="1050" dirty="0"/>
          </a:p>
        </p:txBody>
      </p:sp>
      <p:sp>
        <p:nvSpPr>
          <p:cNvPr id="14" name="Text 11"/>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EVALUATION</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Accuracy isn’t the whole story</a:t>
            </a:r>
            <a:endParaRPr lang="en-US" sz="3000" dirty="0"/>
          </a:p>
        </p:txBody>
      </p:sp>
      <p:sp>
        <p:nvSpPr>
          <p:cNvPr id="4" name="Shape 2"/>
          <p:cNvSpPr/>
          <p:nvPr/>
        </p:nvSpPr>
        <p:spPr>
          <a:xfrm>
            <a:off x="548640" y="1627632"/>
            <a:ext cx="11091672" cy="868680"/>
          </a:xfrm>
          <a:prstGeom prst="roundRect">
            <a:avLst>
              <a:gd name="adj" fmla="val 6316"/>
            </a:avLst>
          </a:prstGeom>
          <a:solidFill>
            <a:srgbClr val="151A2E"/>
          </a:solidFill>
          <a:ln w="12700">
            <a:solidFill>
              <a:srgbClr val="151A2E"/>
            </a:solidFill>
            <a:prstDash val="solid"/>
          </a:ln>
        </p:spPr>
        <p:txBody>
          <a:bodyPr/>
          <a:lstStyle/>
          <a:p>
            <a:endParaRPr lang="en-US"/>
          </a:p>
        </p:txBody>
      </p:sp>
      <p:sp>
        <p:nvSpPr>
          <p:cNvPr id="5" name="Text 3"/>
          <p:cNvSpPr/>
          <p:nvPr/>
        </p:nvSpPr>
        <p:spPr>
          <a:xfrm>
            <a:off x="868680" y="1627632"/>
            <a:ext cx="10469880" cy="868680"/>
          </a:xfrm>
          <a:prstGeom prst="rect">
            <a:avLst/>
          </a:prstGeom>
          <a:noFill/>
          <a:ln/>
        </p:spPr>
        <p:txBody>
          <a:bodyPr wrap="square" rtlCol="0" anchor="ctr"/>
          <a:lstStyle/>
          <a:p>
            <a:pPr marL="0" indent="0">
              <a:lnSpc>
                <a:spcPct val="103000"/>
              </a:lnSpc>
              <a:buNone/>
            </a:pPr>
            <a:r>
              <a:rPr lang="en-US" sz="1450" b="1" dirty="0">
                <a:solidFill>
                  <a:srgbClr val="B5A06A"/>
                </a:solidFill>
                <a:latin typeface="Calibri" pitchFamily="34" charset="0"/>
                <a:ea typeface="Calibri" pitchFamily="34" charset="-122"/>
                <a:cs typeface="Calibri" pitchFamily="34" charset="-120"/>
              </a:rPr>
              <a:t>The trap:  </a:t>
            </a:r>
            <a:r>
              <a:rPr lang="en-US" sz="1450" dirty="0">
                <a:solidFill>
                  <a:srgbClr val="E4E6EF"/>
                </a:solidFill>
                <a:latin typeface="Calibri" pitchFamily="34" charset="0"/>
                <a:ea typeface="Calibri" pitchFamily="34" charset="-122"/>
                <a:cs typeface="Calibri" pitchFamily="34" charset="-120"/>
              </a:rPr>
              <a:t>a model that scores 99% on the data it trained on can score 60% on data it has never seen. Always measure on a held-out test set.</a:t>
            </a:r>
            <a:endParaRPr lang="en-US" sz="1450" dirty="0"/>
          </a:p>
        </p:txBody>
      </p:sp>
      <p:sp>
        <p:nvSpPr>
          <p:cNvPr id="6" name="Shape 4"/>
          <p:cNvSpPr/>
          <p:nvPr/>
        </p:nvSpPr>
        <p:spPr>
          <a:xfrm>
            <a:off x="548640" y="2788920"/>
            <a:ext cx="3575304" cy="2331720"/>
          </a:xfrm>
          <a:prstGeom prst="roundRect">
            <a:avLst>
              <a:gd name="adj" fmla="val 2353"/>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sp>
        <p:nvSpPr>
          <p:cNvPr id="7" name="Shape 5"/>
          <p:cNvSpPr/>
          <p:nvPr/>
        </p:nvSpPr>
        <p:spPr>
          <a:xfrm>
            <a:off x="548640" y="2788920"/>
            <a:ext cx="3575304" cy="566928"/>
          </a:xfrm>
          <a:prstGeom prst="roundRect">
            <a:avLst>
              <a:gd name="adj" fmla="val 9677"/>
            </a:avLst>
          </a:prstGeom>
          <a:solidFill>
            <a:srgbClr val="B31A38"/>
          </a:solidFill>
          <a:ln/>
        </p:spPr>
        <p:txBody>
          <a:bodyPr/>
          <a:lstStyle/>
          <a:p>
            <a:endParaRPr lang="en-US"/>
          </a:p>
        </p:txBody>
      </p:sp>
      <p:sp>
        <p:nvSpPr>
          <p:cNvPr id="8" name="Text 6"/>
          <p:cNvSpPr/>
          <p:nvPr/>
        </p:nvSpPr>
        <p:spPr>
          <a:xfrm>
            <a:off x="548640" y="2788920"/>
            <a:ext cx="3575304" cy="566928"/>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Accuracy</a:t>
            </a:r>
            <a:endParaRPr lang="en-US" sz="1700" dirty="0"/>
          </a:p>
        </p:txBody>
      </p:sp>
      <p:sp>
        <p:nvSpPr>
          <p:cNvPr id="9" name="Text 7"/>
          <p:cNvSpPr/>
          <p:nvPr/>
        </p:nvSpPr>
        <p:spPr>
          <a:xfrm>
            <a:off x="822960" y="3538728"/>
            <a:ext cx="3026664" cy="914400"/>
          </a:xfrm>
          <a:prstGeom prst="rect">
            <a:avLst/>
          </a:prstGeom>
          <a:noFill/>
          <a:ln/>
        </p:spPr>
        <p:txBody>
          <a:bodyPr wrap="square" rtlCol="0" anchor="t"/>
          <a:lstStyle/>
          <a:p>
            <a:pPr marL="0" indent="0">
              <a:lnSpc>
                <a:spcPct val="103000"/>
              </a:lnSpc>
              <a:buNone/>
            </a:pPr>
            <a:r>
              <a:rPr lang="en-US" sz="1300" dirty="0">
                <a:solidFill>
                  <a:srgbClr val="1B1F2A"/>
                </a:solidFill>
                <a:latin typeface="Calibri" pitchFamily="34" charset="0"/>
                <a:ea typeface="Calibri" pitchFamily="34" charset="-122"/>
                <a:cs typeface="Calibri" pitchFamily="34" charset="-120"/>
              </a:rPr>
              <a:t>Of all predictions, how many were right.</a:t>
            </a:r>
            <a:endParaRPr lang="en-US" sz="1300" dirty="0"/>
          </a:p>
        </p:txBody>
      </p:sp>
      <p:sp>
        <p:nvSpPr>
          <p:cNvPr id="10" name="Text 8"/>
          <p:cNvSpPr/>
          <p:nvPr/>
        </p:nvSpPr>
        <p:spPr>
          <a:xfrm>
            <a:off x="822960" y="4544568"/>
            <a:ext cx="3026664" cy="502920"/>
          </a:xfrm>
          <a:prstGeom prst="rect">
            <a:avLst/>
          </a:prstGeom>
          <a:noFill/>
          <a:ln/>
        </p:spPr>
        <p:txBody>
          <a:bodyPr wrap="square" rtlCol="0" anchor="t"/>
          <a:lstStyle/>
          <a:p>
            <a:pPr marL="0" indent="0">
              <a:buNone/>
            </a:pPr>
            <a:r>
              <a:rPr lang="en-US" sz="1150" i="1" dirty="0">
                <a:solidFill>
                  <a:srgbClr val="5B6172"/>
                </a:solidFill>
                <a:latin typeface="Cambria" pitchFamily="34" charset="0"/>
                <a:ea typeface="Cambria" pitchFamily="34" charset="-122"/>
                <a:cs typeface="Cambria" pitchFamily="34" charset="-120"/>
              </a:rPr>
              <a:t>Good first glance — but blind to which class you miss.</a:t>
            </a:r>
            <a:endParaRPr lang="en-US" sz="1150" dirty="0"/>
          </a:p>
        </p:txBody>
      </p:sp>
      <p:sp>
        <p:nvSpPr>
          <p:cNvPr id="11" name="Shape 9"/>
          <p:cNvSpPr/>
          <p:nvPr/>
        </p:nvSpPr>
        <p:spPr>
          <a:xfrm>
            <a:off x="4306824" y="2788920"/>
            <a:ext cx="3575304" cy="2331720"/>
          </a:xfrm>
          <a:prstGeom prst="roundRect">
            <a:avLst>
              <a:gd name="adj" fmla="val 2353"/>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sp>
        <p:nvSpPr>
          <p:cNvPr id="12" name="Shape 10"/>
          <p:cNvSpPr/>
          <p:nvPr/>
        </p:nvSpPr>
        <p:spPr>
          <a:xfrm>
            <a:off x="4306824" y="2788920"/>
            <a:ext cx="3575304" cy="566928"/>
          </a:xfrm>
          <a:prstGeom prst="roundRect">
            <a:avLst>
              <a:gd name="adj" fmla="val 9677"/>
            </a:avLst>
          </a:prstGeom>
          <a:solidFill>
            <a:srgbClr val="1B1F2A"/>
          </a:solidFill>
          <a:ln/>
        </p:spPr>
        <p:txBody>
          <a:bodyPr/>
          <a:lstStyle/>
          <a:p>
            <a:endParaRPr lang="en-US"/>
          </a:p>
        </p:txBody>
      </p:sp>
      <p:sp>
        <p:nvSpPr>
          <p:cNvPr id="13" name="Text 11"/>
          <p:cNvSpPr/>
          <p:nvPr/>
        </p:nvSpPr>
        <p:spPr>
          <a:xfrm>
            <a:off x="4306824" y="2788920"/>
            <a:ext cx="3575304" cy="566928"/>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Precision</a:t>
            </a:r>
            <a:endParaRPr lang="en-US" sz="1700" dirty="0"/>
          </a:p>
        </p:txBody>
      </p:sp>
      <p:sp>
        <p:nvSpPr>
          <p:cNvPr id="14" name="Text 12"/>
          <p:cNvSpPr/>
          <p:nvPr/>
        </p:nvSpPr>
        <p:spPr>
          <a:xfrm>
            <a:off x="4581144" y="3538728"/>
            <a:ext cx="3026664" cy="914400"/>
          </a:xfrm>
          <a:prstGeom prst="rect">
            <a:avLst/>
          </a:prstGeom>
          <a:noFill/>
          <a:ln/>
        </p:spPr>
        <p:txBody>
          <a:bodyPr wrap="square" rtlCol="0" anchor="t"/>
          <a:lstStyle/>
          <a:p>
            <a:pPr marL="0" indent="0">
              <a:lnSpc>
                <a:spcPct val="103000"/>
              </a:lnSpc>
              <a:buNone/>
            </a:pPr>
            <a:r>
              <a:rPr lang="en-US" sz="1300" dirty="0">
                <a:solidFill>
                  <a:srgbClr val="1B1F2A"/>
                </a:solidFill>
                <a:latin typeface="Calibri" pitchFamily="34" charset="0"/>
                <a:ea typeface="Calibri" pitchFamily="34" charset="-122"/>
                <a:cs typeface="Calibri" pitchFamily="34" charset="-120"/>
              </a:rPr>
              <a:t>Of the reviews you called positive, how many were.</a:t>
            </a:r>
            <a:endParaRPr lang="en-US" sz="1300" dirty="0"/>
          </a:p>
        </p:txBody>
      </p:sp>
      <p:sp>
        <p:nvSpPr>
          <p:cNvPr id="15" name="Text 13"/>
          <p:cNvSpPr/>
          <p:nvPr/>
        </p:nvSpPr>
        <p:spPr>
          <a:xfrm>
            <a:off x="4581144" y="4544568"/>
            <a:ext cx="3026664" cy="502920"/>
          </a:xfrm>
          <a:prstGeom prst="rect">
            <a:avLst/>
          </a:prstGeom>
          <a:noFill/>
          <a:ln/>
        </p:spPr>
        <p:txBody>
          <a:bodyPr wrap="square" rtlCol="0" anchor="t"/>
          <a:lstStyle/>
          <a:p>
            <a:pPr marL="0" indent="0">
              <a:buNone/>
            </a:pPr>
            <a:r>
              <a:rPr lang="en-US" sz="1150" i="1" dirty="0">
                <a:solidFill>
                  <a:srgbClr val="5B6172"/>
                </a:solidFill>
                <a:latin typeface="Cambria" pitchFamily="34" charset="0"/>
                <a:ea typeface="Cambria" pitchFamily="34" charset="-122"/>
                <a:cs typeface="Cambria" pitchFamily="34" charset="-120"/>
              </a:rPr>
              <a:t>High precision = few false alarms.</a:t>
            </a:r>
            <a:endParaRPr lang="en-US" sz="1150" dirty="0"/>
          </a:p>
        </p:txBody>
      </p:sp>
      <p:sp>
        <p:nvSpPr>
          <p:cNvPr id="16" name="Shape 14"/>
          <p:cNvSpPr/>
          <p:nvPr/>
        </p:nvSpPr>
        <p:spPr>
          <a:xfrm>
            <a:off x="8065008" y="2788920"/>
            <a:ext cx="3575304" cy="2331720"/>
          </a:xfrm>
          <a:prstGeom prst="roundRect">
            <a:avLst>
              <a:gd name="adj" fmla="val 2353"/>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sp>
        <p:nvSpPr>
          <p:cNvPr id="17" name="Shape 15"/>
          <p:cNvSpPr/>
          <p:nvPr/>
        </p:nvSpPr>
        <p:spPr>
          <a:xfrm>
            <a:off x="8065008" y="2788920"/>
            <a:ext cx="3575304" cy="566928"/>
          </a:xfrm>
          <a:prstGeom prst="roundRect">
            <a:avLst>
              <a:gd name="adj" fmla="val 9677"/>
            </a:avLst>
          </a:prstGeom>
          <a:solidFill>
            <a:srgbClr val="8A6D1F"/>
          </a:solidFill>
          <a:ln/>
        </p:spPr>
        <p:txBody>
          <a:bodyPr/>
          <a:lstStyle/>
          <a:p>
            <a:endParaRPr lang="en-US"/>
          </a:p>
        </p:txBody>
      </p:sp>
      <p:sp>
        <p:nvSpPr>
          <p:cNvPr id="18" name="Text 16"/>
          <p:cNvSpPr/>
          <p:nvPr/>
        </p:nvSpPr>
        <p:spPr>
          <a:xfrm>
            <a:off x="8065008" y="2788920"/>
            <a:ext cx="3575304" cy="566928"/>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Recall</a:t>
            </a:r>
            <a:endParaRPr lang="en-US" sz="1700" dirty="0"/>
          </a:p>
        </p:txBody>
      </p:sp>
      <p:sp>
        <p:nvSpPr>
          <p:cNvPr id="19" name="Text 17"/>
          <p:cNvSpPr/>
          <p:nvPr/>
        </p:nvSpPr>
        <p:spPr>
          <a:xfrm>
            <a:off x="8339328" y="3538728"/>
            <a:ext cx="3026664" cy="914400"/>
          </a:xfrm>
          <a:prstGeom prst="rect">
            <a:avLst/>
          </a:prstGeom>
          <a:noFill/>
          <a:ln/>
        </p:spPr>
        <p:txBody>
          <a:bodyPr wrap="square" rtlCol="0" anchor="t"/>
          <a:lstStyle/>
          <a:p>
            <a:pPr marL="0" indent="0">
              <a:lnSpc>
                <a:spcPct val="103000"/>
              </a:lnSpc>
              <a:buNone/>
            </a:pPr>
            <a:r>
              <a:rPr lang="en-US" sz="1300" dirty="0">
                <a:solidFill>
                  <a:srgbClr val="1B1F2A"/>
                </a:solidFill>
                <a:latin typeface="Calibri" pitchFamily="34" charset="0"/>
                <a:ea typeface="Calibri" pitchFamily="34" charset="-122"/>
                <a:cs typeface="Calibri" pitchFamily="34" charset="-120"/>
              </a:rPr>
              <a:t>Of the truly positive reviews, how many you caught.</a:t>
            </a:r>
            <a:endParaRPr lang="en-US" sz="1300" dirty="0"/>
          </a:p>
        </p:txBody>
      </p:sp>
      <p:sp>
        <p:nvSpPr>
          <p:cNvPr id="20" name="Text 18"/>
          <p:cNvSpPr/>
          <p:nvPr/>
        </p:nvSpPr>
        <p:spPr>
          <a:xfrm>
            <a:off x="8339328" y="4544568"/>
            <a:ext cx="3026664" cy="502920"/>
          </a:xfrm>
          <a:prstGeom prst="rect">
            <a:avLst/>
          </a:prstGeom>
          <a:noFill/>
          <a:ln/>
        </p:spPr>
        <p:txBody>
          <a:bodyPr wrap="square" rtlCol="0" anchor="t"/>
          <a:lstStyle/>
          <a:p>
            <a:pPr marL="0" indent="0">
              <a:buNone/>
            </a:pPr>
            <a:r>
              <a:rPr lang="en-US" sz="1150" i="1" dirty="0">
                <a:solidFill>
                  <a:srgbClr val="5B6172"/>
                </a:solidFill>
                <a:latin typeface="Cambria" pitchFamily="34" charset="0"/>
                <a:ea typeface="Cambria" pitchFamily="34" charset="-122"/>
                <a:cs typeface="Cambria" pitchFamily="34" charset="-120"/>
              </a:rPr>
              <a:t>High recall = few misses.</a:t>
            </a:r>
            <a:endParaRPr lang="en-US" sz="1150" dirty="0"/>
          </a:p>
        </p:txBody>
      </p:sp>
      <p:sp>
        <p:nvSpPr>
          <p:cNvPr id="21" name="Text 19"/>
          <p:cNvSpPr/>
          <p:nvPr/>
        </p:nvSpPr>
        <p:spPr>
          <a:xfrm>
            <a:off x="566928" y="5413248"/>
            <a:ext cx="8229600" cy="274320"/>
          </a:xfrm>
          <a:prstGeom prst="rect">
            <a:avLst/>
          </a:prstGeom>
          <a:noFill/>
          <a:ln/>
        </p:spPr>
        <p:txBody>
          <a:bodyPr wrap="square" rtlCol="0" anchor="ctr"/>
          <a:lstStyle/>
          <a:p>
            <a:pPr marL="0" indent="0">
              <a:buNone/>
            </a:pPr>
            <a:r>
              <a:rPr lang="en-US" sz="1050" i="1" dirty="0">
                <a:solidFill>
                  <a:srgbClr val="B31A38"/>
                </a:solidFill>
                <a:latin typeface="Calibri" pitchFamily="34" charset="0"/>
                <a:ea typeface="Calibri" pitchFamily="34" charset="-122"/>
                <a:cs typeface="Calibri" pitchFamily="34" charset="-120"/>
              </a:rPr>
              <a:t>Reading: J&amp;M ch. 4 (evaluation); HOLLM ch. 4</a:t>
            </a:r>
            <a:endParaRPr lang="en-US" sz="1050" dirty="0"/>
          </a:p>
        </p:txBody>
      </p:sp>
      <p:sp>
        <p:nvSpPr>
          <p:cNvPr id="22" name="Text 20"/>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23" name="Text 21"/>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LIVE DEMO</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Coding with AI: two tools, one discipline</a:t>
            </a:r>
            <a:endParaRPr lang="en-US" sz="3000" dirty="0"/>
          </a:p>
        </p:txBody>
      </p:sp>
      <p:sp>
        <p:nvSpPr>
          <p:cNvPr id="4" name="Text 2"/>
          <p:cNvSpPr/>
          <p:nvPr/>
        </p:nvSpPr>
        <p:spPr>
          <a:xfrm>
            <a:off x="566928" y="1481328"/>
            <a:ext cx="10972800" cy="411480"/>
          </a:xfrm>
          <a:prstGeom prst="rect">
            <a:avLst/>
          </a:prstGeom>
          <a:noFill/>
          <a:ln/>
        </p:spPr>
        <p:txBody>
          <a:bodyPr wrap="square" rtlCol="0" anchor="ctr"/>
          <a:lstStyle/>
          <a:p>
            <a:pPr marL="0" indent="0">
              <a:buNone/>
            </a:pPr>
            <a:r>
              <a:rPr lang="en-US" sz="1500" i="1" dirty="0">
                <a:solidFill>
                  <a:srgbClr val="B31A38"/>
                </a:solidFill>
                <a:latin typeface="Cambria" pitchFamily="34" charset="0"/>
                <a:ea typeface="Cambria" pitchFamily="34" charset="-122"/>
                <a:cs typeface="Cambria" pitchFamily="34" charset="-120"/>
              </a:rPr>
              <a:t>Today the AI writes the code. Your job is to know if it’s right.</a:t>
            </a:r>
            <a:endParaRPr lang="en-US" sz="1500" dirty="0"/>
          </a:p>
        </p:txBody>
      </p:sp>
      <p:sp>
        <p:nvSpPr>
          <p:cNvPr id="5" name="Shape 3"/>
          <p:cNvSpPr/>
          <p:nvPr/>
        </p:nvSpPr>
        <p:spPr>
          <a:xfrm>
            <a:off x="548640" y="2148840"/>
            <a:ext cx="5257800" cy="2468880"/>
          </a:xfrm>
          <a:prstGeom prst="roundRect">
            <a:avLst>
              <a:gd name="adj" fmla="val 2222"/>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2468880"/>
            <a:ext cx="566928" cy="566928"/>
          </a:xfrm>
          <a:prstGeom prst="rect">
            <a:avLst/>
          </a:prstGeom>
        </p:spPr>
      </p:pic>
      <p:sp>
        <p:nvSpPr>
          <p:cNvPr id="7" name="Text 4"/>
          <p:cNvSpPr/>
          <p:nvPr/>
        </p:nvSpPr>
        <p:spPr>
          <a:xfrm>
            <a:off x="1600200" y="2459736"/>
            <a:ext cx="4160520" cy="594360"/>
          </a:xfrm>
          <a:prstGeom prst="rect">
            <a:avLst/>
          </a:prstGeom>
          <a:noFill/>
          <a:ln/>
        </p:spPr>
        <p:txBody>
          <a:bodyPr wrap="square" rtlCol="0" anchor="ctr"/>
          <a:lstStyle/>
          <a:p>
            <a:pPr marL="0" indent="0">
              <a:buNone/>
            </a:pPr>
            <a:r>
              <a:rPr lang="en-US" sz="1900" b="1" dirty="0">
                <a:solidFill>
                  <a:srgbClr val="1B1F2A"/>
                </a:solidFill>
                <a:latin typeface="Cambria" pitchFamily="34" charset="0"/>
                <a:ea typeface="Cambria" pitchFamily="34" charset="-122"/>
                <a:cs typeface="Cambria" pitchFamily="34" charset="-120"/>
              </a:rPr>
              <a:t>Gemini in Colab</a:t>
            </a:r>
            <a:endParaRPr lang="en-US" sz="1900" dirty="0"/>
          </a:p>
        </p:txBody>
      </p:sp>
      <p:sp>
        <p:nvSpPr>
          <p:cNvPr id="8" name="Text 5"/>
          <p:cNvSpPr/>
          <p:nvPr/>
        </p:nvSpPr>
        <p:spPr>
          <a:xfrm>
            <a:off x="868680" y="3246120"/>
            <a:ext cx="4709160" cy="1188720"/>
          </a:xfrm>
          <a:prstGeom prst="rect">
            <a:avLst/>
          </a:prstGeom>
          <a:noFill/>
          <a:ln/>
        </p:spPr>
        <p:txBody>
          <a:bodyPr wrap="square" rtlCol="0" anchor="t"/>
          <a:lstStyle/>
          <a:p>
            <a:pPr marL="0" indent="0">
              <a:lnSpc>
                <a:spcPct val="105000"/>
              </a:lnSpc>
              <a:buNone/>
            </a:pPr>
            <a:r>
              <a:rPr lang="en-US" sz="1350" dirty="0">
                <a:solidFill>
                  <a:srgbClr val="1B1F2A"/>
                </a:solidFill>
                <a:latin typeface="Calibri" pitchFamily="34" charset="0"/>
                <a:ea typeface="Calibri" pitchFamily="34" charset="-122"/>
                <a:cs typeface="Calibri" pitchFamily="34" charset="-120"/>
              </a:rPr>
              <a:t>A smart pair of hands in one cell. Ask in plain English, autocomplete, explain errors, generate a model — all inside the notebook.</a:t>
            </a:r>
            <a:endParaRPr lang="en-US" sz="1350" dirty="0"/>
          </a:p>
        </p:txBody>
      </p:sp>
      <p:sp>
        <p:nvSpPr>
          <p:cNvPr id="9" name="Shape 6"/>
          <p:cNvSpPr/>
          <p:nvPr/>
        </p:nvSpPr>
        <p:spPr>
          <a:xfrm>
            <a:off x="6382512" y="2148840"/>
            <a:ext cx="5257800" cy="2468880"/>
          </a:xfrm>
          <a:prstGeom prst="roundRect">
            <a:avLst>
              <a:gd name="adj" fmla="val 2222"/>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sp>
        <p:nvSpPr>
          <p:cNvPr id="10" name="Shape 7"/>
          <p:cNvSpPr/>
          <p:nvPr/>
        </p:nvSpPr>
        <p:spPr>
          <a:xfrm>
            <a:off x="6702552" y="2468880"/>
            <a:ext cx="566928" cy="566928"/>
          </a:xfrm>
          <a:prstGeom prst="roundRect">
            <a:avLst>
              <a:gd name="adj" fmla="val 12903"/>
            </a:avLst>
          </a:prstGeom>
          <a:solidFill>
            <a:srgbClr val="1B1F2A"/>
          </a:solidFill>
          <a:ln w="12700">
            <a:solidFill>
              <a:srgbClr val="1B1F2A"/>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812280" y="2578608"/>
            <a:ext cx="347472" cy="347472"/>
          </a:xfrm>
          <a:prstGeom prst="rect">
            <a:avLst/>
          </a:prstGeom>
        </p:spPr>
      </p:pic>
      <p:sp>
        <p:nvSpPr>
          <p:cNvPr id="12" name="Text 8"/>
          <p:cNvSpPr/>
          <p:nvPr/>
        </p:nvSpPr>
        <p:spPr>
          <a:xfrm>
            <a:off x="7434072" y="2459736"/>
            <a:ext cx="3886200" cy="594360"/>
          </a:xfrm>
          <a:prstGeom prst="rect">
            <a:avLst/>
          </a:prstGeom>
          <a:noFill/>
          <a:ln/>
        </p:spPr>
        <p:txBody>
          <a:bodyPr wrap="square" rtlCol="0" anchor="ctr"/>
          <a:lstStyle/>
          <a:p>
            <a:pPr marL="0" indent="0">
              <a:buNone/>
            </a:pPr>
            <a:r>
              <a:rPr lang="en-US" sz="1900" b="1" dirty="0">
                <a:solidFill>
                  <a:srgbClr val="B31A38"/>
                </a:solidFill>
                <a:latin typeface="Cambria" pitchFamily="34" charset="0"/>
                <a:ea typeface="Cambria" pitchFamily="34" charset="-122"/>
                <a:cs typeface="Cambria" pitchFamily="34" charset="-120"/>
              </a:rPr>
              <a:t>Claude Code</a:t>
            </a:r>
            <a:endParaRPr lang="en-US" sz="1900" dirty="0"/>
          </a:p>
        </p:txBody>
      </p:sp>
      <p:sp>
        <p:nvSpPr>
          <p:cNvPr id="13" name="Text 9"/>
          <p:cNvSpPr/>
          <p:nvPr/>
        </p:nvSpPr>
        <p:spPr>
          <a:xfrm>
            <a:off x="6702552" y="3246120"/>
            <a:ext cx="4709160" cy="1188720"/>
          </a:xfrm>
          <a:prstGeom prst="rect">
            <a:avLst/>
          </a:prstGeom>
          <a:noFill/>
          <a:ln/>
        </p:spPr>
        <p:txBody>
          <a:bodyPr wrap="square" rtlCol="0" anchor="t"/>
          <a:lstStyle/>
          <a:p>
            <a:pPr marL="0" indent="0">
              <a:lnSpc>
                <a:spcPct val="105000"/>
              </a:lnSpc>
              <a:buNone/>
            </a:pPr>
            <a:r>
              <a:rPr lang="en-US" sz="1350" dirty="0">
                <a:solidFill>
                  <a:srgbClr val="1B1F2A"/>
                </a:solidFill>
                <a:latin typeface="Calibri" pitchFamily="34" charset="0"/>
                <a:ea typeface="Calibri" pitchFamily="34" charset="-122"/>
                <a:cs typeface="Calibri" pitchFamily="34" charset="-120"/>
              </a:rPr>
              <a:t>A teammate you hand a whole task. From one prompt it writes a multi-file project, runs commands, and fixes its own mistakes.</a:t>
            </a:r>
            <a:endParaRPr lang="en-US" sz="1350" dirty="0"/>
          </a:p>
        </p:txBody>
      </p:sp>
      <p:sp>
        <p:nvSpPr>
          <p:cNvPr id="14" name="Shape 10"/>
          <p:cNvSpPr/>
          <p:nvPr/>
        </p:nvSpPr>
        <p:spPr>
          <a:xfrm>
            <a:off x="548640" y="4892040"/>
            <a:ext cx="11091672" cy="822960"/>
          </a:xfrm>
          <a:prstGeom prst="roundRect">
            <a:avLst>
              <a:gd name="adj" fmla="val 6667"/>
            </a:avLst>
          </a:prstGeom>
          <a:solidFill>
            <a:srgbClr val="F7F3E9"/>
          </a:solidFill>
          <a:ln w="12700">
            <a:solidFill>
              <a:srgbClr val="E7DEC4"/>
            </a:solidFill>
            <a:prstDash val="solid"/>
          </a:ln>
        </p:spPr>
        <p:txBody>
          <a:bodyPr/>
          <a:lstStyle/>
          <a:p>
            <a:endParaRPr lang="en-US"/>
          </a:p>
        </p:txBody>
      </p:sp>
      <p:sp>
        <p:nvSpPr>
          <p:cNvPr id="15" name="Text 11"/>
          <p:cNvSpPr/>
          <p:nvPr/>
        </p:nvSpPr>
        <p:spPr>
          <a:xfrm>
            <a:off x="868680" y="4892040"/>
            <a:ext cx="10424160" cy="822960"/>
          </a:xfrm>
          <a:prstGeom prst="rect">
            <a:avLst/>
          </a:prstGeom>
          <a:noFill/>
          <a:ln/>
        </p:spPr>
        <p:txBody>
          <a:bodyPr wrap="square" rtlCol="0" anchor="ctr"/>
          <a:lstStyle/>
          <a:p>
            <a:pPr marL="0" indent="0">
              <a:buNone/>
            </a:pPr>
            <a:r>
              <a:rPr lang="en-US" sz="1500" b="1" i="1" dirty="0">
                <a:solidFill>
                  <a:srgbClr val="B31A38"/>
                </a:solidFill>
                <a:latin typeface="Cambria" pitchFamily="34" charset="0"/>
                <a:ea typeface="Cambria" pitchFamily="34" charset="-122"/>
                <a:cs typeface="Cambria" pitchFamily="34" charset="-120"/>
              </a:rPr>
              <a:t>Generate fast.  </a:t>
            </a:r>
            <a:r>
              <a:rPr lang="en-US" sz="1500" b="1" i="1" dirty="0">
                <a:solidFill>
                  <a:srgbClr val="1B1F2A"/>
                </a:solidFill>
                <a:latin typeface="Cambria" pitchFamily="34" charset="0"/>
                <a:ea typeface="Cambria" pitchFamily="34" charset="-122"/>
                <a:cs typeface="Cambria" pitchFamily="34" charset="-120"/>
              </a:rPr>
              <a:t>Verify always.   </a:t>
            </a:r>
            <a:r>
              <a:rPr lang="en-US" sz="1500" i="1" dirty="0">
                <a:solidFill>
                  <a:srgbClr val="1B1F2A"/>
                </a:solidFill>
                <a:latin typeface="Cambria" pitchFamily="34" charset="0"/>
                <a:ea typeface="Cambria" pitchFamily="34" charset="-122"/>
                <a:cs typeface="Cambria" pitchFamily="34" charset="-120"/>
              </a:rPr>
              <a:t>Both tools still need a human who can tell good output from output that only looks good.</a:t>
            </a:r>
            <a:endParaRPr lang="en-US" sz="1500" dirty="0"/>
          </a:p>
        </p:txBody>
      </p:sp>
      <p:sp>
        <p:nvSpPr>
          <p:cNvPr id="16" name="Text 12"/>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17" name="Text 13"/>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A2E"/>
        </a:solidFill>
        <a:effectLst/>
      </p:bgPr>
    </p:bg>
    <p:spTree>
      <p:nvGrpSpPr>
        <p:cNvPr id="1" name=""/>
        <p:cNvGrpSpPr/>
        <p:nvPr/>
      </p:nvGrpSpPr>
      <p:grpSpPr>
        <a:xfrm>
          <a:off x="0" y="0"/>
          <a:ext cx="0" cy="0"/>
          <a:chOff x="0" y="0"/>
          <a:chExt cx="0" cy="0"/>
        </a:xfrm>
      </p:grpSpPr>
      <p:sp>
        <p:nvSpPr>
          <p:cNvPr id="2" name="Shape 0"/>
          <p:cNvSpPr/>
          <p:nvPr/>
        </p:nvSpPr>
        <p:spPr>
          <a:xfrm>
            <a:off x="868680" y="640080"/>
            <a:ext cx="566928" cy="566928"/>
          </a:xfrm>
          <a:prstGeom prst="roundRect">
            <a:avLst>
              <a:gd name="adj" fmla="val 12903"/>
            </a:avLst>
          </a:prstGeom>
          <a:solidFill>
            <a:srgbClr val="1B1F2A"/>
          </a:solidFill>
          <a:ln w="12700">
            <a:solidFill>
              <a:srgbClr val="2A3252"/>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978408" y="749808"/>
            <a:ext cx="347472" cy="347472"/>
          </a:xfrm>
          <a:prstGeom prst="rect">
            <a:avLst/>
          </a:prstGeom>
        </p:spPr>
      </p:pic>
      <p:sp>
        <p:nvSpPr>
          <p:cNvPr id="4" name="Text 1"/>
          <p:cNvSpPr/>
          <p:nvPr/>
        </p:nvSpPr>
        <p:spPr>
          <a:xfrm>
            <a:off x="1600200" y="658368"/>
            <a:ext cx="8229600" cy="274320"/>
          </a:xfrm>
          <a:prstGeom prst="rect">
            <a:avLst/>
          </a:prstGeom>
          <a:noFill/>
          <a:ln/>
        </p:spPr>
        <p:txBody>
          <a:bodyPr wrap="square" rtlCol="0" anchor="ctr"/>
          <a:lstStyle/>
          <a:p>
            <a:pPr marL="0" indent="0">
              <a:buNone/>
            </a:pPr>
            <a:r>
              <a:rPr lang="en-US" sz="1200" b="1" kern="0" spc="200" dirty="0">
                <a:solidFill>
                  <a:srgbClr val="B5A06A"/>
                </a:solidFill>
                <a:latin typeface="Calibri" pitchFamily="34" charset="0"/>
                <a:ea typeface="Calibri" pitchFamily="34" charset="-122"/>
                <a:cs typeface="Calibri" pitchFamily="34" charset="-120"/>
              </a:rPr>
              <a:t>LIVE DEMO  ·  ~30 MINUTES</a:t>
            </a:r>
            <a:endParaRPr lang="en-US" sz="1200" dirty="0"/>
          </a:p>
        </p:txBody>
      </p:sp>
      <p:sp>
        <p:nvSpPr>
          <p:cNvPr id="5" name="Text 2"/>
          <p:cNvSpPr/>
          <p:nvPr/>
        </p:nvSpPr>
        <p:spPr>
          <a:xfrm>
            <a:off x="1581912" y="932688"/>
            <a:ext cx="10058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Build a sentiment classifier — live</a:t>
            </a:r>
            <a:endParaRPr lang="en-US" sz="3000" dirty="0"/>
          </a:p>
        </p:txBody>
      </p:sp>
      <p:sp>
        <p:nvSpPr>
          <p:cNvPr id="6" name="Text 3"/>
          <p:cNvSpPr/>
          <p:nvPr/>
        </p:nvSpPr>
        <p:spPr>
          <a:xfrm>
            <a:off x="1600200" y="1600200"/>
            <a:ext cx="10058400" cy="320040"/>
          </a:xfrm>
          <a:prstGeom prst="rect">
            <a:avLst/>
          </a:prstGeom>
          <a:noFill/>
          <a:ln/>
        </p:spPr>
        <p:txBody>
          <a:bodyPr wrap="square" rtlCol="0" anchor="ctr"/>
          <a:lstStyle/>
          <a:p>
            <a:pPr marL="0" indent="0">
              <a:buNone/>
            </a:pPr>
            <a:r>
              <a:rPr lang="en-US" sz="1300" i="1" dirty="0">
                <a:solidFill>
                  <a:srgbClr val="C9CDDA"/>
                </a:solidFill>
                <a:latin typeface="Cambria" pitchFamily="34" charset="0"/>
                <a:ea typeface="Cambria" pitchFamily="34" charset="-122"/>
                <a:cs typeface="Cambria" pitchFamily="34" charset="-120"/>
              </a:rPr>
              <a:t>A movie-review classifier (TF-IDF + logistic regression), shown two ways.</a:t>
            </a:r>
            <a:endParaRPr lang="en-US" sz="1300" dirty="0"/>
          </a:p>
        </p:txBody>
      </p:sp>
      <p:sp>
        <p:nvSpPr>
          <p:cNvPr id="7" name="Shape 4"/>
          <p:cNvSpPr/>
          <p:nvPr/>
        </p:nvSpPr>
        <p:spPr>
          <a:xfrm>
            <a:off x="868680" y="2240280"/>
            <a:ext cx="5257800" cy="3383280"/>
          </a:xfrm>
          <a:prstGeom prst="roundRect">
            <a:avLst>
              <a:gd name="adj" fmla="val 1622"/>
            </a:avLst>
          </a:prstGeom>
          <a:solidFill>
            <a:srgbClr val="1F2540"/>
          </a:solidFill>
          <a:ln w="12700">
            <a:solidFill>
              <a:srgbClr val="2A3252"/>
            </a:solidFill>
            <a:prstDash val="solid"/>
          </a:ln>
        </p:spPr>
        <p:txBody>
          <a:bodyPr/>
          <a:lstStyle/>
          <a:p>
            <a:endParaRPr lang="en-US"/>
          </a:p>
        </p:txBody>
      </p:sp>
      <p:sp>
        <p:nvSpPr>
          <p:cNvPr id="8" name="Shape 5"/>
          <p:cNvSpPr/>
          <p:nvPr/>
        </p:nvSpPr>
        <p:spPr>
          <a:xfrm>
            <a:off x="6355080" y="2240280"/>
            <a:ext cx="5257800" cy="3383280"/>
          </a:xfrm>
          <a:prstGeom prst="roundRect">
            <a:avLst>
              <a:gd name="adj" fmla="val 1622"/>
            </a:avLst>
          </a:prstGeom>
          <a:solidFill>
            <a:srgbClr val="201A22"/>
          </a:solidFill>
          <a:ln w="12700">
            <a:solidFill>
              <a:srgbClr val="3A2630"/>
            </a:solidFill>
            <a:prstDash val="solid"/>
          </a:ln>
        </p:spPr>
        <p:txBody>
          <a:bodyPr/>
          <a:lstStyle/>
          <a:p>
            <a:endParaRPr lang="en-US"/>
          </a:p>
        </p:txBody>
      </p:sp>
      <p:sp>
        <p:nvSpPr>
          <p:cNvPr id="9" name="Text 6"/>
          <p:cNvSpPr/>
          <p:nvPr/>
        </p:nvSpPr>
        <p:spPr>
          <a:xfrm>
            <a:off x="1188720" y="2468880"/>
            <a:ext cx="4572000" cy="274320"/>
          </a:xfrm>
          <a:prstGeom prst="rect">
            <a:avLst/>
          </a:prstGeom>
          <a:noFill/>
          <a:ln/>
        </p:spPr>
        <p:txBody>
          <a:bodyPr wrap="square" rtlCol="0" anchor="ctr"/>
          <a:lstStyle/>
          <a:p>
            <a:pPr marL="0" indent="0">
              <a:buNone/>
            </a:pPr>
            <a:r>
              <a:rPr lang="en-US" sz="1250" b="1" kern="0" spc="50" dirty="0">
                <a:solidFill>
                  <a:srgbClr val="B5A06A"/>
                </a:solidFill>
                <a:latin typeface="Calibri" pitchFamily="34" charset="0"/>
                <a:ea typeface="Calibri" pitchFamily="34" charset="-122"/>
                <a:cs typeface="Calibri" pitchFamily="34" charset="-120"/>
              </a:rPr>
              <a:t>1  ·  Gemini in Colab  (~15 min)</a:t>
            </a:r>
            <a:endParaRPr lang="en-US" sz="1250" dirty="0"/>
          </a:p>
        </p:txBody>
      </p:sp>
      <p:sp>
        <p:nvSpPr>
          <p:cNvPr id="10" name="Text 7"/>
          <p:cNvSpPr/>
          <p:nvPr/>
        </p:nvSpPr>
        <p:spPr>
          <a:xfrm>
            <a:off x="1188720" y="2898648"/>
            <a:ext cx="4617720" cy="2514600"/>
          </a:xfrm>
          <a:prstGeom prst="rect">
            <a:avLst/>
          </a:prstGeom>
          <a:noFill/>
          <a:ln/>
        </p:spPr>
        <p:txBody>
          <a:bodyPr wrap="square" rtlCol="0" anchor="t"/>
          <a:lstStyle/>
          <a:p>
            <a:pPr marL="177800" indent="-177800">
              <a:lnSpc>
                <a:spcPct val="102000"/>
              </a:lnSpc>
              <a:spcAft>
                <a:spcPts val="700"/>
              </a:spcAft>
              <a:buSzPct val="100000"/>
              <a:buChar char="•"/>
            </a:pPr>
            <a:r>
              <a:rPr lang="en-US" sz="1200" dirty="0">
                <a:solidFill>
                  <a:srgbClr val="E4E6EF"/>
                </a:solidFill>
                <a:latin typeface="Calibri" pitchFamily="34" charset="0"/>
                <a:ea typeface="Calibri" pitchFamily="34" charset="-122"/>
                <a:cs typeface="Calibri" pitchFamily="34" charset="-120"/>
              </a:rPr>
              <a:t>Tour 4 features: plain-English ask, Tab autocomplete, Explain error, Explain code</a:t>
            </a:r>
            <a:endParaRPr lang="en-US" sz="1200" dirty="0"/>
          </a:p>
          <a:p>
            <a:pPr marL="177800" indent="-177800">
              <a:lnSpc>
                <a:spcPct val="102000"/>
              </a:lnSpc>
              <a:spcAft>
                <a:spcPts val="700"/>
              </a:spcAft>
              <a:buSzPct val="100000"/>
              <a:buChar char="•"/>
            </a:pPr>
            <a:r>
              <a:rPr lang="en-US" sz="1200" dirty="0">
                <a:solidFill>
                  <a:srgbClr val="E4E6EF"/>
                </a:solidFill>
                <a:latin typeface="Calibri" pitchFamily="34" charset="0"/>
                <a:ea typeface="Calibri" pitchFamily="34" charset="-122"/>
                <a:cs typeface="Calibri" pitchFamily="34" charset="-120"/>
              </a:rPr>
              <a:t>Prompt Gemini to build TF-IDF + logistic regression on rotten_tomatoes</a:t>
            </a:r>
            <a:endParaRPr lang="en-US" sz="1200" dirty="0"/>
          </a:p>
          <a:p>
            <a:pPr marL="177800" indent="-177800">
              <a:lnSpc>
                <a:spcPct val="102000"/>
              </a:lnSpc>
              <a:spcAft>
                <a:spcPts val="700"/>
              </a:spcAft>
              <a:buSzPct val="100000"/>
              <a:buChar char="•"/>
            </a:pPr>
            <a:r>
              <a:rPr lang="en-US" sz="1200" dirty="0">
                <a:solidFill>
                  <a:srgbClr val="E4E6EF"/>
                </a:solidFill>
                <a:latin typeface="Calibri" pitchFamily="34" charset="0"/>
                <a:ea typeface="Calibri" pitchFamily="34" charset="-122"/>
                <a:cs typeface="Calibri" pitchFamily="34" charset="-120"/>
              </a:rPr>
              <a:t>Run it first — take whatever it gives</a:t>
            </a:r>
            <a:endParaRPr lang="en-US" sz="1200" dirty="0"/>
          </a:p>
          <a:p>
            <a:pPr marL="177800" indent="-177800">
              <a:lnSpc>
                <a:spcPct val="102000"/>
              </a:lnSpc>
              <a:spcAft>
                <a:spcPts val="700"/>
              </a:spcAft>
              <a:buSzPct val="100000"/>
              <a:buChar char="•"/>
            </a:pPr>
            <a:r>
              <a:rPr lang="en-US" sz="1200" dirty="0">
                <a:solidFill>
                  <a:srgbClr val="E4E6EF"/>
                </a:solidFill>
                <a:latin typeface="Calibri" pitchFamily="34" charset="0"/>
                <a:ea typeface="Calibri" pitchFamily="34" charset="-122"/>
                <a:cs typeface="Calibri" pitchFamily="34" charset="-120"/>
              </a:rPr>
              <a:t>Verify &amp; improve: catch the miss (no n-grams / no min_df / tested on train), fix one thing, watch accuracy move</a:t>
            </a:r>
            <a:endParaRPr lang="en-US" sz="1200" dirty="0"/>
          </a:p>
          <a:p>
            <a:pPr marL="177800" indent="-177800">
              <a:lnSpc>
                <a:spcPct val="102000"/>
              </a:lnSpc>
              <a:spcAft>
                <a:spcPts val="700"/>
              </a:spcAft>
              <a:buSzPct val="100000"/>
              <a:buChar char="•"/>
            </a:pPr>
            <a:r>
              <a:rPr lang="en-US" sz="1200" dirty="0">
                <a:solidFill>
                  <a:srgbClr val="E4E6EF"/>
                </a:solidFill>
                <a:latin typeface="Calibri" pitchFamily="34" charset="0"/>
                <a:ea typeface="Calibri" pitchFamily="34" charset="-122"/>
                <a:cs typeface="Calibri" pitchFamily="34" charset="-120"/>
              </a:rPr>
              <a:t>Sanity-check a sentence by hand</a:t>
            </a:r>
            <a:endParaRPr lang="en-US" sz="1200" dirty="0"/>
          </a:p>
        </p:txBody>
      </p:sp>
      <p:sp>
        <p:nvSpPr>
          <p:cNvPr id="11" name="Text 8"/>
          <p:cNvSpPr/>
          <p:nvPr/>
        </p:nvSpPr>
        <p:spPr>
          <a:xfrm>
            <a:off x="6675120" y="2468880"/>
            <a:ext cx="4572000" cy="274320"/>
          </a:xfrm>
          <a:prstGeom prst="rect">
            <a:avLst/>
          </a:prstGeom>
          <a:noFill/>
          <a:ln/>
        </p:spPr>
        <p:txBody>
          <a:bodyPr wrap="square" rtlCol="0" anchor="ctr"/>
          <a:lstStyle/>
          <a:p>
            <a:pPr marL="0" indent="0">
              <a:buNone/>
            </a:pPr>
            <a:r>
              <a:rPr lang="en-US" sz="1250" b="1" kern="0" spc="50" dirty="0">
                <a:solidFill>
                  <a:srgbClr val="FF9BA8"/>
                </a:solidFill>
                <a:latin typeface="Calibri" pitchFamily="34" charset="0"/>
                <a:ea typeface="Calibri" pitchFamily="34" charset="-122"/>
                <a:cs typeface="Calibri" pitchFamily="34" charset="-120"/>
              </a:rPr>
              <a:t>2  ·  Claude Code  (~12 min)</a:t>
            </a:r>
            <a:endParaRPr lang="en-US" sz="1250" dirty="0"/>
          </a:p>
        </p:txBody>
      </p:sp>
      <p:sp>
        <p:nvSpPr>
          <p:cNvPr id="12" name="Text 9"/>
          <p:cNvSpPr/>
          <p:nvPr/>
        </p:nvSpPr>
        <p:spPr>
          <a:xfrm>
            <a:off x="6675120" y="2898648"/>
            <a:ext cx="4617720" cy="2514600"/>
          </a:xfrm>
          <a:prstGeom prst="rect">
            <a:avLst/>
          </a:prstGeom>
          <a:noFill/>
          <a:ln/>
        </p:spPr>
        <p:txBody>
          <a:bodyPr wrap="square" rtlCol="0" anchor="t"/>
          <a:lstStyle/>
          <a:p>
            <a:pPr marL="177800" indent="-177800">
              <a:lnSpc>
                <a:spcPct val="102000"/>
              </a:lnSpc>
              <a:spcAft>
                <a:spcPts val="700"/>
              </a:spcAft>
              <a:buSzPct val="100000"/>
              <a:buChar char="•"/>
            </a:pPr>
            <a:r>
              <a:rPr lang="en-US" sz="1200" dirty="0">
                <a:solidFill>
                  <a:srgbClr val="E4E6EF"/>
                </a:solidFill>
                <a:latin typeface="Calibri" pitchFamily="34" charset="0"/>
                <a:ea typeface="Calibri" pitchFamily="34" charset="-122"/>
                <a:cs typeface="Calibri" pitchFamily="34" charset="-120"/>
              </a:rPr>
              <a:t>Start in an empty folder, run: claude</a:t>
            </a:r>
            <a:endParaRPr lang="en-US" sz="1200" dirty="0"/>
          </a:p>
          <a:p>
            <a:pPr marL="177800" indent="-177800">
              <a:lnSpc>
                <a:spcPct val="102000"/>
              </a:lnSpc>
              <a:spcAft>
                <a:spcPts val="700"/>
              </a:spcAft>
              <a:buSzPct val="100000"/>
              <a:buChar char="•"/>
            </a:pPr>
            <a:r>
              <a:rPr lang="en-US" sz="1200" dirty="0">
                <a:solidFill>
                  <a:srgbClr val="E4E6EF"/>
                </a:solidFill>
                <a:latin typeface="Calibri" pitchFamily="34" charset="0"/>
                <a:ea typeface="Calibri" pitchFamily="34" charset="-122"/>
                <a:cs typeface="Calibri" pitchFamily="34" charset="-120"/>
              </a:rPr>
              <a:t>One prompt → a multi-file project: trained model, predict.py CLI, requirements.txt, README</a:t>
            </a:r>
            <a:endParaRPr lang="en-US" sz="1200" dirty="0"/>
          </a:p>
          <a:p>
            <a:pPr marL="177800" indent="-177800">
              <a:lnSpc>
                <a:spcPct val="102000"/>
              </a:lnSpc>
              <a:spcAft>
                <a:spcPts val="700"/>
              </a:spcAft>
              <a:buSzPct val="100000"/>
              <a:buChar char="•"/>
            </a:pPr>
            <a:r>
              <a:rPr lang="en-US" sz="1200" dirty="0">
                <a:solidFill>
                  <a:srgbClr val="E4E6EF"/>
                </a:solidFill>
                <a:latin typeface="Calibri" pitchFamily="34" charset="0"/>
                <a:ea typeface="Calibri" pitchFamily="34" charset="-122"/>
                <a:cs typeface="Calibri" pitchFamily="34" charset="-120"/>
              </a:rPr>
              <a:t>Watch it plan, write files, run commands, and fix itself</a:t>
            </a:r>
            <a:endParaRPr lang="en-US" sz="1200" dirty="0"/>
          </a:p>
          <a:p>
            <a:pPr marL="177800" indent="-177800">
              <a:lnSpc>
                <a:spcPct val="102000"/>
              </a:lnSpc>
              <a:spcAft>
                <a:spcPts val="700"/>
              </a:spcAft>
              <a:buSzPct val="100000"/>
              <a:buChar char="•"/>
            </a:pPr>
            <a:r>
              <a:rPr lang="en-US" sz="1200" dirty="0">
                <a:solidFill>
                  <a:srgbClr val="E4E6EF"/>
                </a:solidFill>
                <a:latin typeface="Calibri" pitchFamily="34" charset="0"/>
                <a:ea typeface="Calibri" pitchFamily="34" charset="-122"/>
                <a:cs typeface="Calibri" pitchFamily="34" charset="-120"/>
              </a:rPr>
              <a:t>Then iterate: “add a unit test for the predict function”</a:t>
            </a:r>
            <a:endParaRPr lang="en-US" sz="1200" dirty="0"/>
          </a:p>
          <a:p>
            <a:pPr marL="177800" indent="-177800">
              <a:lnSpc>
                <a:spcPct val="102000"/>
              </a:lnSpc>
              <a:spcAft>
                <a:spcPts val="700"/>
              </a:spcAft>
              <a:buSzPct val="100000"/>
              <a:buChar char="•"/>
            </a:pPr>
            <a:r>
              <a:rPr lang="en-US" sz="1200" dirty="0">
                <a:solidFill>
                  <a:srgbClr val="E4E6EF"/>
                </a:solidFill>
                <a:latin typeface="Calibri" pitchFamily="34" charset="0"/>
                <a:ea typeface="Calibri" pitchFamily="34" charset="-122"/>
                <a:cs typeface="Calibri" pitchFamily="34" charset="-120"/>
              </a:rPr>
              <a:t>Close: Gemini = smart hands; Claude Code = a teammate you hand a whole task</a:t>
            </a:r>
            <a:endParaRPr lang="en-US" sz="1200" dirty="0"/>
          </a:p>
        </p:txBody>
      </p:sp>
      <p:sp>
        <p:nvSpPr>
          <p:cNvPr id="13" name="Text 10"/>
          <p:cNvSpPr/>
          <p:nvPr/>
        </p:nvSpPr>
        <p:spPr>
          <a:xfrm>
            <a:off x="886968" y="5897880"/>
            <a:ext cx="10515600" cy="274320"/>
          </a:xfrm>
          <a:prstGeom prst="rect">
            <a:avLst/>
          </a:prstGeom>
          <a:noFill/>
          <a:ln/>
        </p:spPr>
        <p:txBody>
          <a:bodyPr wrap="square" rtlCol="0" anchor="ctr"/>
          <a:lstStyle/>
          <a:p>
            <a:pPr marL="0" indent="0">
              <a:buNone/>
            </a:pPr>
            <a:r>
              <a:rPr lang="en-US" sz="1000" i="1" dirty="0">
                <a:solidFill>
                  <a:srgbClr val="8A90A2"/>
                </a:solidFill>
                <a:latin typeface="Calibri" pitchFamily="34" charset="0"/>
                <a:ea typeface="Calibri" pitchFamily="34" charset="-122"/>
                <a:cs typeface="Calibri" pitchFamily="34" charset="-120"/>
              </a:rPr>
              <a:t>Insurance: pre-run the dataset once, or use the reviews.csv fallback  ·  github.com/JulesMalin/isba2411-nlp</a:t>
            </a:r>
            <a:endParaRPr lang="en-US" sz="1000" dirty="0"/>
          </a:p>
        </p:txBody>
      </p:sp>
      <p:sp>
        <p:nvSpPr>
          <p:cNvPr id="14" name="Text 11"/>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DISCUSSION</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The code arrived in seconds. Who owns whether it’s right?</a:t>
            </a:r>
            <a:endParaRPr lang="en-US" sz="3000" dirty="0"/>
          </a:p>
        </p:txBody>
      </p:sp>
      <p:sp>
        <p:nvSpPr>
          <p:cNvPr id="4" name="Text 2"/>
          <p:cNvSpPr/>
          <p:nvPr/>
        </p:nvSpPr>
        <p:spPr>
          <a:xfrm>
            <a:off x="566928" y="1463040"/>
            <a:ext cx="10058400" cy="320040"/>
          </a:xfrm>
          <a:prstGeom prst="rect">
            <a:avLst/>
          </a:prstGeom>
          <a:noFill/>
          <a:ln/>
        </p:spPr>
        <p:txBody>
          <a:bodyPr wrap="square" rtlCol="0" anchor="ctr"/>
          <a:lstStyle/>
          <a:p>
            <a:pPr marL="0" indent="0">
              <a:buNone/>
            </a:pPr>
            <a:r>
              <a:rPr lang="en-US" sz="1300" i="1" dirty="0">
                <a:solidFill>
                  <a:srgbClr val="5B6172"/>
                </a:solidFill>
                <a:latin typeface="Cambria" pitchFamily="34" charset="0"/>
                <a:ea typeface="Cambria" pitchFamily="34" charset="-122"/>
                <a:cs typeface="Cambria" pitchFamily="34" charset="-120"/>
              </a:rPr>
              <a:t>Small groups, then report out. Neither has a clean answer.</a:t>
            </a:r>
            <a:endParaRPr lang="en-US" sz="1300" dirty="0"/>
          </a:p>
        </p:txBody>
      </p:sp>
      <p:sp>
        <p:nvSpPr>
          <p:cNvPr id="5" name="Shape 3"/>
          <p:cNvSpPr/>
          <p:nvPr/>
        </p:nvSpPr>
        <p:spPr>
          <a:xfrm>
            <a:off x="548640" y="2011680"/>
            <a:ext cx="11091672" cy="1828800"/>
          </a:xfrm>
          <a:prstGeom prst="roundRect">
            <a:avLst>
              <a:gd name="adj" fmla="val 3000"/>
            </a:avLst>
          </a:prstGeom>
          <a:solidFill>
            <a:srgbClr val="FBEDEF"/>
          </a:solidFill>
          <a:ln w="12700">
            <a:solidFill>
              <a:srgbClr val="F2D6DC"/>
            </a:solidFill>
            <a:prstDash val="solid"/>
          </a:ln>
        </p:spPr>
        <p:txBody>
          <a:bodyPr/>
          <a:lstStyle/>
          <a:p>
            <a:endParaRPr lang="en-US"/>
          </a:p>
        </p:txBody>
      </p:sp>
      <p:sp>
        <p:nvSpPr>
          <p:cNvPr id="6" name="Shape 4"/>
          <p:cNvSpPr/>
          <p:nvPr/>
        </p:nvSpPr>
        <p:spPr>
          <a:xfrm>
            <a:off x="868680" y="2514600"/>
            <a:ext cx="777240" cy="777240"/>
          </a:xfrm>
          <a:prstGeom prst="ellipse">
            <a:avLst/>
          </a:prstGeom>
          <a:solidFill>
            <a:srgbClr val="B31A38"/>
          </a:solidFill>
          <a:ln/>
        </p:spPr>
        <p:txBody>
          <a:bodyPr/>
          <a:lstStyle/>
          <a:p>
            <a:endParaRPr lang="en-US"/>
          </a:p>
        </p:txBody>
      </p:sp>
      <p:sp>
        <p:nvSpPr>
          <p:cNvPr id="7" name="Text 5"/>
          <p:cNvSpPr/>
          <p:nvPr/>
        </p:nvSpPr>
        <p:spPr>
          <a:xfrm>
            <a:off x="868680" y="2514600"/>
            <a:ext cx="777240" cy="77724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8" name="Text 6"/>
          <p:cNvSpPr/>
          <p:nvPr/>
        </p:nvSpPr>
        <p:spPr>
          <a:xfrm>
            <a:off x="1920240" y="2267712"/>
            <a:ext cx="9418320" cy="960120"/>
          </a:xfrm>
          <a:prstGeom prst="rect">
            <a:avLst/>
          </a:prstGeom>
          <a:noFill/>
          <a:ln/>
        </p:spPr>
        <p:txBody>
          <a:bodyPr wrap="square" rtlCol="0" anchor="ctr"/>
          <a:lstStyle/>
          <a:p>
            <a:pPr marL="0" indent="0">
              <a:lnSpc>
                <a:spcPct val="103000"/>
              </a:lnSpc>
              <a:buNone/>
            </a:pPr>
            <a:r>
              <a:rPr lang="en-US" sz="1400" dirty="0">
                <a:solidFill>
                  <a:srgbClr val="1B1F2A"/>
                </a:solidFill>
                <a:latin typeface="Calibri" pitchFamily="34" charset="0"/>
                <a:ea typeface="Calibri" pitchFamily="34" charset="-122"/>
                <a:cs typeface="Calibri" pitchFamily="34" charset="-120"/>
              </a:rPr>
              <a:t>Gemini’s first draft evaluated on the training set and reported a near-perfect score. It looked perfect and shipped. Who is accountable for the bug — the tool, the person who prompted, or the person who reviewed? How would a teammate even catch it?</a:t>
            </a:r>
            <a:endParaRPr lang="en-US" sz="1400" dirty="0"/>
          </a:p>
        </p:txBody>
      </p:sp>
      <p:sp>
        <p:nvSpPr>
          <p:cNvPr id="9" name="Text 7"/>
          <p:cNvSpPr/>
          <p:nvPr/>
        </p:nvSpPr>
        <p:spPr>
          <a:xfrm>
            <a:off x="1920240" y="3291840"/>
            <a:ext cx="9144000" cy="320040"/>
          </a:xfrm>
          <a:prstGeom prst="rect">
            <a:avLst/>
          </a:prstGeom>
          <a:noFill/>
          <a:ln/>
        </p:spPr>
        <p:txBody>
          <a:bodyPr wrap="square" rtlCol="0" anchor="ctr"/>
          <a:lstStyle/>
          <a:p>
            <a:pPr marL="0" indent="0">
              <a:buNone/>
            </a:pPr>
            <a:r>
              <a:rPr lang="en-US" sz="1250" b="1" i="1" dirty="0">
                <a:solidFill>
                  <a:srgbClr val="B31A38"/>
                </a:solidFill>
                <a:latin typeface="Cambria" pitchFamily="34" charset="0"/>
                <a:ea typeface="Cambria" pitchFamily="34" charset="-122"/>
                <a:cs typeface="Cambria" pitchFamily="34" charset="-120"/>
              </a:rPr>
              <a:t>AI removes the typing, not the judgment.</a:t>
            </a:r>
            <a:endParaRPr lang="en-US" sz="1250" dirty="0"/>
          </a:p>
        </p:txBody>
      </p:sp>
      <p:sp>
        <p:nvSpPr>
          <p:cNvPr id="10" name="Shape 8"/>
          <p:cNvSpPr/>
          <p:nvPr/>
        </p:nvSpPr>
        <p:spPr>
          <a:xfrm>
            <a:off x="548640" y="3977640"/>
            <a:ext cx="11091672" cy="1828800"/>
          </a:xfrm>
          <a:prstGeom prst="roundRect">
            <a:avLst>
              <a:gd name="adj" fmla="val 3000"/>
            </a:avLst>
          </a:prstGeom>
          <a:solidFill>
            <a:srgbClr val="F4F5F8"/>
          </a:solidFill>
          <a:ln w="12700">
            <a:solidFill>
              <a:srgbClr val="E4E6EF"/>
            </a:solidFill>
            <a:prstDash val="solid"/>
          </a:ln>
        </p:spPr>
        <p:txBody>
          <a:bodyPr/>
          <a:lstStyle/>
          <a:p>
            <a:endParaRPr lang="en-US"/>
          </a:p>
        </p:txBody>
      </p:sp>
      <p:sp>
        <p:nvSpPr>
          <p:cNvPr id="11" name="Shape 9"/>
          <p:cNvSpPr/>
          <p:nvPr/>
        </p:nvSpPr>
        <p:spPr>
          <a:xfrm>
            <a:off x="868680" y="4480560"/>
            <a:ext cx="777240" cy="777240"/>
          </a:xfrm>
          <a:prstGeom prst="ellipse">
            <a:avLst/>
          </a:prstGeom>
          <a:solidFill>
            <a:srgbClr val="1B1F2A"/>
          </a:solidFill>
          <a:ln/>
        </p:spPr>
        <p:txBody>
          <a:bodyPr/>
          <a:lstStyle/>
          <a:p>
            <a:endParaRPr lang="en-US"/>
          </a:p>
        </p:txBody>
      </p:sp>
      <p:sp>
        <p:nvSpPr>
          <p:cNvPr id="12" name="Text 10"/>
          <p:cNvSpPr/>
          <p:nvPr/>
        </p:nvSpPr>
        <p:spPr>
          <a:xfrm>
            <a:off x="868680" y="4480560"/>
            <a:ext cx="777240" cy="77724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p:nvPr/>
        </p:nvSpPr>
        <p:spPr>
          <a:xfrm>
            <a:off x="1920240" y="4233672"/>
            <a:ext cx="9418320" cy="960120"/>
          </a:xfrm>
          <a:prstGeom prst="rect">
            <a:avLst/>
          </a:prstGeom>
          <a:noFill/>
          <a:ln/>
        </p:spPr>
        <p:txBody>
          <a:bodyPr wrap="square" rtlCol="0" anchor="ctr"/>
          <a:lstStyle/>
          <a:p>
            <a:pPr marL="0" indent="0">
              <a:lnSpc>
                <a:spcPct val="103000"/>
              </a:lnSpc>
              <a:buNone/>
            </a:pPr>
            <a:r>
              <a:rPr lang="en-US" sz="1400" dirty="0">
                <a:solidFill>
                  <a:srgbClr val="1B1F2A"/>
                </a:solidFill>
                <a:latin typeface="Calibri" pitchFamily="34" charset="0"/>
                <a:ea typeface="Calibri" pitchFamily="34" charset="-122"/>
                <a:cs typeface="Calibri" pitchFamily="34" charset="-120"/>
              </a:rPr>
              <a:t>For your final project: build the classifier yourself, or have an agent build it while you verify? Where is the line between useful leverage and not understanding your own system?</a:t>
            </a:r>
            <a:endParaRPr lang="en-US" sz="1400" dirty="0"/>
          </a:p>
        </p:txBody>
      </p:sp>
      <p:sp>
        <p:nvSpPr>
          <p:cNvPr id="14" name="Text 12"/>
          <p:cNvSpPr/>
          <p:nvPr/>
        </p:nvSpPr>
        <p:spPr>
          <a:xfrm>
            <a:off x="1920240" y="5257800"/>
            <a:ext cx="9144000" cy="320040"/>
          </a:xfrm>
          <a:prstGeom prst="rect">
            <a:avLst/>
          </a:prstGeom>
          <a:noFill/>
          <a:ln/>
        </p:spPr>
        <p:txBody>
          <a:bodyPr wrap="square" rtlCol="0" anchor="ctr"/>
          <a:lstStyle/>
          <a:p>
            <a:pPr marL="0" indent="0">
              <a:buNone/>
            </a:pPr>
            <a:r>
              <a:rPr lang="en-US" sz="1250" b="1" i="1" dirty="0">
                <a:solidFill>
                  <a:srgbClr val="1B1F2A"/>
                </a:solidFill>
                <a:latin typeface="Cambria" pitchFamily="34" charset="0"/>
                <a:ea typeface="Cambria" pitchFamily="34" charset="-122"/>
                <a:cs typeface="Cambria" pitchFamily="34" charset="-120"/>
              </a:rPr>
              <a:t>You will defend this system in the demo. Own what is inside it.</a:t>
            </a:r>
            <a:endParaRPr lang="en-US" sz="1250" dirty="0"/>
          </a:p>
        </p:txBody>
      </p:sp>
      <p:sp>
        <p:nvSpPr>
          <p:cNvPr id="15" name="Text 13"/>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16" name="Text 14"/>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1100" b="1" kern="0" spc="200" dirty="0">
                <a:solidFill>
                  <a:srgbClr val="B31A38"/>
                </a:solidFill>
                <a:latin typeface="Calibri" pitchFamily="34" charset="0"/>
                <a:ea typeface="Calibri" pitchFamily="34" charset="-122"/>
                <a:cs typeface="Calibri" pitchFamily="34" charset="-120"/>
              </a:rPr>
              <a:t>YOUR PROJECT</a:t>
            </a:r>
            <a:endParaRPr lang="en-US" sz="1100" dirty="0"/>
          </a:p>
        </p:txBody>
      </p:sp>
      <p:sp>
        <p:nvSpPr>
          <p:cNvPr id="3" name="Text 1"/>
          <p:cNvSpPr/>
          <p:nvPr/>
        </p:nvSpPr>
        <p:spPr>
          <a:xfrm>
            <a:off x="548640" y="822960"/>
            <a:ext cx="11064240" cy="658368"/>
          </a:xfrm>
          <a:prstGeom prst="rect">
            <a:avLst/>
          </a:prstGeom>
          <a:noFill/>
          <a:ln/>
        </p:spPr>
        <p:txBody>
          <a:bodyPr wrap="square" rtlCol="0" anchor="ctr"/>
          <a:lstStyle/>
          <a:p>
            <a:pPr marL="0" indent="0">
              <a:buNone/>
            </a:pPr>
            <a:r>
              <a:rPr lang="en-US" sz="3000" b="1" dirty="0">
                <a:solidFill>
                  <a:srgbClr val="1B1F2A"/>
                </a:solidFill>
                <a:latin typeface="Cambria" pitchFamily="34" charset="0"/>
                <a:ea typeface="Cambria" pitchFamily="34" charset="-122"/>
                <a:cs typeface="Cambria" pitchFamily="34" charset="-120"/>
              </a:rPr>
              <a:t>Tonight is Milestone 2: Baseline &amp; Representation</a:t>
            </a:r>
            <a:endParaRPr lang="en-US" sz="3000" dirty="0"/>
          </a:p>
        </p:txBody>
      </p:sp>
      <p:sp>
        <p:nvSpPr>
          <p:cNvPr id="4" name="Text 2"/>
          <p:cNvSpPr/>
          <p:nvPr/>
        </p:nvSpPr>
        <p:spPr>
          <a:xfrm>
            <a:off x="566928" y="1481328"/>
            <a:ext cx="10972800" cy="365760"/>
          </a:xfrm>
          <a:prstGeom prst="rect">
            <a:avLst/>
          </a:prstGeom>
          <a:noFill/>
          <a:ln/>
        </p:spPr>
        <p:txBody>
          <a:bodyPr wrap="square" rtlCol="0" anchor="ctr"/>
          <a:lstStyle/>
          <a:p>
            <a:pPr marL="0" indent="0">
              <a:buNone/>
            </a:pPr>
            <a:r>
              <a:rPr lang="en-US" sz="1350" i="1" dirty="0">
                <a:solidFill>
                  <a:srgbClr val="5B6172"/>
                </a:solidFill>
                <a:latin typeface="Cambria" pitchFamily="34" charset="0"/>
                <a:ea typeface="Cambria" pitchFamily="34" charset="-122"/>
                <a:cs typeface="Cambria" pitchFamily="34" charset="-120"/>
              </a:rPr>
              <a:t>Everything tonight maps straight onto your next deliverable. Due Sunday, July 12.</a:t>
            </a:r>
            <a:endParaRPr lang="en-US" sz="1350" dirty="0"/>
          </a:p>
        </p:txBody>
      </p:sp>
      <p:sp>
        <p:nvSpPr>
          <p:cNvPr id="5" name="Shape 3"/>
          <p:cNvSpPr/>
          <p:nvPr/>
        </p:nvSpPr>
        <p:spPr>
          <a:xfrm>
            <a:off x="548640" y="2103120"/>
            <a:ext cx="3575304" cy="2606040"/>
          </a:xfrm>
          <a:prstGeom prst="roundRect">
            <a:avLst>
              <a:gd name="adj" fmla="val 2105"/>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2423160"/>
            <a:ext cx="548640" cy="548640"/>
          </a:xfrm>
          <a:prstGeom prst="rect">
            <a:avLst/>
          </a:prstGeom>
        </p:spPr>
      </p:pic>
      <p:sp>
        <p:nvSpPr>
          <p:cNvPr id="7" name="Text 4"/>
          <p:cNvSpPr/>
          <p:nvPr/>
        </p:nvSpPr>
        <p:spPr>
          <a:xfrm>
            <a:off x="841248" y="3127248"/>
            <a:ext cx="2990088" cy="457200"/>
          </a:xfrm>
          <a:prstGeom prst="rect">
            <a:avLst/>
          </a:prstGeom>
          <a:noFill/>
          <a:ln/>
        </p:spPr>
        <p:txBody>
          <a:bodyPr wrap="square" rtlCol="0" anchor="t"/>
          <a:lstStyle/>
          <a:p>
            <a:pPr marL="0" indent="0">
              <a:buNone/>
            </a:pPr>
            <a:r>
              <a:rPr lang="en-US" sz="1700" b="1" dirty="0">
                <a:solidFill>
                  <a:srgbClr val="B31A38"/>
                </a:solidFill>
                <a:latin typeface="Cambria" pitchFamily="34" charset="0"/>
                <a:ea typeface="Cambria" pitchFamily="34" charset="-122"/>
                <a:cs typeface="Cambria" pitchFamily="34" charset="-120"/>
              </a:rPr>
              <a:t>Representation</a:t>
            </a:r>
            <a:endParaRPr lang="en-US" sz="1700" dirty="0"/>
          </a:p>
        </p:txBody>
      </p:sp>
      <p:sp>
        <p:nvSpPr>
          <p:cNvPr id="8" name="Text 5"/>
          <p:cNvSpPr/>
          <p:nvPr/>
        </p:nvSpPr>
        <p:spPr>
          <a:xfrm>
            <a:off x="841248" y="3584448"/>
            <a:ext cx="2990088" cy="1005840"/>
          </a:xfrm>
          <a:prstGeom prst="rect">
            <a:avLst/>
          </a:prstGeom>
          <a:noFill/>
          <a:ln/>
        </p:spPr>
        <p:txBody>
          <a:bodyPr wrap="square" rtlCol="0" anchor="t"/>
          <a:lstStyle/>
          <a:p>
            <a:pPr marL="0" indent="0">
              <a:lnSpc>
                <a:spcPct val="105000"/>
              </a:lnSpc>
              <a:buNone/>
            </a:pPr>
            <a:r>
              <a:rPr lang="en-US" sz="1300" dirty="0">
                <a:solidFill>
                  <a:srgbClr val="1B1F2A"/>
                </a:solidFill>
                <a:latin typeface="Calibri" pitchFamily="34" charset="0"/>
                <a:ea typeface="Calibri" pitchFamily="34" charset="-122"/>
                <a:cs typeface="Calibri" pitchFamily="34" charset="-120"/>
              </a:rPr>
              <a:t>Choose and justify how you turn your project’s text into features. TF-IDF now; embeddings come later.</a:t>
            </a:r>
            <a:endParaRPr lang="en-US" sz="1300" dirty="0"/>
          </a:p>
        </p:txBody>
      </p:sp>
      <p:sp>
        <p:nvSpPr>
          <p:cNvPr id="9" name="Shape 6"/>
          <p:cNvSpPr/>
          <p:nvPr/>
        </p:nvSpPr>
        <p:spPr>
          <a:xfrm>
            <a:off x="4306824" y="2103120"/>
            <a:ext cx="3575304" cy="2606040"/>
          </a:xfrm>
          <a:prstGeom prst="roundRect">
            <a:avLst>
              <a:gd name="adj" fmla="val 2105"/>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4626864" y="2423160"/>
            <a:ext cx="548640" cy="548640"/>
          </a:xfrm>
          <a:prstGeom prst="rect">
            <a:avLst/>
          </a:prstGeom>
        </p:spPr>
      </p:pic>
      <p:sp>
        <p:nvSpPr>
          <p:cNvPr id="11" name="Text 7"/>
          <p:cNvSpPr/>
          <p:nvPr/>
        </p:nvSpPr>
        <p:spPr>
          <a:xfrm>
            <a:off x="4599432" y="3127248"/>
            <a:ext cx="2990088" cy="457200"/>
          </a:xfrm>
          <a:prstGeom prst="rect">
            <a:avLst/>
          </a:prstGeom>
          <a:noFill/>
          <a:ln/>
        </p:spPr>
        <p:txBody>
          <a:bodyPr wrap="square" rtlCol="0" anchor="t"/>
          <a:lstStyle/>
          <a:p>
            <a:pPr marL="0" indent="0">
              <a:buNone/>
            </a:pPr>
            <a:r>
              <a:rPr lang="en-US" sz="1700" b="1" dirty="0">
                <a:solidFill>
                  <a:srgbClr val="1B1F2A"/>
                </a:solidFill>
                <a:latin typeface="Cambria" pitchFamily="34" charset="0"/>
                <a:ea typeface="Cambria" pitchFamily="34" charset="-122"/>
                <a:cs typeface="Cambria" pitchFamily="34" charset="-120"/>
              </a:rPr>
              <a:t>Baseline</a:t>
            </a:r>
            <a:endParaRPr lang="en-US" sz="1700" dirty="0"/>
          </a:p>
        </p:txBody>
      </p:sp>
      <p:sp>
        <p:nvSpPr>
          <p:cNvPr id="12" name="Text 8"/>
          <p:cNvSpPr/>
          <p:nvPr/>
        </p:nvSpPr>
        <p:spPr>
          <a:xfrm>
            <a:off x="4599432" y="3584448"/>
            <a:ext cx="2990088" cy="1005840"/>
          </a:xfrm>
          <a:prstGeom prst="rect">
            <a:avLst/>
          </a:prstGeom>
          <a:noFill/>
          <a:ln/>
        </p:spPr>
        <p:txBody>
          <a:bodyPr wrap="square" rtlCol="0" anchor="t"/>
          <a:lstStyle/>
          <a:p>
            <a:pPr marL="0" indent="0">
              <a:lnSpc>
                <a:spcPct val="105000"/>
              </a:lnSpc>
              <a:buNone/>
            </a:pPr>
            <a:r>
              <a:rPr lang="en-US" sz="1300" dirty="0">
                <a:solidFill>
                  <a:srgbClr val="1B1F2A"/>
                </a:solidFill>
                <a:latin typeface="Calibri" pitchFamily="34" charset="0"/>
                <a:ea typeface="Calibri" pitchFamily="34" charset="-122"/>
                <a:cs typeface="Calibri" pitchFamily="34" charset="-120"/>
              </a:rPr>
              <a:t>Stand up one simple, honest classifier. This is the bar every fancier model will have to clear.</a:t>
            </a:r>
            <a:endParaRPr lang="en-US" sz="1300" dirty="0"/>
          </a:p>
        </p:txBody>
      </p:sp>
      <p:sp>
        <p:nvSpPr>
          <p:cNvPr id="13" name="Shape 9"/>
          <p:cNvSpPr/>
          <p:nvPr/>
        </p:nvSpPr>
        <p:spPr>
          <a:xfrm>
            <a:off x="8065008" y="2103120"/>
            <a:ext cx="3575304" cy="2606040"/>
          </a:xfrm>
          <a:prstGeom prst="roundRect">
            <a:avLst>
              <a:gd name="adj" fmla="val 2105"/>
            </a:avLst>
          </a:prstGeom>
          <a:solidFill>
            <a:srgbClr val="F4F5F8"/>
          </a:solidFill>
          <a:ln w="12700">
            <a:solidFill>
              <a:srgbClr val="E4E6EF"/>
            </a:solidFill>
            <a:prstDash val="solid"/>
          </a:ln>
          <a:effectLst>
            <a:outerShdw blurRad="88900" dist="25400" dir="5400000" algn="bl" rotWithShape="0">
              <a:srgbClr val="9AA0B0">
                <a:alpha val="2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8385048" y="2423160"/>
            <a:ext cx="548640" cy="548640"/>
          </a:xfrm>
          <a:prstGeom prst="rect">
            <a:avLst/>
          </a:prstGeom>
        </p:spPr>
      </p:pic>
      <p:sp>
        <p:nvSpPr>
          <p:cNvPr id="15" name="Text 10"/>
          <p:cNvSpPr/>
          <p:nvPr/>
        </p:nvSpPr>
        <p:spPr>
          <a:xfrm>
            <a:off x="8357616" y="3127248"/>
            <a:ext cx="2990088" cy="457200"/>
          </a:xfrm>
          <a:prstGeom prst="rect">
            <a:avLst/>
          </a:prstGeom>
          <a:noFill/>
          <a:ln/>
        </p:spPr>
        <p:txBody>
          <a:bodyPr wrap="square" rtlCol="0" anchor="t"/>
          <a:lstStyle/>
          <a:p>
            <a:pPr marL="0" indent="0">
              <a:buNone/>
            </a:pPr>
            <a:r>
              <a:rPr lang="en-US" sz="1700" b="1" dirty="0">
                <a:solidFill>
                  <a:srgbClr val="8A6D1F"/>
                </a:solidFill>
                <a:latin typeface="Cambria" pitchFamily="34" charset="0"/>
                <a:ea typeface="Cambria" pitchFamily="34" charset="-122"/>
                <a:cs typeface="Cambria" pitchFamily="34" charset="-120"/>
              </a:rPr>
              <a:t>Metric</a:t>
            </a:r>
            <a:endParaRPr lang="en-US" sz="1700" dirty="0"/>
          </a:p>
        </p:txBody>
      </p:sp>
      <p:sp>
        <p:nvSpPr>
          <p:cNvPr id="16" name="Text 11"/>
          <p:cNvSpPr/>
          <p:nvPr/>
        </p:nvSpPr>
        <p:spPr>
          <a:xfrm>
            <a:off x="8357616" y="3584448"/>
            <a:ext cx="2990088" cy="1005840"/>
          </a:xfrm>
          <a:prstGeom prst="rect">
            <a:avLst/>
          </a:prstGeom>
          <a:noFill/>
          <a:ln/>
        </p:spPr>
        <p:txBody>
          <a:bodyPr wrap="square" rtlCol="0" anchor="t"/>
          <a:lstStyle/>
          <a:p>
            <a:pPr marL="0" indent="0">
              <a:lnSpc>
                <a:spcPct val="105000"/>
              </a:lnSpc>
              <a:buNone/>
            </a:pPr>
            <a:r>
              <a:rPr lang="en-US" sz="1300" dirty="0">
                <a:solidFill>
                  <a:srgbClr val="1B1F2A"/>
                </a:solidFill>
                <a:latin typeface="Calibri" pitchFamily="34" charset="0"/>
                <a:ea typeface="Calibri" pitchFamily="34" charset="-122"/>
                <a:cs typeface="Calibri" pitchFamily="34" charset="-120"/>
              </a:rPr>
              <a:t>Report one number on held-out data. It becomes the reference point for every later improvement.</a:t>
            </a:r>
            <a:endParaRPr lang="en-US" sz="1300" dirty="0"/>
          </a:p>
        </p:txBody>
      </p:sp>
      <p:sp>
        <p:nvSpPr>
          <p:cNvPr id="17" name="Shape 12"/>
          <p:cNvSpPr/>
          <p:nvPr/>
        </p:nvSpPr>
        <p:spPr>
          <a:xfrm>
            <a:off x="548640" y="4983480"/>
            <a:ext cx="11091672" cy="731520"/>
          </a:xfrm>
          <a:prstGeom prst="roundRect">
            <a:avLst>
              <a:gd name="adj" fmla="val 7500"/>
            </a:avLst>
          </a:prstGeom>
          <a:solidFill>
            <a:srgbClr val="151A2E"/>
          </a:solidFill>
          <a:ln w="12700">
            <a:solidFill>
              <a:srgbClr val="151A2E"/>
            </a:solidFill>
            <a:prstDash val="solid"/>
          </a:ln>
        </p:spPr>
        <p:txBody>
          <a:bodyPr/>
          <a:lstStyle/>
          <a:p>
            <a:endParaRPr lang="en-US"/>
          </a:p>
        </p:txBody>
      </p:sp>
      <p:sp>
        <p:nvSpPr>
          <p:cNvPr id="18" name="Text 13"/>
          <p:cNvSpPr/>
          <p:nvPr/>
        </p:nvSpPr>
        <p:spPr>
          <a:xfrm>
            <a:off x="868680" y="4983480"/>
            <a:ext cx="10424160" cy="731520"/>
          </a:xfrm>
          <a:prstGeom prst="rect">
            <a:avLst/>
          </a:prstGeom>
          <a:noFill/>
          <a:ln/>
        </p:spPr>
        <p:txBody>
          <a:bodyPr wrap="square" rtlCol="0" anchor="ctr"/>
          <a:lstStyle/>
          <a:p>
            <a:pPr marL="0" indent="0">
              <a:buNone/>
            </a:pPr>
            <a:r>
              <a:rPr lang="en-US" sz="1500" i="1" dirty="0">
                <a:solidFill>
                  <a:srgbClr val="FFFFFF"/>
                </a:solidFill>
                <a:latin typeface="Cambria" pitchFamily="34" charset="0"/>
                <a:ea typeface="Cambria" pitchFamily="34" charset="-122"/>
                <a:cs typeface="Cambria" pitchFamily="34" charset="-120"/>
              </a:rPr>
              <a:t>Every fancier model later earns its place only by beating tonight’s baseline.</a:t>
            </a:r>
            <a:endParaRPr lang="en-US" sz="1500" dirty="0"/>
          </a:p>
        </p:txBody>
      </p:sp>
      <p:sp>
        <p:nvSpPr>
          <p:cNvPr id="19" name="Text 14"/>
          <p:cNvSpPr/>
          <p:nvPr/>
        </p:nvSpPr>
        <p:spPr>
          <a:xfrm>
            <a:off x="502920" y="6373368"/>
            <a:ext cx="8686800" cy="274320"/>
          </a:xfrm>
          <a:prstGeom prst="rect">
            <a:avLst/>
          </a:prstGeom>
          <a:noFill/>
          <a:ln/>
        </p:spPr>
        <p:txBody>
          <a:bodyPr wrap="square" rtlCol="0" anchor="ctr"/>
          <a:lstStyle/>
          <a:p>
            <a:pPr marL="0" indent="0">
              <a:buNone/>
            </a:pPr>
            <a:r>
              <a:rPr lang="en-US" sz="8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800" dirty="0"/>
          </a:p>
        </p:txBody>
      </p:sp>
      <p:sp>
        <p:nvSpPr>
          <p:cNvPr id="20" name="Text 15"/>
          <p:cNvSpPr/>
          <p:nvPr/>
        </p:nvSpPr>
        <p:spPr>
          <a:xfrm>
            <a:off x="11064240" y="6373368"/>
            <a:ext cx="640080" cy="274320"/>
          </a:xfrm>
          <a:prstGeom prst="rect">
            <a:avLst/>
          </a:prstGeom>
          <a:noFill/>
          <a:ln/>
        </p:spPr>
        <p:txBody>
          <a:bodyPr wrap="square" rtlCol="0" anchor="ctr"/>
          <a:lstStyle/>
          <a:p>
            <a:pPr marL="0" indent="0" algn="r">
              <a:buNone/>
            </a:pPr>
            <a:r>
              <a:rPr lang="en-US" sz="800" dirty="0">
                <a:solidFill>
                  <a:srgbClr val="5B6172"/>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A2E"/>
        </a:solidFill>
        <a:effectLst/>
      </p:bgPr>
    </p:bg>
    <p:spTree>
      <p:nvGrpSpPr>
        <p:cNvPr id="1" name=""/>
        <p:cNvGrpSpPr/>
        <p:nvPr/>
      </p:nvGrpSpPr>
      <p:grpSpPr>
        <a:xfrm>
          <a:off x="0" y="0"/>
          <a:ext cx="0" cy="0"/>
          <a:chOff x="0" y="0"/>
          <a:chExt cx="0" cy="0"/>
        </a:xfrm>
      </p:grpSpPr>
      <p:sp>
        <p:nvSpPr>
          <p:cNvPr id="2" name="Text 0"/>
          <p:cNvSpPr/>
          <p:nvPr/>
        </p:nvSpPr>
        <p:spPr>
          <a:xfrm>
            <a:off x="868680" y="685800"/>
            <a:ext cx="5486400" cy="274320"/>
          </a:xfrm>
          <a:prstGeom prst="rect">
            <a:avLst/>
          </a:prstGeom>
          <a:noFill/>
          <a:ln/>
        </p:spPr>
        <p:txBody>
          <a:bodyPr wrap="square" rtlCol="0" anchor="ctr"/>
          <a:lstStyle/>
          <a:p>
            <a:pPr marL="0" indent="0">
              <a:buNone/>
            </a:pPr>
            <a:r>
              <a:rPr lang="en-US" sz="1200" b="1" kern="0" spc="200" dirty="0">
                <a:solidFill>
                  <a:srgbClr val="B5A06A"/>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850392" y="960120"/>
            <a:ext cx="100584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Today in one line</a:t>
            </a:r>
            <a:endParaRPr lang="en-US" sz="3200" dirty="0"/>
          </a:p>
        </p:txBody>
      </p:sp>
      <p:sp>
        <p:nvSpPr>
          <p:cNvPr id="4" name="Text 2"/>
          <p:cNvSpPr/>
          <p:nvPr/>
        </p:nvSpPr>
        <p:spPr>
          <a:xfrm>
            <a:off x="868680" y="1691640"/>
            <a:ext cx="10424160" cy="548640"/>
          </a:xfrm>
          <a:prstGeom prst="rect">
            <a:avLst/>
          </a:prstGeom>
          <a:noFill/>
          <a:ln/>
        </p:spPr>
        <p:txBody>
          <a:bodyPr wrap="square" rtlCol="0" anchor="ctr"/>
          <a:lstStyle/>
          <a:p>
            <a:pPr marL="0" indent="0">
              <a:buNone/>
            </a:pPr>
            <a:r>
              <a:rPr lang="en-US" sz="1500" i="1" dirty="0">
                <a:solidFill>
                  <a:srgbClr val="C9CDDA"/>
                </a:solidFill>
                <a:latin typeface="Cambria" pitchFamily="34" charset="0"/>
                <a:ea typeface="Cambria" pitchFamily="34" charset="-122"/>
                <a:cs typeface="Cambria" pitchFamily="34" charset="-120"/>
              </a:rPr>
              <a:t>Supervised learning turns labeled examples into a model — and AI can write the code, but only you can tell whether it’s right.</a:t>
            </a:r>
            <a:endParaRPr lang="en-US" sz="1500" dirty="0"/>
          </a:p>
        </p:txBody>
      </p:sp>
      <p:sp>
        <p:nvSpPr>
          <p:cNvPr id="5" name="Shape 3"/>
          <p:cNvSpPr/>
          <p:nvPr/>
        </p:nvSpPr>
        <p:spPr>
          <a:xfrm>
            <a:off x="868680" y="2514600"/>
            <a:ext cx="3465576" cy="1874520"/>
          </a:xfrm>
          <a:prstGeom prst="roundRect">
            <a:avLst>
              <a:gd name="adj" fmla="val 2927"/>
            </a:avLst>
          </a:prstGeom>
          <a:solidFill>
            <a:srgbClr val="1F2540"/>
          </a:solidFill>
          <a:ln w="12700">
            <a:solidFill>
              <a:srgbClr val="2A3252"/>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161288" y="2788920"/>
            <a:ext cx="475488" cy="475488"/>
          </a:xfrm>
          <a:prstGeom prst="rect">
            <a:avLst/>
          </a:prstGeom>
        </p:spPr>
      </p:pic>
      <p:sp>
        <p:nvSpPr>
          <p:cNvPr id="7" name="Text 4"/>
          <p:cNvSpPr/>
          <p:nvPr/>
        </p:nvSpPr>
        <p:spPr>
          <a:xfrm>
            <a:off x="1161288" y="3355848"/>
            <a:ext cx="2916936" cy="365760"/>
          </a:xfrm>
          <a:prstGeom prst="rect">
            <a:avLst/>
          </a:prstGeom>
          <a:noFill/>
          <a:ln/>
        </p:spPr>
        <p:txBody>
          <a:bodyPr wrap="square"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Representation</a:t>
            </a:r>
            <a:endParaRPr lang="en-US" sz="1600" dirty="0"/>
          </a:p>
        </p:txBody>
      </p:sp>
      <p:sp>
        <p:nvSpPr>
          <p:cNvPr id="8" name="Text 5"/>
          <p:cNvSpPr/>
          <p:nvPr/>
        </p:nvSpPr>
        <p:spPr>
          <a:xfrm>
            <a:off x="1161288" y="3721608"/>
            <a:ext cx="2916936" cy="594360"/>
          </a:xfrm>
          <a:prstGeom prst="rect">
            <a:avLst/>
          </a:prstGeom>
          <a:noFill/>
          <a:ln/>
        </p:spPr>
        <p:txBody>
          <a:bodyPr wrap="square" rtlCol="0" anchor="t"/>
          <a:lstStyle/>
          <a:p>
            <a:pPr marL="0" indent="0">
              <a:lnSpc>
                <a:spcPct val="103000"/>
              </a:lnSpc>
              <a:buNone/>
            </a:pPr>
            <a:r>
              <a:rPr lang="en-US" sz="1200" dirty="0">
                <a:solidFill>
                  <a:srgbClr val="C9CDDA"/>
                </a:solidFill>
                <a:latin typeface="Calibri" pitchFamily="34" charset="0"/>
                <a:ea typeface="Calibri" pitchFamily="34" charset="-122"/>
                <a:cs typeface="Calibri" pitchFamily="34" charset="-120"/>
              </a:rPr>
              <a:t>TF-IDF turns text into the term-document matrix a model can learn on.</a:t>
            </a:r>
            <a:endParaRPr lang="en-US" sz="1200" dirty="0"/>
          </a:p>
        </p:txBody>
      </p:sp>
      <p:sp>
        <p:nvSpPr>
          <p:cNvPr id="9" name="Shape 6"/>
          <p:cNvSpPr/>
          <p:nvPr/>
        </p:nvSpPr>
        <p:spPr>
          <a:xfrm>
            <a:off x="4535424" y="2514600"/>
            <a:ext cx="3465576" cy="1874520"/>
          </a:xfrm>
          <a:prstGeom prst="roundRect">
            <a:avLst>
              <a:gd name="adj" fmla="val 2927"/>
            </a:avLst>
          </a:prstGeom>
          <a:solidFill>
            <a:srgbClr val="1F2540"/>
          </a:solidFill>
          <a:ln w="12700">
            <a:solidFill>
              <a:srgbClr val="2A3252"/>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828032" y="2788920"/>
            <a:ext cx="475488" cy="475488"/>
          </a:xfrm>
          <a:prstGeom prst="rect">
            <a:avLst/>
          </a:prstGeom>
        </p:spPr>
      </p:pic>
      <p:sp>
        <p:nvSpPr>
          <p:cNvPr id="11" name="Text 7"/>
          <p:cNvSpPr/>
          <p:nvPr/>
        </p:nvSpPr>
        <p:spPr>
          <a:xfrm>
            <a:off x="4828032" y="3355848"/>
            <a:ext cx="2916936" cy="365760"/>
          </a:xfrm>
          <a:prstGeom prst="rect">
            <a:avLst/>
          </a:prstGeom>
          <a:noFill/>
          <a:ln/>
        </p:spPr>
        <p:txBody>
          <a:bodyPr wrap="square"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Baseline</a:t>
            </a:r>
            <a:endParaRPr lang="en-US" sz="1600" dirty="0"/>
          </a:p>
        </p:txBody>
      </p:sp>
      <p:sp>
        <p:nvSpPr>
          <p:cNvPr id="12" name="Text 8"/>
          <p:cNvSpPr/>
          <p:nvPr/>
        </p:nvSpPr>
        <p:spPr>
          <a:xfrm>
            <a:off x="4828032" y="3721608"/>
            <a:ext cx="2916936" cy="594360"/>
          </a:xfrm>
          <a:prstGeom prst="rect">
            <a:avLst/>
          </a:prstGeom>
          <a:noFill/>
          <a:ln/>
        </p:spPr>
        <p:txBody>
          <a:bodyPr wrap="square" rtlCol="0" anchor="t"/>
          <a:lstStyle/>
          <a:p>
            <a:pPr marL="0" indent="0">
              <a:lnSpc>
                <a:spcPct val="103000"/>
              </a:lnSpc>
              <a:buNone/>
            </a:pPr>
            <a:r>
              <a:rPr lang="en-US" sz="1200" dirty="0">
                <a:solidFill>
                  <a:srgbClr val="C9CDDA"/>
                </a:solidFill>
                <a:latin typeface="Calibri" pitchFamily="34" charset="0"/>
                <a:ea typeface="Calibri" pitchFamily="34" charset="-122"/>
                <a:cs typeface="Calibri" pitchFamily="34" charset="-120"/>
              </a:rPr>
              <a:t>A simple classifier, honestly evaluated on held-out data.</a:t>
            </a:r>
            <a:endParaRPr lang="en-US" sz="1200" dirty="0"/>
          </a:p>
        </p:txBody>
      </p:sp>
      <p:sp>
        <p:nvSpPr>
          <p:cNvPr id="13" name="Shape 9"/>
          <p:cNvSpPr/>
          <p:nvPr/>
        </p:nvSpPr>
        <p:spPr>
          <a:xfrm>
            <a:off x="8202168" y="2514600"/>
            <a:ext cx="3465576" cy="1874520"/>
          </a:xfrm>
          <a:prstGeom prst="roundRect">
            <a:avLst>
              <a:gd name="adj" fmla="val 2927"/>
            </a:avLst>
          </a:prstGeom>
          <a:solidFill>
            <a:srgbClr val="1F2540"/>
          </a:solidFill>
          <a:ln w="12700">
            <a:solidFill>
              <a:srgbClr val="2A3252"/>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8494776" y="2788920"/>
            <a:ext cx="475488" cy="475488"/>
          </a:xfrm>
          <a:prstGeom prst="rect">
            <a:avLst/>
          </a:prstGeom>
        </p:spPr>
      </p:pic>
      <p:sp>
        <p:nvSpPr>
          <p:cNvPr id="15" name="Text 10"/>
          <p:cNvSpPr/>
          <p:nvPr/>
        </p:nvSpPr>
        <p:spPr>
          <a:xfrm>
            <a:off x="8494776" y="3355848"/>
            <a:ext cx="2916936" cy="365760"/>
          </a:xfrm>
          <a:prstGeom prst="rect">
            <a:avLst/>
          </a:prstGeom>
          <a:noFill/>
          <a:ln/>
        </p:spPr>
        <p:txBody>
          <a:bodyPr wrap="square"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Verification</a:t>
            </a:r>
            <a:endParaRPr lang="en-US" sz="1600" dirty="0"/>
          </a:p>
        </p:txBody>
      </p:sp>
      <p:sp>
        <p:nvSpPr>
          <p:cNvPr id="16" name="Text 11"/>
          <p:cNvSpPr/>
          <p:nvPr/>
        </p:nvSpPr>
        <p:spPr>
          <a:xfrm>
            <a:off x="8494776" y="3721608"/>
            <a:ext cx="2916936" cy="594360"/>
          </a:xfrm>
          <a:prstGeom prst="rect">
            <a:avLst/>
          </a:prstGeom>
          <a:noFill/>
          <a:ln/>
        </p:spPr>
        <p:txBody>
          <a:bodyPr wrap="square" rtlCol="0" anchor="t"/>
          <a:lstStyle/>
          <a:p>
            <a:pPr marL="0" indent="0">
              <a:lnSpc>
                <a:spcPct val="103000"/>
              </a:lnSpc>
              <a:buNone/>
            </a:pPr>
            <a:r>
              <a:rPr lang="en-US" sz="1200" dirty="0">
                <a:solidFill>
                  <a:srgbClr val="C9CDDA"/>
                </a:solidFill>
                <a:latin typeface="Calibri" pitchFamily="34" charset="0"/>
                <a:ea typeface="Calibri" pitchFamily="34" charset="-122"/>
                <a:cs typeface="Calibri" pitchFamily="34" charset="-120"/>
              </a:rPr>
              <a:t>Generate fast, verify always — the judgment stays human.</a:t>
            </a:r>
            <a:endParaRPr lang="en-US" sz="1200" dirty="0"/>
          </a:p>
        </p:txBody>
      </p:sp>
      <p:sp>
        <p:nvSpPr>
          <p:cNvPr id="17" name="Shape 12"/>
          <p:cNvSpPr/>
          <p:nvPr/>
        </p:nvSpPr>
        <p:spPr>
          <a:xfrm>
            <a:off x="868680" y="4663440"/>
            <a:ext cx="10451592" cy="914400"/>
          </a:xfrm>
          <a:prstGeom prst="roundRect">
            <a:avLst>
              <a:gd name="adj" fmla="val 6000"/>
            </a:avLst>
          </a:prstGeom>
          <a:solidFill>
            <a:srgbClr val="B31A38"/>
          </a:solidFill>
          <a:ln w="12700">
            <a:solidFill>
              <a:srgbClr val="B31A38"/>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1188720" y="4919472"/>
            <a:ext cx="411480" cy="411480"/>
          </a:xfrm>
          <a:prstGeom prst="rect">
            <a:avLst/>
          </a:prstGeom>
        </p:spPr>
      </p:pic>
      <p:sp>
        <p:nvSpPr>
          <p:cNvPr id="19" name="Text 13"/>
          <p:cNvSpPr/>
          <p:nvPr/>
        </p:nvSpPr>
        <p:spPr>
          <a:xfrm>
            <a:off x="1783080" y="4754880"/>
            <a:ext cx="6492240" cy="73152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Thursday: Classifiers in the wild — FastText, spaCy &amp; multimodal (AutoGluon)</a:t>
            </a:r>
            <a:endParaRPr lang="en-US" sz="1450" dirty="0"/>
          </a:p>
        </p:txBody>
      </p:sp>
      <p:sp>
        <p:nvSpPr>
          <p:cNvPr id="20" name="Text 14"/>
          <p:cNvSpPr/>
          <p:nvPr/>
        </p:nvSpPr>
        <p:spPr>
          <a:xfrm>
            <a:off x="8549640" y="4754880"/>
            <a:ext cx="2606040" cy="731520"/>
          </a:xfrm>
          <a:prstGeom prst="rect">
            <a:avLst/>
          </a:prstGeom>
          <a:noFill/>
          <a:ln/>
        </p:spPr>
        <p:txBody>
          <a:bodyPr wrap="square" rtlCol="0" anchor="ctr"/>
          <a:lstStyle/>
          <a:p>
            <a:pPr marL="0" indent="0" algn="r">
              <a:buNone/>
            </a:pPr>
            <a:r>
              <a:rPr lang="en-US" sz="1050" i="1" dirty="0">
                <a:solidFill>
                  <a:srgbClr val="FFE3E8"/>
                </a:solidFill>
                <a:latin typeface="Calibri" pitchFamily="34" charset="0"/>
                <a:ea typeface="Calibri" pitchFamily="34" charset="-122"/>
                <a:cs typeface="Calibri" pitchFamily="34" charset="-120"/>
              </a:rPr>
              <a:t>Read: J&amp;M ch. 4 · HOLLM ch. 4 · Tunstall ch. 2</a:t>
            </a:r>
            <a:endParaRPr lang="en-US" sz="1050" dirty="0"/>
          </a:p>
        </p:txBody>
      </p:sp>
      <p:sp>
        <p:nvSpPr>
          <p:cNvPr id="21" name="Text 15"/>
          <p:cNvSpPr/>
          <p:nvPr/>
        </p:nvSpPr>
        <p:spPr>
          <a:xfrm>
            <a:off x="868680" y="6355080"/>
            <a:ext cx="9144000" cy="274320"/>
          </a:xfrm>
          <a:prstGeom prst="rect">
            <a:avLst/>
          </a:prstGeom>
          <a:noFill/>
          <a:ln/>
        </p:spPr>
        <p:txBody>
          <a:bodyPr wrap="square" rtlCol="0" anchor="ctr"/>
          <a:lstStyle/>
          <a:p>
            <a:pPr marL="0" indent="0">
              <a:buNone/>
            </a:pPr>
            <a:r>
              <a:rPr lang="en-US" sz="8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3017</Words>
  <Application>Microsoft Macintosh PowerPoint</Application>
  <PresentationFormat>Widescreen</PresentationFormat>
  <Paragraphs>202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Jules Malin</cp:lastModifiedBy>
  <cp:revision>2</cp:revision>
  <dcterms:created xsi:type="dcterms:W3CDTF">2026-06-28T22:35:14Z</dcterms:created>
  <dcterms:modified xsi:type="dcterms:W3CDTF">2026-06-28T22:59:44Z</dcterms:modified>
</cp:coreProperties>
</file>