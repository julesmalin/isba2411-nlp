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andsOnLLM/Hands-On-Large-Language-Models" TargetMode="External"/><Relationship Id="rId3" Type="http://schemas.openxmlformats.org/officeDocument/2006/relationships/hyperlink" Target="https://arxiv.org/abs/1508.07909" TargetMode="External"/><Relationship Id="rId4" Type="http://schemas.openxmlformats.org/officeDocument/2006/relationships/hyperlink" Target="https://arxiv.org/abs/1301.3781"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jalammar.github.io/illustrated-transformer/" TargetMode="External"/><Relationship Id="rId8" Type="http://schemas.openxmlformats.org/officeDocument/2006/relationships/hyperlink" Target="https://arxiv.org/abs/2012.14913" TargetMode="External"/><Relationship Id="rId9" Type="http://schemas.openxmlformats.org/officeDocument/2006/relationships/hyperlink" Target="https://arxiv.org/abs/1607.06450" TargetMode="External"/><Relationship Id="rId10" Type="http://schemas.openxmlformats.org/officeDocument/2006/relationships/hyperlink" Target="https://web.stanford.edu/~jurafsky/slp3/" TargetMode="External"/><Relationship Id="rId11" Type="http://schemas.openxmlformats.org/officeDocument/2006/relationships/hyperlink" Target="https://arxiv.org/abs/1904.09751" TargetMode="External"/><Relationship Id="rId12" Type="http://schemas.openxmlformats.org/officeDocument/2006/relationships/hyperlink" Target="https://www.youtube.com/watch?v=kCc8FmEb1nY" TargetMode="External"/><Relationship Id="rId13" Type="http://schemas.openxmlformats.org/officeDocument/2006/relationships/hyperlink" Target="https://arxiv.org/abs/2104.09864" TargetMode="External"/><Relationship Id="rId14" Type="http://schemas.openxmlformats.org/officeDocument/2006/relationships/hyperlink" Target="https://huggingface.co/datasets/app_review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a:spAutoFit/>
          </a:bodyPr>
          <a:lstStyle/>
          <a:p>
            <a:pPr algn="l"/>
            <a:r>
              <a:rPr sz="1300" b="1" i="0" spc="250">
                <a:solidFill>
                  <a:srgbClr val="4F46E5"/>
                </a:solidFill>
                <a:latin typeface="Helvetica Neue"/>
              </a:rPr>
              <a:t>WEEK 6 · LECTURE 11</a:t>
            </a:r>
          </a:p>
        </p:txBody>
      </p:sp>
      <p:sp>
        <p:nvSpPr>
          <p:cNvPr id="3" name="TextBox 2"/>
          <p:cNvSpPr txBox="1"/>
          <p:nvPr/>
        </p:nvSpPr>
        <p:spPr>
          <a:xfrm>
            <a:off x="640080" y="2852928"/>
            <a:ext cx="10972800" cy="914400"/>
          </a:xfrm>
          <a:prstGeom prst="rect">
            <a:avLst/>
          </a:prstGeom>
          <a:noFill/>
        </p:spPr>
        <p:txBody>
          <a:bodyPr wrap="square">
            <a:spAutoFit/>
          </a:bodyPr>
          <a:lstStyle/>
          <a:p>
            <a:pPr algn="l"/>
            <a:r>
              <a:rPr sz="5000" b="1" i="0">
                <a:solidFill>
                  <a:srgbClr val="0F172A"/>
                </a:solidFill>
                <a:latin typeface="Helvetica Neue"/>
              </a:rPr>
              <a:t>Looking Inside the Model</a:t>
            </a:r>
          </a:p>
        </p:txBody>
      </p:sp>
      <p:sp>
        <p:nvSpPr>
          <p:cNvPr id="4" name="TextBox 3"/>
          <p:cNvSpPr txBox="1"/>
          <p:nvPr/>
        </p:nvSpPr>
        <p:spPr>
          <a:xfrm>
            <a:off x="640080" y="3913632"/>
            <a:ext cx="10058400" cy="457200"/>
          </a:xfrm>
          <a:prstGeom prst="rect">
            <a:avLst/>
          </a:prstGeom>
          <a:noFill/>
        </p:spPr>
        <p:txBody>
          <a:bodyPr wrap="square">
            <a:spAutoFit/>
          </a:bodyPr>
          <a:lstStyle/>
          <a:p>
            <a:pPr algn="l"/>
            <a:r>
              <a:rPr sz="2300" b="0" i="0">
                <a:solidFill>
                  <a:srgbClr val="475569"/>
                </a:solidFill>
                <a:latin typeface="Helvetica Neue"/>
              </a:rPr>
              <a:t>Transformers &amp; what they enable</a:t>
            </a:r>
          </a:p>
        </p:txBody>
      </p:sp>
      <p:sp>
        <p:nvSpPr>
          <p:cNvPr id="5" name="Rectangle 4"/>
          <p:cNvSpPr/>
          <p:nvPr/>
        </p:nvSpPr>
        <p:spPr>
          <a:xfrm>
            <a:off x="658368" y="4572000"/>
            <a:ext cx="82296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a:spAutoFit/>
          </a:bodyPr>
          <a:lstStyle/>
          <a:p>
            <a:pPr algn="l"/>
            <a:r>
              <a:rPr sz="1700" b="0" i="1">
                <a:solidFill>
                  <a:srgbClr val="0F172A"/>
                </a:solidFill>
                <a:latin typeface="Helvetica Neue"/>
              </a:rPr>
              <a:t>We start with what it does. Then we build it, from a single token up to the finished reply.</a:t>
            </a:r>
          </a:p>
        </p:txBody>
      </p:sp>
      <p:sp>
        <p:nvSpPr>
          <p:cNvPr id="7" name="TextBox 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USE CASE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More reviews than any team can answer.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 popular app gets thousands of reviews a week, and a reply only helps if it speaks to the real complaint.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usecase.png"/>
          <p:cNvPicPr>
            <a:picLocks noChangeAspect="1"/>
          </p:cNvPicPr>
          <p:nvPr/>
        </p:nvPicPr>
        <p:blipFill>
          <a:blip r:embed="rId2"/>
          <a:stretch>
            <a:fillRect/>
          </a:stretch>
        </p:blipFill>
        <p:spPr>
          <a:xfrm>
            <a:off x="552986" y="2148840"/>
            <a:ext cx="11085722" cy="3749039"/>
          </a:xfrm>
          <a:prstGeom prst="rect">
            <a:avLst/>
          </a:prstGeom>
        </p:spPr>
      </p:pic>
      <p:sp>
        <p:nvSpPr>
          <p:cNvPr id="7" name="TextBox 6"/>
          <p:cNvSpPr txBox="1"/>
          <p:nvPr/>
        </p:nvSpPr>
        <p:spPr>
          <a:xfrm>
            <a:off x="640080" y="5943600"/>
            <a:ext cx="10881360" cy="365760"/>
          </a:xfrm>
          <a:prstGeom prst="rect">
            <a:avLst/>
          </a:prstGeom>
          <a:noFill/>
        </p:spPr>
        <p:txBody>
          <a:bodyPr wrap="square">
            <a:spAutoFit/>
          </a:bodyPr>
          <a:lstStyle/>
          <a:p>
            <a:pPr algn="ctr"/>
            <a:r>
              <a:rPr sz="1350" b="0" i="1">
                <a:solidFill>
                  <a:srgbClr val="475569"/>
                </a:solidFill>
                <a:latin typeface="Helvetica Neue"/>
              </a:rPr>
              <a:t>That model is today's subject. To build it, and to trust what it drafts, you need to know how it works.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SOLUTION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It read the review and answered the real problem.</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5" name="Picture 4" descr="hy_solution.png"/>
          <p:cNvPicPr>
            <a:picLocks noChangeAspect="1"/>
          </p:cNvPicPr>
          <p:nvPr/>
        </p:nvPicPr>
        <p:blipFill>
          <a:blip r:embed="rId2"/>
          <a:stretch>
            <a:fillRect/>
          </a:stretch>
        </p:blipFill>
        <p:spPr>
          <a:xfrm>
            <a:off x="518007" y="1920240"/>
            <a:ext cx="11155680" cy="1888236"/>
          </a:xfrm>
          <a:prstGeom prst="rect">
            <a:avLst/>
          </a:prstGeom>
        </p:spPr>
      </p:pic>
      <p:sp>
        <p:nvSpPr>
          <p:cNvPr id="6" name="TextBox 5"/>
          <p:cNvSpPr txBox="1"/>
          <p:nvPr/>
        </p:nvSpPr>
        <p:spPr>
          <a:xfrm>
            <a:off x="640080" y="5715000"/>
            <a:ext cx="10881360" cy="457200"/>
          </a:xfrm>
          <a:prstGeom prst="rect">
            <a:avLst/>
          </a:prstGeom>
          <a:noFill/>
        </p:spPr>
        <p:txBody>
          <a:bodyPr wrap="square">
            <a:spAutoFit/>
          </a:bodyPr>
          <a:lstStyle/>
          <a:p>
            <a:pPr algn="ctr"/>
            <a:r>
              <a:rPr sz="1400" b="0" i="1">
                <a:solidFill>
                  <a:srgbClr val="475569"/>
                </a:solidFill>
                <a:latin typeface="Helvetica Neue"/>
              </a:rPr>
              <a:t>It answered the exact complaint, not the generic part. How did it know which words mattered? That is the rest of this lecture.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We build it from the ground up.</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From a single token, up to the finished reply you just saw.</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map.png"/>
          <p:cNvPicPr>
            <a:picLocks noChangeAspect="1"/>
          </p:cNvPicPr>
          <p:nvPr/>
        </p:nvPicPr>
        <p:blipFill>
          <a:blip r:embed="rId2"/>
          <a:stretch>
            <a:fillRect/>
          </a:stretch>
        </p:blipFill>
        <p:spPr>
          <a:xfrm>
            <a:off x="548640" y="2535633"/>
            <a:ext cx="6537960" cy="3386932"/>
          </a:xfrm>
          <a:prstGeom prst="rect">
            <a:avLst/>
          </a:prstGeom>
        </p:spPr>
      </p:pic>
      <p:pic>
        <p:nvPicPr>
          <p:cNvPr id="7" name="Picture 6" descr="hy_planart.png"/>
          <p:cNvPicPr>
            <a:picLocks noChangeAspect="1"/>
          </p:cNvPicPr>
          <p:nvPr/>
        </p:nvPicPr>
        <p:blipFill>
          <a:blip r:embed="rId3"/>
          <a:stretch>
            <a:fillRect/>
          </a:stretch>
        </p:blipFill>
        <p:spPr>
          <a:xfrm>
            <a:off x="7269480" y="2098684"/>
            <a:ext cx="4434840" cy="416939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TOKENS &amp; EMBEDDINGS</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It starts with tokens, turned into vectors.</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882127" y="448056"/>
            <a:ext cx="310896" cy="310896"/>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27263" y="475488"/>
            <a:ext cx="420624" cy="256032"/>
          </a:xfrm>
          <a:prstGeom prst="rect">
            <a:avLst/>
          </a:prstGeom>
          <a:noFill/>
        </p:spPr>
        <p:txBody>
          <a:bodyPr wrap="square">
            <a:spAutoFit/>
          </a:bodyPr>
          <a:lstStyle/>
          <a:p>
            <a:pPr algn="ctr"/>
            <a:r>
              <a:rPr sz="125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AEB4B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reply.png"/>
          <p:cNvPicPr>
            <a:picLocks noChangeAspect="1"/>
          </p:cNvPicPr>
          <p:nvPr/>
        </p:nvPicPr>
        <p:blipFill>
          <a:blip r:embed="rId2"/>
          <a:stretch>
            <a:fillRect/>
          </a:stretch>
        </p:blipFill>
        <p:spPr>
          <a:xfrm>
            <a:off x="518007" y="1783080"/>
            <a:ext cx="11155680" cy="420812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SELF-ATTENTION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Each token updates itself from the other tokens.</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58200" y="448056"/>
            <a:ext cx="310896" cy="310896"/>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03336" y="475488"/>
            <a:ext cx="420624" cy="256032"/>
          </a:xfrm>
          <a:prstGeom prst="rect">
            <a:avLst/>
          </a:prstGeom>
          <a:noFill/>
        </p:spPr>
        <p:txBody>
          <a:bodyPr wrap="square">
            <a:spAutoFit/>
          </a:bodyPr>
          <a:lstStyle/>
          <a:p>
            <a:pPr algn="ctr"/>
            <a:r>
              <a:rPr sz="125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attn.png"/>
          <p:cNvPicPr>
            <a:picLocks noChangeAspect="1"/>
          </p:cNvPicPr>
          <p:nvPr/>
        </p:nvPicPr>
        <p:blipFill>
          <a:blip r:embed="rId2"/>
          <a:stretch>
            <a:fillRect/>
          </a:stretch>
        </p:blipFill>
        <p:spPr>
          <a:xfrm>
            <a:off x="1690833" y="1737360"/>
            <a:ext cx="8810028" cy="46177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SCALED DOT-PRODUCT ATTENTION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Those four steps, as one equation.</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58200" y="448056"/>
            <a:ext cx="310896" cy="310896"/>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03336" y="475488"/>
            <a:ext cx="420624" cy="256032"/>
          </a:xfrm>
          <a:prstGeom prst="rect">
            <a:avLst/>
          </a:prstGeom>
          <a:noFill/>
        </p:spPr>
        <p:txBody>
          <a:bodyPr wrap="square">
            <a:spAutoFit/>
          </a:bodyPr>
          <a:lstStyle/>
          <a:p>
            <a:pPr algn="ctr"/>
            <a:r>
              <a:rPr sz="125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math.png"/>
          <p:cNvPicPr>
            <a:picLocks noChangeAspect="1"/>
          </p:cNvPicPr>
          <p:nvPr/>
        </p:nvPicPr>
        <p:blipFill>
          <a:blip r:embed="rId2"/>
          <a:stretch>
            <a:fillRect/>
          </a:stretch>
        </p:blipFill>
        <p:spPr>
          <a:xfrm>
            <a:off x="518007" y="2011680"/>
            <a:ext cx="11155680" cy="344786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MULTI-HEAD ATTENTION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Run several attention heads in parallel.</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58200" y="448056"/>
            <a:ext cx="310896" cy="310896"/>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03336" y="475488"/>
            <a:ext cx="420624" cy="256032"/>
          </a:xfrm>
          <a:prstGeom prst="rect">
            <a:avLst/>
          </a:prstGeom>
          <a:noFill/>
        </p:spPr>
        <p:txBody>
          <a:bodyPr wrap="square">
            <a:spAutoFit/>
          </a:bodyPr>
          <a:lstStyle/>
          <a:p>
            <a:pPr algn="ctr"/>
            <a:r>
              <a:rPr sz="125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heads.png"/>
          <p:cNvPicPr>
            <a:picLocks noChangeAspect="1"/>
          </p:cNvPicPr>
          <p:nvPr/>
        </p:nvPicPr>
        <p:blipFill>
          <a:blip r:embed="rId2"/>
          <a:stretch>
            <a:fillRect/>
          </a:stretch>
        </p:blipFill>
        <p:spPr>
          <a:xfrm>
            <a:off x="952878" y="1783080"/>
            <a:ext cx="10285938" cy="4572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THE FEED-FORWARD NETWORK</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A per-token network that applies learned knowledge.</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34272" y="448056"/>
            <a:ext cx="310896" cy="310896"/>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79407" y="475488"/>
            <a:ext cx="420624" cy="256032"/>
          </a:xfrm>
          <a:prstGeom prst="rect">
            <a:avLst/>
          </a:prstGeom>
          <a:noFill/>
        </p:spPr>
        <p:txBody>
          <a:bodyPr wrap="square">
            <a:spAutoFit/>
          </a:bodyPr>
          <a:lstStyle/>
          <a:p>
            <a:pPr algn="ctr"/>
            <a:r>
              <a:rPr sz="125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ffn.png"/>
          <p:cNvPicPr>
            <a:picLocks noChangeAspect="1"/>
          </p:cNvPicPr>
          <p:nvPr/>
        </p:nvPicPr>
        <p:blipFill>
          <a:blip r:embed="rId2"/>
          <a:stretch>
            <a:fillRect/>
          </a:stretch>
        </p:blipFill>
        <p:spPr>
          <a:xfrm>
            <a:off x="518007" y="1783080"/>
            <a:ext cx="11155680" cy="422654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TRANSFORMER BLOCK</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Attention + feed-forward = one block.</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10344" y="448056"/>
            <a:ext cx="310896" cy="310896"/>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55480" y="475488"/>
            <a:ext cx="420624" cy="256032"/>
          </a:xfrm>
          <a:prstGeom prst="rect">
            <a:avLst/>
          </a:prstGeom>
          <a:noFill/>
        </p:spPr>
        <p:txBody>
          <a:bodyPr wrap="square">
            <a:spAutoFit/>
          </a:bodyPr>
          <a:lstStyle/>
          <a:p>
            <a:pPr algn="ctr"/>
            <a:r>
              <a:rPr sz="1250" b="1" i="0">
                <a:solidFill>
                  <a:srgbClr val="FFFFF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block.png"/>
          <p:cNvPicPr>
            <a:picLocks noChangeAspect="1"/>
          </p:cNvPicPr>
          <p:nvPr/>
        </p:nvPicPr>
        <p:blipFill>
          <a:blip r:embed="rId2"/>
          <a:stretch>
            <a:fillRect/>
          </a:stretch>
        </p:blipFill>
        <p:spPr>
          <a:xfrm>
            <a:off x="518007" y="1783080"/>
            <a:ext cx="11155680" cy="423575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THE FORWARD PASS</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Stack the blocks and read out a token.</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FFFFFF"/>
                </a:solidFill>
                <a:latin typeface="Helvetica Neue"/>
              </a:rPr>
              <a:t>4</a:t>
            </a:r>
          </a:p>
        </p:txBody>
      </p:sp>
      <p:sp>
        <p:nvSpPr>
          <p:cNvPr id="13" name="Rounded Rectangle 12"/>
          <p:cNvSpPr/>
          <p:nvPr/>
        </p:nvSpPr>
        <p:spPr>
          <a:xfrm>
            <a:off x="10186415" y="448056"/>
            <a:ext cx="310896" cy="310896"/>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31551" y="475488"/>
            <a:ext cx="420624" cy="256032"/>
          </a:xfrm>
          <a:prstGeom prst="rect">
            <a:avLst/>
          </a:prstGeom>
          <a:noFill/>
        </p:spPr>
        <p:txBody>
          <a:bodyPr wrap="square">
            <a:spAutoFit/>
          </a:bodyPr>
          <a:lstStyle/>
          <a:p>
            <a:pPr algn="ctr"/>
            <a:r>
              <a:rPr sz="1250" b="1" i="0">
                <a:solidFill>
                  <a:srgbClr val="FFFFF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forward.png"/>
          <p:cNvPicPr>
            <a:picLocks noChangeAspect="1"/>
          </p:cNvPicPr>
          <p:nvPr/>
        </p:nvPicPr>
        <p:blipFill>
          <a:blip r:embed="rId2"/>
          <a:stretch>
            <a:fillRect/>
          </a:stretch>
        </p:blipFill>
        <p:spPr>
          <a:xfrm>
            <a:off x="810563" y="1783080"/>
            <a:ext cx="10570568"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E11D48"/>
                </a:solidFill>
                <a:latin typeface="Helvetica Neue"/>
              </a:rPr>
              <a:t>AUTOREGRESSIVE GENERATION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Loop it to write the whole reply.</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FFFFF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FFFFFF"/>
                </a:solidFill>
                <a:latin typeface="Helvetica Neue"/>
              </a:rPr>
              <a:t>5</a:t>
            </a:r>
          </a:p>
        </p:txBody>
      </p:sp>
      <p:sp>
        <p:nvSpPr>
          <p:cNvPr id="15" name="Rounded Rectangle 14"/>
          <p:cNvSpPr/>
          <p:nvPr/>
        </p:nvSpPr>
        <p:spPr>
          <a:xfrm>
            <a:off x="10762488" y="448056"/>
            <a:ext cx="310896" cy="310896"/>
          </a:xfrm>
          <a:prstGeom prst="roundRect">
            <a:avLst>
              <a:gd name="adj" fmla="val 32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07624" y="475488"/>
            <a:ext cx="420624" cy="256032"/>
          </a:xfrm>
          <a:prstGeom prst="rect">
            <a:avLst/>
          </a:prstGeom>
          <a:noFill/>
        </p:spPr>
        <p:txBody>
          <a:bodyPr wrap="square">
            <a:spAutoFit/>
          </a:bodyPr>
          <a:lstStyle/>
          <a:p>
            <a:pPr algn="ctr"/>
            <a:r>
              <a:rPr sz="1250" b="1" i="0">
                <a:solidFill>
                  <a:srgbClr val="FFFFF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auto.png"/>
          <p:cNvPicPr>
            <a:picLocks noChangeAspect="1"/>
          </p:cNvPicPr>
          <p:nvPr/>
        </p:nvPicPr>
        <p:blipFill>
          <a:blip r:embed="rId2"/>
          <a:stretch>
            <a:fillRect/>
          </a:stretch>
        </p:blipFill>
        <p:spPr>
          <a:xfrm>
            <a:off x="904677" y="1783080"/>
            <a:ext cx="10382339" cy="4572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This is the reply, and now you can name every step behind it.</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FFFFF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FFFFF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FFFFF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product_mockup_crop.png"/>
          <p:cNvPicPr>
            <a:picLocks noChangeAspect="1"/>
          </p:cNvPicPr>
          <p:nvPr/>
        </p:nvPicPr>
        <p:blipFill>
          <a:blip r:embed="rId2"/>
          <a:stretch>
            <a:fillRect/>
          </a:stretch>
        </p:blipFill>
        <p:spPr>
          <a:xfrm>
            <a:off x="2438247" y="2103120"/>
            <a:ext cx="7315200" cy="3530990"/>
          </a:xfrm>
          <a:prstGeom prst="rect">
            <a:avLst/>
          </a:prstGeom>
        </p:spPr>
      </p:pic>
      <p:sp>
        <p:nvSpPr>
          <p:cNvPr id="19" name="TextBox 18"/>
          <p:cNvSpPr txBox="1"/>
          <p:nvPr/>
        </p:nvSpPr>
        <p:spPr>
          <a:xfrm>
            <a:off x="640080" y="5798702"/>
            <a:ext cx="10881360" cy="548640"/>
          </a:xfrm>
          <a:prstGeom prst="rect">
            <a:avLst/>
          </a:prstGeom>
          <a:noFill/>
        </p:spPr>
        <p:txBody>
          <a:bodyPr wrap="square">
            <a:spAutoFit/>
          </a:bodyPr>
          <a:lstStyle/>
          <a:p>
            <a:pPr algn="ctr"/>
            <a:r>
              <a:rPr sz="1500" b="0" i="1">
                <a:solidFill>
                  <a:srgbClr val="475569"/>
                </a:solidFill>
                <a:latin typeface="Helvetica Neue"/>
              </a:rPr>
              <a:t>The same Review Assistant we opened with. Every token in that reply came from: tokens → self-attention → blocks → the forward pass →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AT SCALE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What makes production models fast and long.</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 2017 mechanism, plus a decade of engineering to serve millions of tokens.</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scale.png"/>
          <p:cNvPicPr>
            <a:picLocks noChangeAspect="1"/>
          </p:cNvPicPr>
          <p:nvPr/>
        </p:nvPicPr>
        <p:blipFill>
          <a:blip r:embed="rId2"/>
          <a:stretch>
            <a:fillRect/>
          </a:stretch>
        </p:blipFill>
        <p:spPr>
          <a:xfrm>
            <a:off x="518007" y="2286000"/>
            <a:ext cx="11155680" cy="209226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MODEL FAMILIES</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Encoder, decoder, encoder-decoder.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transformer is one of three shapes. You have already used two of them.</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family.png"/>
          <p:cNvPicPr>
            <a:picLocks noChangeAspect="1"/>
          </p:cNvPicPr>
          <p:nvPr/>
        </p:nvPicPr>
        <p:blipFill>
          <a:blip r:embed="rId2"/>
          <a:stretch>
            <a:fillRect/>
          </a:stretch>
        </p:blipFill>
        <p:spPr>
          <a:xfrm>
            <a:off x="518007" y="2331720"/>
            <a:ext cx="11155680" cy="1792224"/>
          </a:xfrm>
          <a:prstGeom prst="rect">
            <a:avLst/>
          </a:prstGeom>
        </p:spPr>
      </p:pic>
      <p:sp>
        <p:nvSpPr>
          <p:cNvPr id="7" name="TextBox 6"/>
          <p:cNvSpPr txBox="1"/>
          <p:nvPr/>
        </p:nvSpPr>
        <p:spPr>
          <a:xfrm>
            <a:off x="640080" y="5577840"/>
            <a:ext cx="10881360" cy="457200"/>
          </a:xfrm>
          <a:prstGeom prst="rect">
            <a:avLst/>
          </a:prstGeom>
          <a:noFill/>
        </p:spPr>
        <p:txBody>
          <a:bodyPr wrap="square">
            <a:spAutoFit/>
          </a:bodyPr>
          <a:lstStyle/>
          <a:p>
            <a:pPr algn="ctr"/>
            <a:r>
              <a:rPr sz="1400" b="0" i="1">
                <a:solidFill>
                  <a:srgbClr val="475569"/>
                </a:solidFill>
                <a:latin typeface="Helvetica Neue"/>
              </a:rPr>
              <a:t>Same block, same attention. What differs is whether the model looks only backward (to generate) or at the whole input at once (to read).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TAKEAWAY</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You can now name every step.</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5" name="Picture 4" descr="hy_close.png"/>
          <p:cNvPicPr>
            <a:picLocks noChangeAspect="1"/>
          </p:cNvPicPr>
          <p:nvPr/>
        </p:nvPicPr>
        <p:blipFill>
          <a:blip r:embed="rId2"/>
          <a:stretch>
            <a:fillRect/>
          </a:stretch>
        </p:blipFill>
        <p:spPr>
          <a:xfrm>
            <a:off x="184251" y="2194560"/>
            <a:ext cx="11823192" cy="631201"/>
          </a:xfrm>
          <a:prstGeom prst="rect">
            <a:avLst/>
          </a:prstGeom>
        </p:spPr>
      </p:pic>
      <p:sp>
        <p:nvSpPr>
          <p:cNvPr id="6" name="TextBox 5"/>
          <p:cNvSpPr txBox="1"/>
          <p:nvPr/>
        </p:nvSpPr>
        <p:spPr>
          <a:xfrm>
            <a:off x="640080" y="3337560"/>
            <a:ext cx="10607040" cy="914400"/>
          </a:xfrm>
          <a:prstGeom prst="rect">
            <a:avLst/>
          </a:prstGeom>
          <a:noFill/>
        </p:spPr>
        <p:txBody>
          <a:bodyPr wrap="square">
            <a:spAutoFit/>
          </a:bodyPr>
          <a:lstStyle/>
          <a:p>
            <a:pPr algn="l"/>
            <a:r>
              <a:rPr sz="1700" b="0" i="0">
                <a:solidFill>
                  <a:srgbClr val="334155"/>
                </a:solidFill>
                <a:latin typeface="Helvetica Neue"/>
              </a:rPr>
              <a:t>One cost to carry forward: every token attends to every other token, so the work grows with the square of the sequence length. That is why context windows are precious, and it is next week's problem: retrieval and RAG.</a:t>
            </a:r>
          </a:p>
        </p:txBody>
      </p:sp>
      <p:sp>
        <p:nvSpPr>
          <p:cNvPr id="7" name="Rectangle 6"/>
          <p:cNvSpPr/>
          <p:nvPr/>
        </p:nvSpPr>
        <p:spPr>
          <a:xfrm>
            <a:off x="658368" y="4617720"/>
            <a:ext cx="82296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800600"/>
            <a:ext cx="10515600" cy="457200"/>
          </a:xfrm>
          <a:prstGeom prst="rect">
            <a:avLst/>
          </a:prstGeom>
          <a:noFill/>
        </p:spPr>
        <p:txBody>
          <a:bodyPr wrap="square">
            <a:spAutoFit/>
          </a:bodyPr>
          <a:lstStyle/>
          <a:p>
            <a:pPr algn="l"/>
            <a:r>
              <a:rPr sz="1700" b="0" i="1">
                <a:solidFill>
                  <a:srgbClr val="0F172A"/>
                </a:solidFill>
                <a:latin typeface="Helvetica Neue"/>
              </a:rPr>
              <a:t>If you remember one slide, remember this map. It is the shape of every model you will build.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GO DEEPER</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Further reading, mapped to the plan.</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title is a link. Books open the authors' GitHub notebooks (or the free J&amp;M site); papers open arXiv.</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777240" y="2267712"/>
            <a:ext cx="310896" cy="310896"/>
          </a:xfrm>
          <a:prstGeom prst="roundRect">
            <a:avLst>
              <a:gd name="adj" fmla="val 30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99715"/>
            <a:ext cx="310896" cy="274320"/>
          </a:xfrm>
          <a:prstGeom prst="rect">
            <a:avLst/>
          </a:prstGeom>
          <a:noFill/>
        </p:spPr>
        <p:txBody>
          <a:bodyPr wrap="square">
            <a:spAutoFit/>
          </a:bodyPr>
          <a:lstStyle/>
          <a:p>
            <a:pPr algn="ctr"/>
            <a:r>
              <a:rPr sz="1400" b="1" i="0">
                <a:solidFill>
                  <a:srgbClr val="FFFFFF"/>
                </a:solidFill>
                <a:latin typeface="Helvetica Neue"/>
              </a:rPr>
              <a:t>1</a:t>
            </a:r>
          </a:p>
        </p:txBody>
      </p:sp>
      <p:sp>
        <p:nvSpPr>
          <p:cNvPr id="8" name="TextBox 7"/>
          <p:cNvSpPr txBox="1"/>
          <p:nvPr/>
        </p:nvSpPr>
        <p:spPr>
          <a:xfrm>
            <a:off x="1243584" y="2221991"/>
            <a:ext cx="2331720" cy="502920"/>
          </a:xfrm>
          <a:prstGeom prst="rect">
            <a:avLst/>
          </a:prstGeom>
          <a:noFill/>
        </p:spPr>
        <p:txBody>
          <a:bodyPr wrap="square">
            <a:spAutoFit/>
          </a:bodyPr>
          <a:lstStyle/>
          <a:p>
            <a:pPr algn="l"/>
            <a:r>
              <a:rPr sz="1350" b="1" i="0">
                <a:solidFill>
                  <a:srgbClr val="0F172A"/>
                </a:solidFill>
                <a:latin typeface="Helvetica Neue"/>
              </a:rPr>
              <a:t>Tokens &amp; embeddings</a:t>
            </a:r>
          </a:p>
        </p:txBody>
      </p:sp>
      <p:sp>
        <p:nvSpPr>
          <p:cNvPr id="9" name="TextBox 8"/>
          <p:cNvSpPr txBox="1"/>
          <p:nvPr/>
        </p:nvSpPr>
        <p:spPr>
          <a:xfrm>
            <a:off x="3703320" y="2130551"/>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2"/>
              </a:rPr>
              <a:t>HOLLM Ch. 2 · Tokens &amp; Embeddings</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3"/>
              </a:rPr>
              <a:t>Sennrich et al. 2016 · subword units / BPE · arXiv:1508.07909</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4"/>
              </a:rPr>
              <a:t>Mikolov et al. 2013 · word2vec · arXiv:1301.3781</a:t>
            </a:r>
          </a:p>
        </p:txBody>
      </p:sp>
      <p:sp>
        <p:nvSpPr>
          <p:cNvPr id="10" name="Rounded Rectangle 9"/>
          <p:cNvSpPr/>
          <p:nvPr/>
        </p:nvSpPr>
        <p:spPr>
          <a:xfrm>
            <a:off x="777240" y="2907792"/>
            <a:ext cx="310896" cy="310896"/>
          </a:xfrm>
          <a:prstGeom prst="roundRect">
            <a:avLst>
              <a:gd name="adj" fmla="val 30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939796"/>
            <a:ext cx="310896" cy="274320"/>
          </a:xfrm>
          <a:prstGeom prst="rect">
            <a:avLst/>
          </a:prstGeom>
          <a:noFill/>
        </p:spPr>
        <p:txBody>
          <a:bodyPr wrap="square">
            <a:spAutoFit/>
          </a:bodyPr>
          <a:lstStyle/>
          <a:p>
            <a:pPr algn="ctr"/>
            <a:r>
              <a:rPr sz="1400" b="1" i="0">
                <a:solidFill>
                  <a:srgbClr val="FFFFFF"/>
                </a:solidFill>
                <a:latin typeface="Helvetica Neue"/>
              </a:rPr>
              <a:t>2</a:t>
            </a:r>
          </a:p>
        </p:txBody>
      </p:sp>
      <p:sp>
        <p:nvSpPr>
          <p:cNvPr id="12" name="TextBox 11"/>
          <p:cNvSpPr txBox="1"/>
          <p:nvPr/>
        </p:nvSpPr>
        <p:spPr>
          <a:xfrm>
            <a:off x="1243584" y="2862072"/>
            <a:ext cx="2331720" cy="502920"/>
          </a:xfrm>
          <a:prstGeom prst="rect">
            <a:avLst/>
          </a:prstGeom>
          <a:noFill/>
        </p:spPr>
        <p:txBody>
          <a:bodyPr wrap="square">
            <a:spAutoFit/>
          </a:bodyPr>
          <a:lstStyle/>
          <a:p>
            <a:pPr algn="l"/>
            <a:r>
              <a:rPr sz="1350" b="1" i="0">
                <a:solidFill>
                  <a:srgbClr val="0F172A"/>
                </a:solidFill>
                <a:latin typeface="Helvetica Neue"/>
              </a:rPr>
              <a:t>Self-attention</a:t>
            </a:r>
          </a:p>
        </p:txBody>
      </p:sp>
      <p:sp>
        <p:nvSpPr>
          <p:cNvPr id="13" name="TextBox 12"/>
          <p:cNvSpPr txBox="1"/>
          <p:nvPr/>
        </p:nvSpPr>
        <p:spPr>
          <a:xfrm>
            <a:off x="3703320" y="277063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5"/>
              </a:rPr>
              <a:t>Tunstall Ch. 3 · Transformer Anatomy</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6"/>
              </a:rPr>
              <a:t>Vaswani et al. 2017 · Attention Is All You Need · arXiv:1706.03762</a:t>
            </a:r>
          </a:p>
          <a:p>
            <a:pPr>
              <a:spcBef>
                <a:spcPts val="0"/>
              </a:spcBef>
              <a:spcAft>
                <a:spcPts val="300"/>
              </a:spcAft>
            </a:pPr>
            <a:r>
              <a:rPr sz="850" b="1">
                <a:solidFill>
                  <a:srgbClr val="047857"/>
                </a:solidFill>
                <a:latin typeface="Helvetica Neue"/>
              </a:rPr>
              <a:t>GUIDE   </a:t>
            </a:r>
            <a:r>
              <a:rPr sz="1150" u="sng">
                <a:solidFill>
                  <a:srgbClr val="1D4ED8"/>
                </a:solidFill>
                <a:latin typeface="Helvetica Neue"/>
                <a:hlinkClick r:id="rId7"/>
              </a:rPr>
              <a:t>Alammar · The Illustrated Transformer</a:t>
            </a:r>
          </a:p>
        </p:txBody>
      </p:sp>
      <p:sp>
        <p:nvSpPr>
          <p:cNvPr id="14" name="Rounded Rectangle 13"/>
          <p:cNvSpPr/>
          <p:nvPr/>
        </p:nvSpPr>
        <p:spPr>
          <a:xfrm>
            <a:off x="777240" y="3547872"/>
            <a:ext cx="310896" cy="310896"/>
          </a:xfrm>
          <a:prstGeom prst="roundRect">
            <a:avLst>
              <a:gd name="adj" fmla="val 30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79876"/>
            <a:ext cx="310896" cy="274320"/>
          </a:xfrm>
          <a:prstGeom prst="rect">
            <a:avLst/>
          </a:prstGeom>
          <a:noFill/>
        </p:spPr>
        <p:txBody>
          <a:bodyPr wrap="square">
            <a:spAutoFit/>
          </a:bodyPr>
          <a:lstStyle/>
          <a:p>
            <a:pPr algn="ctr"/>
            <a:r>
              <a:rPr sz="1400" b="1" i="0">
                <a:solidFill>
                  <a:srgbClr val="FFFFFF"/>
                </a:solidFill>
                <a:latin typeface="Helvetica Neue"/>
              </a:rPr>
              <a:t>3</a:t>
            </a:r>
          </a:p>
        </p:txBody>
      </p:sp>
      <p:sp>
        <p:nvSpPr>
          <p:cNvPr id="16" name="TextBox 15"/>
          <p:cNvSpPr txBox="1"/>
          <p:nvPr/>
        </p:nvSpPr>
        <p:spPr>
          <a:xfrm>
            <a:off x="1243584" y="3502151"/>
            <a:ext cx="2331720" cy="502920"/>
          </a:xfrm>
          <a:prstGeom prst="rect">
            <a:avLst/>
          </a:prstGeom>
          <a:noFill/>
        </p:spPr>
        <p:txBody>
          <a:bodyPr wrap="square">
            <a:spAutoFit/>
          </a:bodyPr>
          <a:lstStyle/>
          <a:p>
            <a:pPr algn="l"/>
            <a:r>
              <a:rPr sz="1350" b="1" i="0">
                <a:solidFill>
                  <a:srgbClr val="0F172A"/>
                </a:solidFill>
                <a:latin typeface="Helvetica Neue"/>
              </a:rPr>
              <a:t>The feed-forward network</a:t>
            </a:r>
          </a:p>
        </p:txBody>
      </p:sp>
      <p:sp>
        <p:nvSpPr>
          <p:cNvPr id="17" name="TextBox 16"/>
          <p:cNvSpPr txBox="1"/>
          <p:nvPr/>
        </p:nvSpPr>
        <p:spPr>
          <a:xfrm>
            <a:off x="3703320" y="341071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5"/>
              </a:rPr>
              <a:t>Tunstall Ch. 3 · the feed-forward sublayer</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8"/>
              </a:rPr>
              <a:t>Geva et al. 2021 · FFN layers are key-value memories · arXiv:2012.14913</a:t>
            </a:r>
          </a:p>
        </p:txBody>
      </p:sp>
      <p:sp>
        <p:nvSpPr>
          <p:cNvPr id="18" name="Rounded Rectangle 17"/>
          <p:cNvSpPr/>
          <p:nvPr/>
        </p:nvSpPr>
        <p:spPr>
          <a:xfrm>
            <a:off x="777240" y="4187952"/>
            <a:ext cx="310896" cy="310896"/>
          </a:xfrm>
          <a:prstGeom prst="roundRect">
            <a:avLst>
              <a:gd name="adj" fmla="val 30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219956"/>
            <a:ext cx="310896" cy="274320"/>
          </a:xfrm>
          <a:prstGeom prst="rect">
            <a:avLst/>
          </a:prstGeom>
          <a:noFill/>
        </p:spPr>
        <p:txBody>
          <a:bodyPr wrap="square">
            <a:spAutoFit/>
          </a:bodyPr>
          <a:lstStyle/>
          <a:p>
            <a:pPr algn="ctr"/>
            <a:r>
              <a:rPr sz="1400" b="1" i="0">
                <a:solidFill>
                  <a:srgbClr val="FFFFFF"/>
                </a:solidFill>
                <a:latin typeface="Helvetica Neue"/>
              </a:rPr>
              <a:t>4</a:t>
            </a:r>
          </a:p>
        </p:txBody>
      </p:sp>
      <p:sp>
        <p:nvSpPr>
          <p:cNvPr id="20" name="TextBox 19"/>
          <p:cNvSpPr txBox="1"/>
          <p:nvPr/>
        </p:nvSpPr>
        <p:spPr>
          <a:xfrm>
            <a:off x="1243584" y="4142232"/>
            <a:ext cx="2331720" cy="502920"/>
          </a:xfrm>
          <a:prstGeom prst="rect">
            <a:avLst/>
          </a:prstGeom>
          <a:noFill/>
        </p:spPr>
        <p:txBody>
          <a:bodyPr wrap="square">
            <a:spAutoFit/>
          </a:bodyPr>
          <a:lstStyle/>
          <a:p>
            <a:pPr algn="l"/>
            <a:r>
              <a:rPr sz="1350" b="1" i="0">
                <a:solidFill>
                  <a:srgbClr val="0F172A"/>
                </a:solidFill>
                <a:latin typeface="Helvetica Neue"/>
              </a:rPr>
              <a:t>The Transformer block</a:t>
            </a:r>
          </a:p>
        </p:txBody>
      </p:sp>
      <p:sp>
        <p:nvSpPr>
          <p:cNvPr id="21" name="TextBox 20"/>
          <p:cNvSpPr txBox="1"/>
          <p:nvPr/>
        </p:nvSpPr>
        <p:spPr>
          <a:xfrm>
            <a:off x="3703320" y="405079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5"/>
              </a:rPr>
              <a:t>Tunstall Ch. 3 · residual connections &amp; add-and-norm</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9"/>
              </a:rPr>
              <a:t>Ba et al. 2016 · Layer Normalization · arXiv:1607.06450</a:t>
            </a:r>
          </a:p>
        </p:txBody>
      </p:sp>
      <p:sp>
        <p:nvSpPr>
          <p:cNvPr id="22" name="Rounded Rectangle 21"/>
          <p:cNvSpPr/>
          <p:nvPr/>
        </p:nvSpPr>
        <p:spPr>
          <a:xfrm>
            <a:off x="777240" y="4828031"/>
            <a:ext cx="310896" cy="310896"/>
          </a:xfrm>
          <a:prstGeom prst="roundRect">
            <a:avLst>
              <a:gd name="adj" fmla="val 3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860036"/>
            <a:ext cx="310896" cy="274320"/>
          </a:xfrm>
          <a:prstGeom prst="rect">
            <a:avLst/>
          </a:prstGeom>
          <a:noFill/>
        </p:spPr>
        <p:txBody>
          <a:bodyPr wrap="square">
            <a:spAutoFit/>
          </a:bodyPr>
          <a:lstStyle/>
          <a:p>
            <a:pPr algn="ctr"/>
            <a:r>
              <a:rPr sz="1400" b="1" i="0">
                <a:solidFill>
                  <a:srgbClr val="FFFFFF"/>
                </a:solidFill>
                <a:latin typeface="Helvetica Neue"/>
              </a:rPr>
              <a:t>5</a:t>
            </a:r>
          </a:p>
        </p:txBody>
      </p:sp>
      <p:sp>
        <p:nvSpPr>
          <p:cNvPr id="24" name="TextBox 23"/>
          <p:cNvSpPr txBox="1"/>
          <p:nvPr/>
        </p:nvSpPr>
        <p:spPr>
          <a:xfrm>
            <a:off x="1243584" y="4782312"/>
            <a:ext cx="2331720" cy="502920"/>
          </a:xfrm>
          <a:prstGeom prst="rect">
            <a:avLst/>
          </a:prstGeom>
          <a:noFill/>
        </p:spPr>
        <p:txBody>
          <a:bodyPr wrap="square">
            <a:spAutoFit/>
          </a:bodyPr>
          <a:lstStyle/>
          <a:p>
            <a:pPr algn="l"/>
            <a:r>
              <a:rPr sz="1350" b="1" i="0">
                <a:solidFill>
                  <a:srgbClr val="0F172A"/>
                </a:solidFill>
                <a:latin typeface="Helvetica Neue"/>
              </a:rPr>
              <a:t>The stack · forward pass</a:t>
            </a:r>
          </a:p>
        </p:txBody>
      </p:sp>
      <p:sp>
        <p:nvSpPr>
          <p:cNvPr id="25" name="TextBox 24"/>
          <p:cNvSpPr txBox="1"/>
          <p:nvPr/>
        </p:nvSpPr>
        <p:spPr>
          <a:xfrm>
            <a:off x="3703320" y="469087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10"/>
              </a:rPr>
              <a:t>J&amp;M Ch. 8 (Transformers) &amp; Ch. 7 (LLMs)</a:t>
            </a:r>
          </a:p>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2"/>
              </a:rPr>
              <a:t>HOLLM Ch. 3 · the forward pass &amp; the LM head</a:t>
            </a:r>
          </a:p>
        </p:txBody>
      </p:sp>
      <p:sp>
        <p:nvSpPr>
          <p:cNvPr id="26" name="Rounded Rectangle 25"/>
          <p:cNvSpPr/>
          <p:nvPr/>
        </p:nvSpPr>
        <p:spPr>
          <a:xfrm>
            <a:off x="777240" y="5468112"/>
            <a:ext cx="310896" cy="310896"/>
          </a:xfrm>
          <a:prstGeom prst="roundRect">
            <a:avLst>
              <a:gd name="adj" fmla="val 30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500116"/>
            <a:ext cx="310896" cy="274320"/>
          </a:xfrm>
          <a:prstGeom prst="rect">
            <a:avLst/>
          </a:prstGeom>
          <a:noFill/>
        </p:spPr>
        <p:txBody>
          <a:bodyPr wrap="square">
            <a:spAutoFit/>
          </a:bodyPr>
          <a:lstStyle/>
          <a:p>
            <a:pPr algn="ctr"/>
            <a:r>
              <a:rPr sz="1400" b="1" i="0">
                <a:solidFill>
                  <a:srgbClr val="FFFFFF"/>
                </a:solidFill>
                <a:latin typeface="Helvetica Neue"/>
              </a:rPr>
              <a:t>6</a:t>
            </a:r>
          </a:p>
        </p:txBody>
      </p:sp>
      <p:sp>
        <p:nvSpPr>
          <p:cNvPr id="28" name="TextBox 27"/>
          <p:cNvSpPr txBox="1"/>
          <p:nvPr/>
        </p:nvSpPr>
        <p:spPr>
          <a:xfrm>
            <a:off x="1243584" y="5422392"/>
            <a:ext cx="2331720" cy="502920"/>
          </a:xfrm>
          <a:prstGeom prst="rect">
            <a:avLst/>
          </a:prstGeom>
          <a:noFill/>
        </p:spPr>
        <p:txBody>
          <a:bodyPr wrap="square">
            <a:spAutoFit/>
          </a:bodyPr>
          <a:lstStyle/>
          <a:p>
            <a:pPr algn="l"/>
            <a:r>
              <a:rPr sz="1350" b="1" i="0">
                <a:solidFill>
                  <a:srgbClr val="0F172A"/>
                </a:solidFill>
                <a:latin typeface="Helvetica Neue"/>
              </a:rPr>
              <a:t>Autoregressive generation</a:t>
            </a:r>
          </a:p>
        </p:txBody>
      </p:sp>
      <p:sp>
        <p:nvSpPr>
          <p:cNvPr id="29" name="TextBox 28"/>
          <p:cNvSpPr txBox="1"/>
          <p:nvPr/>
        </p:nvSpPr>
        <p:spPr>
          <a:xfrm>
            <a:off x="3703320" y="533095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10"/>
              </a:rPr>
              <a:t>J&amp;M Ch. 7 · decoding &amp; sampling</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11"/>
              </a:rPr>
              <a:t>Holtzman et al. 2020 · nucleus sampling · arXiv:1904.09751</a:t>
            </a:r>
          </a:p>
          <a:p>
            <a:pPr>
              <a:spcBef>
                <a:spcPts val="0"/>
              </a:spcBef>
              <a:spcAft>
                <a:spcPts val="300"/>
              </a:spcAft>
            </a:pPr>
            <a:r>
              <a:rPr sz="850" b="1">
                <a:solidFill>
                  <a:srgbClr val="047857"/>
                </a:solidFill>
                <a:latin typeface="Helvetica Neue"/>
              </a:rPr>
              <a:t>GUIDE   </a:t>
            </a:r>
            <a:r>
              <a:rPr sz="1150" u="sng">
                <a:solidFill>
                  <a:srgbClr val="1D4ED8"/>
                </a:solidFill>
                <a:latin typeface="Helvetica Neue"/>
                <a:hlinkClick r:id="rId12"/>
              </a:rPr>
              <a:t>Karpathy · Let's build GPT / nanoGPT (video)</a:t>
            </a:r>
          </a:p>
        </p:txBody>
      </p:sp>
      <p:sp>
        <p:nvSpPr>
          <p:cNvPr id="30" name="Rectangle 29"/>
          <p:cNvSpPr/>
          <p:nvPr/>
        </p:nvSpPr>
        <p:spPr>
          <a:xfrm>
            <a:off x="777240" y="6044184"/>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089904"/>
            <a:ext cx="10972800" cy="365760"/>
          </a:xfrm>
          <a:prstGeom prst="rect">
            <a:avLst/>
          </a:prstGeom>
          <a:noFill/>
        </p:spPr>
        <p:txBody>
          <a:bodyPr wrap="square">
            <a:spAutoFit/>
          </a:bodyPr>
          <a:lstStyle/>
          <a:p>
            <a:r>
              <a:rPr sz="850" b="1">
                <a:solidFill>
                  <a:srgbClr val="94A3B8"/>
                </a:solidFill>
                <a:latin typeface="Helvetica Neue"/>
              </a:rPr>
              <a:t>ALSO REFERENCED    </a:t>
            </a:r>
            <a:r>
              <a:rPr sz="1100" b="0" u="sng">
                <a:solidFill>
                  <a:srgbClr val="1D4ED8"/>
                </a:solidFill>
                <a:latin typeface="Helvetica Neue"/>
                <a:hlinkClick r:id="rId13"/>
              </a:rPr>
              <a:t>Su et al. 2021 · RoPE / RoFormer · arXiv:2104.09864</a:t>
            </a:r>
            <a:r>
              <a:rPr sz="1100" b="0">
                <a:solidFill>
                  <a:srgbClr val="CBD5E1"/>
                </a:solidFill>
                <a:latin typeface="Helvetica Neue"/>
              </a:rPr>
              <a:t>        ·        </a:t>
            </a:r>
            <a:r>
              <a:rPr sz="1100" b="0" u="sng">
                <a:solidFill>
                  <a:srgbClr val="1D4ED8"/>
                </a:solidFill>
                <a:latin typeface="Helvetica Neue"/>
                <a:hlinkClick r:id="rId14"/>
              </a:rPr>
              <a:t>app_reviews dataset (Google Play) on the Hugging Face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