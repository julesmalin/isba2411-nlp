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andsOnLLM/Hands-On-Large-Language-Models" TargetMode="External"/><Relationship Id="rId3" Type="http://schemas.openxmlformats.org/officeDocument/2006/relationships/hyperlink" Target="https://arxiv.org/abs/1508.07909" TargetMode="External"/><Relationship Id="rId4" Type="http://schemas.openxmlformats.org/officeDocument/2006/relationships/hyperlink" Target="https://arxiv.org/abs/1301.3781" TargetMode="External"/><Relationship Id="rId5" Type="http://schemas.openxmlformats.org/officeDocument/2006/relationships/hyperlink" Target="https://github.com/nlp-with-transformers/notebooks" TargetMode="External"/><Relationship Id="rId6" Type="http://schemas.openxmlformats.org/officeDocument/2006/relationships/hyperlink" Target="https://arxiv.org/abs/1706.03762" TargetMode="External"/><Relationship Id="rId7" Type="http://schemas.openxmlformats.org/officeDocument/2006/relationships/hyperlink" Target="https://jalammar.github.io/illustrated-transformer/" TargetMode="External"/><Relationship Id="rId8" Type="http://schemas.openxmlformats.org/officeDocument/2006/relationships/hyperlink" Target="https://arxiv.org/abs/2012.14913" TargetMode="External"/><Relationship Id="rId9" Type="http://schemas.openxmlformats.org/officeDocument/2006/relationships/hyperlink" Target="https://arxiv.org/abs/1607.06450" TargetMode="External"/><Relationship Id="rId10" Type="http://schemas.openxmlformats.org/officeDocument/2006/relationships/hyperlink" Target="https://web.stanford.edu/~jurafsky/slp3/" TargetMode="External"/><Relationship Id="rId11" Type="http://schemas.openxmlformats.org/officeDocument/2006/relationships/hyperlink" Target="https://arxiv.org/abs/1904.09751" TargetMode="External"/><Relationship Id="rId12" Type="http://schemas.openxmlformats.org/officeDocument/2006/relationships/hyperlink" Target="https://www.youtube.com/watch?v=kCc8FmEb1nY" TargetMode="External"/><Relationship Id="rId13" Type="http://schemas.openxmlformats.org/officeDocument/2006/relationships/hyperlink" Target="https://arxiv.org/abs/2104.09864" TargetMode="External"/><Relationship Id="rId14" Type="http://schemas.openxmlformats.org/officeDocument/2006/relationships/hyperlink" Target="https://huggingface.co/datasets/app_review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468880"/>
            <a:ext cx="7315200" cy="320040"/>
          </a:xfrm>
          <a:prstGeom prst="rect">
            <a:avLst/>
          </a:prstGeom>
          <a:noFill/>
        </p:spPr>
        <p:txBody>
          <a:bodyPr wrap="square">
            <a:spAutoFit/>
          </a:bodyPr>
          <a:lstStyle/>
          <a:p>
            <a:pPr algn="l"/>
            <a:r>
              <a:rPr sz="1300" b="1" i="0" spc="250">
                <a:solidFill>
                  <a:srgbClr val="4F46E5"/>
                </a:solidFill>
                <a:latin typeface="Helvetica Neue"/>
              </a:rPr>
              <a:t>WEEK 6 · LECTURE 11</a:t>
            </a:r>
          </a:p>
        </p:txBody>
      </p:sp>
      <p:sp>
        <p:nvSpPr>
          <p:cNvPr id="3" name="TextBox 2"/>
          <p:cNvSpPr txBox="1"/>
          <p:nvPr/>
        </p:nvSpPr>
        <p:spPr>
          <a:xfrm>
            <a:off x="640080" y="2852928"/>
            <a:ext cx="10972800" cy="914400"/>
          </a:xfrm>
          <a:prstGeom prst="rect">
            <a:avLst/>
          </a:prstGeom>
          <a:noFill/>
        </p:spPr>
        <p:txBody>
          <a:bodyPr wrap="square">
            <a:spAutoFit/>
          </a:bodyPr>
          <a:lstStyle/>
          <a:p>
            <a:pPr algn="l"/>
            <a:r>
              <a:rPr sz="5000" b="1" i="0">
                <a:solidFill>
                  <a:srgbClr val="0F172A"/>
                </a:solidFill>
                <a:latin typeface="Helvetica Neue"/>
              </a:rPr>
              <a:t>Looking Inside the Model</a:t>
            </a:r>
          </a:p>
        </p:txBody>
      </p:sp>
      <p:sp>
        <p:nvSpPr>
          <p:cNvPr id="4" name="TextBox 3"/>
          <p:cNvSpPr txBox="1"/>
          <p:nvPr/>
        </p:nvSpPr>
        <p:spPr>
          <a:xfrm>
            <a:off x="640080" y="3913632"/>
            <a:ext cx="10058400" cy="457200"/>
          </a:xfrm>
          <a:prstGeom prst="rect">
            <a:avLst/>
          </a:prstGeom>
          <a:noFill/>
        </p:spPr>
        <p:txBody>
          <a:bodyPr wrap="square">
            <a:spAutoFit/>
          </a:bodyPr>
          <a:lstStyle/>
          <a:p>
            <a:pPr algn="l"/>
            <a:r>
              <a:rPr sz="2300" b="0" i="0">
                <a:solidFill>
                  <a:srgbClr val="475569"/>
                </a:solidFill>
                <a:latin typeface="Helvetica Neue"/>
              </a:rPr>
              <a:t>Transformers &amp; what they enable</a:t>
            </a:r>
          </a:p>
        </p:txBody>
      </p:sp>
      <p:sp>
        <p:nvSpPr>
          <p:cNvPr id="5" name="Rectangle 4"/>
          <p:cNvSpPr/>
          <p:nvPr/>
        </p:nvSpPr>
        <p:spPr>
          <a:xfrm>
            <a:off x="658368" y="4572000"/>
            <a:ext cx="822960" cy="54864"/>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754880"/>
            <a:ext cx="10058400" cy="457200"/>
          </a:xfrm>
          <a:prstGeom prst="rect">
            <a:avLst/>
          </a:prstGeom>
          <a:noFill/>
        </p:spPr>
        <p:txBody>
          <a:bodyPr wrap="square">
            <a:spAutoFit/>
          </a:bodyPr>
          <a:lstStyle/>
          <a:p>
            <a:pPr algn="l"/>
            <a:r>
              <a:rPr sz="1700" b="0" i="1">
                <a:solidFill>
                  <a:srgbClr val="0F172A"/>
                </a:solidFill>
                <a:latin typeface="Helvetica Neue"/>
              </a:rPr>
              <a:t>We start with what it does. Then we build it, from a single token up to the finished reply.</a:t>
            </a:r>
          </a:p>
        </p:txBody>
      </p:sp>
      <p:sp>
        <p:nvSpPr>
          <p:cNvPr id="7" name="TextBox 6"/>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4F46E5"/>
                </a:solidFill>
                <a:latin typeface="Helvetica Neue"/>
              </a:rPr>
              <a:t>THE USE CASE</a:t>
            </a:r>
          </a:p>
        </p:txBody>
      </p:sp>
      <p:sp>
        <p:nvSpPr>
          <p:cNvPr id="3" name="TextBox 2"/>
          <p:cNvSpPr txBox="1"/>
          <p:nvPr/>
        </p:nvSpPr>
        <p:spPr>
          <a:xfrm>
            <a:off x="640080" y="758952"/>
            <a:ext cx="10972800" cy="685800"/>
          </a:xfrm>
          <a:prstGeom prst="rect">
            <a:avLst/>
          </a:prstGeom>
          <a:noFill/>
        </p:spPr>
        <p:txBody>
          <a:bodyPr wrap="square">
            <a:spAutoFit/>
          </a:bodyPr>
          <a:lstStyle/>
          <a:p>
            <a:pPr algn="l"/>
            <a:r>
              <a:rPr sz="2900" b="1" i="0">
                <a:solidFill>
                  <a:srgbClr val="0F172A"/>
                </a:solidFill>
                <a:latin typeface="Helvetica Neue"/>
              </a:rPr>
              <a:t>More reviews than any team can answer.</a:t>
            </a:r>
          </a:p>
        </p:txBody>
      </p:sp>
      <p:sp>
        <p:nvSpPr>
          <p:cNvPr id="4" name="TextBox 3"/>
          <p:cNvSpPr txBox="1"/>
          <p:nvPr/>
        </p:nvSpPr>
        <p:spPr>
          <a:xfrm>
            <a:off x="640080" y="1417320"/>
            <a:ext cx="10424160" cy="457200"/>
          </a:xfrm>
          <a:prstGeom prst="rect">
            <a:avLst/>
          </a:prstGeom>
          <a:noFill/>
        </p:spPr>
        <p:txBody>
          <a:bodyPr wrap="square">
            <a:spAutoFit/>
          </a:bodyPr>
          <a:lstStyle/>
          <a:p>
            <a:pPr algn="l"/>
            <a:r>
              <a:rPr sz="1500" b="0" i="0">
                <a:solidFill>
                  <a:srgbClr val="475569"/>
                </a:solidFill>
                <a:latin typeface="Helvetica Neue"/>
              </a:rPr>
              <a:t>A popular app gets thousands of reviews a week, and a reply only helps if it speaks to the real complaint.</a:t>
            </a:r>
          </a:p>
        </p:txBody>
      </p:sp>
      <p:sp>
        <p:nvSpPr>
          <p:cNvPr id="5" name="TextBox 4"/>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6" name="Picture 5" descr="hy_usecase.png"/>
          <p:cNvPicPr>
            <a:picLocks noChangeAspect="1"/>
          </p:cNvPicPr>
          <p:nvPr/>
        </p:nvPicPr>
        <p:blipFill>
          <a:blip r:embed="rId2"/>
          <a:stretch>
            <a:fillRect/>
          </a:stretch>
        </p:blipFill>
        <p:spPr>
          <a:xfrm>
            <a:off x="552986" y="2148840"/>
            <a:ext cx="11085722" cy="3749039"/>
          </a:xfrm>
          <a:prstGeom prst="rect">
            <a:avLst/>
          </a:prstGeom>
        </p:spPr>
      </p:pic>
      <p:sp>
        <p:nvSpPr>
          <p:cNvPr id="7" name="TextBox 6"/>
          <p:cNvSpPr txBox="1"/>
          <p:nvPr/>
        </p:nvSpPr>
        <p:spPr>
          <a:xfrm>
            <a:off x="640080" y="5943600"/>
            <a:ext cx="10881360" cy="365760"/>
          </a:xfrm>
          <a:prstGeom prst="rect">
            <a:avLst/>
          </a:prstGeom>
          <a:noFill/>
        </p:spPr>
        <p:txBody>
          <a:bodyPr wrap="square">
            <a:spAutoFit/>
          </a:bodyPr>
          <a:lstStyle/>
          <a:p>
            <a:pPr algn="ctr"/>
            <a:r>
              <a:rPr sz="1350" b="0" i="1">
                <a:solidFill>
                  <a:srgbClr val="475569"/>
                </a:solidFill>
                <a:latin typeface="Helvetica Neue"/>
              </a:rPr>
              <a:t>That model is today's subject. To build it, and to trust what it drafts, you need to know how it 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4F46E5"/>
                </a:solidFill>
                <a:latin typeface="Helvetica Neue"/>
              </a:rPr>
              <a:t>THE SOLUTION</a:t>
            </a:r>
          </a:p>
        </p:txBody>
      </p:sp>
      <p:sp>
        <p:nvSpPr>
          <p:cNvPr id="3" name="TextBox 2"/>
          <p:cNvSpPr txBox="1"/>
          <p:nvPr/>
        </p:nvSpPr>
        <p:spPr>
          <a:xfrm>
            <a:off x="640080" y="758952"/>
            <a:ext cx="10972800" cy="685800"/>
          </a:xfrm>
          <a:prstGeom prst="rect">
            <a:avLst/>
          </a:prstGeom>
          <a:noFill/>
        </p:spPr>
        <p:txBody>
          <a:bodyPr wrap="square">
            <a:spAutoFit/>
          </a:bodyPr>
          <a:lstStyle/>
          <a:p>
            <a:pPr algn="l"/>
            <a:r>
              <a:rPr sz="2900" b="1" i="0">
                <a:solidFill>
                  <a:srgbClr val="0F172A"/>
                </a:solidFill>
                <a:latin typeface="Helvetica Neue"/>
              </a:rPr>
              <a:t>It read the review and answered the real problem.</a:t>
            </a:r>
          </a:p>
        </p:txBody>
      </p:sp>
      <p:sp>
        <p:nvSpPr>
          <p:cNvPr id="4" name="TextBox 3"/>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5" name="Picture 4" descr="hy_solution.png"/>
          <p:cNvPicPr>
            <a:picLocks noChangeAspect="1"/>
          </p:cNvPicPr>
          <p:nvPr/>
        </p:nvPicPr>
        <p:blipFill>
          <a:blip r:embed="rId2"/>
          <a:stretch>
            <a:fillRect/>
          </a:stretch>
        </p:blipFill>
        <p:spPr>
          <a:xfrm>
            <a:off x="518007" y="1920240"/>
            <a:ext cx="11155680" cy="1888236"/>
          </a:xfrm>
          <a:prstGeom prst="rect">
            <a:avLst/>
          </a:prstGeom>
        </p:spPr>
      </p:pic>
      <p:sp>
        <p:nvSpPr>
          <p:cNvPr id="6" name="TextBox 5"/>
          <p:cNvSpPr txBox="1"/>
          <p:nvPr/>
        </p:nvSpPr>
        <p:spPr>
          <a:xfrm>
            <a:off x="640080" y="5715000"/>
            <a:ext cx="10881360" cy="457200"/>
          </a:xfrm>
          <a:prstGeom prst="rect">
            <a:avLst/>
          </a:prstGeom>
          <a:noFill/>
        </p:spPr>
        <p:txBody>
          <a:bodyPr wrap="square">
            <a:spAutoFit/>
          </a:bodyPr>
          <a:lstStyle/>
          <a:p>
            <a:pPr algn="ctr"/>
            <a:r>
              <a:rPr sz="1400" b="0" i="1">
                <a:solidFill>
                  <a:srgbClr val="475569"/>
                </a:solidFill>
                <a:latin typeface="Helvetica Neue"/>
              </a:rPr>
              <a:t>It answered the exact complaint, not the generic part. How did it know which words mattered? That is the rest of this lecture.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4F46E5"/>
                </a:solidFill>
                <a:latin typeface="Helvetica Neue"/>
              </a:rPr>
              <a:t>THE PLAN</a:t>
            </a:r>
          </a:p>
        </p:txBody>
      </p:sp>
      <p:sp>
        <p:nvSpPr>
          <p:cNvPr id="3" name="TextBox 2"/>
          <p:cNvSpPr txBox="1"/>
          <p:nvPr/>
        </p:nvSpPr>
        <p:spPr>
          <a:xfrm>
            <a:off x="640080" y="758952"/>
            <a:ext cx="10972800" cy="685800"/>
          </a:xfrm>
          <a:prstGeom prst="rect">
            <a:avLst/>
          </a:prstGeom>
          <a:noFill/>
        </p:spPr>
        <p:txBody>
          <a:bodyPr wrap="square">
            <a:spAutoFit/>
          </a:bodyPr>
          <a:lstStyle/>
          <a:p>
            <a:pPr algn="l"/>
            <a:r>
              <a:rPr sz="2900" b="1" i="0">
                <a:solidFill>
                  <a:srgbClr val="0F172A"/>
                </a:solidFill>
                <a:latin typeface="Helvetica Neue"/>
              </a:rPr>
              <a:t>We build it from the ground up.</a:t>
            </a:r>
          </a:p>
        </p:txBody>
      </p:sp>
      <p:sp>
        <p:nvSpPr>
          <p:cNvPr id="4" name="TextBox 3"/>
          <p:cNvSpPr txBox="1"/>
          <p:nvPr/>
        </p:nvSpPr>
        <p:spPr>
          <a:xfrm>
            <a:off x="640080" y="1417320"/>
            <a:ext cx="10424160" cy="457200"/>
          </a:xfrm>
          <a:prstGeom prst="rect">
            <a:avLst/>
          </a:prstGeom>
          <a:noFill/>
        </p:spPr>
        <p:txBody>
          <a:bodyPr wrap="square">
            <a:spAutoFit/>
          </a:bodyPr>
          <a:lstStyle/>
          <a:p>
            <a:pPr algn="l"/>
            <a:r>
              <a:rPr sz="1500" b="0" i="0">
                <a:solidFill>
                  <a:srgbClr val="475569"/>
                </a:solidFill>
                <a:latin typeface="Helvetica Neue"/>
              </a:rPr>
              <a:t>From a single token, up to the finished reply you just saw.</a:t>
            </a:r>
          </a:p>
        </p:txBody>
      </p:sp>
      <p:sp>
        <p:nvSpPr>
          <p:cNvPr id="5" name="TextBox 4"/>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6" name="Picture 5" descr="hy_map.png"/>
          <p:cNvPicPr>
            <a:picLocks noChangeAspect="1"/>
          </p:cNvPicPr>
          <p:nvPr/>
        </p:nvPicPr>
        <p:blipFill>
          <a:blip r:embed="rId2"/>
          <a:stretch>
            <a:fillRect/>
          </a:stretch>
        </p:blipFill>
        <p:spPr>
          <a:xfrm>
            <a:off x="548640" y="2535633"/>
            <a:ext cx="6537960" cy="3386932"/>
          </a:xfrm>
          <a:prstGeom prst="rect">
            <a:avLst/>
          </a:prstGeom>
        </p:spPr>
      </p:pic>
      <p:pic>
        <p:nvPicPr>
          <p:cNvPr id="7" name="Picture 6" descr="hy_planart.png"/>
          <p:cNvPicPr>
            <a:picLocks noChangeAspect="1"/>
          </p:cNvPicPr>
          <p:nvPr/>
        </p:nvPicPr>
        <p:blipFill>
          <a:blip r:embed="rId3"/>
          <a:stretch>
            <a:fillRect/>
          </a:stretch>
        </p:blipFill>
        <p:spPr>
          <a:xfrm>
            <a:off x="7269480" y="2098684"/>
            <a:ext cx="4434840" cy="416939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D97706"/>
                </a:solidFill>
                <a:latin typeface="Helvetica Neue"/>
              </a:rPr>
              <a:t>TOKENS &amp; EMBEDDINGS</a:t>
            </a:r>
          </a:p>
        </p:txBody>
      </p:sp>
      <p:sp>
        <p:nvSpPr>
          <p:cNvPr id="3" name="TextBox 2"/>
          <p:cNvSpPr txBox="1"/>
          <p:nvPr/>
        </p:nvSpPr>
        <p:spPr>
          <a:xfrm>
            <a:off x="640080" y="758952"/>
            <a:ext cx="7040880" cy="685800"/>
          </a:xfrm>
          <a:prstGeom prst="rect">
            <a:avLst/>
          </a:prstGeom>
          <a:noFill/>
        </p:spPr>
        <p:txBody>
          <a:bodyPr wrap="square">
            <a:spAutoFit/>
          </a:bodyPr>
          <a:lstStyle/>
          <a:p>
            <a:pPr algn="l"/>
            <a:r>
              <a:rPr sz="2900" b="1" i="0">
                <a:solidFill>
                  <a:srgbClr val="0F172A"/>
                </a:solidFill>
                <a:latin typeface="Helvetica Neue"/>
              </a:rPr>
              <a:t>It starts with tokens, turned into vectors.</a:t>
            </a:r>
          </a:p>
        </p:txBody>
      </p:sp>
      <p:sp>
        <p:nvSpPr>
          <p:cNvPr id="4" name="Rounded Rectangle 3"/>
          <p:cNvSpPr/>
          <p:nvPr/>
        </p:nvSpPr>
        <p:spPr>
          <a:xfrm>
            <a:off x="8037575" y="591616"/>
            <a:ext cx="2880360"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882127" y="448056"/>
            <a:ext cx="310896" cy="310896"/>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27263" y="475488"/>
            <a:ext cx="420624" cy="256032"/>
          </a:xfrm>
          <a:prstGeom prst="rect">
            <a:avLst/>
          </a:prstGeom>
          <a:noFill/>
        </p:spPr>
        <p:txBody>
          <a:bodyPr wrap="square">
            <a:spAutoFit/>
          </a:bodyPr>
          <a:lstStyle/>
          <a:p>
            <a:pPr algn="ctr"/>
            <a:r>
              <a:rPr sz="1250" b="1" i="0">
                <a:solidFill>
                  <a:srgbClr val="FFFFFF"/>
                </a:solidFill>
                <a:latin typeface="Helvetica Neue"/>
              </a:rPr>
              <a:t>1</a:t>
            </a:r>
          </a:p>
        </p:txBody>
      </p:sp>
      <p:sp>
        <p:nvSpPr>
          <p:cNvPr id="7" name="Rounded Rectangle 6"/>
          <p:cNvSpPr/>
          <p:nvPr/>
        </p:nvSpPr>
        <p:spPr>
          <a:xfrm>
            <a:off x="8490204"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5340" y="475488"/>
            <a:ext cx="356616" cy="256032"/>
          </a:xfrm>
          <a:prstGeom prst="rect">
            <a:avLst/>
          </a:prstGeom>
          <a:noFill/>
        </p:spPr>
        <p:txBody>
          <a:bodyPr wrap="square">
            <a:spAutoFit/>
          </a:bodyPr>
          <a:lstStyle/>
          <a:p>
            <a:pPr algn="ctr"/>
            <a:r>
              <a:rPr sz="1000" b="1" i="0">
                <a:solidFill>
                  <a:srgbClr val="AEB4BF"/>
                </a:solidFill>
                <a:latin typeface="Helvetica Neue"/>
              </a:rPr>
              <a:t>2</a:t>
            </a:r>
          </a:p>
        </p:txBody>
      </p:sp>
      <p:sp>
        <p:nvSpPr>
          <p:cNvPr id="9" name="Rounded Rectangle 8"/>
          <p:cNvSpPr/>
          <p:nvPr/>
        </p:nvSpPr>
        <p:spPr>
          <a:xfrm>
            <a:off x="9066276"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11411" y="475488"/>
            <a:ext cx="356616" cy="256032"/>
          </a:xfrm>
          <a:prstGeom prst="rect">
            <a:avLst/>
          </a:prstGeom>
          <a:noFill/>
        </p:spPr>
        <p:txBody>
          <a:bodyPr wrap="square">
            <a:spAutoFit/>
          </a:bodyPr>
          <a:lstStyle/>
          <a:p>
            <a:pPr algn="ctr"/>
            <a:r>
              <a:rPr sz="1000" b="1" i="0">
                <a:solidFill>
                  <a:srgbClr val="AEB4BF"/>
                </a:solidFill>
                <a:latin typeface="Helvetica Neue"/>
              </a:rPr>
              <a:t>3</a:t>
            </a:r>
          </a:p>
        </p:txBody>
      </p:sp>
      <p:sp>
        <p:nvSpPr>
          <p:cNvPr id="11" name="Rounded Rectangle 10"/>
          <p:cNvSpPr/>
          <p:nvPr/>
        </p:nvSpPr>
        <p:spPr>
          <a:xfrm>
            <a:off x="9642348"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87484" y="475488"/>
            <a:ext cx="356616" cy="256032"/>
          </a:xfrm>
          <a:prstGeom prst="rect">
            <a:avLst/>
          </a:prstGeom>
          <a:noFill/>
        </p:spPr>
        <p:txBody>
          <a:bodyPr wrap="square">
            <a:spAutoFit/>
          </a:bodyPr>
          <a:lstStyle/>
          <a:p>
            <a:pPr algn="ctr"/>
            <a:r>
              <a:rPr sz="1000" b="1" i="0">
                <a:solidFill>
                  <a:srgbClr val="AEB4BF"/>
                </a:solidFill>
                <a:latin typeface="Helvetica Neue"/>
              </a:rPr>
              <a:t>4</a:t>
            </a:r>
          </a:p>
        </p:txBody>
      </p:sp>
      <p:sp>
        <p:nvSpPr>
          <p:cNvPr id="13" name="Rounded Rectangle 12"/>
          <p:cNvSpPr/>
          <p:nvPr/>
        </p:nvSpPr>
        <p:spPr>
          <a:xfrm>
            <a:off x="10218419"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3555" y="475488"/>
            <a:ext cx="356616" cy="256032"/>
          </a:xfrm>
          <a:prstGeom prst="rect">
            <a:avLst/>
          </a:prstGeom>
          <a:noFill/>
        </p:spPr>
        <p:txBody>
          <a:bodyPr wrap="square">
            <a:spAutoFit/>
          </a:bodyPr>
          <a:lstStyle/>
          <a:p>
            <a:pPr algn="ctr"/>
            <a:r>
              <a:rPr sz="1000" b="1" i="0">
                <a:solidFill>
                  <a:srgbClr val="AEB4BF"/>
                </a:solidFill>
                <a:latin typeface="Helvetica Neue"/>
              </a:rPr>
              <a:t>5</a:t>
            </a:r>
          </a:p>
        </p:txBody>
      </p:sp>
      <p:sp>
        <p:nvSpPr>
          <p:cNvPr id="15" name="Rounded Rectangle 14"/>
          <p:cNvSpPr/>
          <p:nvPr/>
        </p:nvSpPr>
        <p:spPr>
          <a:xfrm>
            <a:off x="10794492"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39628" y="475488"/>
            <a:ext cx="356616" cy="256032"/>
          </a:xfrm>
          <a:prstGeom prst="rect">
            <a:avLst/>
          </a:prstGeom>
          <a:noFill/>
        </p:spPr>
        <p:txBody>
          <a:bodyPr wrap="square">
            <a:spAutoFit/>
          </a:bodyPr>
          <a:lstStyle/>
          <a:p>
            <a:pPr algn="ctr"/>
            <a:r>
              <a:rPr sz="1000" b="1" i="0">
                <a:solidFill>
                  <a:srgbClr val="AEB4BF"/>
                </a:solidFill>
                <a:latin typeface="Helvetica Neue"/>
              </a:rPr>
              <a:t>6</a:t>
            </a:r>
          </a:p>
        </p:txBody>
      </p:sp>
      <p:sp>
        <p:nvSpPr>
          <p:cNvPr id="17" name="TextBox 16"/>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18" name="Picture 17" descr="hy_reply.png"/>
          <p:cNvPicPr>
            <a:picLocks noChangeAspect="1"/>
          </p:cNvPicPr>
          <p:nvPr/>
        </p:nvPicPr>
        <p:blipFill>
          <a:blip r:embed="rId2"/>
          <a:stretch>
            <a:fillRect/>
          </a:stretch>
        </p:blipFill>
        <p:spPr>
          <a:xfrm>
            <a:off x="518007" y="1783080"/>
            <a:ext cx="11155680" cy="420812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7C3AED"/>
                </a:solidFill>
                <a:latin typeface="Helvetica Neue"/>
              </a:rPr>
              <a:t>SELF-ATTENTION</a:t>
            </a:r>
          </a:p>
        </p:txBody>
      </p:sp>
      <p:sp>
        <p:nvSpPr>
          <p:cNvPr id="3" name="TextBox 2"/>
          <p:cNvSpPr txBox="1"/>
          <p:nvPr/>
        </p:nvSpPr>
        <p:spPr>
          <a:xfrm>
            <a:off x="640080" y="758952"/>
            <a:ext cx="7040880" cy="685800"/>
          </a:xfrm>
          <a:prstGeom prst="rect">
            <a:avLst/>
          </a:prstGeom>
          <a:noFill/>
        </p:spPr>
        <p:txBody>
          <a:bodyPr wrap="square">
            <a:spAutoFit/>
          </a:bodyPr>
          <a:lstStyle/>
          <a:p>
            <a:pPr algn="l"/>
            <a:r>
              <a:rPr sz="2900" b="1" i="0">
                <a:solidFill>
                  <a:srgbClr val="0F172A"/>
                </a:solidFill>
                <a:latin typeface="Helvetica Neue"/>
              </a:rPr>
              <a:t>Each token updates itself from the other tokens.</a:t>
            </a:r>
          </a:p>
        </p:txBody>
      </p:sp>
      <p:sp>
        <p:nvSpPr>
          <p:cNvPr id="4" name="Rounded Rectangle 3"/>
          <p:cNvSpPr/>
          <p:nvPr/>
        </p:nvSpPr>
        <p:spPr>
          <a:xfrm>
            <a:off x="8037575" y="591616"/>
            <a:ext cx="2880360"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914131" y="480060"/>
            <a:ext cx="246888" cy="246888"/>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59267" y="475488"/>
            <a:ext cx="356616" cy="256032"/>
          </a:xfrm>
          <a:prstGeom prst="rect">
            <a:avLst/>
          </a:prstGeom>
          <a:noFill/>
        </p:spPr>
        <p:txBody>
          <a:bodyPr wrap="square">
            <a:spAutoFit/>
          </a:bodyPr>
          <a:lstStyle/>
          <a:p>
            <a:pPr algn="ctr"/>
            <a:r>
              <a:rPr sz="1000" b="1" i="0">
                <a:solidFill>
                  <a:srgbClr val="FFFFFF"/>
                </a:solidFill>
                <a:latin typeface="Helvetica Neue"/>
              </a:rPr>
              <a:t>1</a:t>
            </a:r>
          </a:p>
        </p:txBody>
      </p:sp>
      <p:sp>
        <p:nvSpPr>
          <p:cNvPr id="7" name="Rounded Rectangle 6"/>
          <p:cNvSpPr/>
          <p:nvPr/>
        </p:nvSpPr>
        <p:spPr>
          <a:xfrm>
            <a:off x="8458200" y="448056"/>
            <a:ext cx="310896" cy="310896"/>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03336" y="475488"/>
            <a:ext cx="420624" cy="256032"/>
          </a:xfrm>
          <a:prstGeom prst="rect">
            <a:avLst/>
          </a:prstGeom>
          <a:noFill/>
        </p:spPr>
        <p:txBody>
          <a:bodyPr wrap="square">
            <a:spAutoFit/>
          </a:bodyPr>
          <a:lstStyle/>
          <a:p>
            <a:pPr algn="ctr"/>
            <a:r>
              <a:rPr sz="1250" b="1" i="0">
                <a:solidFill>
                  <a:srgbClr val="FFFFFF"/>
                </a:solidFill>
                <a:latin typeface="Helvetica Neue"/>
              </a:rPr>
              <a:t>2</a:t>
            </a:r>
          </a:p>
        </p:txBody>
      </p:sp>
      <p:sp>
        <p:nvSpPr>
          <p:cNvPr id="9" name="Rounded Rectangle 8"/>
          <p:cNvSpPr/>
          <p:nvPr/>
        </p:nvSpPr>
        <p:spPr>
          <a:xfrm>
            <a:off x="9066276"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11411" y="475488"/>
            <a:ext cx="356616" cy="256032"/>
          </a:xfrm>
          <a:prstGeom prst="rect">
            <a:avLst/>
          </a:prstGeom>
          <a:noFill/>
        </p:spPr>
        <p:txBody>
          <a:bodyPr wrap="square">
            <a:spAutoFit/>
          </a:bodyPr>
          <a:lstStyle/>
          <a:p>
            <a:pPr algn="ctr"/>
            <a:r>
              <a:rPr sz="1000" b="1" i="0">
                <a:solidFill>
                  <a:srgbClr val="AEB4BF"/>
                </a:solidFill>
                <a:latin typeface="Helvetica Neue"/>
              </a:rPr>
              <a:t>3</a:t>
            </a:r>
          </a:p>
        </p:txBody>
      </p:sp>
      <p:sp>
        <p:nvSpPr>
          <p:cNvPr id="11" name="Rounded Rectangle 10"/>
          <p:cNvSpPr/>
          <p:nvPr/>
        </p:nvSpPr>
        <p:spPr>
          <a:xfrm>
            <a:off x="9642348"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87484" y="475488"/>
            <a:ext cx="356616" cy="256032"/>
          </a:xfrm>
          <a:prstGeom prst="rect">
            <a:avLst/>
          </a:prstGeom>
          <a:noFill/>
        </p:spPr>
        <p:txBody>
          <a:bodyPr wrap="square">
            <a:spAutoFit/>
          </a:bodyPr>
          <a:lstStyle/>
          <a:p>
            <a:pPr algn="ctr"/>
            <a:r>
              <a:rPr sz="1000" b="1" i="0">
                <a:solidFill>
                  <a:srgbClr val="AEB4BF"/>
                </a:solidFill>
                <a:latin typeface="Helvetica Neue"/>
              </a:rPr>
              <a:t>4</a:t>
            </a:r>
          </a:p>
        </p:txBody>
      </p:sp>
      <p:sp>
        <p:nvSpPr>
          <p:cNvPr id="13" name="Rounded Rectangle 12"/>
          <p:cNvSpPr/>
          <p:nvPr/>
        </p:nvSpPr>
        <p:spPr>
          <a:xfrm>
            <a:off x="10218419"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3555" y="475488"/>
            <a:ext cx="356616" cy="256032"/>
          </a:xfrm>
          <a:prstGeom prst="rect">
            <a:avLst/>
          </a:prstGeom>
          <a:noFill/>
        </p:spPr>
        <p:txBody>
          <a:bodyPr wrap="square">
            <a:spAutoFit/>
          </a:bodyPr>
          <a:lstStyle/>
          <a:p>
            <a:pPr algn="ctr"/>
            <a:r>
              <a:rPr sz="1000" b="1" i="0">
                <a:solidFill>
                  <a:srgbClr val="AEB4BF"/>
                </a:solidFill>
                <a:latin typeface="Helvetica Neue"/>
              </a:rPr>
              <a:t>5</a:t>
            </a:r>
          </a:p>
        </p:txBody>
      </p:sp>
      <p:sp>
        <p:nvSpPr>
          <p:cNvPr id="15" name="Rounded Rectangle 14"/>
          <p:cNvSpPr/>
          <p:nvPr/>
        </p:nvSpPr>
        <p:spPr>
          <a:xfrm>
            <a:off x="10794492"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39628" y="475488"/>
            <a:ext cx="356616" cy="256032"/>
          </a:xfrm>
          <a:prstGeom prst="rect">
            <a:avLst/>
          </a:prstGeom>
          <a:noFill/>
        </p:spPr>
        <p:txBody>
          <a:bodyPr wrap="square">
            <a:spAutoFit/>
          </a:bodyPr>
          <a:lstStyle/>
          <a:p>
            <a:pPr algn="ctr"/>
            <a:r>
              <a:rPr sz="1000" b="1" i="0">
                <a:solidFill>
                  <a:srgbClr val="AEB4BF"/>
                </a:solidFill>
                <a:latin typeface="Helvetica Neue"/>
              </a:rPr>
              <a:t>6</a:t>
            </a:r>
          </a:p>
        </p:txBody>
      </p:sp>
      <p:sp>
        <p:nvSpPr>
          <p:cNvPr id="17" name="TextBox 16"/>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18" name="Picture 17" descr="hy_attn.png"/>
          <p:cNvPicPr>
            <a:picLocks noChangeAspect="1"/>
          </p:cNvPicPr>
          <p:nvPr/>
        </p:nvPicPr>
        <p:blipFill>
          <a:blip r:embed="rId2"/>
          <a:stretch>
            <a:fillRect/>
          </a:stretch>
        </p:blipFill>
        <p:spPr>
          <a:xfrm>
            <a:off x="1690833" y="1737360"/>
            <a:ext cx="8810028" cy="46177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7C3AED"/>
                </a:solidFill>
                <a:latin typeface="Helvetica Neue"/>
              </a:rPr>
              <a:t>SCALED DOT-PRODUCT ATTENTION</a:t>
            </a:r>
          </a:p>
        </p:txBody>
      </p:sp>
      <p:sp>
        <p:nvSpPr>
          <p:cNvPr id="3" name="TextBox 2"/>
          <p:cNvSpPr txBox="1"/>
          <p:nvPr/>
        </p:nvSpPr>
        <p:spPr>
          <a:xfrm>
            <a:off x="640080" y="758952"/>
            <a:ext cx="7040880" cy="685800"/>
          </a:xfrm>
          <a:prstGeom prst="rect">
            <a:avLst/>
          </a:prstGeom>
          <a:noFill/>
        </p:spPr>
        <p:txBody>
          <a:bodyPr wrap="square">
            <a:spAutoFit/>
          </a:bodyPr>
          <a:lstStyle/>
          <a:p>
            <a:pPr algn="l"/>
            <a:r>
              <a:rPr sz="2900" b="1" i="0">
                <a:solidFill>
                  <a:srgbClr val="0F172A"/>
                </a:solidFill>
                <a:latin typeface="Helvetica Neue"/>
              </a:rPr>
              <a:t>Those four steps, as one equation.</a:t>
            </a:r>
          </a:p>
        </p:txBody>
      </p:sp>
      <p:sp>
        <p:nvSpPr>
          <p:cNvPr id="4" name="Rounded Rectangle 3"/>
          <p:cNvSpPr/>
          <p:nvPr/>
        </p:nvSpPr>
        <p:spPr>
          <a:xfrm>
            <a:off x="8037575" y="591616"/>
            <a:ext cx="2880360"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914131" y="480060"/>
            <a:ext cx="246888" cy="246888"/>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59267" y="475488"/>
            <a:ext cx="356616" cy="256032"/>
          </a:xfrm>
          <a:prstGeom prst="rect">
            <a:avLst/>
          </a:prstGeom>
          <a:noFill/>
        </p:spPr>
        <p:txBody>
          <a:bodyPr wrap="square">
            <a:spAutoFit/>
          </a:bodyPr>
          <a:lstStyle/>
          <a:p>
            <a:pPr algn="ctr"/>
            <a:r>
              <a:rPr sz="1000" b="1" i="0">
                <a:solidFill>
                  <a:srgbClr val="FFFFFF"/>
                </a:solidFill>
                <a:latin typeface="Helvetica Neue"/>
              </a:rPr>
              <a:t>1</a:t>
            </a:r>
          </a:p>
        </p:txBody>
      </p:sp>
      <p:sp>
        <p:nvSpPr>
          <p:cNvPr id="7" name="Rounded Rectangle 6"/>
          <p:cNvSpPr/>
          <p:nvPr/>
        </p:nvSpPr>
        <p:spPr>
          <a:xfrm>
            <a:off x="8458200" y="448056"/>
            <a:ext cx="310896" cy="310896"/>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03336" y="475488"/>
            <a:ext cx="420624" cy="256032"/>
          </a:xfrm>
          <a:prstGeom prst="rect">
            <a:avLst/>
          </a:prstGeom>
          <a:noFill/>
        </p:spPr>
        <p:txBody>
          <a:bodyPr wrap="square">
            <a:spAutoFit/>
          </a:bodyPr>
          <a:lstStyle/>
          <a:p>
            <a:pPr algn="ctr"/>
            <a:r>
              <a:rPr sz="1250" b="1" i="0">
                <a:solidFill>
                  <a:srgbClr val="FFFFFF"/>
                </a:solidFill>
                <a:latin typeface="Helvetica Neue"/>
              </a:rPr>
              <a:t>2</a:t>
            </a:r>
          </a:p>
        </p:txBody>
      </p:sp>
      <p:sp>
        <p:nvSpPr>
          <p:cNvPr id="9" name="Rounded Rectangle 8"/>
          <p:cNvSpPr/>
          <p:nvPr/>
        </p:nvSpPr>
        <p:spPr>
          <a:xfrm>
            <a:off x="9066276"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11411" y="475488"/>
            <a:ext cx="356616" cy="256032"/>
          </a:xfrm>
          <a:prstGeom prst="rect">
            <a:avLst/>
          </a:prstGeom>
          <a:noFill/>
        </p:spPr>
        <p:txBody>
          <a:bodyPr wrap="square">
            <a:spAutoFit/>
          </a:bodyPr>
          <a:lstStyle/>
          <a:p>
            <a:pPr algn="ctr"/>
            <a:r>
              <a:rPr sz="1000" b="1" i="0">
                <a:solidFill>
                  <a:srgbClr val="AEB4BF"/>
                </a:solidFill>
                <a:latin typeface="Helvetica Neue"/>
              </a:rPr>
              <a:t>3</a:t>
            </a:r>
          </a:p>
        </p:txBody>
      </p:sp>
      <p:sp>
        <p:nvSpPr>
          <p:cNvPr id="11" name="Rounded Rectangle 10"/>
          <p:cNvSpPr/>
          <p:nvPr/>
        </p:nvSpPr>
        <p:spPr>
          <a:xfrm>
            <a:off x="9642348"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87484" y="475488"/>
            <a:ext cx="356616" cy="256032"/>
          </a:xfrm>
          <a:prstGeom prst="rect">
            <a:avLst/>
          </a:prstGeom>
          <a:noFill/>
        </p:spPr>
        <p:txBody>
          <a:bodyPr wrap="square">
            <a:spAutoFit/>
          </a:bodyPr>
          <a:lstStyle/>
          <a:p>
            <a:pPr algn="ctr"/>
            <a:r>
              <a:rPr sz="1000" b="1" i="0">
                <a:solidFill>
                  <a:srgbClr val="AEB4BF"/>
                </a:solidFill>
                <a:latin typeface="Helvetica Neue"/>
              </a:rPr>
              <a:t>4</a:t>
            </a:r>
          </a:p>
        </p:txBody>
      </p:sp>
      <p:sp>
        <p:nvSpPr>
          <p:cNvPr id="13" name="Rounded Rectangle 12"/>
          <p:cNvSpPr/>
          <p:nvPr/>
        </p:nvSpPr>
        <p:spPr>
          <a:xfrm>
            <a:off x="10218419"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3555" y="475488"/>
            <a:ext cx="356616" cy="256032"/>
          </a:xfrm>
          <a:prstGeom prst="rect">
            <a:avLst/>
          </a:prstGeom>
          <a:noFill/>
        </p:spPr>
        <p:txBody>
          <a:bodyPr wrap="square">
            <a:spAutoFit/>
          </a:bodyPr>
          <a:lstStyle/>
          <a:p>
            <a:pPr algn="ctr"/>
            <a:r>
              <a:rPr sz="1000" b="1" i="0">
                <a:solidFill>
                  <a:srgbClr val="AEB4BF"/>
                </a:solidFill>
                <a:latin typeface="Helvetica Neue"/>
              </a:rPr>
              <a:t>5</a:t>
            </a:r>
          </a:p>
        </p:txBody>
      </p:sp>
      <p:sp>
        <p:nvSpPr>
          <p:cNvPr id="15" name="Rounded Rectangle 14"/>
          <p:cNvSpPr/>
          <p:nvPr/>
        </p:nvSpPr>
        <p:spPr>
          <a:xfrm>
            <a:off x="10794492"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39628" y="475488"/>
            <a:ext cx="356616" cy="256032"/>
          </a:xfrm>
          <a:prstGeom prst="rect">
            <a:avLst/>
          </a:prstGeom>
          <a:noFill/>
        </p:spPr>
        <p:txBody>
          <a:bodyPr wrap="square">
            <a:spAutoFit/>
          </a:bodyPr>
          <a:lstStyle/>
          <a:p>
            <a:pPr algn="ctr"/>
            <a:r>
              <a:rPr sz="1000" b="1" i="0">
                <a:solidFill>
                  <a:srgbClr val="AEB4BF"/>
                </a:solidFill>
                <a:latin typeface="Helvetica Neue"/>
              </a:rPr>
              <a:t>6</a:t>
            </a:r>
          </a:p>
        </p:txBody>
      </p:sp>
      <p:sp>
        <p:nvSpPr>
          <p:cNvPr id="17" name="TextBox 16"/>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18" name="Picture 17" descr="hy_math.png"/>
          <p:cNvPicPr>
            <a:picLocks noChangeAspect="1"/>
          </p:cNvPicPr>
          <p:nvPr/>
        </p:nvPicPr>
        <p:blipFill>
          <a:blip r:embed="rId2"/>
          <a:stretch>
            <a:fillRect/>
          </a:stretch>
        </p:blipFill>
        <p:spPr>
          <a:xfrm>
            <a:off x="518007" y="2011680"/>
            <a:ext cx="11155680" cy="344786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7C3AED"/>
                </a:solidFill>
                <a:latin typeface="Helvetica Neue"/>
              </a:rPr>
              <a:t>MULTI-HEAD ATTENTION</a:t>
            </a:r>
          </a:p>
        </p:txBody>
      </p:sp>
      <p:sp>
        <p:nvSpPr>
          <p:cNvPr id="3" name="TextBox 2"/>
          <p:cNvSpPr txBox="1"/>
          <p:nvPr/>
        </p:nvSpPr>
        <p:spPr>
          <a:xfrm>
            <a:off x="640080" y="758952"/>
            <a:ext cx="7040880" cy="685800"/>
          </a:xfrm>
          <a:prstGeom prst="rect">
            <a:avLst/>
          </a:prstGeom>
          <a:noFill/>
        </p:spPr>
        <p:txBody>
          <a:bodyPr wrap="square">
            <a:spAutoFit/>
          </a:bodyPr>
          <a:lstStyle/>
          <a:p>
            <a:pPr algn="l"/>
            <a:r>
              <a:rPr sz="2900" b="1" i="0">
                <a:solidFill>
                  <a:srgbClr val="0F172A"/>
                </a:solidFill>
                <a:latin typeface="Helvetica Neue"/>
              </a:rPr>
              <a:t>Run several attention heads in parallel.</a:t>
            </a:r>
          </a:p>
        </p:txBody>
      </p:sp>
      <p:sp>
        <p:nvSpPr>
          <p:cNvPr id="4" name="Rounded Rectangle 3"/>
          <p:cNvSpPr/>
          <p:nvPr/>
        </p:nvSpPr>
        <p:spPr>
          <a:xfrm>
            <a:off x="8037575" y="591616"/>
            <a:ext cx="2880360"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914131" y="480060"/>
            <a:ext cx="246888" cy="246888"/>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59267" y="475488"/>
            <a:ext cx="356616" cy="256032"/>
          </a:xfrm>
          <a:prstGeom prst="rect">
            <a:avLst/>
          </a:prstGeom>
          <a:noFill/>
        </p:spPr>
        <p:txBody>
          <a:bodyPr wrap="square">
            <a:spAutoFit/>
          </a:bodyPr>
          <a:lstStyle/>
          <a:p>
            <a:pPr algn="ctr"/>
            <a:r>
              <a:rPr sz="1000" b="1" i="0">
                <a:solidFill>
                  <a:srgbClr val="FFFFFF"/>
                </a:solidFill>
                <a:latin typeface="Helvetica Neue"/>
              </a:rPr>
              <a:t>1</a:t>
            </a:r>
          </a:p>
        </p:txBody>
      </p:sp>
      <p:sp>
        <p:nvSpPr>
          <p:cNvPr id="7" name="Rounded Rectangle 6"/>
          <p:cNvSpPr/>
          <p:nvPr/>
        </p:nvSpPr>
        <p:spPr>
          <a:xfrm>
            <a:off x="8458200" y="448056"/>
            <a:ext cx="310896" cy="310896"/>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03336" y="475488"/>
            <a:ext cx="420624" cy="256032"/>
          </a:xfrm>
          <a:prstGeom prst="rect">
            <a:avLst/>
          </a:prstGeom>
          <a:noFill/>
        </p:spPr>
        <p:txBody>
          <a:bodyPr wrap="square">
            <a:spAutoFit/>
          </a:bodyPr>
          <a:lstStyle/>
          <a:p>
            <a:pPr algn="ctr"/>
            <a:r>
              <a:rPr sz="1250" b="1" i="0">
                <a:solidFill>
                  <a:srgbClr val="FFFFFF"/>
                </a:solidFill>
                <a:latin typeface="Helvetica Neue"/>
              </a:rPr>
              <a:t>2</a:t>
            </a:r>
          </a:p>
        </p:txBody>
      </p:sp>
      <p:sp>
        <p:nvSpPr>
          <p:cNvPr id="9" name="Rounded Rectangle 8"/>
          <p:cNvSpPr/>
          <p:nvPr/>
        </p:nvSpPr>
        <p:spPr>
          <a:xfrm>
            <a:off x="9066276"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11411" y="475488"/>
            <a:ext cx="356616" cy="256032"/>
          </a:xfrm>
          <a:prstGeom prst="rect">
            <a:avLst/>
          </a:prstGeom>
          <a:noFill/>
        </p:spPr>
        <p:txBody>
          <a:bodyPr wrap="square">
            <a:spAutoFit/>
          </a:bodyPr>
          <a:lstStyle/>
          <a:p>
            <a:pPr algn="ctr"/>
            <a:r>
              <a:rPr sz="1000" b="1" i="0">
                <a:solidFill>
                  <a:srgbClr val="AEB4BF"/>
                </a:solidFill>
                <a:latin typeface="Helvetica Neue"/>
              </a:rPr>
              <a:t>3</a:t>
            </a:r>
          </a:p>
        </p:txBody>
      </p:sp>
      <p:sp>
        <p:nvSpPr>
          <p:cNvPr id="11" name="Rounded Rectangle 10"/>
          <p:cNvSpPr/>
          <p:nvPr/>
        </p:nvSpPr>
        <p:spPr>
          <a:xfrm>
            <a:off x="9642348"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87484" y="475488"/>
            <a:ext cx="356616" cy="256032"/>
          </a:xfrm>
          <a:prstGeom prst="rect">
            <a:avLst/>
          </a:prstGeom>
          <a:noFill/>
        </p:spPr>
        <p:txBody>
          <a:bodyPr wrap="square">
            <a:spAutoFit/>
          </a:bodyPr>
          <a:lstStyle/>
          <a:p>
            <a:pPr algn="ctr"/>
            <a:r>
              <a:rPr sz="1000" b="1" i="0">
                <a:solidFill>
                  <a:srgbClr val="AEB4BF"/>
                </a:solidFill>
                <a:latin typeface="Helvetica Neue"/>
              </a:rPr>
              <a:t>4</a:t>
            </a:r>
          </a:p>
        </p:txBody>
      </p:sp>
      <p:sp>
        <p:nvSpPr>
          <p:cNvPr id="13" name="Rounded Rectangle 12"/>
          <p:cNvSpPr/>
          <p:nvPr/>
        </p:nvSpPr>
        <p:spPr>
          <a:xfrm>
            <a:off x="10218419"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3555" y="475488"/>
            <a:ext cx="356616" cy="256032"/>
          </a:xfrm>
          <a:prstGeom prst="rect">
            <a:avLst/>
          </a:prstGeom>
          <a:noFill/>
        </p:spPr>
        <p:txBody>
          <a:bodyPr wrap="square">
            <a:spAutoFit/>
          </a:bodyPr>
          <a:lstStyle/>
          <a:p>
            <a:pPr algn="ctr"/>
            <a:r>
              <a:rPr sz="1000" b="1" i="0">
                <a:solidFill>
                  <a:srgbClr val="AEB4BF"/>
                </a:solidFill>
                <a:latin typeface="Helvetica Neue"/>
              </a:rPr>
              <a:t>5</a:t>
            </a:r>
          </a:p>
        </p:txBody>
      </p:sp>
      <p:sp>
        <p:nvSpPr>
          <p:cNvPr id="15" name="Rounded Rectangle 14"/>
          <p:cNvSpPr/>
          <p:nvPr/>
        </p:nvSpPr>
        <p:spPr>
          <a:xfrm>
            <a:off x="10794492"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39628" y="475488"/>
            <a:ext cx="356616" cy="256032"/>
          </a:xfrm>
          <a:prstGeom prst="rect">
            <a:avLst/>
          </a:prstGeom>
          <a:noFill/>
        </p:spPr>
        <p:txBody>
          <a:bodyPr wrap="square">
            <a:spAutoFit/>
          </a:bodyPr>
          <a:lstStyle/>
          <a:p>
            <a:pPr algn="ctr"/>
            <a:r>
              <a:rPr sz="1000" b="1" i="0">
                <a:solidFill>
                  <a:srgbClr val="AEB4BF"/>
                </a:solidFill>
                <a:latin typeface="Helvetica Neue"/>
              </a:rPr>
              <a:t>6</a:t>
            </a:r>
          </a:p>
        </p:txBody>
      </p:sp>
      <p:sp>
        <p:nvSpPr>
          <p:cNvPr id="17" name="TextBox 16"/>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18" name="Picture 17" descr="hy_heads.png"/>
          <p:cNvPicPr>
            <a:picLocks noChangeAspect="1"/>
          </p:cNvPicPr>
          <p:nvPr/>
        </p:nvPicPr>
        <p:blipFill>
          <a:blip r:embed="rId2"/>
          <a:stretch>
            <a:fillRect/>
          </a:stretch>
        </p:blipFill>
        <p:spPr>
          <a:xfrm>
            <a:off x="952878" y="1783080"/>
            <a:ext cx="10285938" cy="4572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0EA5E9"/>
                </a:solidFill>
                <a:latin typeface="Helvetica Neue"/>
              </a:rPr>
              <a:t>THE FEED-FORWARD NETWORK</a:t>
            </a:r>
          </a:p>
        </p:txBody>
      </p:sp>
      <p:sp>
        <p:nvSpPr>
          <p:cNvPr id="3" name="TextBox 2"/>
          <p:cNvSpPr txBox="1"/>
          <p:nvPr/>
        </p:nvSpPr>
        <p:spPr>
          <a:xfrm>
            <a:off x="640080" y="758952"/>
            <a:ext cx="7040880" cy="685800"/>
          </a:xfrm>
          <a:prstGeom prst="rect">
            <a:avLst/>
          </a:prstGeom>
          <a:noFill/>
        </p:spPr>
        <p:txBody>
          <a:bodyPr wrap="square">
            <a:spAutoFit/>
          </a:bodyPr>
          <a:lstStyle/>
          <a:p>
            <a:pPr algn="l"/>
            <a:r>
              <a:rPr sz="2900" b="1" i="0">
                <a:solidFill>
                  <a:srgbClr val="0F172A"/>
                </a:solidFill>
                <a:latin typeface="Helvetica Neue"/>
              </a:rPr>
              <a:t>A per-token network that applies learned knowledge.</a:t>
            </a:r>
          </a:p>
        </p:txBody>
      </p:sp>
      <p:sp>
        <p:nvSpPr>
          <p:cNvPr id="4" name="Rounded Rectangle 3"/>
          <p:cNvSpPr/>
          <p:nvPr/>
        </p:nvSpPr>
        <p:spPr>
          <a:xfrm>
            <a:off x="8037575" y="591616"/>
            <a:ext cx="2880360"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914131" y="480060"/>
            <a:ext cx="246888" cy="246888"/>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59267" y="475488"/>
            <a:ext cx="356616" cy="256032"/>
          </a:xfrm>
          <a:prstGeom prst="rect">
            <a:avLst/>
          </a:prstGeom>
          <a:noFill/>
        </p:spPr>
        <p:txBody>
          <a:bodyPr wrap="square">
            <a:spAutoFit/>
          </a:bodyPr>
          <a:lstStyle/>
          <a:p>
            <a:pPr algn="ctr"/>
            <a:r>
              <a:rPr sz="1000" b="1" i="0">
                <a:solidFill>
                  <a:srgbClr val="FFFFFF"/>
                </a:solidFill>
                <a:latin typeface="Helvetica Neue"/>
              </a:rPr>
              <a:t>1</a:t>
            </a:r>
          </a:p>
        </p:txBody>
      </p:sp>
      <p:sp>
        <p:nvSpPr>
          <p:cNvPr id="7" name="Rounded Rectangle 6"/>
          <p:cNvSpPr/>
          <p:nvPr/>
        </p:nvSpPr>
        <p:spPr>
          <a:xfrm>
            <a:off x="8490204" y="480060"/>
            <a:ext cx="246888" cy="246888"/>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5340" y="475488"/>
            <a:ext cx="356616" cy="256032"/>
          </a:xfrm>
          <a:prstGeom prst="rect">
            <a:avLst/>
          </a:prstGeom>
          <a:noFill/>
        </p:spPr>
        <p:txBody>
          <a:bodyPr wrap="square">
            <a:spAutoFit/>
          </a:bodyPr>
          <a:lstStyle/>
          <a:p>
            <a:pPr algn="ctr"/>
            <a:r>
              <a:rPr sz="1000" b="1" i="0">
                <a:solidFill>
                  <a:srgbClr val="FFFFFF"/>
                </a:solidFill>
                <a:latin typeface="Helvetica Neue"/>
              </a:rPr>
              <a:t>2</a:t>
            </a:r>
          </a:p>
        </p:txBody>
      </p:sp>
      <p:sp>
        <p:nvSpPr>
          <p:cNvPr id="9" name="Rounded Rectangle 8"/>
          <p:cNvSpPr/>
          <p:nvPr/>
        </p:nvSpPr>
        <p:spPr>
          <a:xfrm>
            <a:off x="9034272" y="448056"/>
            <a:ext cx="310896" cy="310896"/>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79407" y="475488"/>
            <a:ext cx="420624" cy="256032"/>
          </a:xfrm>
          <a:prstGeom prst="rect">
            <a:avLst/>
          </a:prstGeom>
          <a:noFill/>
        </p:spPr>
        <p:txBody>
          <a:bodyPr wrap="square">
            <a:spAutoFit/>
          </a:bodyPr>
          <a:lstStyle/>
          <a:p>
            <a:pPr algn="ctr"/>
            <a:r>
              <a:rPr sz="1250" b="1" i="0">
                <a:solidFill>
                  <a:srgbClr val="FFFFFF"/>
                </a:solidFill>
                <a:latin typeface="Helvetica Neue"/>
              </a:rPr>
              <a:t>3</a:t>
            </a:r>
          </a:p>
        </p:txBody>
      </p:sp>
      <p:sp>
        <p:nvSpPr>
          <p:cNvPr id="11" name="Rounded Rectangle 10"/>
          <p:cNvSpPr/>
          <p:nvPr/>
        </p:nvSpPr>
        <p:spPr>
          <a:xfrm>
            <a:off x="9642348"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87484" y="475488"/>
            <a:ext cx="356616" cy="256032"/>
          </a:xfrm>
          <a:prstGeom prst="rect">
            <a:avLst/>
          </a:prstGeom>
          <a:noFill/>
        </p:spPr>
        <p:txBody>
          <a:bodyPr wrap="square">
            <a:spAutoFit/>
          </a:bodyPr>
          <a:lstStyle/>
          <a:p>
            <a:pPr algn="ctr"/>
            <a:r>
              <a:rPr sz="1000" b="1" i="0">
                <a:solidFill>
                  <a:srgbClr val="AEB4BF"/>
                </a:solidFill>
                <a:latin typeface="Helvetica Neue"/>
              </a:rPr>
              <a:t>4</a:t>
            </a:r>
          </a:p>
        </p:txBody>
      </p:sp>
      <p:sp>
        <p:nvSpPr>
          <p:cNvPr id="13" name="Rounded Rectangle 12"/>
          <p:cNvSpPr/>
          <p:nvPr/>
        </p:nvSpPr>
        <p:spPr>
          <a:xfrm>
            <a:off x="10218419"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3555" y="475488"/>
            <a:ext cx="356616" cy="256032"/>
          </a:xfrm>
          <a:prstGeom prst="rect">
            <a:avLst/>
          </a:prstGeom>
          <a:noFill/>
        </p:spPr>
        <p:txBody>
          <a:bodyPr wrap="square">
            <a:spAutoFit/>
          </a:bodyPr>
          <a:lstStyle/>
          <a:p>
            <a:pPr algn="ctr"/>
            <a:r>
              <a:rPr sz="1000" b="1" i="0">
                <a:solidFill>
                  <a:srgbClr val="AEB4BF"/>
                </a:solidFill>
                <a:latin typeface="Helvetica Neue"/>
              </a:rPr>
              <a:t>5</a:t>
            </a:r>
          </a:p>
        </p:txBody>
      </p:sp>
      <p:sp>
        <p:nvSpPr>
          <p:cNvPr id="15" name="Rounded Rectangle 14"/>
          <p:cNvSpPr/>
          <p:nvPr/>
        </p:nvSpPr>
        <p:spPr>
          <a:xfrm>
            <a:off x="10794492"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39628" y="475488"/>
            <a:ext cx="356616" cy="256032"/>
          </a:xfrm>
          <a:prstGeom prst="rect">
            <a:avLst/>
          </a:prstGeom>
          <a:noFill/>
        </p:spPr>
        <p:txBody>
          <a:bodyPr wrap="square">
            <a:spAutoFit/>
          </a:bodyPr>
          <a:lstStyle/>
          <a:p>
            <a:pPr algn="ctr"/>
            <a:r>
              <a:rPr sz="1000" b="1" i="0">
                <a:solidFill>
                  <a:srgbClr val="AEB4BF"/>
                </a:solidFill>
                <a:latin typeface="Helvetica Neue"/>
              </a:rPr>
              <a:t>6</a:t>
            </a:r>
          </a:p>
        </p:txBody>
      </p:sp>
      <p:sp>
        <p:nvSpPr>
          <p:cNvPr id="17" name="TextBox 16"/>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18" name="Picture 17" descr="hy_ffn.png"/>
          <p:cNvPicPr>
            <a:picLocks noChangeAspect="1"/>
          </p:cNvPicPr>
          <p:nvPr/>
        </p:nvPicPr>
        <p:blipFill>
          <a:blip r:embed="rId2"/>
          <a:stretch>
            <a:fillRect/>
          </a:stretch>
        </p:blipFill>
        <p:spPr>
          <a:xfrm>
            <a:off x="518007" y="1783080"/>
            <a:ext cx="11155680" cy="422654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4F46E5"/>
                </a:solidFill>
                <a:latin typeface="Helvetica Neue"/>
              </a:rPr>
              <a:t>THE TRANSFORMER BLOCK</a:t>
            </a:r>
          </a:p>
        </p:txBody>
      </p:sp>
      <p:sp>
        <p:nvSpPr>
          <p:cNvPr id="3" name="TextBox 2"/>
          <p:cNvSpPr txBox="1"/>
          <p:nvPr/>
        </p:nvSpPr>
        <p:spPr>
          <a:xfrm>
            <a:off x="640080" y="758952"/>
            <a:ext cx="7040880" cy="685800"/>
          </a:xfrm>
          <a:prstGeom prst="rect">
            <a:avLst/>
          </a:prstGeom>
          <a:noFill/>
        </p:spPr>
        <p:txBody>
          <a:bodyPr wrap="square">
            <a:spAutoFit/>
          </a:bodyPr>
          <a:lstStyle/>
          <a:p>
            <a:pPr algn="l"/>
            <a:r>
              <a:rPr sz="2900" b="1" i="0">
                <a:solidFill>
                  <a:srgbClr val="0F172A"/>
                </a:solidFill>
                <a:latin typeface="Helvetica Neue"/>
              </a:rPr>
              <a:t>Attention + feed-forward = one block.</a:t>
            </a:r>
          </a:p>
        </p:txBody>
      </p:sp>
      <p:sp>
        <p:nvSpPr>
          <p:cNvPr id="4" name="Rounded Rectangle 3"/>
          <p:cNvSpPr/>
          <p:nvPr/>
        </p:nvSpPr>
        <p:spPr>
          <a:xfrm>
            <a:off x="8037575" y="591616"/>
            <a:ext cx="2880360"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914131" y="480060"/>
            <a:ext cx="246888" cy="246888"/>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59267" y="475488"/>
            <a:ext cx="356616" cy="256032"/>
          </a:xfrm>
          <a:prstGeom prst="rect">
            <a:avLst/>
          </a:prstGeom>
          <a:noFill/>
        </p:spPr>
        <p:txBody>
          <a:bodyPr wrap="square">
            <a:spAutoFit/>
          </a:bodyPr>
          <a:lstStyle/>
          <a:p>
            <a:pPr algn="ctr"/>
            <a:r>
              <a:rPr sz="1000" b="1" i="0">
                <a:solidFill>
                  <a:srgbClr val="FFFFFF"/>
                </a:solidFill>
                <a:latin typeface="Helvetica Neue"/>
              </a:rPr>
              <a:t>1</a:t>
            </a:r>
          </a:p>
        </p:txBody>
      </p:sp>
      <p:sp>
        <p:nvSpPr>
          <p:cNvPr id="7" name="Rounded Rectangle 6"/>
          <p:cNvSpPr/>
          <p:nvPr/>
        </p:nvSpPr>
        <p:spPr>
          <a:xfrm>
            <a:off x="8490204" y="480060"/>
            <a:ext cx="246888" cy="246888"/>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5340" y="475488"/>
            <a:ext cx="356616" cy="256032"/>
          </a:xfrm>
          <a:prstGeom prst="rect">
            <a:avLst/>
          </a:prstGeom>
          <a:noFill/>
        </p:spPr>
        <p:txBody>
          <a:bodyPr wrap="square">
            <a:spAutoFit/>
          </a:bodyPr>
          <a:lstStyle/>
          <a:p>
            <a:pPr algn="ctr"/>
            <a:r>
              <a:rPr sz="1000" b="1" i="0">
                <a:solidFill>
                  <a:srgbClr val="FFFFFF"/>
                </a:solidFill>
                <a:latin typeface="Helvetica Neue"/>
              </a:rPr>
              <a:t>2</a:t>
            </a:r>
          </a:p>
        </p:txBody>
      </p:sp>
      <p:sp>
        <p:nvSpPr>
          <p:cNvPr id="9" name="Rounded Rectangle 8"/>
          <p:cNvSpPr/>
          <p:nvPr/>
        </p:nvSpPr>
        <p:spPr>
          <a:xfrm>
            <a:off x="9066276" y="480060"/>
            <a:ext cx="246888" cy="246888"/>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11411" y="475488"/>
            <a:ext cx="356616" cy="256032"/>
          </a:xfrm>
          <a:prstGeom prst="rect">
            <a:avLst/>
          </a:prstGeom>
          <a:noFill/>
        </p:spPr>
        <p:txBody>
          <a:bodyPr wrap="square">
            <a:spAutoFit/>
          </a:bodyPr>
          <a:lstStyle/>
          <a:p>
            <a:pPr algn="ctr"/>
            <a:r>
              <a:rPr sz="1000" b="1" i="0">
                <a:solidFill>
                  <a:srgbClr val="FFFFFF"/>
                </a:solidFill>
                <a:latin typeface="Helvetica Neue"/>
              </a:rPr>
              <a:t>3</a:t>
            </a:r>
          </a:p>
        </p:txBody>
      </p:sp>
      <p:sp>
        <p:nvSpPr>
          <p:cNvPr id="11" name="Rounded Rectangle 10"/>
          <p:cNvSpPr/>
          <p:nvPr/>
        </p:nvSpPr>
        <p:spPr>
          <a:xfrm>
            <a:off x="9610344" y="448056"/>
            <a:ext cx="310896" cy="310896"/>
          </a:xfrm>
          <a:prstGeom prst="roundRect">
            <a:avLst>
              <a:gd name="adj" fmla="val 32000"/>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55480" y="475488"/>
            <a:ext cx="420624" cy="256032"/>
          </a:xfrm>
          <a:prstGeom prst="rect">
            <a:avLst/>
          </a:prstGeom>
          <a:noFill/>
        </p:spPr>
        <p:txBody>
          <a:bodyPr wrap="square">
            <a:spAutoFit/>
          </a:bodyPr>
          <a:lstStyle/>
          <a:p>
            <a:pPr algn="ctr"/>
            <a:r>
              <a:rPr sz="1250" b="1" i="0">
                <a:solidFill>
                  <a:srgbClr val="FFFFFF"/>
                </a:solidFill>
                <a:latin typeface="Helvetica Neue"/>
              </a:rPr>
              <a:t>4</a:t>
            </a:r>
          </a:p>
        </p:txBody>
      </p:sp>
      <p:sp>
        <p:nvSpPr>
          <p:cNvPr id="13" name="Rounded Rectangle 12"/>
          <p:cNvSpPr/>
          <p:nvPr/>
        </p:nvSpPr>
        <p:spPr>
          <a:xfrm>
            <a:off x="10218419"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3555" y="475488"/>
            <a:ext cx="356616" cy="256032"/>
          </a:xfrm>
          <a:prstGeom prst="rect">
            <a:avLst/>
          </a:prstGeom>
          <a:noFill/>
        </p:spPr>
        <p:txBody>
          <a:bodyPr wrap="square">
            <a:spAutoFit/>
          </a:bodyPr>
          <a:lstStyle/>
          <a:p>
            <a:pPr algn="ctr"/>
            <a:r>
              <a:rPr sz="1000" b="1" i="0">
                <a:solidFill>
                  <a:srgbClr val="AEB4BF"/>
                </a:solidFill>
                <a:latin typeface="Helvetica Neue"/>
              </a:rPr>
              <a:t>5</a:t>
            </a:r>
          </a:p>
        </p:txBody>
      </p:sp>
      <p:sp>
        <p:nvSpPr>
          <p:cNvPr id="15" name="Rounded Rectangle 14"/>
          <p:cNvSpPr/>
          <p:nvPr/>
        </p:nvSpPr>
        <p:spPr>
          <a:xfrm>
            <a:off x="10794492"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39628" y="475488"/>
            <a:ext cx="356616" cy="256032"/>
          </a:xfrm>
          <a:prstGeom prst="rect">
            <a:avLst/>
          </a:prstGeom>
          <a:noFill/>
        </p:spPr>
        <p:txBody>
          <a:bodyPr wrap="square">
            <a:spAutoFit/>
          </a:bodyPr>
          <a:lstStyle/>
          <a:p>
            <a:pPr algn="ctr"/>
            <a:r>
              <a:rPr sz="1000" b="1" i="0">
                <a:solidFill>
                  <a:srgbClr val="AEB4BF"/>
                </a:solidFill>
                <a:latin typeface="Helvetica Neue"/>
              </a:rPr>
              <a:t>6</a:t>
            </a:r>
          </a:p>
        </p:txBody>
      </p:sp>
      <p:sp>
        <p:nvSpPr>
          <p:cNvPr id="17" name="TextBox 16"/>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18" name="Picture 17" descr="hy_block.png"/>
          <p:cNvPicPr>
            <a:picLocks noChangeAspect="1"/>
          </p:cNvPicPr>
          <p:nvPr/>
        </p:nvPicPr>
        <p:blipFill>
          <a:blip r:embed="rId2"/>
          <a:stretch>
            <a:fillRect/>
          </a:stretch>
        </p:blipFill>
        <p:spPr>
          <a:xfrm>
            <a:off x="518007" y="1783080"/>
            <a:ext cx="11155680" cy="423575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059669"/>
                </a:solidFill>
                <a:latin typeface="Helvetica Neue"/>
              </a:rPr>
              <a:t>THE FORWARD PASS</a:t>
            </a:r>
          </a:p>
        </p:txBody>
      </p:sp>
      <p:sp>
        <p:nvSpPr>
          <p:cNvPr id="3" name="TextBox 2"/>
          <p:cNvSpPr txBox="1"/>
          <p:nvPr/>
        </p:nvSpPr>
        <p:spPr>
          <a:xfrm>
            <a:off x="640080" y="758952"/>
            <a:ext cx="7040880" cy="685800"/>
          </a:xfrm>
          <a:prstGeom prst="rect">
            <a:avLst/>
          </a:prstGeom>
          <a:noFill/>
        </p:spPr>
        <p:txBody>
          <a:bodyPr wrap="square">
            <a:spAutoFit/>
          </a:bodyPr>
          <a:lstStyle/>
          <a:p>
            <a:pPr algn="l"/>
            <a:r>
              <a:rPr sz="2900" b="1" i="0">
                <a:solidFill>
                  <a:srgbClr val="0F172A"/>
                </a:solidFill>
                <a:latin typeface="Helvetica Neue"/>
              </a:rPr>
              <a:t>Stack the blocks and read out a token.</a:t>
            </a:r>
          </a:p>
        </p:txBody>
      </p:sp>
      <p:sp>
        <p:nvSpPr>
          <p:cNvPr id="4" name="Rounded Rectangle 3"/>
          <p:cNvSpPr/>
          <p:nvPr/>
        </p:nvSpPr>
        <p:spPr>
          <a:xfrm>
            <a:off x="8037575" y="591616"/>
            <a:ext cx="2880360"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914131" y="480060"/>
            <a:ext cx="246888" cy="246888"/>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59267" y="475488"/>
            <a:ext cx="356616" cy="256032"/>
          </a:xfrm>
          <a:prstGeom prst="rect">
            <a:avLst/>
          </a:prstGeom>
          <a:noFill/>
        </p:spPr>
        <p:txBody>
          <a:bodyPr wrap="square">
            <a:spAutoFit/>
          </a:bodyPr>
          <a:lstStyle/>
          <a:p>
            <a:pPr algn="ctr"/>
            <a:r>
              <a:rPr sz="1000" b="1" i="0">
                <a:solidFill>
                  <a:srgbClr val="FFFFFF"/>
                </a:solidFill>
                <a:latin typeface="Helvetica Neue"/>
              </a:rPr>
              <a:t>1</a:t>
            </a:r>
          </a:p>
        </p:txBody>
      </p:sp>
      <p:sp>
        <p:nvSpPr>
          <p:cNvPr id="7" name="Rounded Rectangle 6"/>
          <p:cNvSpPr/>
          <p:nvPr/>
        </p:nvSpPr>
        <p:spPr>
          <a:xfrm>
            <a:off x="8490204" y="480060"/>
            <a:ext cx="246888" cy="246888"/>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5340" y="475488"/>
            <a:ext cx="356616" cy="256032"/>
          </a:xfrm>
          <a:prstGeom prst="rect">
            <a:avLst/>
          </a:prstGeom>
          <a:noFill/>
        </p:spPr>
        <p:txBody>
          <a:bodyPr wrap="square">
            <a:spAutoFit/>
          </a:bodyPr>
          <a:lstStyle/>
          <a:p>
            <a:pPr algn="ctr"/>
            <a:r>
              <a:rPr sz="1000" b="1" i="0">
                <a:solidFill>
                  <a:srgbClr val="FFFFFF"/>
                </a:solidFill>
                <a:latin typeface="Helvetica Neue"/>
              </a:rPr>
              <a:t>2</a:t>
            </a:r>
          </a:p>
        </p:txBody>
      </p:sp>
      <p:sp>
        <p:nvSpPr>
          <p:cNvPr id="9" name="Rounded Rectangle 8"/>
          <p:cNvSpPr/>
          <p:nvPr/>
        </p:nvSpPr>
        <p:spPr>
          <a:xfrm>
            <a:off x="9066276" y="480060"/>
            <a:ext cx="246888" cy="246888"/>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11411" y="475488"/>
            <a:ext cx="356616" cy="256032"/>
          </a:xfrm>
          <a:prstGeom prst="rect">
            <a:avLst/>
          </a:prstGeom>
          <a:noFill/>
        </p:spPr>
        <p:txBody>
          <a:bodyPr wrap="square">
            <a:spAutoFit/>
          </a:bodyPr>
          <a:lstStyle/>
          <a:p>
            <a:pPr algn="ctr"/>
            <a:r>
              <a:rPr sz="1000" b="1" i="0">
                <a:solidFill>
                  <a:srgbClr val="FFFFFF"/>
                </a:solidFill>
                <a:latin typeface="Helvetica Neue"/>
              </a:rPr>
              <a:t>3</a:t>
            </a:r>
          </a:p>
        </p:txBody>
      </p:sp>
      <p:sp>
        <p:nvSpPr>
          <p:cNvPr id="11" name="Rounded Rectangle 10"/>
          <p:cNvSpPr/>
          <p:nvPr/>
        </p:nvSpPr>
        <p:spPr>
          <a:xfrm>
            <a:off x="9642348" y="480060"/>
            <a:ext cx="246888" cy="246888"/>
          </a:xfrm>
          <a:prstGeom prst="roundRect">
            <a:avLst>
              <a:gd name="adj" fmla="val 32000"/>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87484" y="475488"/>
            <a:ext cx="356616" cy="256032"/>
          </a:xfrm>
          <a:prstGeom prst="rect">
            <a:avLst/>
          </a:prstGeom>
          <a:noFill/>
        </p:spPr>
        <p:txBody>
          <a:bodyPr wrap="square">
            <a:spAutoFit/>
          </a:bodyPr>
          <a:lstStyle/>
          <a:p>
            <a:pPr algn="ctr"/>
            <a:r>
              <a:rPr sz="1000" b="1" i="0">
                <a:solidFill>
                  <a:srgbClr val="FFFFFF"/>
                </a:solidFill>
                <a:latin typeface="Helvetica Neue"/>
              </a:rPr>
              <a:t>4</a:t>
            </a:r>
          </a:p>
        </p:txBody>
      </p:sp>
      <p:sp>
        <p:nvSpPr>
          <p:cNvPr id="13" name="Rounded Rectangle 12"/>
          <p:cNvSpPr/>
          <p:nvPr/>
        </p:nvSpPr>
        <p:spPr>
          <a:xfrm>
            <a:off x="10186415" y="448056"/>
            <a:ext cx="310896" cy="310896"/>
          </a:xfrm>
          <a:prstGeom prst="roundRect">
            <a:avLst>
              <a:gd name="adj" fmla="val 3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31551" y="475488"/>
            <a:ext cx="420624" cy="256032"/>
          </a:xfrm>
          <a:prstGeom prst="rect">
            <a:avLst/>
          </a:prstGeom>
          <a:noFill/>
        </p:spPr>
        <p:txBody>
          <a:bodyPr wrap="square">
            <a:spAutoFit/>
          </a:bodyPr>
          <a:lstStyle/>
          <a:p>
            <a:pPr algn="ctr"/>
            <a:r>
              <a:rPr sz="1250" b="1" i="0">
                <a:solidFill>
                  <a:srgbClr val="FFFFFF"/>
                </a:solidFill>
                <a:latin typeface="Helvetica Neue"/>
              </a:rPr>
              <a:t>5</a:t>
            </a:r>
          </a:p>
        </p:txBody>
      </p:sp>
      <p:sp>
        <p:nvSpPr>
          <p:cNvPr id="15" name="Rounded Rectangle 14"/>
          <p:cNvSpPr/>
          <p:nvPr/>
        </p:nvSpPr>
        <p:spPr>
          <a:xfrm>
            <a:off x="10794492" y="480060"/>
            <a:ext cx="246888" cy="246888"/>
          </a:xfrm>
          <a:prstGeom prst="roundRect">
            <a:avLst>
              <a:gd name="adj" fmla="val 32000"/>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39628" y="475488"/>
            <a:ext cx="356616" cy="256032"/>
          </a:xfrm>
          <a:prstGeom prst="rect">
            <a:avLst/>
          </a:prstGeom>
          <a:noFill/>
        </p:spPr>
        <p:txBody>
          <a:bodyPr wrap="square">
            <a:spAutoFit/>
          </a:bodyPr>
          <a:lstStyle/>
          <a:p>
            <a:pPr algn="ctr"/>
            <a:r>
              <a:rPr sz="1000" b="1" i="0">
                <a:solidFill>
                  <a:srgbClr val="AEB4BF"/>
                </a:solidFill>
                <a:latin typeface="Helvetica Neue"/>
              </a:rPr>
              <a:t>6</a:t>
            </a:r>
          </a:p>
        </p:txBody>
      </p:sp>
      <p:sp>
        <p:nvSpPr>
          <p:cNvPr id="17" name="TextBox 16"/>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18" name="Picture 17" descr="hy_forward.png"/>
          <p:cNvPicPr>
            <a:picLocks noChangeAspect="1"/>
          </p:cNvPicPr>
          <p:nvPr/>
        </p:nvPicPr>
        <p:blipFill>
          <a:blip r:embed="rId2"/>
          <a:stretch>
            <a:fillRect/>
          </a:stretch>
        </p:blipFill>
        <p:spPr>
          <a:xfrm>
            <a:off x="810563" y="1783080"/>
            <a:ext cx="10570568" cy="4572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E11D48"/>
                </a:solidFill>
                <a:latin typeface="Helvetica Neue"/>
              </a:rPr>
              <a:t>AUTOREGRESSIVE GENERATION</a:t>
            </a:r>
          </a:p>
        </p:txBody>
      </p:sp>
      <p:sp>
        <p:nvSpPr>
          <p:cNvPr id="3" name="TextBox 2"/>
          <p:cNvSpPr txBox="1"/>
          <p:nvPr/>
        </p:nvSpPr>
        <p:spPr>
          <a:xfrm>
            <a:off x="640080" y="758952"/>
            <a:ext cx="7040880" cy="685800"/>
          </a:xfrm>
          <a:prstGeom prst="rect">
            <a:avLst/>
          </a:prstGeom>
          <a:noFill/>
        </p:spPr>
        <p:txBody>
          <a:bodyPr wrap="square">
            <a:spAutoFit/>
          </a:bodyPr>
          <a:lstStyle/>
          <a:p>
            <a:pPr algn="l"/>
            <a:r>
              <a:rPr sz="2900" b="1" i="0">
                <a:solidFill>
                  <a:srgbClr val="0F172A"/>
                </a:solidFill>
                <a:latin typeface="Helvetica Neue"/>
              </a:rPr>
              <a:t>Loop it to write the whole reply.</a:t>
            </a:r>
          </a:p>
        </p:txBody>
      </p:sp>
      <p:sp>
        <p:nvSpPr>
          <p:cNvPr id="4" name="Rounded Rectangle 3"/>
          <p:cNvSpPr/>
          <p:nvPr/>
        </p:nvSpPr>
        <p:spPr>
          <a:xfrm>
            <a:off x="8037575" y="591616"/>
            <a:ext cx="2880360"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914131" y="480060"/>
            <a:ext cx="246888" cy="246888"/>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59267" y="475488"/>
            <a:ext cx="356616" cy="256032"/>
          </a:xfrm>
          <a:prstGeom prst="rect">
            <a:avLst/>
          </a:prstGeom>
          <a:noFill/>
        </p:spPr>
        <p:txBody>
          <a:bodyPr wrap="square">
            <a:spAutoFit/>
          </a:bodyPr>
          <a:lstStyle/>
          <a:p>
            <a:pPr algn="ctr"/>
            <a:r>
              <a:rPr sz="1000" b="1" i="0">
                <a:solidFill>
                  <a:srgbClr val="FFFFFF"/>
                </a:solidFill>
                <a:latin typeface="Helvetica Neue"/>
              </a:rPr>
              <a:t>1</a:t>
            </a:r>
          </a:p>
        </p:txBody>
      </p:sp>
      <p:sp>
        <p:nvSpPr>
          <p:cNvPr id="7" name="Rounded Rectangle 6"/>
          <p:cNvSpPr/>
          <p:nvPr/>
        </p:nvSpPr>
        <p:spPr>
          <a:xfrm>
            <a:off x="8490204" y="480060"/>
            <a:ext cx="246888" cy="246888"/>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5340" y="475488"/>
            <a:ext cx="356616" cy="256032"/>
          </a:xfrm>
          <a:prstGeom prst="rect">
            <a:avLst/>
          </a:prstGeom>
          <a:noFill/>
        </p:spPr>
        <p:txBody>
          <a:bodyPr wrap="square">
            <a:spAutoFit/>
          </a:bodyPr>
          <a:lstStyle/>
          <a:p>
            <a:pPr algn="ctr"/>
            <a:r>
              <a:rPr sz="1000" b="1" i="0">
                <a:solidFill>
                  <a:srgbClr val="FFFFFF"/>
                </a:solidFill>
                <a:latin typeface="Helvetica Neue"/>
              </a:rPr>
              <a:t>2</a:t>
            </a:r>
          </a:p>
        </p:txBody>
      </p:sp>
      <p:sp>
        <p:nvSpPr>
          <p:cNvPr id="9" name="Rounded Rectangle 8"/>
          <p:cNvSpPr/>
          <p:nvPr/>
        </p:nvSpPr>
        <p:spPr>
          <a:xfrm>
            <a:off x="9066276" y="480060"/>
            <a:ext cx="246888" cy="246888"/>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11411" y="475488"/>
            <a:ext cx="356616" cy="256032"/>
          </a:xfrm>
          <a:prstGeom prst="rect">
            <a:avLst/>
          </a:prstGeom>
          <a:noFill/>
        </p:spPr>
        <p:txBody>
          <a:bodyPr wrap="square">
            <a:spAutoFit/>
          </a:bodyPr>
          <a:lstStyle/>
          <a:p>
            <a:pPr algn="ctr"/>
            <a:r>
              <a:rPr sz="1000" b="1" i="0">
                <a:solidFill>
                  <a:srgbClr val="FFFFFF"/>
                </a:solidFill>
                <a:latin typeface="Helvetica Neue"/>
              </a:rPr>
              <a:t>3</a:t>
            </a:r>
          </a:p>
        </p:txBody>
      </p:sp>
      <p:sp>
        <p:nvSpPr>
          <p:cNvPr id="11" name="Rounded Rectangle 10"/>
          <p:cNvSpPr/>
          <p:nvPr/>
        </p:nvSpPr>
        <p:spPr>
          <a:xfrm>
            <a:off x="9642348" y="480060"/>
            <a:ext cx="246888" cy="246888"/>
          </a:xfrm>
          <a:prstGeom prst="roundRect">
            <a:avLst>
              <a:gd name="adj" fmla="val 32000"/>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87484" y="475488"/>
            <a:ext cx="356616" cy="256032"/>
          </a:xfrm>
          <a:prstGeom prst="rect">
            <a:avLst/>
          </a:prstGeom>
          <a:noFill/>
        </p:spPr>
        <p:txBody>
          <a:bodyPr wrap="square">
            <a:spAutoFit/>
          </a:bodyPr>
          <a:lstStyle/>
          <a:p>
            <a:pPr algn="ctr"/>
            <a:r>
              <a:rPr sz="1000" b="1" i="0">
                <a:solidFill>
                  <a:srgbClr val="FFFFFF"/>
                </a:solidFill>
                <a:latin typeface="Helvetica Neue"/>
              </a:rPr>
              <a:t>4</a:t>
            </a:r>
          </a:p>
        </p:txBody>
      </p:sp>
      <p:sp>
        <p:nvSpPr>
          <p:cNvPr id="13" name="Rounded Rectangle 12"/>
          <p:cNvSpPr/>
          <p:nvPr/>
        </p:nvSpPr>
        <p:spPr>
          <a:xfrm>
            <a:off x="10218419" y="480060"/>
            <a:ext cx="246888" cy="246888"/>
          </a:xfrm>
          <a:prstGeom prst="roundRect">
            <a:avLst>
              <a:gd name="adj" fmla="val 3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3555" y="475488"/>
            <a:ext cx="356616" cy="256032"/>
          </a:xfrm>
          <a:prstGeom prst="rect">
            <a:avLst/>
          </a:prstGeom>
          <a:noFill/>
        </p:spPr>
        <p:txBody>
          <a:bodyPr wrap="square">
            <a:spAutoFit/>
          </a:bodyPr>
          <a:lstStyle/>
          <a:p>
            <a:pPr algn="ctr"/>
            <a:r>
              <a:rPr sz="1000" b="1" i="0">
                <a:solidFill>
                  <a:srgbClr val="FFFFFF"/>
                </a:solidFill>
                <a:latin typeface="Helvetica Neue"/>
              </a:rPr>
              <a:t>5</a:t>
            </a:r>
          </a:p>
        </p:txBody>
      </p:sp>
      <p:sp>
        <p:nvSpPr>
          <p:cNvPr id="15" name="Rounded Rectangle 14"/>
          <p:cNvSpPr/>
          <p:nvPr/>
        </p:nvSpPr>
        <p:spPr>
          <a:xfrm>
            <a:off x="10762488" y="448056"/>
            <a:ext cx="310896" cy="310896"/>
          </a:xfrm>
          <a:prstGeom prst="roundRect">
            <a:avLst>
              <a:gd name="adj" fmla="val 32000"/>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07624" y="475488"/>
            <a:ext cx="420624" cy="256032"/>
          </a:xfrm>
          <a:prstGeom prst="rect">
            <a:avLst/>
          </a:prstGeom>
          <a:noFill/>
        </p:spPr>
        <p:txBody>
          <a:bodyPr wrap="square">
            <a:spAutoFit/>
          </a:bodyPr>
          <a:lstStyle/>
          <a:p>
            <a:pPr algn="ctr"/>
            <a:r>
              <a:rPr sz="1250" b="1" i="0">
                <a:solidFill>
                  <a:srgbClr val="FFFFFF"/>
                </a:solidFill>
                <a:latin typeface="Helvetica Neue"/>
              </a:rPr>
              <a:t>6</a:t>
            </a:r>
          </a:p>
        </p:txBody>
      </p:sp>
      <p:sp>
        <p:nvSpPr>
          <p:cNvPr id="17" name="TextBox 16"/>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18" name="Picture 17" descr="hy_auto.png"/>
          <p:cNvPicPr>
            <a:picLocks noChangeAspect="1"/>
          </p:cNvPicPr>
          <p:nvPr/>
        </p:nvPicPr>
        <p:blipFill>
          <a:blip r:embed="rId2"/>
          <a:stretch>
            <a:fillRect/>
          </a:stretch>
        </p:blipFill>
        <p:spPr>
          <a:xfrm>
            <a:off x="904677" y="1783080"/>
            <a:ext cx="10382339" cy="4572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4F46E5"/>
                </a:solidFill>
                <a:latin typeface="Helvetica Neue"/>
              </a:rPr>
              <a:t>FULL CIRCLE</a:t>
            </a:r>
          </a:p>
        </p:txBody>
      </p:sp>
      <p:sp>
        <p:nvSpPr>
          <p:cNvPr id="3" name="TextBox 2"/>
          <p:cNvSpPr txBox="1"/>
          <p:nvPr/>
        </p:nvSpPr>
        <p:spPr>
          <a:xfrm>
            <a:off x="640080" y="758952"/>
            <a:ext cx="7040880" cy="685800"/>
          </a:xfrm>
          <a:prstGeom prst="rect">
            <a:avLst/>
          </a:prstGeom>
          <a:noFill/>
        </p:spPr>
        <p:txBody>
          <a:bodyPr wrap="square">
            <a:spAutoFit/>
          </a:bodyPr>
          <a:lstStyle/>
          <a:p>
            <a:pPr algn="l"/>
            <a:r>
              <a:rPr sz="2900" b="1" i="0">
                <a:solidFill>
                  <a:srgbClr val="0F172A"/>
                </a:solidFill>
                <a:latin typeface="Helvetica Neue"/>
              </a:rPr>
              <a:t>This is the reply, and now you can name every step behind it.</a:t>
            </a:r>
          </a:p>
        </p:txBody>
      </p:sp>
      <p:sp>
        <p:nvSpPr>
          <p:cNvPr id="4" name="Rounded Rectangle 3"/>
          <p:cNvSpPr/>
          <p:nvPr/>
        </p:nvSpPr>
        <p:spPr>
          <a:xfrm>
            <a:off x="8037575" y="591616"/>
            <a:ext cx="2880360" cy="23774"/>
          </a:xfrm>
          <a:prstGeom prst="roundRect">
            <a:avLst/>
          </a:prstGeom>
          <a:solidFill>
            <a:srgbClr val="E9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914131" y="480060"/>
            <a:ext cx="246888" cy="246888"/>
          </a:xfrm>
          <a:prstGeom prst="roundRect">
            <a:avLst>
              <a:gd name="adj" fmla="val 3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59267" y="475488"/>
            <a:ext cx="356616" cy="256032"/>
          </a:xfrm>
          <a:prstGeom prst="rect">
            <a:avLst/>
          </a:prstGeom>
          <a:noFill/>
        </p:spPr>
        <p:txBody>
          <a:bodyPr wrap="square">
            <a:spAutoFit/>
          </a:bodyPr>
          <a:lstStyle/>
          <a:p>
            <a:pPr algn="ctr"/>
            <a:r>
              <a:rPr sz="1000" b="1" i="0">
                <a:solidFill>
                  <a:srgbClr val="FFFFFF"/>
                </a:solidFill>
                <a:latin typeface="Helvetica Neue"/>
              </a:rPr>
              <a:t>1</a:t>
            </a:r>
          </a:p>
        </p:txBody>
      </p:sp>
      <p:sp>
        <p:nvSpPr>
          <p:cNvPr id="7" name="Rounded Rectangle 6"/>
          <p:cNvSpPr/>
          <p:nvPr/>
        </p:nvSpPr>
        <p:spPr>
          <a:xfrm>
            <a:off x="8490204" y="480060"/>
            <a:ext cx="246888" cy="246888"/>
          </a:xfrm>
          <a:prstGeom prst="roundRect">
            <a:avLst>
              <a:gd name="adj" fmla="val 3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5340" y="475488"/>
            <a:ext cx="356616" cy="256032"/>
          </a:xfrm>
          <a:prstGeom prst="rect">
            <a:avLst/>
          </a:prstGeom>
          <a:noFill/>
        </p:spPr>
        <p:txBody>
          <a:bodyPr wrap="square">
            <a:spAutoFit/>
          </a:bodyPr>
          <a:lstStyle/>
          <a:p>
            <a:pPr algn="ctr"/>
            <a:r>
              <a:rPr sz="1000" b="1" i="0">
                <a:solidFill>
                  <a:srgbClr val="FFFFFF"/>
                </a:solidFill>
                <a:latin typeface="Helvetica Neue"/>
              </a:rPr>
              <a:t>2</a:t>
            </a:r>
          </a:p>
        </p:txBody>
      </p:sp>
      <p:sp>
        <p:nvSpPr>
          <p:cNvPr id="9" name="Rounded Rectangle 8"/>
          <p:cNvSpPr/>
          <p:nvPr/>
        </p:nvSpPr>
        <p:spPr>
          <a:xfrm>
            <a:off x="9066276" y="480060"/>
            <a:ext cx="246888" cy="246888"/>
          </a:xfrm>
          <a:prstGeom prst="roundRect">
            <a:avLst>
              <a:gd name="adj" fmla="val 32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11411" y="475488"/>
            <a:ext cx="356616" cy="256032"/>
          </a:xfrm>
          <a:prstGeom prst="rect">
            <a:avLst/>
          </a:prstGeom>
          <a:noFill/>
        </p:spPr>
        <p:txBody>
          <a:bodyPr wrap="square">
            <a:spAutoFit/>
          </a:bodyPr>
          <a:lstStyle/>
          <a:p>
            <a:pPr algn="ctr"/>
            <a:r>
              <a:rPr sz="1000" b="1" i="0">
                <a:solidFill>
                  <a:srgbClr val="FFFFFF"/>
                </a:solidFill>
                <a:latin typeface="Helvetica Neue"/>
              </a:rPr>
              <a:t>3</a:t>
            </a:r>
          </a:p>
        </p:txBody>
      </p:sp>
      <p:sp>
        <p:nvSpPr>
          <p:cNvPr id="11" name="Rounded Rectangle 10"/>
          <p:cNvSpPr/>
          <p:nvPr/>
        </p:nvSpPr>
        <p:spPr>
          <a:xfrm>
            <a:off x="9642348" y="480060"/>
            <a:ext cx="246888" cy="246888"/>
          </a:xfrm>
          <a:prstGeom prst="roundRect">
            <a:avLst>
              <a:gd name="adj" fmla="val 32000"/>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87484" y="475488"/>
            <a:ext cx="356616" cy="256032"/>
          </a:xfrm>
          <a:prstGeom prst="rect">
            <a:avLst/>
          </a:prstGeom>
          <a:noFill/>
        </p:spPr>
        <p:txBody>
          <a:bodyPr wrap="square">
            <a:spAutoFit/>
          </a:bodyPr>
          <a:lstStyle/>
          <a:p>
            <a:pPr algn="ctr"/>
            <a:r>
              <a:rPr sz="1000" b="1" i="0">
                <a:solidFill>
                  <a:srgbClr val="FFFFFF"/>
                </a:solidFill>
                <a:latin typeface="Helvetica Neue"/>
              </a:rPr>
              <a:t>4</a:t>
            </a:r>
          </a:p>
        </p:txBody>
      </p:sp>
      <p:sp>
        <p:nvSpPr>
          <p:cNvPr id="13" name="Rounded Rectangle 12"/>
          <p:cNvSpPr/>
          <p:nvPr/>
        </p:nvSpPr>
        <p:spPr>
          <a:xfrm>
            <a:off x="10218419" y="480060"/>
            <a:ext cx="246888" cy="246888"/>
          </a:xfrm>
          <a:prstGeom prst="roundRect">
            <a:avLst>
              <a:gd name="adj" fmla="val 3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3555" y="475488"/>
            <a:ext cx="356616" cy="256032"/>
          </a:xfrm>
          <a:prstGeom prst="rect">
            <a:avLst/>
          </a:prstGeom>
          <a:noFill/>
        </p:spPr>
        <p:txBody>
          <a:bodyPr wrap="square">
            <a:spAutoFit/>
          </a:bodyPr>
          <a:lstStyle/>
          <a:p>
            <a:pPr algn="ctr"/>
            <a:r>
              <a:rPr sz="1000" b="1" i="0">
                <a:solidFill>
                  <a:srgbClr val="FFFFFF"/>
                </a:solidFill>
                <a:latin typeface="Helvetica Neue"/>
              </a:rPr>
              <a:t>5</a:t>
            </a:r>
          </a:p>
        </p:txBody>
      </p:sp>
      <p:sp>
        <p:nvSpPr>
          <p:cNvPr id="15" name="Rounded Rectangle 14"/>
          <p:cNvSpPr/>
          <p:nvPr/>
        </p:nvSpPr>
        <p:spPr>
          <a:xfrm>
            <a:off x="10794492" y="480060"/>
            <a:ext cx="246888" cy="246888"/>
          </a:xfrm>
          <a:prstGeom prst="roundRect">
            <a:avLst>
              <a:gd name="adj" fmla="val 32000"/>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39628" y="475488"/>
            <a:ext cx="356616" cy="256032"/>
          </a:xfrm>
          <a:prstGeom prst="rect">
            <a:avLst/>
          </a:prstGeom>
          <a:noFill/>
        </p:spPr>
        <p:txBody>
          <a:bodyPr wrap="square">
            <a:spAutoFit/>
          </a:bodyPr>
          <a:lstStyle/>
          <a:p>
            <a:pPr algn="ctr"/>
            <a:r>
              <a:rPr sz="1000" b="1" i="0">
                <a:solidFill>
                  <a:srgbClr val="FFFFFF"/>
                </a:solidFill>
                <a:latin typeface="Helvetica Neue"/>
              </a:rPr>
              <a:t>6</a:t>
            </a:r>
          </a:p>
        </p:txBody>
      </p:sp>
      <p:sp>
        <p:nvSpPr>
          <p:cNvPr id="17" name="TextBox 16"/>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18" name="Picture 17" descr="product_mockup_crop.png"/>
          <p:cNvPicPr>
            <a:picLocks noChangeAspect="1"/>
          </p:cNvPicPr>
          <p:nvPr/>
        </p:nvPicPr>
        <p:blipFill>
          <a:blip r:embed="rId2"/>
          <a:stretch>
            <a:fillRect/>
          </a:stretch>
        </p:blipFill>
        <p:spPr>
          <a:xfrm>
            <a:off x="2438247" y="2103120"/>
            <a:ext cx="7315200" cy="3530990"/>
          </a:xfrm>
          <a:prstGeom prst="rect">
            <a:avLst/>
          </a:prstGeom>
        </p:spPr>
      </p:pic>
      <p:sp>
        <p:nvSpPr>
          <p:cNvPr id="19" name="TextBox 18"/>
          <p:cNvSpPr txBox="1"/>
          <p:nvPr/>
        </p:nvSpPr>
        <p:spPr>
          <a:xfrm>
            <a:off x="640080" y="5798702"/>
            <a:ext cx="10881360" cy="548640"/>
          </a:xfrm>
          <a:prstGeom prst="rect">
            <a:avLst/>
          </a:prstGeom>
          <a:noFill/>
        </p:spPr>
        <p:txBody>
          <a:bodyPr wrap="square">
            <a:spAutoFit/>
          </a:bodyPr>
          <a:lstStyle/>
          <a:p>
            <a:pPr algn="ctr"/>
            <a:r>
              <a:rPr sz="1500" b="0" i="1">
                <a:solidFill>
                  <a:srgbClr val="475569"/>
                </a:solidFill>
                <a:latin typeface="Helvetica Neue"/>
              </a:rPr>
              <a:t>The same Review Assistant we opened with. Every token in that reply came from: tokens → self-attention → blocks → the forward pass → generation.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4F46E5"/>
                </a:solidFill>
                <a:latin typeface="Helvetica Neue"/>
              </a:rPr>
              <a:t>THE WHOLE TRANSFORMER</a:t>
            </a:r>
          </a:p>
        </p:txBody>
      </p:sp>
      <p:sp>
        <p:nvSpPr>
          <p:cNvPr id="3" name="TextBox 2"/>
          <p:cNvSpPr txBox="1"/>
          <p:nvPr/>
        </p:nvSpPr>
        <p:spPr>
          <a:xfrm>
            <a:off x="640080" y="758952"/>
            <a:ext cx="10972800" cy="685800"/>
          </a:xfrm>
          <a:prstGeom prst="rect">
            <a:avLst/>
          </a:prstGeom>
          <a:noFill/>
        </p:spPr>
        <p:txBody>
          <a:bodyPr wrap="square">
            <a:spAutoFit/>
          </a:bodyPr>
          <a:lstStyle/>
          <a:p>
            <a:pPr algn="l"/>
            <a:r>
              <a:rPr sz="2900" b="1" i="0">
                <a:solidFill>
                  <a:srgbClr val="0F172A"/>
                </a:solidFill>
                <a:latin typeface="Helvetica Neue"/>
              </a:rPr>
              <a:t>One full pass, end to end.</a:t>
            </a:r>
          </a:p>
        </p:txBody>
      </p:sp>
      <p:sp>
        <p:nvSpPr>
          <p:cNvPr id="4" name="TextBox 3"/>
          <p:cNvSpPr txBox="1"/>
          <p:nvPr/>
        </p:nvSpPr>
        <p:spPr>
          <a:xfrm>
            <a:off x="640080" y="1417320"/>
            <a:ext cx="10424160" cy="457200"/>
          </a:xfrm>
          <a:prstGeom prst="rect">
            <a:avLst/>
          </a:prstGeom>
          <a:noFill/>
        </p:spPr>
        <p:txBody>
          <a:bodyPr wrap="square">
            <a:spAutoFit/>
          </a:bodyPr>
          <a:lstStyle/>
          <a:p>
            <a:pPr algn="l"/>
            <a:r>
              <a:rPr sz="1500" b="0" i="0">
                <a:solidFill>
                  <a:srgbClr val="475569"/>
                </a:solidFill>
                <a:latin typeface="Helvetica Neue"/>
              </a:rPr>
              <a:t>Text becomes tokens, then vectors; the stack refines them; the head names the next word; the loop writes the rest.</a:t>
            </a:r>
          </a:p>
        </p:txBody>
      </p:sp>
      <p:sp>
        <p:nvSpPr>
          <p:cNvPr id="5" name="TextBox 4"/>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6" name="Picture 5" descr="ff_flow.png"/>
          <p:cNvPicPr>
            <a:picLocks noChangeAspect="1"/>
          </p:cNvPicPr>
          <p:nvPr/>
        </p:nvPicPr>
        <p:blipFill>
          <a:blip r:embed="rId2"/>
          <a:stretch>
            <a:fillRect/>
          </a:stretch>
        </p:blipFill>
        <p:spPr>
          <a:xfrm>
            <a:off x="518007" y="2926080"/>
            <a:ext cx="11155680" cy="2592621"/>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4F46E5"/>
                </a:solidFill>
                <a:latin typeface="Helvetica Neue"/>
              </a:rPr>
              <a:t>AT SCALE</a:t>
            </a:r>
          </a:p>
        </p:txBody>
      </p:sp>
      <p:sp>
        <p:nvSpPr>
          <p:cNvPr id="3" name="TextBox 2"/>
          <p:cNvSpPr txBox="1"/>
          <p:nvPr/>
        </p:nvSpPr>
        <p:spPr>
          <a:xfrm>
            <a:off x="640080" y="758952"/>
            <a:ext cx="10972800" cy="685800"/>
          </a:xfrm>
          <a:prstGeom prst="rect">
            <a:avLst/>
          </a:prstGeom>
          <a:noFill/>
        </p:spPr>
        <p:txBody>
          <a:bodyPr wrap="square">
            <a:spAutoFit/>
          </a:bodyPr>
          <a:lstStyle/>
          <a:p>
            <a:pPr algn="l"/>
            <a:r>
              <a:rPr sz="2900" b="1" i="0">
                <a:solidFill>
                  <a:srgbClr val="0F172A"/>
                </a:solidFill>
                <a:latin typeface="Helvetica Neue"/>
              </a:rPr>
              <a:t>What makes production models fast and long.</a:t>
            </a:r>
          </a:p>
        </p:txBody>
      </p:sp>
      <p:sp>
        <p:nvSpPr>
          <p:cNvPr id="4" name="TextBox 3"/>
          <p:cNvSpPr txBox="1"/>
          <p:nvPr/>
        </p:nvSpPr>
        <p:spPr>
          <a:xfrm>
            <a:off x="640080" y="1417320"/>
            <a:ext cx="10424160" cy="457200"/>
          </a:xfrm>
          <a:prstGeom prst="rect">
            <a:avLst/>
          </a:prstGeom>
          <a:noFill/>
        </p:spPr>
        <p:txBody>
          <a:bodyPr wrap="square">
            <a:spAutoFit/>
          </a:bodyPr>
          <a:lstStyle/>
          <a:p>
            <a:pPr algn="l"/>
            <a:r>
              <a:rPr sz="1500" b="0" i="0">
                <a:solidFill>
                  <a:srgbClr val="475569"/>
                </a:solidFill>
                <a:latin typeface="Helvetica Neue"/>
              </a:rPr>
              <a:t>The 2017 mechanism, plus a decade of engineering to serve millions of tokens.</a:t>
            </a:r>
          </a:p>
        </p:txBody>
      </p:sp>
      <p:sp>
        <p:nvSpPr>
          <p:cNvPr id="5" name="TextBox 4"/>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6" name="Picture 5" descr="hy_scale.png"/>
          <p:cNvPicPr>
            <a:picLocks noChangeAspect="1"/>
          </p:cNvPicPr>
          <p:nvPr/>
        </p:nvPicPr>
        <p:blipFill>
          <a:blip r:embed="rId2"/>
          <a:stretch>
            <a:fillRect/>
          </a:stretch>
        </p:blipFill>
        <p:spPr>
          <a:xfrm>
            <a:off x="518007" y="2286000"/>
            <a:ext cx="11155680" cy="209226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4F46E5"/>
                </a:solidFill>
                <a:latin typeface="Helvetica Neue"/>
              </a:rPr>
              <a:t>MODEL FAMILIES</a:t>
            </a:r>
          </a:p>
        </p:txBody>
      </p:sp>
      <p:sp>
        <p:nvSpPr>
          <p:cNvPr id="3" name="TextBox 2"/>
          <p:cNvSpPr txBox="1"/>
          <p:nvPr/>
        </p:nvSpPr>
        <p:spPr>
          <a:xfrm>
            <a:off x="640080" y="758952"/>
            <a:ext cx="10972800" cy="685800"/>
          </a:xfrm>
          <a:prstGeom prst="rect">
            <a:avLst/>
          </a:prstGeom>
          <a:noFill/>
        </p:spPr>
        <p:txBody>
          <a:bodyPr wrap="square">
            <a:spAutoFit/>
          </a:bodyPr>
          <a:lstStyle/>
          <a:p>
            <a:pPr algn="l"/>
            <a:r>
              <a:rPr sz="2900" b="1" i="0">
                <a:solidFill>
                  <a:srgbClr val="0F172A"/>
                </a:solidFill>
                <a:latin typeface="Helvetica Neue"/>
              </a:rPr>
              <a:t>Encoder, decoder, encoder-decoder.</a:t>
            </a:r>
          </a:p>
        </p:txBody>
      </p:sp>
      <p:sp>
        <p:nvSpPr>
          <p:cNvPr id="4" name="TextBox 3"/>
          <p:cNvSpPr txBox="1"/>
          <p:nvPr/>
        </p:nvSpPr>
        <p:spPr>
          <a:xfrm>
            <a:off x="640080" y="1417320"/>
            <a:ext cx="10424160" cy="457200"/>
          </a:xfrm>
          <a:prstGeom prst="rect">
            <a:avLst/>
          </a:prstGeom>
          <a:noFill/>
        </p:spPr>
        <p:txBody>
          <a:bodyPr wrap="square">
            <a:spAutoFit/>
          </a:bodyPr>
          <a:lstStyle/>
          <a:p>
            <a:pPr algn="l"/>
            <a:r>
              <a:rPr sz="1500" b="0" i="0">
                <a:solidFill>
                  <a:srgbClr val="475569"/>
                </a:solidFill>
                <a:latin typeface="Helvetica Neue"/>
              </a:rPr>
              <a:t>Every transformer is one of three shapes. You have already used two of them.</a:t>
            </a:r>
          </a:p>
        </p:txBody>
      </p:sp>
      <p:sp>
        <p:nvSpPr>
          <p:cNvPr id="5" name="TextBox 4"/>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6" name="Picture 5" descr="hy_family.png"/>
          <p:cNvPicPr>
            <a:picLocks noChangeAspect="1"/>
          </p:cNvPicPr>
          <p:nvPr/>
        </p:nvPicPr>
        <p:blipFill>
          <a:blip r:embed="rId2"/>
          <a:stretch>
            <a:fillRect/>
          </a:stretch>
        </p:blipFill>
        <p:spPr>
          <a:xfrm>
            <a:off x="518007" y="2331720"/>
            <a:ext cx="11155680" cy="1792224"/>
          </a:xfrm>
          <a:prstGeom prst="rect">
            <a:avLst/>
          </a:prstGeom>
        </p:spPr>
      </p:pic>
      <p:sp>
        <p:nvSpPr>
          <p:cNvPr id="7" name="TextBox 6"/>
          <p:cNvSpPr txBox="1"/>
          <p:nvPr/>
        </p:nvSpPr>
        <p:spPr>
          <a:xfrm>
            <a:off x="640080" y="5577840"/>
            <a:ext cx="10881360" cy="457200"/>
          </a:xfrm>
          <a:prstGeom prst="rect">
            <a:avLst/>
          </a:prstGeom>
          <a:noFill/>
        </p:spPr>
        <p:txBody>
          <a:bodyPr wrap="square">
            <a:spAutoFit/>
          </a:bodyPr>
          <a:lstStyle/>
          <a:p>
            <a:pPr algn="ctr"/>
            <a:r>
              <a:rPr sz="1400" b="0" i="1">
                <a:solidFill>
                  <a:srgbClr val="475569"/>
                </a:solidFill>
                <a:latin typeface="Helvetica Neue"/>
              </a:rPr>
              <a:t>Same block, same attention. What differs is whether the model looks only backward (to generate) or at the whole input at once (to read).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4F46E5"/>
                </a:solidFill>
                <a:latin typeface="Helvetica Neue"/>
              </a:rPr>
              <a:t>THE TAKEAWAY</a:t>
            </a:r>
          </a:p>
        </p:txBody>
      </p:sp>
      <p:sp>
        <p:nvSpPr>
          <p:cNvPr id="3" name="TextBox 2"/>
          <p:cNvSpPr txBox="1"/>
          <p:nvPr/>
        </p:nvSpPr>
        <p:spPr>
          <a:xfrm>
            <a:off x="640080" y="758952"/>
            <a:ext cx="10972800" cy="685800"/>
          </a:xfrm>
          <a:prstGeom prst="rect">
            <a:avLst/>
          </a:prstGeom>
          <a:noFill/>
        </p:spPr>
        <p:txBody>
          <a:bodyPr wrap="square">
            <a:spAutoFit/>
          </a:bodyPr>
          <a:lstStyle/>
          <a:p>
            <a:pPr algn="l"/>
            <a:r>
              <a:rPr sz="2900" b="1" i="0">
                <a:solidFill>
                  <a:srgbClr val="0F172A"/>
                </a:solidFill>
                <a:latin typeface="Helvetica Neue"/>
              </a:rPr>
              <a:t>You can now name every step.</a:t>
            </a:r>
          </a:p>
        </p:txBody>
      </p:sp>
      <p:sp>
        <p:nvSpPr>
          <p:cNvPr id="4" name="TextBox 3"/>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pic>
        <p:nvPicPr>
          <p:cNvPr id="5" name="Picture 4" descr="hy_close.png"/>
          <p:cNvPicPr>
            <a:picLocks noChangeAspect="1"/>
          </p:cNvPicPr>
          <p:nvPr/>
        </p:nvPicPr>
        <p:blipFill>
          <a:blip r:embed="rId2"/>
          <a:stretch>
            <a:fillRect/>
          </a:stretch>
        </p:blipFill>
        <p:spPr>
          <a:xfrm>
            <a:off x="184251" y="2194560"/>
            <a:ext cx="11823192" cy="631201"/>
          </a:xfrm>
          <a:prstGeom prst="rect">
            <a:avLst/>
          </a:prstGeom>
        </p:spPr>
      </p:pic>
      <p:sp>
        <p:nvSpPr>
          <p:cNvPr id="6" name="TextBox 5"/>
          <p:cNvSpPr txBox="1"/>
          <p:nvPr/>
        </p:nvSpPr>
        <p:spPr>
          <a:xfrm>
            <a:off x="640080" y="3337560"/>
            <a:ext cx="10607040" cy="914400"/>
          </a:xfrm>
          <a:prstGeom prst="rect">
            <a:avLst/>
          </a:prstGeom>
          <a:noFill/>
        </p:spPr>
        <p:txBody>
          <a:bodyPr wrap="square">
            <a:spAutoFit/>
          </a:bodyPr>
          <a:lstStyle/>
          <a:p>
            <a:pPr algn="l"/>
            <a:r>
              <a:rPr sz="1700" b="0" i="0">
                <a:solidFill>
                  <a:srgbClr val="334155"/>
                </a:solidFill>
                <a:latin typeface="Helvetica Neue"/>
              </a:rPr>
              <a:t>One cost to carry forward: every token attends to every other token, so the work grows with the square of the sequence length. That is why context windows are precious, and it is next week's problem: retrieval and RAG.</a:t>
            </a:r>
          </a:p>
        </p:txBody>
      </p:sp>
      <p:sp>
        <p:nvSpPr>
          <p:cNvPr id="7" name="Rectangle 6"/>
          <p:cNvSpPr/>
          <p:nvPr/>
        </p:nvSpPr>
        <p:spPr>
          <a:xfrm>
            <a:off x="658368" y="4617720"/>
            <a:ext cx="822960" cy="54864"/>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800600"/>
            <a:ext cx="10515600" cy="457200"/>
          </a:xfrm>
          <a:prstGeom prst="rect">
            <a:avLst/>
          </a:prstGeom>
          <a:noFill/>
        </p:spPr>
        <p:txBody>
          <a:bodyPr wrap="square">
            <a:spAutoFit/>
          </a:bodyPr>
          <a:lstStyle/>
          <a:p>
            <a:pPr algn="l"/>
            <a:r>
              <a:rPr sz="1700" b="0" i="1">
                <a:solidFill>
                  <a:srgbClr val="0F172A"/>
                </a:solidFill>
                <a:latin typeface="Helvetica Neue"/>
              </a:rPr>
              <a:t>If you remember one slide, remember this map. It is the shape of every model you will build.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6766560" cy="274320"/>
          </a:xfrm>
          <a:prstGeom prst="rect">
            <a:avLst/>
          </a:prstGeom>
          <a:noFill/>
        </p:spPr>
        <p:txBody>
          <a:bodyPr wrap="square">
            <a:spAutoFit/>
          </a:bodyPr>
          <a:lstStyle/>
          <a:p>
            <a:pPr algn="l"/>
            <a:r>
              <a:rPr sz="1250" b="1" i="0" spc="220">
                <a:solidFill>
                  <a:srgbClr val="4F46E5"/>
                </a:solidFill>
                <a:latin typeface="Helvetica Neue"/>
              </a:rPr>
              <a:t>GO DEEPER</a:t>
            </a:r>
          </a:p>
        </p:txBody>
      </p:sp>
      <p:sp>
        <p:nvSpPr>
          <p:cNvPr id="3" name="TextBox 2"/>
          <p:cNvSpPr txBox="1"/>
          <p:nvPr/>
        </p:nvSpPr>
        <p:spPr>
          <a:xfrm>
            <a:off x="640080" y="758952"/>
            <a:ext cx="10972800" cy="685800"/>
          </a:xfrm>
          <a:prstGeom prst="rect">
            <a:avLst/>
          </a:prstGeom>
          <a:noFill/>
        </p:spPr>
        <p:txBody>
          <a:bodyPr wrap="square">
            <a:spAutoFit/>
          </a:bodyPr>
          <a:lstStyle/>
          <a:p>
            <a:pPr algn="l"/>
            <a:r>
              <a:rPr sz="2900" b="1" i="0">
                <a:solidFill>
                  <a:srgbClr val="0F172A"/>
                </a:solidFill>
                <a:latin typeface="Helvetica Neue"/>
              </a:rPr>
              <a:t>Further reading, mapped to the plan.</a:t>
            </a:r>
          </a:p>
        </p:txBody>
      </p:sp>
      <p:sp>
        <p:nvSpPr>
          <p:cNvPr id="4" name="TextBox 3"/>
          <p:cNvSpPr txBox="1"/>
          <p:nvPr/>
        </p:nvSpPr>
        <p:spPr>
          <a:xfrm>
            <a:off x="640080" y="1417320"/>
            <a:ext cx="10424160" cy="457200"/>
          </a:xfrm>
          <a:prstGeom prst="rect">
            <a:avLst/>
          </a:prstGeom>
          <a:noFill/>
        </p:spPr>
        <p:txBody>
          <a:bodyPr wrap="square">
            <a:spAutoFit/>
          </a:bodyPr>
          <a:lstStyle/>
          <a:p>
            <a:pPr algn="l"/>
            <a:r>
              <a:rPr sz="1500" b="0" i="0">
                <a:solidFill>
                  <a:srgbClr val="475569"/>
                </a:solidFill>
                <a:latin typeface="Helvetica Neue"/>
              </a:rPr>
              <a:t>Every title is a link. Books open the authors' GitHub notebooks (or the free J&amp;M site); papers open arXiv.</a:t>
            </a:r>
          </a:p>
        </p:txBody>
      </p:sp>
      <p:sp>
        <p:nvSpPr>
          <p:cNvPr id="5" name="TextBox 4"/>
          <p:cNvSpPr txBox="1"/>
          <p:nvPr/>
        </p:nvSpPr>
        <p:spPr>
          <a:xfrm>
            <a:off x="640080" y="6492240"/>
            <a:ext cx="8229600" cy="274320"/>
          </a:xfrm>
          <a:prstGeom prst="rect">
            <a:avLst/>
          </a:prstGeom>
          <a:noFill/>
        </p:spPr>
        <p:txBody>
          <a:bodyPr wrap="square">
            <a:spAutoFit/>
          </a:bodyPr>
          <a:lstStyle/>
          <a:p>
            <a:pPr algn="l"/>
            <a:r>
              <a:rPr sz="900" b="0" i="0">
                <a:solidFill>
                  <a:srgbClr val="BCC1CC"/>
                </a:solidFill>
                <a:latin typeface="Helvetica Neue"/>
              </a:rPr>
              <a:t>ISBA 2411 · Natural Language Processing &amp; AI · Summer 2026</a:t>
            </a:r>
          </a:p>
        </p:txBody>
      </p:sp>
      <p:sp>
        <p:nvSpPr>
          <p:cNvPr id="6" name="Rounded Rectangle 5"/>
          <p:cNvSpPr/>
          <p:nvPr/>
        </p:nvSpPr>
        <p:spPr>
          <a:xfrm>
            <a:off x="777240" y="2267712"/>
            <a:ext cx="310896" cy="310896"/>
          </a:xfrm>
          <a:prstGeom prst="roundRect">
            <a:avLst>
              <a:gd name="adj" fmla="val 30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99715"/>
            <a:ext cx="310896" cy="274320"/>
          </a:xfrm>
          <a:prstGeom prst="rect">
            <a:avLst/>
          </a:prstGeom>
          <a:noFill/>
        </p:spPr>
        <p:txBody>
          <a:bodyPr wrap="square">
            <a:spAutoFit/>
          </a:bodyPr>
          <a:lstStyle/>
          <a:p>
            <a:pPr algn="ctr"/>
            <a:r>
              <a:rPr sz="1400" b="1" i="0">
                <a:solidFill>
                  <a:srgbClr val="FFFFFF"/>
                </a:solidFill>
                <a:latin typeface="Helvetica Neue"/>
              </a:rPr>
              <a:t>1</a:t>
            </a:r>
          </a:p>
        </p:txBody>
      </p:sp>
      <p:sp>
        <p:nvSpPr>
          <p:cNvPr id="8" name="TextBox 7"/>
          <p:cNvSpPr txBox="1"/>
          <p:nvPr/>
        </p:nvSpPr>
        <p:spPr>
          <a:xfrm>
            <a:off x="1243584" y="2221991"/>
            <a:ext cx="2331720" cy="502920"/>
          </a:xfrm>
          <a:prstGeom prst="rect">
            <a:avLst/>
          </a:prstGeom>
          <a:noFill/>
        </p:spPr>
        <p:txBody>
          <a:bodyPr wrap="square">
            <a:spAutoFit/>
          </a:bodyPr>
          <a:lstStyle/>
          <a:p>
            <a:pPr algn="l"/>
            <a:r>
              <a:rPr sz="1350" b="1" i="0">
                <a:solidFill>
                  <a:srgbClr val="0F172A"/>
                </a:solidFill>
                <a:latin typeface="Helvetica Neue"/>
              </a:rPr>
              <a:t>Tokens &amp; embeddings</a:t>
            </a:r>
          </a:p>
        </p:txBody>
      </p:sp>
      <p:sp>
        <p:nvSpPr>
          <p:cNvPr id="9" name="TextBox 8"/>
          <p:cNvSpPr txBox="1"/>
          <p:nvPr/>
        </p:nvSpPr>
        <p:spPr>
          <a:xfrm>
            <a:off x="3703320" y="2130551"/>
            <a:ext cx="8001000" cy="585216"/>
          </a:xfrm>
          <a:prstGeom prst="rect">
            <a:avLst/>
          </a:prstGeom>
          <a:noFill/>
        </p:spPr>
        <p:txBody>
          <a:bodyPr wrap="square">
            <a:spAutoFit/>
          </a:bodyPr>
          <a:lstStyle/>
          <a:p>
            <a:pPr>
              <a:spcBef>
                <a:spcPts val="0"/>
              </a:spcBef>
              <a:spcAft>
                <a:spcPts val="300"/>
              </a:spcAft>
            </a:pPr>
            <a:r>
              <a:rPr sz="850" b="1">
                <a:solidFill>
                  <a:srgbClr val="4338CA"/>
                </a:solidFill>
                <a:latin typeface="Helvetica Neue"/>
              </a:rPr>
              <a:t>BOOK   </a:t>
            </a:r>
            <a:r>
              <a:rPr sz="1150" u="sng">
                <a:solidFill>
                  <a:srgbClr val="1D4ED8"/>
                </a:solidFill>
                <a:latin typeface="Helvetica Neue"/>
                <a:hlinkClick r:id="rId2"/>
              </a:rPr>
              <a:t>HOLLM Ch. 2 · Tokens &amp; Embeddings</a:t>
            </a:r>
          </a:p>
          <a:p>
            <a:pPr>
              <a:spcBef>
                <a:spcPts val="0"/>
              </a:spcBef>
              <a:spcAft>
                <a:spcPts val="300"/>
              </a:spcAft>
            </a:pPr>
            <a:r>
              <a:rPr sz="850" b="1">
                <a:solidFill>
                  <a:srgbClr val="92400E"/>
                </a:solidFill>
                <a:latin typeface="Helvetica Neue"/>
              </a:rPr>
              <a:t>PAPER   </a:t>
            </a:r>
            <a:r>
              <a:rPr sz="1150" u="sng">
                <a:solidFill>
                  <a:srgbClr val="1D4ED8"/>
                </a:solidFill>
                <a:latin typeface="Helvetica Neue"/>
                <a:hlinkClick r:id="rId3"/>
              </a:rPr>
              <a:t>Sennrich et al. 2016 · subword units / BPE · arXiv:1508.07909</a:t>
            </a:r>
          </a:p>
          <a:p>
            <a:pPr>
              <a:spcBef>
                <a:spcPts val="0"/>
              </a:spcBef>
              <a:spcAft>
                <a:spcPts val="300"/>
              </a:spcAft>
            </a:pPr>
            <a:r>
              <a:rPr sz="850" b="1">
                <a:solidFill>
                  <a:srgbClr val="92400E"/>
                </a:solidFill>
                <a:latin typeface="Helvetica Neue"/>
              </a:rPr>
              <a:t>PAPER   </a:t>
            </a:r>
            <a:r>
              <a:rPr sz="1150" u="sng">
                <a:solidFill>
                  <a:srgbClr val="1D4ED8"/>
                </a:solidFill>
                <a:latin typeface="Helvetica Neue"/>
                <a:hlinkClick r:id="rId4"/>
              </a:rPr>
              <a:t>Mikolov et al. 2013 · word2vec · arXiv:1301.3781</a:t>
            </a:r>
          </a:p>
        </p:txBody>
      </p:sp>
      <p:sp>
        <p:nvSpPr>
          <p:cNvPr id="10" name="Rounded Rectangle 9"/>
          <p:cNvSpPr/>
          <p:nvPr/>
        </p:nvSpPr>
        <p:spPr>
          <a:xfrm>
            <a:off x="777240" y="2907792"/>
            <a:ext cx="310896" cy="310896"/>
          </a:xfrm>
          <a:prstGeom prst="roundRect">
            <a:avLst>
              <a:gd name="adj" fmla="val 30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939796"/>
            <a:ext cx="310896" cy="274320"/>
          </a:xfrm>
          <a:prstGeom prst="rect">
            <a:avLst/>
          </a:prstGeom>
          <a:noFill/>
        </p:spPr>
        <p:txBody>
          <a:bodyPr wrap="square">
            <a:spAutoFit/>
          </a:bodyPr>
          <a:lstStyle/>
          <a:p>
            <a:pPr algn="ctr"/>
            <a:r>
              <a:rPr sz="1400" b="1" i="0">
                <a:solidFill>
                  <a:srgbClr val="FFFFFF"/>
                </a:solidFill>
                <a:latin typeface="Helvetica Neue"/>
              </a:rPr>
              <a:t>2</a:t>
            </a:r>
          </a:p>
        </p:txBody>
      </p:sp>
      <p:sp>
        <p:nvSpPr>
          <p:cNvPr id="12" name="TextBox 11"/>
          <p:cNvSpPr txBox="1"/>
          <p:nvPr/>
        </p:nvSpPr>
        <p:spPr>
          <a:xfrm>
            <a:off x="1243584" y="2862072"/>
            <a:ext cx="2331720" cy="502920"/>
          </a:xfrm>
          <a:prstGeom prst="rect">
            <a:avLst/>
          </a:prstGeom>
          <a:noFill/>
        </p:spPr>
        <p:txBody>
          <a:bodyPr wrap="square">
            <a:spAutoFit/>
          </a:bodyPr>
          <a:lstStyle/>
          <a:p>
            <a:pPr algn="l"/>
            <a:r>
              <a:rPr sz="1350" b="1" i="0">
                <a:solidFill>
                  <a:srgbClr val="0F172A"/>
                </a:solidFill>
                <a:latin typeface="Helvetica Neue"/>
              </a:rPr>
              <a:t>Self-attention</a:t>
            </a:r>
          </a:p>
        </p:txBody>
      </p:sp>
      <p:sp>
        <p:nvSpPr>
          <p:cNvPr id="13" name="TextBox 12"/>
          <p:cNvSpPr txBox="1"/>
          <p:nvPr/>
        </p:nvSpPr>
        <p:spPr>
          <a:xfrm>
            <a:off x="3703320" y="2770632"/>
            <a:ext cx="8001000" cy="585216"/>
          </a:xfrm>
          <a:prstGeom prst="rect">
            <a:avLst/>
          </a:prstGeom>
          <a:noFill/>
        </p:spPr>
        <p:txBody>
          <a:bodyPr wrap="square">
            <a:spAutoFit/>
          </a:bodyPr>
          <a:lstStyle/>
          <a:p>
            <a:pPr>
              <a:spcBef>
                <a:spcPts val="0"/>
              </a:spcBef>
              <a:spcAft>
                <a:spcPts val="300"/>
              </a:spcAft>
            </a:pPr>
            <a:r>
              <a:rPr sz="850" b="1">
                <a:solidFill>
                  <a:srgbClr val="4338CA"/>
                </a:solidFill>
                <a:latin typeface="Helvetica Neue"/>
              </a:rPr>
              <a:t>BOOK   </a:t>
            </a:r>
            <a:r>
              <a:rPr sz="1150" u="sng">
                <a:solidFill>
                  <a:srgbClr val="1D4ED8"/>
                </a:solidFill>
                <a:latin typeface="Helvetica Neue"/>
                <a:hlinkClick r:id="rId5"/>
              </a:rPr>
              <a:t>Tunstall Ch. 3 · Transformer Anatomy</a:t>
            </a:r>
          </a:p>
          <a:p>
            <a:pPr>
              <a:spcBef>
                <a:spcPts val="0"/>
              </a:spcBef>
              <a:spcAft>
                <a:spcPts val="300"/>
              </a:spcAft>
            </a:pPr>
            <a:r>
              <a:rPr sz="850" b="1">
                <a:solidFill>
                  <a:srgbClr val="92400E"/>
                </a:solidFill>
                <a:latin typeface="Helvetica Neue"/>
              </a:rPr>
              <a:t>PAPER   </a:t>
            </a:r>
            <a:r>
              <a:rPr sz="1150" u="sng">
                <a:solidFill>
                  <a:srgbClr val="1D4ED8"/>
                </a:solidFill>
                <a:latin typeface="Helvetica Neue"/>
                <a:hlinkClick r:id="rId6"/>
              </a:rPr>
              <a:t>Vaswani et al. 2017 · Attention Is All You Need · arXiv:1706.03762</a:t>
            </a:r>
          </a:p>
          <a:p>
            <a:pPr>
              <a:spcBef>
                <a:spcPts val="0"/>
              </a:spcBef>
              <a:spcAft>
                <a:spcPts val="300"/>
              </a:spcAft>
            </a:pPr>
            <a:r>
              <a:rPr sz="850" b="1">
                <a:solidFill>
                  <a:srgbClr val="047857"/>
                </a:solidFill>
                <a:latin typeface="Helvetica Neue"/>
              </a:rPr>
              <a:t>GUIDE   </a:t>
            </a:r>
            <a:r>
              <a:rPr sz="1150" u="sng">
                <a:solidFill>
                  <a:srgbClr val="1D4ED8"/>
                </a:solidFill>
                <a:latin typeface="Helvetica Neue"/>
                <a:hlinkClick r:id="rId7"/>
              </a:rPr>
              <a:t>Alammar · The Illustrated Transformer</a:t>
            </a:r>
          </a:p>
        </p:txBody>
      </p:sp>
      <p:sp>
        <p:nvSpPr>
          <p:cNvPr id="14" name="Rounded Rectangle 13"/>
          <p:cNvSpPr/>
          <p:nvPr/>
        </p:nvSpPr>
        <p:spPr>
          <a:xfrm>
            <a:off x="777240" y="3547872"/>
            <a:ext cx="310896" cy="310896"/>
          </a:xfrm>
          <a:prstGeom prst="roundRect">
            <a:avLst>
              <a:gd name="adj" fmla="val 30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579876"/>
            <a:ext cx="310896" cy="274320"/>
          </a:xfrm>
          <a:prstGeom prst="rect">
            <a:avLst/>
          </a:prstGeom>
          <a:noFill/>
        </p:spPr>
        <p:txBody>
          <a:bodyPr wrap="square">
            <a:spAutoFit/>
          </a:bodyPr>
          <a:lstStyle/>
          <a:p>
            <a:pPr algn="ctr"/>
            <a:r>
              <a:rPr sz="1400" b="1" i="0">
                <a:solidFill>
                  <a:srgbClr val="FFFFFF"/>
                </a:solidFill>
                <a:latin typeface="Helvetica Neue"/>
              </a:rPr>
              <a:t>3</a:t>
            </a:r>
          </a:p>
        </p:txBody>
      </p:sp>
      <p:sp>
        <p:nvSpPr>
          <p:cNvPr id="16" name="TextBox 15"/>
          <p:cNvSpPr txBox="1"/>
          <p:nvPr/>
        </p:nvSpPr>
        <p:spPr>
          <a:xfrm>
            <a:off x="1243584" y="3502151"/>
            <a:ext cx="2331720" cy="502920"/>
          </a:xfrm>
          <a:prstGeom prst="rect">
            <a:avLst/>
          </a:prstGeom>
          <a:noFill/>
        </p:spPr>
        <p:txBody>
          <a:bodyPr wrap="square">
            <a:spAutoFit/>
          </a:bodyPr>
          <a:lstStyle/>
          <a:p>
            <a:pPr algn="l"/>
            <a:r>
              <a:rPr sz="1350" b="1" i="0">
                <a:solidFill>
                  <a:srgbClr val="0F172A"/>
                </a:solidFill>
                <a:latin typeface="Helvetica Neue"/>
              </a:rPr>
              <a:t>The feed-forward network</a:t>
            </a:r>
          </a:p>
        </p:txBody>
      </p:sp>
      <p:sp>
        <p:nvSpPr>
          <p:cNvPr id="17" name="TextBox 16"/>
          <p:cNvSpPr txBox="1"/>
          <p:nvPr/>
        </p:nvSpPr>
        <p:spPr>
          <a:xfrm>
            <a:off x="3703320" y="3410712"/>
            <a:ext cx="8001000" cy="585216"/>
          </a:xfrm>
          <a:prstGeom prst="rect">
            <a:avLst/>
          </a:prstGeom>
          <a:noFill/>
        </p:spPr>
        <p:txBody>
          <a:bodyPr wrap="square">
            <a:spAutoFit/>
          </a:bodyPr>
          <a:lstStyle/>
          <a:p>
            <a:pPr>
              <a:spcBef>
                <a:spcPts val="0"/>
              </a:spcBef>
              <a:spcAft>
                <a:spcPts val="300"/>
              </a:spcAft>
            </a:pPr>
            <a:r>
              <a:rPr sz="850" b="1">
                <a:solidFill>
                  <a:srgbClr val="4338CA"/>
                </a:solidFill>
                <a:latin typeface="Helvetica Neue"/>
              </a:rPr>
              <a:t>BOOK   </a:t>
            </a:r>
            <a:r>
              <a:rPr sz="1150" u="sng">
                <a:solidFill>
                  <a:srgbClr val="1D4ED8"/>
                </a:solidFill>
                <a:latin typeface="Helvetica Neue"/>
                <a:hlinkClick r:id="rId5"/>
              </a:rPr>
              <a:t>Tunstall Ch. 3 · the feed-forward sublayer</a:t>
            </a:r>
          </a:p>
          <a:p>
            <a:pPr>
              <a:spcBef>
                <a:spcPts val="0"/>
              </a:spcBef>
              <a:spcAft>
                <a:spcPts val="300"/>
              </a:spcAft>
            </a:pPr>
            <a:r>
              <a:rPr sz="850" b="1">
                <a:solidFill>
                  <a:srgbClr val="92400E"/>
                </a:solidFill>
                <a:latin typeface="Helvetica Neue"/>
              </a:rPr>
              <a:t>PAPER   </a:t>
            </a:r>
            <a:r>
              <a:rPr sz="1150" u="sng">
                <a:solidFill>
                  <a:srgbClr val="1D4ED8"/>
                </a:solidFill>
                <a:latin typeface="Helvetica Neue"/>
                <a:hlinkClick r:id="rId8"/>
              </a:rPr>
              <a:t>Geva et al. 2021 · FFN layers are key-value memories · arXiv:2012.14913</a:t>
            </a:r>
          </a:p>
        </p:txBody>
      </p:sp>
      <p:sp>
        <p:nvSpPr>
          <p:cNvPr id="18" name="Rounded Rectangle 17"/>
          <p:cNvSpPr/>
          <p:nvPr/>
        </p:nvSpPr>
        <p:spPr>
          <a:xfrm>
            <a:off x="777240" y="4187952"/>
            <a:ext cx="310896" cy="310896"/>
          </a:xfrm>
          <a:prstGeom prst="roundRect">
            <a:avLst>
              <a:gd name="adj" fmla="val 30000"/>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19956"/>
            <a:ext cx="310896" cy="274320"/>
          </a:xfrm>
          <a:prstGeom prst="rect">
            <a:avLst/>
          </a:prstGeom>
          <a:noFill/>
        </p:spPr>
        <p:txBody>
          <a:bodyPr wrap="square">
            <a:spAutoFit/>
          </a:bodyPr>
          <a:lstStyle/>
          <a:p>
            <a:pPr algn="ctr"/>
            <a:r>
              <a:rPr sz="1400" b="1" i="0">
                <a:solidFill>
                  <a:srgbClr val="FFFFFF"/>
                </a:solidFill>
                <a:latin typeface="Helvetica Neue"/>
              </a:rPr>
              <a:t>4</a:t>
            </a:r>
          </a:p>
        </p:txBody>
      </p:sp>
      <p:sp>
        <p:nvSpPr>
          <p:cNvPr id="20" name="TextBox 19"/>
          <p:cNvSpPr txBox="1"/>
          <p:nvPr/>
        </p:nvSpPr>
        <p:spPr>
          <a:xfrm>
            <a:off x="1243584" y="4142232"/>
            <a:ext cx="2331720" cy="502920"/>
          </a:xfrm>
          <a:prstGeom prst="rect">
            <a:avLst/>
          </a:prstGeom>
          <a:noFill/>
        </p:spPr>
        <p:txBody>
          <a:bodyPr wrap="square">
            <a:spAutoFit/>
          </a:bodyPr>
          <a:lstStyle/>
          <a:p>
            <a:pPr algn="l"/>
            <a:r>
              <a:rPr sz="1350" b="1" i="0">
                <a:solidFill>
                  <a:srgbClr val="0F172A"/>
                </a:solidFill>
                <a:latin typeface="Helvetica Neue"/>
              </a:rPr>
              <a:t>The Transformer block</a:t>
            </a:r>
          </a:p>
        </p:txBody>
      </p:sp>
      <p:sp>
        <p:nvSpPr>
          <p:cNvPr id="21" name="TextBox 20"/>
          <p:cNvSpPr txBox="1"/>
          <p:nvPr/>
        </p:nvSpPr>
        <p:spPr>
          <a:xfrm>
            <a:off x="3703320" y="4050792"/>
            <a:ext cx="8001000" cy="585216"/>
          </a:xfrm>
          <a:prstGeom prst="rect">
            <a:avLst/>
          </a:prstGeom>
          <a:noFill/>
        </p:spPr>
        <p:txBody>
          <a:bodyPr wrap="square">
            <a:spAutoFit/>
          </a:bodyPr>
          <a:lstStyle/>
          <a:p>
            <a:pPr>
              <a:spcBef>
                <a:spcPts val="0"/>
              </a:spcBef>
              <a:spcAft>
                <a:spcPts val="300"/>
              </a:spcAft>
            </a:pPr>
            <a:r>
              <a:rPr sz="850" b="1">
                <a:solidFill>
                  <a:srgbClr val="4338CA"/>
                </a:solidFill>
                <a:latin typeface="Helvetica Neue"/>
              </a:rPr>
              <a:t>BOOK   </a:t>
            </a:r>
            <a:r>
              <a:rPr sz="1150" u="sng">
                <a:solidFill>
                  <a:srgbClr val="1D4ED8"/>
                </a:solidFill>
                <a:latin typeface="Helvetica Neue"/>
                <a:hlinkClick r:id="rId5"/>
              </a:rPr>
              <a:t>Tunstall Ch. 3 · residual connections &amp; add-and-norm</a:t>
            </a:r>
          </a:p>
          <a:p>
            <a:pPr>
              <a:spcBef>
                <a:spcPts val="0"/>
              </a:spcBef>
              <a:spcAft>
                <a:spcPts val="300"/>
              </a:spcAft>
            </a:pPr>
            <a:r>
              <a:rPr sz="850" b="1">
                <a:solidFill>
                  <a:srgbClr val="92400E"/>
                </a:solidFill>
                <a:latin typeface="Helvetica Neue"/>
              </a:rPr>
              <a:t>PAPER   </a:t>
            </a:r>
            <a:r>
              <a:rPr sz="1150" u="sng">
                <a:solidFill>
                  <a:srgbClr val="1D4ED8"/>
                </a:solidFill>
                <a:latin typeface="Helvetica Neue"/>
                <a:hlinkClick r:id="rId9"/>
              </a:rPr>
              <a:t>Ba et al. 2016 · Layer Normalization · arXiv:1607.06450</a:t>
            </a:r>
          </a:p>
        </p:txBody>
      </p:sp>
      <p:sp>
        <p:nvSpPr>
          <p:cNvPr id="22" name="Rounded Rectangle 21"/>
          <p:cNvSpPr/>
          <p:nvPr/>
        </p:nvSpPr>
        <p:spPr>
          <a:xfrm>
            <a:off x="777240" y="4828031"/>
            <a:ext cx="310896" cy="310896"/>
          </a:xfrm>
          <a:prstGeom prst="roundRect">
            <a:avLst>
              <a:gd name="adj" fmla="val 3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860036"/>
            <a:ext cx="310896" cy="274320"/>
          </a:xfrm>
          <a:prstGeom prst="rect">
            <a:avLst/>
          </a:prstGeom>
          <a:noFill/>
        </p:spPr>
        <p:txBody>
          <a:bodyPr wrap="square">
            <a:spAutoFit/>
          </a:bodyPr>
          <a:lstStyle/>
          <a:p>
            <a:pPr algn="ctr"/>
            <a:r>
              <a:rPr sz="1400" b="1" i="0">
                <a:solidFill>
                  <a:srgbClr val="FFFFFF"/>
                </a:solidFill>
                <a:latin typeface="Helvetica Neue"/>
              </a:rPr>
              <a:t>5</a:t>
            </a:r>
          </a:p>
        </p:txBody>
      </p:sp>
      <p:sp>
        <p:nvSpPr>
          <p:cNvPr id="24" name="TextBox 23"/>
          <p:cNvSpPr txBox="1"/>
          <p:nvPr/>
        </p:nvSpPr>
        <p:spPr>
          <a:xfrm>
            <a:off x="1243584" y="4782312"/>
            <a:ext cx="2331720" cy="502920"/>
          </a:xfrm>
          <a:prstGeom prst="rect">
            <a:avLst/>
          </a:prstGeom>
          <a:noFill/>
        </p:spPr>
        <p:txBody>
          <a:bodyPr wrap="square">
            <a:spAutoFit/>
          </a:bodyPr>
          <a:lstStyle/>
          <a:p>
            <a:pPr algn="l"/>
            <a:r>
              <a:rPr sz="1350" b="1" i="0">
                <a:solidFill>
                  <a:srgbClr val="0F172A"/>
                </a:solidFill>
                <a:latin typeface="Helvetica Neue"/>
              </a:rPr>
              <a:t>The stack · forward pass</a:t>
            </a:r>
          </a:p>
        </p:txBody>
      </p:sp>
      <p:sp>
        <p:nvSpPr>
          <p:cNvPr id="25" name="TextBox 24"/>
          <p:cNvSpPr txBox="1"/>
          <p:nvPr/>
        </p:nvSpPr>
        <p:spPr>
          <a:xfrm>
            <a:off x="3703320" y="4690872"/>
            <a:ext cx="8001000" cy="585216"/>
          </a:xfrm>
          <a:prstGeom prst="rect">
            <a:avLst/>
          </a:prstGeom>
          <a:noFill/>
        </p:spPr>
        <p:txBody>
          <a:bodyPr wrap="square">
            <a:spAutoFit/>
          </a:bodyPr>
          <a:lstStyle/>
          <a:p>
            <a:pPr>
              <a:spcBef>
                <a:spcPts val="0"/>
              </a:spcBef>
              <a:spcAft>
                <a:spcPts val="300"/>
              </a:spcAft>
            </a:pPr>
            <a:r>
              <a:rPr sz="850" b="1">
                <a:solidFill>
                  <a:srgbClr val="4338CA"/>
                </a:solidFill>
                <a:latin typeface="Helvetica Neue"/>
              </a:rPr>
              <a:t>BOOK   </a:t>
            </a:r>
            <a:r>
              <a:rPr sz="1150" u="sng">
                <a:solidFill>
                  <a:srgbClr val="1D4ED8"/>
                </a:solidFill>
                <a:latin typeface="Helvetica Neue"/>
                <a:hlinkClick r:id="rId10"/>
              </a:rPr>
              <a:t>J&amp;M Ch. 8 (Transformers) &amp; Ch. 7 (LLMs)</a:t>
            </a:r>
          </a:p>
          <a:p>
            <a:pPr>
              <a:spcBef>
                <a:spcPts val="0"/>
              </a:spcBef>
              <a:spcAft>
                <a:spcPts val="300"/>
              </a:spcAft>
            </a:pPr>
            <a:r>
              <a:rPr sz="850" b="1">
                <a:solidFill>
                  <a:srgbClr val="4338CA"/>
                </a:solidFill>
                <a:latin typeface="Helvetica Neue"/>
              </a:rPr>
              <a:t>BOOK   </a:t>
            </a:r>
            <a:r>
              <a:rPr sz="1150" u="sng">
                <a:solidFill>
                  <a:srgbClr val="1D4ED8"/>
                </a:solidFill>
                <a:latin typeface="Helvetica Neue"/>
                <a:hlinkClick r:id="rId2"/>
              </a:rPr>
              <a:t>HOLLM Ch. 3 · the forward pass &amp; the LM head</a:t>
            </a:r>
          </a:p>
        </p:txBody>
      </p:sp>
      <p:sp>
        <p:nvSpPr>
          <p:cNvPr id="26" name="Rounded Rectangle 25"/>
          <p:cNvSpPr/>
          <p:nvPr/>
        </p:nvSpPr>
        <p:spPr>
          <a:xfrm>
            <a:off x="777240" y="5468112"/>
            <a:ext cx="310896" cy="310896"/>
          </a:xfrm>
          <a:prstGeom prst="roundRect">
            <a:avLst>
              <a:gd name="adj" fmla="val 30000"/>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500116"/>
            <a:ext cx="310896" cy="274320"/>
          </a:xfrm>
          <a:prstGeom prst="rect">
            <a:avLst/>
          </a:prstGeom>
          <a:noFill/>
        </p:spPr>
        <p:txBody>
          <a:bodyPr wrap="square">
            <a:spAutoFit/>
          </a:bodyPr>
          <a:lstStyle/>
          <a:p>
            <a:pPr algn="ctr"/>
            <a:r>
              <a:rPr sz="1400" b="1" i="0">
                <a:solidFill>
                  <a:srgbClr val="FFFFFF"/>
                </a:solidFill>
                <a:latin typeface="Helvetica Neue"/>
              </a:rPr>
              <a:t>6</a:t>
            </a:r>
          </a:p>
        </p:txBody>
      </p:sp>
      <p:sp>
        <p:nvSpPr>
          <p:cNvPr id="28" name="TextBox 27"/>
          <p:cNvSpPr txBox="1"/>
          <p:nvPr/>
        </p:nvSpPr>
        <p:spPr>
          <a:xfrm>
            <a:off x="1243584" y="5422392"/>
            <a:ext cx="2331720" cy="502920"/>
          </a:xfrm>
          <a:prstGeom prst="rect">
            <a:avLst/>
          </a:prstGeom>
          <a:noFill/>
        </p:spPr>
        <p:txBody>
          <a:bodyPr wrap="square">
            <a:spAutoFit/>
          </a:bodyPr>
          <a:lstStyle/>
          <a:p>
            <a:pPr algn="l"/>
            <a:r>
              <a:rPr sz="1350" b="1" i="0">
                <a:solidFill>
                  <a:srgbClr val="0F172A"/>
                </a:solidFill>
                <a:latin typeface="Helvetica Neue"/>
              </a:rPr>
              <a:t>Autoregressive generation</a:t>
            </a:r>
          </a:p>
        </p:txBody>
      </p:sp>
      <p:sp>
        <p:nvSpPr>
          <p:cNvPr id="29" name="TextBox 28"/>
          <p:cNvSpPr txBox="1"/>
          <p:nvPr/>
        </p:nvSpPr>
        <p:spPr>
          <a:xfrm>
            <a:off x="3703320" y="5330952"/>
            <a:ext cx="8001000" cy="585216"/>
          </a:xfrm>
          <a:prstGeom prst="rect">
            <a:avLst/>
          </a:prstGeom>
          <a:noFill/>
        </p:spPr>
        <p:txBody>
          <a:bodyPr wrap="square">
            <a:spAutoFit/>
          </a:bodyPr>
          <a:lstStyle/>
          <a:p>
            <a:pPr>
              <a:spcBef>
                <a:spcPts val="0"/>
              </a:spcBef>
              <a:spcAft>
                <a:spcPts val="300"/>
              </a:spcAft>
            </a:pPr>
            <a:r>
              <a:rPr sz="850" b="1">
                <a:solidFill>
                  <a:srgbClr val="4338CA"/>
                </a:solidFill>
                <a:latin typeface="Helvetica Neue"/>
              </a:rPr>
              <a:t>BOOK   </a:t>
            </a:r>
            <a:r>
              <a:rPr sz="1150" u="sng">
                <a:solidFill>
                  <a:srgbClr val="1D4ED8"/>
                </a:solidFill>
                <a:latin typeface="Helvetica Neue"/>
                <a:hlinkClick r:id="rId10"/>
              </a:rPr>
              <a:t>J&amp;M Ch. 7 · decoding &amp; sampling</a:t>
            </a:r>
          </a:p>
          <a:p>
            <a:pPr>
              <a:spcBef>
                <a:spcPts val="0"/>
              </a:spcBef>
              <a:spcAft>
                <a:spcPts val="300"/>
              </a:spcAft>
            </a:pPr>
            <a:r>
              <a:rPr sz="850" b="1">
                <a:solidFill>
                  <a:srgbClr val="92400E"/>
                </a:solidFill>
                <a:latin typeface="Helvetica Neue"/>
              </a:rPr>
              <a:t>PAPER   </a:t>
            </a:r>
            <a:r>
              <a:rPr sz="1150" u="sng">
                <a:solidFill>
                  <a:srgbClr val="1D4ED8"/>
                </a:solidFill>
                <a:latin typeface="Helvetica Neue"/>
                <a:hlinkClick r:id="rId11"/>
              </a:rPr>
              <a:t>Holtzman et al. 2020 · nucleus sampling · arXiv:1904.09751</a:t>
            </a:r>
          </a:p>
          <a:p>
            <a:pPr>
              <a:spcBef>
                <a:spcPts val="0"/>
              </a:spcBef>
              <a:spcAft>
                <a:spcPts val="300"/>
              </a:spcAft>
            </a:pPr>
            <a:r>
              <a:rPr sz="850" b="1">
                <a:solidFill>
                  <a:srgbClr val="047857"/>
                </a:solidFill>
                <a:latin typeface="Helvetica Neue"/>
              </a:rPr>
              <a:t>GUIDE   </a:t>
            </a:r>
            <a:r>
              <a:rPr sz="1150" u="sng">
                <a:solidFill>
                  <a:srgbClr val="1D4ED8"/>
                </a:solidFill>
                <a:latin typeface="Helvetica Neue"/>
                <a:hlinkClick r:id="rId12"/>
              </a:rPr>
              <a:t>Karpathy · Let's build GPT / nanoGPT (video)</a:t>
            </a:r>
          </a:p>
        </p:txBody>
      </p:sp>
      <p:sp>
        <p:nvSpPr>
          <p:cNvPr id="30" name="Rectangle 29"/>
          <p:cNvSpPr/>
          <p:nvPr/>
        </p:nvSpPr>
        <p:spPr>
          <a:xfrm>
            <a:off x="777240" y="6044184"/>
            <a:ext cx="10927080" cy="12801"/>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6089904"/>
            <a:ext cx="10972800" cy="365760"/>
          </a:xfrm>
          <a:prstGeom prst="rect">
            <a:avLst/>
          </a:prstGeom>
          <a:noFill/>
        </p:spPr>
        <p:txBody>
          <a:bodyPr wrap="square">
            <a:spAutoFit/>
          </a:bodyPr>
          <a:lstStyle/>
          <a:p>
            <a:r>
              <a:rPr sz="850" b="1">
                <a:solidFill>
                  <a:srgbClr val="94A3B8"/>
                </a:solidFill>
                <a:latin typeface="Helvetica Neue"/>
              </a:rPr>
              <a:t>ALSO REFERENCED    </a:t>
            </a:r>
            <a:r>
              <a:rPr sz="1100" b="0" u="sng">
                <a:solidFill>
                  <a:srgbClr val="1D4ED8"/>
                </a:solidFill>
                <a:latin typeface="Helvetica Neue"/>
                <a:hlinkClick r:id="rId13"/>
              </a:rPr>
              <a:t>Su et al. 2021 · RoPE / RoFormer · arXiv:2104.09864</a:t>
            </a:r>
            <a:r>
              <a:rPr sz="1100" b="0">
                <a:solidFill>
                  <a:srgbClr val="CBD5E1"/>
                </a:solidFill>
                <a:latin typeface="Helvetica Neue"/>
              </a:rPr>
              <a:t>        ·        </a:t>
            </a:r>
            <a:r>
              <a:rPr sz="1100" b="0" u="sng">
                <a:solidFill>
                  <a:srgbClr val="1D4ED8"/>
                </a:solidFill>
                <a:latin typeface="Helvetica Neue"/>
                <a:hlinkClick r:id="rId14"/>
              </a:rPr>
              <a:t>app_reviews dataset (Google Play) on the Hugging Face 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