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 spc="260">
                <a:solidFill>
                  <a:srgbClr val="4F46E5"/>
                </a:solidFill>
                <a:latin typeface="Helvetica Neue"/>
              </a:rPr>
              <a:t>WEEK 8 · LECTURE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F172A"/>
                </a:solidFill>
                <a:latin typeface="Helvetica Neue"/>
              </a:rPr>
              <a:t>Answering the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475569"/>
                </a:solidFill>
                <a:latin typeface="Helvetica Neue"/>
              </a:rPr>
              <a:t>Retrieval-augmented generation, and the engineering around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A model that writes fluently, knows nothing about your company,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and cannot tell you where it got that. Tonight we fix all three.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Helvetica Neue"/>
              </a:rPr>
              <a:t>Three discussions, no laptops required, and a working product at the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LECTURES 13 TO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Helvetica Neue"/>
              </a:rPr>
              <a:t>Lectures 13 and 14 classified tickets. Lecture 15 answers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Same company, same inbox. What changes tonight is what the system produces at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377439"/>
            <a:ext cx="11247120" cy="18364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THE GROUNDING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A general model invents a menu that does not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 real Cobalt ticket, answered by a general model with no access to Cobalt's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76288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270728"/>
            <a:ext cx="11247120" cy="39167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DISCUSSION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Helvetica Neue"/>
              </a:rPr>
              <a:t>A court ruled the company liable for what its chatbot invented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Read the timeline, then take a position. We return to this at the end of the lecture.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76288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dis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377439"/>
            <a:ext cx="11521440" cy="31330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Four stages: the question, retrieve, generate, cite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Find the relevant documents first, then make the model answer from those and only those.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76288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377439"/>
            <a:ext cx="11247120" cy="2473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50" b="1" i="0">
                <a:solidFill>
                  <a:srgbClr val="0F172A"/>
                </a:solidFill>
                <a:latin typeface="Helvetica Neue"/>
              </a:rPr>
              <a:t>Dense retrieval matches meaning, keyword search matches spelling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real 160 tickets from Lecture 13, and the real question you asked of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4284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fig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54" y="2011680"/>
            <a:ext cx="7776585" cy="4023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899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Keyword search matched on the word “anything” and returned date pickers. Dense retrieval returned three people locked out, sharing no words with the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50" b="1" i="0">
                <a:solidFill>
                  <a:srgbClr val="0F172A"/>
                </a:solidFill>
                <a:latin typeface="Helvetica Neue"/>
              </a:rPr>
              <a:t>Where you cut the documents decides what can be retrieved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Retrieval returns pieces of documents, not whole documents. Choosing the pieces is a design decision with real consequences.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4284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fig_chu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33" y="2103120"/>
            <a:ext cx="1036922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RERANKING AND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50" b="1" i="0">
                <a:solidFill>
                  <a:srgbClr val="0F172A"/>
                </a:solidFill>
                <a:latin typeface="Helvetica Neue"/>
              </a:rPr>
              <a:t>A second pass reads the question and the passage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Then attach the source of every claim, because the rep has to check it before sending.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4284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re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377439"/>
            <a:ext cx="11247120" cy="3543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MULTIMODAL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CLIP puts images and text in the same vector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same shared-space idea from Lecture 13, extended to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4284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fig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876" y="2011680"/>
            <a:ext cx="7511943" cy="4023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899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Roughly half of real support tickets arrive with a screenshot. Until now our copilot has been blind to every one of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Helvetica Neue"/>
              </a:rPr>
              <a:t>Greedy, beam search and sampling, from one set of probabilities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Real GPT-2 probabilities. One setting decides which word comes out, and whether you can audit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92280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fig_de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972" y="2011680"/>
            <a:ext cx="9193749" cy="4023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899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Greedy is reproducible and boring, which is what a support answer should be. Sampling is for drafting and marketing, where variety is the 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Helvetica Neue"/>
              </a:rPr>
              <a:t>The model has no memory, so the application has to supply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Every request arrives with no history. Three ways to supply it, three failure modes.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92280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fig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2231960"/>
            <a:ext cx="10241280" cy="3628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Everything that looks like memory in a chat product is a decision about what to paste back in, and each option has a failure mode your customers will find.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AGENTIC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F172A"/>
                </a:solidFill>
                <a:latin typeface="Helvetica Neue"/>
              </a:rPr>
              <a:t>An agent chooses its own retrieval steps, one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same ticket, but the system chooses its own steps instead of following a fixed 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92280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54" y="2103120"/>
            <a:ext cx="10481186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DISCUSSION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50" b="1" i="0">
                <a:solidFill>
                  <a:srgbClr val="0F172A"/>
                </a:solidFill>
                <a:latin typeface="Helvetica Neue"/>
              </a:rPr>
              <a:t>One crafted link made Microsoft 365 Copilot return private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 retrieval assistant working exactly as designed, and why that is the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dis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377439"/>
            <a:ext cx="11521440" cy="33175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Helvetica Neue"/>
              </a:rPr>
              <a:t>LangChain, LangGraph and Streamlit: what each one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What each one buys you, what it costs you, and when to use none of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84" y="2103120"/>
            <a:ext cx="1085992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Helvetica Neue"/>
              </a:rPr>
              <a:t>Retrieval, groundedness and acceptance are measured separately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Retrieval and generation fail in different ways, so they have to be measured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fig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423160"/>
            <a:ext cx="10607040" cy="34599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Retrieval and generation fail in different ways. Measure them apart or you will not know which half to fix.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The Cobalt Support Copilot, running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Watch rather than follow along. The code is on the course repo if you want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377439"/>
            <a:ext cx="11247120" cy="3615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Helvetica Neue"/>
              </a:rPr>
              <a:t>Every control in the sidebar is a decision from tonight. We change one and watch what it does to the answer.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DISCUSSION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50" b="1" i="0">
                <a:solidFill>
                  <a:srgbClr val="0F172A"/>
                </a:solidFill>
                <a:latin typeface="Helvetica Neue"/>
              </a:rPr>
              <a:t>Klarna shipped this at scale, and the accounts of what happened disagree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You have now built one. This is a company that deployed it to millions of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288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4284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2280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4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1" name="Picture 10" descr="d_dis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377439"/>
            <a:ext cx="11521440" cy="3686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