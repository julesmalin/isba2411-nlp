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 spc="260">
                <a:solidFill>
                  <a:srgbClr val="4F46E5"/>
                </a:solidFill>
                <a:latin typeface="Helvetica Neue"/>
              </a:rPr>
              <a:t>WEEK 8 · LECTURE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Helvetica Neue"/>
              </a:rPr>
              <a:t>Agentic Support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75569"/>
                </a:solidFill>
                <a:latin typeface="Helvetica Neue"/>
              </a:rPr>
              <a:t>Writing the retrieval pipeline, the agent loop and 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It searches your documentation, cites every claim, judges whether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retrieved enough, and declines when the documentation does not cover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Helvetica Neue"/>
              </a:rPr>
              <a:t>Laptops open. We run every cell together, then we look at the jobs that build these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Helvetica Neue"/>
              </a:rPr>
              <a:t>What Lecture 15 demonstrated, and what this session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Same company, same inbox, same models. Two things change: who types, and what is in the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6323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286000"/>
            <a:ext cx="11247120" cy="2797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THE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Six blocks and fifteen steps,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This is the whole session on one slide. Come back to it when you lose the thread.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6323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fi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67" y="1965960"/>
            <a:ext cx="1111615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Four results to watch for while we run the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Three of the four are failures. They are in the notebook on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66323" y="384048"/>
            <a:ext cx="106655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The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2286000"/>
            <a:ext cx="11247120" cy="2976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THE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Helvetica Neue"/>
              </a:rPr>
              <a:t>These jobs differ by distance from the customer, not by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Titles overlap and shift. Where you sit relative to the customer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4319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pr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286000"/>
            <a:ext cx="11612880" cy="3850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THE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Helvetica Neue"/>
              </a:rPr>
              <a:t>Skills named in AI Engineer postings, and where you did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Left column is language from AI Engineer postings. Right column is what you 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4319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040" y="2103120"/>
            <a:ext cx="9527614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THE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Helvetica Neue"/>
              </a:rPr>
              <a:t>What each of those titles pays, and where the number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Two sources with different methods. Which one you quote changes the answer by a third.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4319" y="384048"/>
            <a:ext cx="100053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003" y="1938528"/>
            <a:ext cx="8427687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DISCUSSION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Which of these jobs did you just automate?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Ten minutes. Argue from the role you would actually want.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dis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331720"/>
            <a:ext cx="10424160" cy="3071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DISCUSSION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Which parts of the work the tooling replaced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All three questions on the previous slide come back to this split.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an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2286000"/>
            <a:ext cx="11338560" cy="31136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DISCUSSION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F172A"/>
                </a:solidFill>
                <a:latin typeface="Helvetica Neue"/>
              </a:rPr>
              <a:t>The threshold decides how much of the queue gets automated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It is not a machine learning question, and somebody has to put their name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dis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286000"/>
            <a:ext cx="11521440" cy="3247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DISCUSSION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50" b="1" i="0">
                <a:solidFill>
                  <a:srgbClr val="0F172A"/>
                </a:solidFill>
                <a:latin typeface="Helvetica Neue"/>
              </a:rPr>
              <a:t>Three questions an agent introduces, and the control for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All three are inexpensive to implement and commonly omitted.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an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2286000"/>
            <a:ext cx="11338560" cy="27889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THE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What is on the course repo, and what it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All of it is on the course repo, and all of it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6323" y="452628"/>
            <a:ext cx="106655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The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4319" y="452628"/>
            <a:ext cx="100053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The 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16296" y="384048"/>
            <a:ext cx="113257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16296" y="452628"/>
            <a:ext cx="113257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The debate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564" y="2331720"/>
            <a:ext cx="7774566" cy="20573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  <a:latin typeface="Helvetica Neue"/>
              </a:rPr>
              <a:t>A retrieval-grounded support agent with citations, a refusal path, multimodal retrieval and a browser interface.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Helvetica Neue"/>
              </a:rPr>
              <a:t>Built on LangChain and LangGraph, running on downloaded weights with no training, evaluated against a real 160-ticket inbox.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Helvetica Neue"/>
              </a:rPr>
              <a:t>Replace the knowledge base with your own documents to reuse this for your final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