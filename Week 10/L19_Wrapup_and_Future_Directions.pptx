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417320"/>
            <a:ext cx="108813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 spc="260">
                <a:solidFill>
                  <a:srgbClr val="4F46E5"/>
                </a:solidFill>
                <a:latin typeface="Helvetica Neue"/>
              </a:rPr>
              <a:t>WEEK 10 · LECTURE 19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874519"/>
            <a:ext cx="1088136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5200" b="1" i="0">
                <a:solidFill>
                  <a:srgbClr val="0F172A"/>
                </a:solidFill>
                <a:latin typeface="Helvetica Neue"/>
              </a:rPr>
              <a:t>Where This Leaves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880360"/>
            <a:ext cx="1088136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600" b="0" i="0">
                <a:solidFill>
                  <a:srgbClr val="475569"/>
                </a:solidFill>
                <a:latin typeface="Helvetica Neue"/>
              </a:rPr>
              <a:t>Course review, and the state of the field as of August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886200"/>
            <a:ext cx="108813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900" b="0" i="0">
                <a:solidFill>
                  <a:srgbClr val="0F172A"/>
                </a:solidFill>
                <a:latin typeface="Helvetica Neue"/>
              </a:rPr>
              <a:t>Ninety minutes. No notebook tonight. The last half hour is an open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251960"/>
            <a:ext cx="108813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900" b="0" i="0">
                <a:solidFill>
                  <a:srgbClr val="0F172A"/>
                </a:solidFill>
                <a:latin typeface="Helvetica Neue"/>
              </a:rPr>
              <a:t>argument about your own working life, and you do the arguing.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5166360"/>
            <a:ext cx="108813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0" i="0">
                <a:solidFill>
                  <a:srgbClr val="475569"/>
                </a:solidFill>
                <a:latin typeface="Helvetica Neue"/>
              </a:rPr>
              <a:t>Final presentations are Thursday. Nothing here adds to that.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172200"/>
            <a:ext cx="108813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BCC1CC"/>
                </a:solidFill>
                <a:latin typeface="Helvetica Neue"/>
              </a:rPr>
              <a:t>ISBA 2411 · Natural Language Processing &amp; AI · Summer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50" b="1" i="0" spc="220">
                <a:solidFill>
                  <a:srgbClr val="0EA5E9"/>
                </a:solidFill>
                <a:latin typeface="Helvetica Neue"/>
              </a:rPr>
              <a:t>WHAT WE LEARNED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58952"/>
            <a:ext cx="10972800" cy="7040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650" b="1" i="0">
                <a:solidFill>
                  <a:srgbClr val="0F172A"/>
                </a:solidFill>
                <a:latin typeface="Helvetica Neue"/>
              </a:rPr>
              <a:t>Eight systems built this term, and the chapters behind each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17320"/>
            <a:ext cx="108813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475569"/>
                </a:solidFill>
                <a:latin typeface="Helvetica Neue"/>
              </a:rPr>
              <a:t>Each box is a system this class implemented. The reading it draws on is listed beneath it.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04185" y="384048"/>
            <a:ext cx="1462674" cy="274320"/>
          </a:xfrm>
          <a:prstGeom prst="roundRect">
            <a:avLst>
              <a:gd name="adj" fmla="val 42000"/>
            </a:avLst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7704185" y="452628"/>
            <a:ext cx="1462674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50" b="1" i="0" spc="60">
                <a:solidFill>
                  <a:srgbClr val="FFFFFF"/>
                </a:solidFill>
                <a:latin typeface="Helvetica Neue"/>
              </a:rPr>
              <a:t>1  What we learned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258300" y="452628"/>
            <a:ext cx="1264615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50" b="1" i="0" spc="60">
                <a:solidFill>
                  <a:srgbClr val="BCC1CC"/>
                </a:solidFill>
                <a:latin typeface="Helvetica Neue"/>
              </a:rPr>
              <a:t>2  What changed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14355" y="452628"/>
            <a:ext cx="934516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50" b="1" i="0" spc="60">
                <a:solidFill>
                  <a:srgbClr val="BCC1CC"/>
                </a:solidFill>
                <a:latin typeface="Helvetica Neue"/>
              </a:rPr>
              <a:t>3  By 2028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49224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BCC1CC"/>
                </a:solidFill>
                <a:latin typeface="Helvetica Neue"/>
              </a:rPr>
              <a:t>ISBA 2411 · Natural Language Processing &amp; AI · Summer 2026</a:t>
            </a:r>
          </a:p>
        </p:txBody>
      </p:sp>
      <p:pic>
        <p:nvPicPr>
          <p:cNvPr id="10" name="Picture 9" descr="d_buil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3687" y="1966104"/>
            <a:ext cx="11704320" cy="448027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50" b="1" i="0" spc="220">
                <a:solidFill>
                  <a:srgbClr val="0EA5E9"/>
                </a:solidFill>
                <a:latin typeface="Helvetica Neue"/>
              </a:rPr>
              <a:t>WHAT WE LEARNED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58952"/>
            <a:ext cx="10972800" cy="7040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900" b="1" i="0">
                <a:solidFill>
                  <a:srgbClr val="0F172A"/>
                </a:solidFill>
                <a:latin typeface="Helvetica Neue"/>
              </a:rPr>
              <a:t>Six capabilities added between 16 June and 20 August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17320"/>
            <a:ext cx="108813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475569"/>
                </a:solidFill>
                <a:latin typeface="Helvetica Neue"/>
              </a:rPr>
              <a:t>Stated as tasks you can now perform and describe, which is the form an employer asks in.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04185" y="384048"/>
            <a:ext cx="1462674" cy="274320"/>
          </a:xfrm>
          <a:prstGeom prst="roundRect">
            <a:avLst>
              <a:gd name="adj" fmla="val 42000"/>
            </a:avLst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7704185" y="452628"/>
            <a:ext cx="1462674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50" b="1" i="0" spc="60">
                <a:solidFill>
                  <a:srgbClr val="FFFFFF"/>
                </a:solidFill>
                <a:latin typeface="Helvetica Neue"/>
              </a:rPr>
              <a:t>1  What we learned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258300" y="452628"/>
            <a:ext cx="1264615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50" b="1" i="0" spc="60">
                <a:solidFill>
                  <a:srgbClr val="BCC1CC"/>
                </a:solidFill>
                <a:latin typeface="Helvetica Neue"/>
              </a:rPr>
              <a:t>2  What changed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14355" y="452628"/>
            <a:ext cx="934516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50" b="1" i="0" spc="60">
                <a:solidFill>
                  <a:srgbClr val="BCC1CC"/>
                </a:solidFill>
                <a:latin typeface="Helvetica Neue"/>
              </a:rPr>
              <a:t>3  By 2028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49224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BCC1CC"/>
                </a:solidFill>
                <a:latin typeface="Helvetica Neue"/>
              </a:rPr>
              <a:t>ISBA 2411 · Natural Language Processing &amp; AI · Summer 2026</a:t>
            </a:r>
          </a:p>
        </p:txBody>
      </p:sp>
      <p:pic>
        <p:nvPicPr>
          <p:cNvPr id="10" name="Picture 9" descr="d_c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5127" y="2083347"/>
            <a:ext cx="11521440" cy="429150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50" b="1" i="0" spc="220">
                <a:solidFill>
                  <a:srgbClr val="D97706"/>
                </a:solidFill>
                <a:latin typeface="Helvetica Neue"/>
              </a:rPr>
              <a:t>WHAT CHANGED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58952"/>
            <a:ext cx="10972800" cy="7040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900" b="1" i="0">
                <a:solidFill>
                  <a:srgbClr val="0F172A"/>
                </a:solidFill>
                <a:latin typeface="Helvetica Neue"/>
              </a:rPr>
              <a:t>Five developments in the field during these ten weeks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17320"/>
            <a:ext cx="108813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475569"/>
                </a:solidFill>
                <a:latin typeface="Helvetica Neue"/>
              </a:rPr>
              <a:t>Dated events between 16 June and 14 August 2026, over the period the syllabus was fixed.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04185" y="452628"/>
            <a:ext cx="1462674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50" b="1" i="0" spc="60">
                <a:solidFill>
                  <a:srgbClr val="BCC1CC"/>
                </a:solidFill>
                <a:latin typeface="Helvetica Neue"/>
              </a:rPr>
              <a:t>1  What we learned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258300" y="384048"/>
            <a:ext cx="1264615" cy="274320"/>
          </a:xfrm>
          <a:prstGeom prst="roundRect">
            <a:avLst>
              <a:gd name="adj" fmla="val 42000"/>
            </a:avLst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9258300" y="452628"/>
            <a:ext cx="1264615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50" b="1" i="0" spc="60">
                <a:solidFill>
                  <a:srgbClr val="FFFFFF"/>
                </a:solidFill>
                <a:latin typeface="Helvetica Neue"/>
              </a:rPr>
              <a:t>2  What changed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14355" y="452628"/>
            <a:ext cx="934516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50" b="1" i="0" spc="60">
                <a:solidFill>
                  <a:srgbClr val="BCC1CC"/>
                </a:solidFill>
                <a:latin typeface="Helvetica Neue"/>
              </a:rPr>
              <a:t>3  By 2028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49224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BCC1CC"/>
                </a:solidFill>
                <a:latin typeface="Helvetica Neue"/>
              </a:rPr>
              <a:t>ISBA 2411 · Natural Language Processing &amp; AI · Summer 2026</a:t>
            </a:r>
          </a:p>
        </p:txBody>
      </p:sp>
      <p:pic>
        <p:nvPicPr>
          <p:cNvPr id="10" name="Picture 9" descr="d_ch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847" y="2011732"/>
            <a:ext cx="11430000" cy="443473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50" b="1" i="0" spc="220">
                <a:solidFill>
                  <a:srgbClr val="D97706"/>
                </a:solidFill>
                <a:latin typeface="Helvetica Neue"/>
              </a:rPr>
              <a:t>WHAT CHANGED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58952"/>
            <a:ext cx="10972800" cy="7040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900" b="1" i="0">
                <a:solidFill>
                  <a:srgbClr val="0F172A"/>
                </a:solidFill>
                <a:latin typeface="Helvetica Neue"/>
              </a:rPr>
              <a:t>The assigned texts against current practice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17320"/>
            <a:ext cx="108813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475569"/>
                </a:solidFill>
                <a:latin typeface="Helvetica Neue"/>
              </a:rPr>
              <a:t>Both remain correct on mechanism. Both were completed before the current deployment patterns.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04185" y="452628"/>
            <a:ext cx="1462674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50" b="1" i="0" spc="60">
                <a:solidFill>
                  <a:srgbClr val="BCC1CC"/>
                </a:solidFill>
                <a:latin typeface="Helvetica Neue"/>
              </a:rPr>
              <a:t>1  What we learned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258300" y="384048"/>
            <a:ext cx="1264615" cy="274320"/>
          </a:xfrm>
          <a:prstGeom prst="roundRect">
            <a:avLst>
              <a:gd name="adj" fmla="val 42000"/>
            </a:avLst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9258300" y="452628"/>
            <a:ext cx="1264615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50" b="1" i="0" spc="60">
                <a:solidFill>
                  <a:srgbClr val="FFFFFF"/>
                </a:solidFill>
                <a:latin typeface="Helvetica Neue"/>
              </a:rPr>
              <a:t>2  What changed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14355" y="452628"/>
            <a:ext cx="934516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50" b="1" i="0" spc="60">
                <a:solidFill>
                  <a:srgbClr val="BCC1CC"/>
                </a:solidFill>
                <a:latin typeface="Helvetica Neue"/>
              </a:rPr>
              <a:t>3  By 2028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49224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BCC1CC"/>
                </a:solidFill>
                <a:latin typeface="Helvetica Neue"/>
              </a:rPr>
              <a:t>ISBA 2411 · Natural Language Processing &amp; AI · Summer 2026</a:t>
            </a:r>
          </a:p>
        </p:txBody>
      </p:sp>
      <p:pic>
        <p:nvPicPr>
          <p:cNvPr id="10" name="Picture 9" descr="d_book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847" y="2013361"/>
            <a:ext cx="11430000" cy="4431476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50" b="1" i="0" spc="220">
                <a:solidFill>
                  <a:srgbClr val="7C3AED"/>
                </a:solidFill>
                <a:latin typeface="Helvetica Neue"/>
              </a:rPr>
              <a:t>WHAT CHANGED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58952"/>
            <a:ext cx="10972800" cy="7040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0F172A"/>
                </a:solidFill>
                <a:latin typeface="Helvetica Neue"/>
              </a:rPr>
              <a:t>The default first approach has changed four times since 2018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17320"/>
            <a:ext cx="108813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475569"/>
                </a:solidFill>
                <a:latin typeface="Helvetica Neue"/>
              </a:rPr>
              <a:t>The question is constant: given a new task and no existing system, what is attempted first.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04185" y="452628"/>
            <a:ext cx="1462674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50" b="1" i="0" spc="60">
                <a:solidFill>
                  <a:srgbClr val="BCC1CC"/>
                </a:solidFill>
                <a:latin typeface="Helvetica Neue"/>
              </a:rPr>
              <a:t>1  What we learned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258300" y="384048"/>
            <a:ext cx="1264615" cy="274320"/>
          </a:xfrm>
          <a:prstGeom prst="roundRect">
            <a:avLst>
              <a:gd name="adj" fmla="val 42000"/>
            </a:avLst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9258300" y="452628"/>
            <a:ext cx="1264615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50" b="1" i="0" spc="60">
                <a:solidFill>
                  <a:srgbClr val="FFFFFF"/>
                </a:solidFill>
                <a:latin typeface="Helvetica Neue"/>
              </a:rPr>
              <a:t>2  What changed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14355" y="452628"/>
            <a:ext cx="934516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50" b="1" i="0" spc="60">
                <a:solidFill>
                  <a:srgbClr val="BCC1CC"/>
                </a:solidFill>
                <a:latin typeface="Helvetica Neue"/>
              </a:rPr>
              <a:t>3  By 2028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49224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BCC1CC"/>
                </a:solidFill>
                <a:latin typeface="Helvetica Neue"/>
              </a:rPr>
              <a:t>ISBA 2411 · Natural Language Processing &amp; AI · Summer 2026</a:t>
            </a:r>
          </a:p>
        </p:txBody>
      </p:sp>
      <p:pic>
        <p:nvPicPr>
          <p:cNvPr id="10" name="Picture 9" descr="d_lad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9407" y="2267293"/>
            <a:ext cx="11612880" cy="3969332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50" b="1" i="0" spc="220">
                <a:solidFill>
                  <a:srgbClr val="E11D48"/>
                </a:solidFill>
                <a:latin typeface="Helvetica Neue"/>
              </a:rPr>
              <a:t>WHAT CHANGED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58952"/>
            <a:ext cx="10972800" cy="7040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900" b="1" i="0">
                <a:solidFill>
                  <a:srgbClr val="0F172A"/>
                </a:solidFill>
                <a:latin typeface="Helvetica Neue"/>
              </a:rPr>
              <a:t>Five effects of coding agents on analytics 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17320"/>
            <a:ext cx="108813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475569"/>
                </a:solidFill>
                <a:latin typeface="Helvetica Neue"/>
              </a:rPr>
              <a:t>No assigned chapter covers this. The category did not exist when either text was written.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04185" y="452628"/>
            <a:ext cx="1462674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50" b="1" i="0" spc="60">
                <a:solidFill>
                  <a:srgbClr val="BCC1CC"/>
                </a:solidFill>
                <a:latin typeface="Helvetica Neue"/>
              </a:rPr>
              <a:t>1  What we learned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258300" y="384048"/>
            <a:ext cx="1264615" cy="274320"/>
          </a:xfrm>
          <a:prstGeom prst="roundRect">
            <a:avLst>
              <a:gd name="adj" fmla="val 42000"/>
            </a:avLst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9258300" y="452628"/>
            <a:ext cx="1264615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50" b="1" i="0" spc="60">
                <a:solidFill>
                  <a:srgbClr val="FFFFFF"/>
                </a:solidFill>
                <a:latin typeface="Helvetica Neue"/>
              </a:rPr>
              <a:t>2  What changed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14355" y="452628"/>
            <a:ext cx="934516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50" b="1" i="0" spc="60">
                <a:solidFill>
                  <a:srgbClr val="BCC1CC"/>
                </a:solidFill>
                <a:latin typeface="Helvetica Neue"/>
              </a:rPr>
              <a:t>3  By 2028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49224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BCC1CC"/>
                </a:solidFill>
                <a:latin typeface="Helvetica Neue"/>
              </a:rPr>
              <a:t>ISBA 2411 · Natural Language Processing &amp; AI · Summer 2026</a:t>
            </a:r>
          </a:p>
        </p:txBody>
      </p:sp>
      <p:pic>
        <p:nvPicPr>
          <p:cNvPr id="10" name="Picture 9" descr="d_i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9407" y="2058160"/>
            <a:ext cx="11612880" cy="4341879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50" b="1" i="0" spc="220">
                <a:solidFill>
                  <a:srgbClr val="7C3AED"/>
                </a:solidFill>
                <a:latin typeface="Helvetica Neue"/>
              </a:rPr>
              <a:t>WHAT CHANGED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58952"/>
            <a:ext cx="10972800" cy="7040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0F172A"/>
                </a:solidFill>
                <a:latin typeface="Helvetica Neue"/>
              </a:rPr>
              <a:t>Six anticipated directions, and the observed outcome of each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17320"/>
            <a:ext cx="108813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475569"/>
                </a:solidFill>
                <a:latin typeface="Helvetica Neue"/>
              </a:rPr>
              <a:t>Direction was predicted accurately in every row. The form it took was not.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04185" y="452628"/>
            <a:ext cx="1462674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50" b="1" i="0" spc="60">
                <a:solidFill>
                  <a:srgbClr val="BCC1CC"/>
                </a:solidFill>
                <a:latin typeface="Helvetica Neue"/>
              </a:rPr>
              <a:t>1  What we learned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258300" y="384048"/>
            <a:ext cx="1264615" cy="274320"/>
          </a:xfrm>
          <a:prstGeom prst="roundRect">
            <a:avLst>
              <a:gd name="adj" fmla="val 42000"/>
            </a:avLst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9258300" y="452628"/>
            <a:ext cx="1264615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50" b="1" i="0" spc="60">
                <a:solidFill>
                  <a:srgbClr val="FFFFFF"/>
                </a:solidFill>
                <a:latin typeface="Helvetica Neue"/>
              </a:rPr>
              <a:t>2  What changed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14355" y="452628"/>
            <a:ext cx="934516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50" b="1" i="0" spc="60">
                <a:solidFill>
                  <a:srgbClr val="BCC1CC"/>
                </a:solidFill>
                <a:latin typeface="Helvetica Neue"/>
              </a:rPr>
              <a:t>3  By 2028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49224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BCC1CC"/>
                </a:solidFill>
                <a:latin typeface="Helvetica Neue"/>
              </a:rPr>
              <a:t>ISBA 2411 · Natural Language Processing &amp; AI · Summer 2026</a:t>
            </a:r>
          </a:p>
        </p:txBody>
      </p:sp>
      <p:pic>
        <p:nvPicPr>
          <p:cNvPr id="10" name="Picture 9" descr="d_g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5127" y="1965960"/>
            <a:ext cx="11521440" cy="4480559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50" b="1" i="0" spc="220">
                <a:solidFill>
                  <a:srgbClr val="059669"/>
                </a:solidFill>
                <a:latin typeface="Helvetica Neue"/>
              </a:rPr>
              <a:t>BY 2028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58952"/>
            <a:ext cx="10972800" cy="7040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0F172A"/>
                </a:solidFill>
                <a:latin typeface="Helvetica Neue"/>
              </a:rPr>
              <a:t>Discussion: the analytics role under agent-assisted 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17320"/>
            <a:ext cx="108813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475569"/>
                </a:solidFill>
                <a:latin typeface="Helvetica Neue"/>
              </a:rPr>
              <a:t>Twenty-five minutes, unstructured. Answer from an organisation you have worked in.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04185" y="452628"/>
            <a:ext cx="1462674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50" b="1" i="0" spc="60">
                <a:solidFill>
                  <a:srgbClr val="BCC1CC"/>
                </a:solidFill>
                <a:latin typeface="Helvetica Neue"/>
              </a:rPr>
              <a:t>1  What we learned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258300" y="452628"/>
            <a:ext cx="1264615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50" b="1" i="0" spc="60">
                <a:solidFill>
                  <a:srgbClr val="BCC1CC"/>
                </a:solidFill>
                <a:latin typeface="Helvetica Neue"/>
              </a:rPr>
              <a:t>2  What changed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614355" y="384048"/>
            <a:ext cx="934516" cy="274320"/>
          </a:xfrm>
          <a:prstGeom prst="roundRect">
            <a:avLst>
              <a:gd name="adj" fmla="val 42000"/>
            </a:avLst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10614355" y="452628"/>
            <a:ext cx="934516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50" b="1" i="0" spc="60">
                <a:solidFill>
                  <a:srgbClr val="FFFFFF"/>
                </a:solidFill>
                <a:latin typeface="Helvetica Neue"/>
              </a:rPr>
              <a:t>3  By 2028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49224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BCC1CC"/>
                </a:solidFill>
                <a:latin typeface="Helvetica Neue"/>
              </a:rPr>
              <a:t>ISBA 2411 · Natural Language Processing &amp; AI · Summer 2026</a:t>
            </a:r>
          </a:p>
        </p:txBody>
      </p:sp>
      <p:pic>
        <p:nvPicPr>
          <p:cNvPr id="10" name="Picture 9" descr="d_dis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5127" y="2104108"/>
            <a:ext cx="11521440" cy="4249983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50" b="1" i="0" spc="220">
                <a:solidFill>
                  <a:srgbClr val="059669"/>
                </a:solidFill>
                <a:latin typeface="Helvetica Neue"/>
              </a:rPr>
              <a:t>BY 2028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58952"/>
            <a:ext cx="10972800" cy="7040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900" b="1" i="0">
                <a:solidFill>
                  <a:srgbClr val="0F172A"/>
                </a:solidFill>
                <a:latin typeface="Helvetica Neue"/>
              </a:rPr>
              <a:t>Likely future outcomes by 2028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17320"/>
            <a:ext cx="108813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475569"/>
                </a:solidFill>
                <a:latin typeface="Helvetica Neue"/>
              </a:rPr>
              <a:t>Seven directions supported by current evidence. Each is open to challenge.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04185" y="452628"/>
            <a:ext cx="1462674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50" b="1" i="0" spc="60">
                <a:solidFill>
                  <a:srgbClr val="BCC1CC"/>
                </a:solidFill>
                <a:latin typeface="Helvetica Neue"/>
              </a:rPr>
              <a:t>1  What we learned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258300" y="452628"/>
            <a:ext cx="1264615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50" b="1" i="0" spc="60">
                <a:solidFill>
                  <a:srgbClr val="BCC1CC"/>
                </a:solidFill>
                <a:latin typeface="Helvetica Neue"/>
              </a:rPr>
              <a:t>2  What changed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614355" y="384048"/>
            <a:ext cx="934516" cy="274320"/>
          </a:xfrm>
          <a:prstGeom prst="roundRect">
            <a:avLst>
              <a:gd name="adj" fmla="val 42000"/>
            </a:avLst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10614355" y="452628"/>
            <a:ext cx="934516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50" b="1" i="0" spc="60">
                <a:solidFill>
                  <a:srgbClr val="FFFFFF"/>
                </a:solidFill>
                <a:latin typeface="Helvetica Neue"/>
              </a:rPr>
              <a:t>3  By 2028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49224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BCC1CC"/>
                </a:solidFill>
                <a:latin typeface="Helvetica Neue"/>
              </a:rPr>
              <a:t>ISBA 2411 · Natural Language Processing &amp; AI · Summer 2026</a:t>
            </a:r>
          </a:p>
        </p:txBody>
      </p:sp>
      <p:pic>
        <p:nvPicPr>
          <p:cNvPr id="10" name="Picture 9" descr="d_ou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9407" y="2013199"/>
            <a:ext cx="11612880" cy="4431801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