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9"/>
  </p:notesMasterIdLst>
  <p:sldIdLst>
    <p:sldId id="256" r:id="rId2"/>
    <p:sldId id="257" r:id="rId3"/>
    <p:sldId id="270" r:id="rId4"/>
    <p:sldId id="271" r:id="rId5"/>
    <p:sldId id="258" r:id="rId6"/>
    <p:sldId id="259" r:id="rId7"/>
    <p:sldId id="260" r:id="rId8"/>
    <p:sldId id="261" r:id="rId9"/>
    <p:sldId id="262" r:id="rId10"/>
    <p:sldId id="263" r:id="rId11"/>
    <p:sldId id="264" r:id="rId12"/>
    <p:sldId id="272" r:id="rId13"/>
    <p:sldId id="269" r:id="rId14"/>
    <p:sldId id="265" r:id="rId15"/>
    <p:sldId id="266" r:id="rId16"/>
    <p:sldId id="267" r:id="rId17"/>
    <p:sldId id="268" r:id="rId18"/>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19" d="100"/>
          <a:sy n="119" d="100"/>
        </p:scale>
        <p:origin x="504" y="19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28240450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 minutes. Tuesday was about units and labels on single words. Today is about relationships between words. The arc of the week: tokens, then tags, then structure. End the recap by promising two things that bite in production: ambiguity and tokenizer mismatch.</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 minutes. Same four-verb structure as Tuesday. The diagnose objective is the one with direct career value: the tokenizer-model mismatch is a real bug students will hit the first time they deploy a Hugging Face model.</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 minutes. Two lenses on the same sentence. Constituency = chunks (the linguist's tree). Dependency = arrows between words (what modern parsers and spaCy actually produce). Tell students dependency parsing is the one they will see in tools, but constituency is the mental model for phrase structure. Both exist because flat word order underdetermines meaning.</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 minutes, the intellectual core. These are not tricks; they are everyday sentences. The telescope example is the canonical PP-attachment case. Read the garden-path sentence aloud and let the room feel their own parser fail in real time, that lands every year. Punchline: a parser, and an LLM, must commit to one reading. Sometimes it commits wrong.</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15 minutes plus 3 debrief. displacy gives a clean visual of the arcs, which makes ambiguity concrete. Students love trying to beat the parser. Capture two or three of their best sentences on the board for the discussion. Notebook: week2/ex3_dependency_ambiguity.ipynb.</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8 minutes. This is the judgment thread again: a confident system that is silently wrong. Push students past technology into governance: in high-stakes domains, should the system surface ambiguity rather than resolve it silently? That is a product and policy decision, not a modeling one. Ties to the ethics and governance theme from Week 1.</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 minutes. This is the single most useful career takeaway of the week. The tokenizer and model are a matched pair from the same checkpoint; never mix them. The reason it is dangerous: it fails silently, output just gets worse, metrics drift, and no exception is ever raised. Always load both from the same name. Flag verbally that the bug raises no error; the output just gets worse while metrics drift.</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 minutes. Connect straight back to Tuesday's token economics. The whitespace assumption is the sharpest example: half the textbook pipeline silently assumes you can split on spaces, which simply fails for Chinese. SentencePiece exists precisely because it makes no whitespace assumption. This is why multilingual models reach for it.</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12 minutes plus 3 debrief. This makes Tuesday's abstract token-tax claim into a hard number students computed themselves. Hindi and Chinese typically land at 2x to 4x English. Connect the ratio to a pricing decision: a flat per-request price means English users subsidize nobody and Hindi users are subsidized by the margin, or you lose money. Notebook: week2/ex4_token_tax.ipynb.</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8 minutes, two prompts, about 4 each. Prompt 1 is the deep one: LLMs handle syntax statistically rather than with explicit trees, so is parsing obsolete or just hidden? Good students will argue the structure is still learned, just not written down. Prompt 2 is the business call that connects straight to Tuesday's token tax and to the multilingual exercise: there is no free option, so make them commit and justify the tradeoff.</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 minutes. Make the week feel consequential, not academic. These three decisions are checkpoints in Milestone 1. Tell students the demo question they will face: why this tokenizer, and what does it cost you. Reference the course repo where the project scaffolding lives.</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 minutes. Recap, preview Week 3 (supervised learning for NLP, which returns to language models with a learning lens), and assign the reading. Close by reminding them the structure and ambiguity ideas never go away; modern LLMs handle them statistically rather than with explicit parses, but the underlying problem is exactly what we covered today.</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7.xml"/><Relationship Id="rId1" Type="http://schemas.openxmlformats.org/officeDocument/2006/relationships/slideLayout" Target="../slideLayouts/slideLayout1.xml"/><Relationship Id="rId5" Type="http://schemas.openxmlformats.org/officeDocument/2006/relationships/image" Target="../media/image8.png"/><Relationship Id="rId4" Type="http://schemas.openxmlformats.org/officeDocument/2006/relationships/image" Target="../media/image4.png"/></Relationships>
</file>

<file path=ppt/slides/_rels/slide10.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3.xml"/><Relationship Id="rId1" Type="http://schemas.openxmlformats.org/officeDocument/2006/relationships/slideLayout" Target="../slideLayouts/slideLayout1.xml"/><Relationship Id="rId6" Type="http://schemas.openxmlformats.org/officeDocument/2006/relationships/image" Target="../media/image10.png"/><Relationship Id="rId5" Type="http://schemas.openxmlformats.org/officeDocument/2006/relationships/image" Target="../media/image5.png"/><Relationship Id="rId4" Type="http://schemas.openxmlformats.org/officeDocument/2006/relationships/image" Target="../media/image3.png"/></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51A2E"/>
        </a:solidFill>
        <a:effectLst/>
      </p:bgPr>
    </p:bg>
    <p:spTree>
      <p:nvGrpSpPr>
        <p:cNvPr id="1" name=""/>
        <p:cNvGrpSpPr/>
        <p:nvPr/>
      </p:nvGrpSpPr>
      <p:grpSpPr>
        <a:xfrm>
          <a:off x="0" y="0"/>
          <a:ext cx="0" cy="0"/>
          <a:chOff x="0" y="0"/>
          <a:chExt cx="0" cy="0"/>
        </a:xfrm>
      </p:grpSpPr>
      <p:sp>
        <p:nvSpPr>
          <p:cNvPr id="2" name="Text 0"/>
          <p:cNvSpPr/>
          <p:nvPr/>
        </p:nvSpPr>
        <p:spPr>
          <a:xfrm>
            <a:off x="640080" y="1371600"/>
            <a:ext cx="10058400" cy="365760"/>
          </a:xfrm>
          <a:prstGeom prst="rect">
            <a:avLst/>
          </a:prstGeom>
          <a:noFill/>
          <a:ln/>
        </p:spPr>
        <p:txBody>
          <a:bodyPr wrap="square" rtlCol="0" anchor="ctr"/>
          <a:lstStyle/>
          <a:p>
            <a:pPr marL="0" indent="0">
              <a:buNone/>
            </a:pPr>
            <a:r>
              <a:rPr lang="en-US" sz="1400" b="1" kern="0" spc="300" dirty="0">
                <a:solidFill>
                  <a:srgbClr val="B5A06A"/>
                </a:solidFill>
                <a:latin typeface="Calibri" pitchFamily="34" charset="0"/>
                <a:ea typeface="Calibri" pitchFamily="34" charset="-122"/>
                <a:cs typeface="Calibri" pitchFamily="34" charset="-120"/>
              </a:rPr>
              <a:t>WEEK 2  ·  LECTURE 4  ·  THURSDAY</a:t>
            </a:r>
            <a:endParaRPr lang="en-US" sz="1400" dirty="0"/>
          </a:p>
        </p:txBody>
      </p:sp>
      <p:sp>
        <p:nvSpPr>
          <p:cNvPr id="3" name="Text 1"/>
          <p:cNvSpPr/>
          <p:nvPr/>
        </p:nvSpPr>
        <p:spPr>
          <a:xfrm>
            <a:off x="640080" y="1874520"/>
            <a:ext cx="10972800" cy="914400"/>
          </a:xfrm>
          <a:prstGeom prst="rect">
            <a:avLst/>
          </a:prstGeom>
          <a:noFill/>
          <a:ln/>
        </p:spPr>
        <p:txBody>
          <a:bodyPr wrap="square" rtlCol="0" anchor="ctr"/>
          <a:lstStyle/>
          <a:p>
            <a:pPr marL="0" indent="0">
              <a:buNone/>
            </a:pPr>
            <a:r>
              <a:rPr lang="en-US" sz="4800" b="1" dirty="0">
                <a:solidFill>
                  <a:srgbClr val="FFFFFF"/>
                </a:solidFill>
                <a:latin typeface="Cambria" pitchFamily="34" charset="0"/>
                <a:ea typeface="Cambria" pitchFamily="34" charset="-122"/>
                <a:cs typeface="Cambria" pitchFamily="34" charset="-120"/>
              </a:rPr>
              <a:t>Syntax &amp; Ambiguity</a:t>
            </a:r>
            <a:endParaRPr lang="en-US" sz="4800" dirty="0"/>
          </a:p>
        </p:txBody>
      </p:sp>
      <p:sp>
        <p:nvSpPr>
          <p:cNvPr id="4" name="Text 2"/>
          <p:cNvSpPr/>
          <p:nvPr/>
        </p:nvSpPr>
        <p:spPr>
          <a:xfrm>
            <a:off x="640080" y="2788920"/>
            <a:ext cx="10972800" cy="548640"/>
          </a:xfrm>
          <a:prstGeom prst="rect">
            <a:avLst/>
          </a:prstGeom>
          <a:noFill/>
          <a:ln/>
        </p:spPr>
        <p:txBody>
          <a:bodyPr wrap="square" rtlCol="0" anchor="ctr"/>
          <a:lstStyle/>
          <a:p>
            <a:pPr marL="0" indent="0">
              <a:buNone/>
            </a:pPr>
            <a:r>
              <a:rPr lang="en-US" sz="2000" dirty="0">
                <a:solidFill>
                  <a:srgbClr val="C9CDDA"/>
                </a:solidFill>
                <a:latin typeface="Calibri" pitchFamily="34" charset="0"/>
                <a:ea typeface="Calibri" pitchFamily="34" charset="-122"/>
                <a:cs typeface="Calibri" pitchFamily="34" charset="-120"/>
              </a:rPr>
              <a:t>Parsing, Structural Ambiguity &amp; Multilingual Pipelines</a:t>
            </a:r>
            <a:endParaRPr lang="en-US" sz="2000" dirty="0"/>
          </a:p>
        </p:txBody>
      </p:sp>
      <p:sp>
        <p:nvSpPr>
          <p:cNvPr id="5" name="Shape 3"/>
          <p:cNvSpPr/>
          <p:nvPr/>
        </p:nvSpPr>
        <p:spPr>
          <a:xfrm>
            <a:off x="685800" y="3611880"/>
            <a:ext cx="2926080" cy="0"/>
          </a:xfrm>
          <a:prstGeom prst="line">
            <a:avLst/>
          </a:prstGeom>
          <a:noFill/>
          <a:ln w="31750">
            <a:solidFill>
              <a:srgbClr val="B31A38"/>
            </a:solidFill>
            <a:prstDash val="solid"/>
          </a:ln>
        </p:spPr>
        <p:txBody>
          <a:bodyPr/>
          <a:lstStyle/>
          <a:p>
            <a:endParaRPr lang="en-US"/>
          </a:p>
        </p:txBody>
      </p:sp>
      <p:sp>
        <p:nvSpPr>
          <p:cNvPr id="6" name="Text 4"/>
          <p:cNvSpPr/>
          <p:nvPr/>
        </p:nvSpPr>
        <p:spPr>
          <a:xfrm>
            <a:off x="640080" y="3794760"/>
            <a:ext cx="10058400" cy="365760"/>
          </a:xfrm>
          <a:prstGeom prst="rect">
            <a:avLst/>
          </a:prstGeom>
          <a:noFill/>
          <a:ln/>
        </p:spPr>
        <p:txBody>
          <a:bodyPr wrap="square" rtlCol="0" anchor="ctr"/>
          <a:lstStyle/>
          <a:p>
            <a:pPr marL="0" indent="0">
              <a:buNone/>
            </a:pPr>
            <a:r>
              <a:rPr lang="en-US" sz="1500" i="1" dirty="0">
                <a:solidFill>
                  <a:srgbClr val="B5A06A"/>
                </a:solidFill>
                <a:latin typeface="Calibri" pitchFamily="34" charset="0"/>
                <a:ea typeface="Calibri" pitchFamily="34" charset="-122"/>
                <a:cs typeface="Calibri" pitchFamily="34" charset="-120"/>
              </a:rPr>
              <a:t>Language as Structured Data</a:t>
            </a:r>
            <a:endParaRPr lang="en-US" sz="1500" dirty="0"/>
          </a:p>
        </p:txBody>
      </p:sp>
      <p:sp>
        <p:nvSpPr>
          <p:cNvPr id="7" name="Shape 5"/>
          <p:cNvSpPr/>
          <p:nvPr/>
        </p:nvSpPr>
        <p:spPr>
          <a:xfrm>
            <a:off x="9784080" y="4206240"/>
            <a:ext cx="1371600" cy="1371600"/>
          </a:xfrm>
          <a:prstGeom prst="line">
            <a:avLst/>
          </a:prstGeom>
          <a:solidFill>
            <a:srgbClr val="B31A38"/>
          </a:solidFill>
          <a:ln/>
        </p:spPr>
        <p:txBody>
          <a:bodyPr/>
          <a:lstStyle/>
          <a:p>
            <a:endParaRPr lang="en-US"/>
          </a:p>
        </p:txBody>
      </p:sp>
      <p:pic>
        <p:nvPicPr>
          <p:cNvPr id="8" name="Image 0" descr="preencoded.png"/>
          <p:cNvPicPr>
            <a:picLocks noChangeAspect="1"/>
          </p:cNvPicPr>
          <p:nvPr/>
        </p:nvPicPr>
        <p:blipFill>
          <a:blip r:embed="rId3"/>
          <a:stretch>
            <a:fillRect/>
          </a:stretch>
        </p:blipFill>
        <p:spPr>
          <a:xfrm>
            <a:off x="10140696" y="4562856"/>
            <a:ext cx="658368" cy="658368"/>
          </a:xfrm>
          <a:prstGeom prst="rect">
            <a:avLst/>
          </a:prstGeom>
        </p:spPr>
      </p:pic>
      <p:sp>
        <p:nvSpPr>
          <p:cNvPr id="9" name="Text 6"/>
          <p:cNvSpPr/>
          <p:nvPr/>
        </p:nvSpPr>
        <p:spPr>
          <a:xfrm>
            <a:off x="640080" y="6355080"/>
            <a:ext cx="10058400" cy="274320"/>
          </a:xfrm>
          <a:prstGeom prst="rect">
            <a:avLst/>
          </a:prstGeom>
          <a:noFill/>
          <a:ln/>
        </p:spPr>
        <p:txBody>
          <a:bodyPr wrap="square" rtlCol="0" anchor="ctr"/>
          <a:lstStyle/>
          <a:p>
            <a:pPr marL="0" indent="0">
              <a:buNone/>
            </a:pPr>
            <a:r>
              <a:rPr lang="en-US" sz="1000" dirty="0">
                <a:solidFill>
                  <a:srgbClr val="8A90A2"/>
                </a:solidFill>
                <a:latin typeface="Calibri" pitchFamily="34" charset="0"/>
                <a:ea typeface="Calibri" pitchFamily="34" charset="-122"/>
                <a:cs typeface="Calibri" pitchFamily="34" charset="-120"/>
              </a:rPr>
              <a:t>ISBA 2411 · Natural Language Processing &amp; AI · Summer 2026</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548640" y="384048"/>
            <a:ext cx="10972800" cy="320040"/>
          </a:xfrm>
          <a:prstGeom prst="rect">
            <a:avLst/>
          </a:prstGeom>
          <a:noFill/>
          <a:ln/>
        </p:spPr>
        <p:txBody>
          <a:bodyPr wrap="square" lIns="0" tIns="0" rIns="0" bIns="0" rtlCol="0" anchor="ctr"/>
          <a:lstStyle/>
          <a:p>
            <a:pPr marL="0" indent="0">
              <a:buNone/>
            </a:pPr>
            <a:r>
              <a:rPr lang="en-US" sz="1300" b="1" kern="0" spc="200" dirty="0">
                <a:solidFill>
                  <a:srgbClr val="B31A38"/>
                </a:solidFill>
                <a:latin typeface="Calibri" pitchFamily="34" charset="0"/>
                <a:ea typeface="Calibri" pitchFamily="34" charset="-122"/>
                <a:cs typeface="Calibri" pitchFamily="34" charset="-120"/>
              </a:rPr>
              <a:t>RECAP FROM TUESDAY</a:t>
            </a:r>
            <a:endParaRPr lang="en-US" sz="1300" dirty="0"/>
          </a:p>
        </p:txBody>
      </p:sp>
      <p:sp>
        <p:nvSpPr>
          <p:cNvPr id="3" name="Text 1"/>
          <p:cNvSpPr/>
          <p:nvPr/>
        </p:nvSpPr>
        <p:spPr>
          <a:xfrm>
            <a:off x="548640" y="676656"/>
            <a:ext cx="11064240" cy="777240"/>
          </a:xfrm>
          <a:prstGeom prst="rect">
            <a:avLst/>
          </a:prstGeom>
          <a:noFill/>
          <a:ln/>
        </p:spPr>
        <p:txBody>
          <a:bodyPr wrap="square" lIns="0" tIns="0" rIns="0" bIns="0" rtlCol="0" anchor="ctr"/>
          <a:lstStyle/>
          <a:p>
            <a:pPr marL="0" indent="0">
              <a:buNone/>
            </a:pPr>
            <a:r>
              <a:rPr lang="en-US" sz="3000" b="1" dirty="0">
                <a:solidFill>
                  <a:srgbClr val="151A2E"/>
                </a:solidFill>
                <a:latin typeface="Cambria" pitchFamily="34" charset="0"/>
                <a:ea typeface="Cambria" pitchFamily="34" charset="-122"/>
                <a:cs typeface="Cambria" pitchFamily="34" charset="-120"/>
              </a:rPr>
              <a:t>We can split text and label it. Now what holds it together?</a:t>
            </a:r>
            <a:endParaRPr lang="en-US" sz="3000" dirty="0"/>
          </a:p>
        </p:txBody>
      </p:sp>
      <p:sp>
        <p:nvSpPr>
          <p:cNvPr id="4" name="Shape 2"/>
          <p:cNvSpPr/>
          <p:nvPr/>
        </p:nvSpPr>
        <p:spPr>
          <a:xfrm>
            <a:off x="548640" y="1920240"/>
            <a:ext cx="5394960" cy="3931920"/>
          </a:xfrm>
          <a:prstGeom prst="roundRect">
            <a:avLst>
              <a:gd name="adj" fmla="val 1860"/>
            </a:avLst>
          </a:prstGeom>
          <a:solidFill>
            <a:srgbClr val="F4F5F8"/>
          </a:solidFill>
          <a:ln/>
          <a:effectLst>
            <a:outerShdw blurRad="88900" dist="38100" dir="5400000" algn="bl" rotWithShape="0">
              <a:srgbClr val="000000">
                <a:alpha val="10000"/>
              </a:srgbClr>
            </a:outerShdw>
          </a:effectLst>
        </p:spPr>
        <p:txBody>
          <a:bodyPr/>
          <a:lstStyle/>
          <a:p>
            <a:endParaRPr lang="en-US"/>
          </a:p>
        </p:txBody>
      </p:sp>
      <p:sp>
        <p:nvSpPr>
          <p:cNvPr id="5" name="Text 3"/>
          <p:cNvSpPr/>
          <p:nvPr/>
        </p:nvSpPr>
        <p:spPr>
          <a:xfrm>
            <a:off x="822960" y="2148840"/>
            <a:ext cx="4846320" cy="365760"/>
          </a:xfrm>
          <a:prstGeom prst="rect">
            <a:avLst/>
          </a:prstGeom>
          <a:noFill/>
          <a:ln/>
        </p:spPr>
        <p:txBody>
          <a:bodyPr wrap="square" lIns="0" tIns="0" rIns="0" bIns="0" rtlCol="0" anchor="ctr"/>
          <a:lstStyle/>
          <a:p>
            <a:pPr marL="0" indent="0">
              <a:buNone/>
            </a:pPr>
            <a:r>
              <a:rPr lang="en-US" sz="1500" b="1" dirty="0">
                <a:solidFill>
                  <a:srgbClr val="B31A38"/>
                </a:solidFill>
                <a:latin typeface="Calibri" pitchFamily="34" charset="0"/>
                <a:ea typeface="Calibri" pitchFamily="34" charset="-122"/>
                <a:cs typeface="Calibri" pitchFamily="34" charset="-120"/>
              </a:rPr>
              <a:t>Tuesday gave us</a:t>
            </a:r>
            <a:endParaRPr lang="en-US" sz="1500" dirty="0"/>
          </a:p>
        </p:txBody>
      </p:sp>
      <p:sp>
        <p:nvSpPr>
          <p:cNvPr id="6" name="Text 4"/>
          <p:cNvSpPr/>
          <p:nvPr/>
        </p:nvSpPr>
        <p:spPr>
          <a:xfrm>
            <a:off x="868680" y="2606040"/>
            <a:ext cx="4846320" cy="3017520"/>
          </a:xfrm>
          <a:prstGeom prst="rect">
            <a:avLst/>
          </a:prstGeom>
          <a:noFill/>
          <a:ln/>
        </p:spPr>
        <p:txBody>
          <a:bodyPr wrap="square" rtlCol="0" anchor="t"/>
          <a:lstStyle/>
          <a:p>
            <a:pPr marL="342900" indent="-342900">
              <a:spcAft>
                <a:spcPts val="1200"/>
              </a:spcAft>
              <a:buSzPct val="100000"/>
              <a:buChar char="•"/>
            </a:pPr>
            <a:r>
              <a:rPr lang="en-US" sz="1450" dirty="0">
                <a:solidFill>
                  <a:srgbClr val="1B1F2A"/>
                </a:solidFill>
                <a:latin typeface="Calibri" pitchFamily="34" charset="0"/>
                <a:ea typeface="Calibri" pitchFamily="34" charset="-122"/>
                <a:cs typeface="Calibri" pitchFamily="34" charset="-120"/>
              </a:rPr>
              <a:t>Subword tokenization: BPE, WordPiece, SentencePiece</a:t>
            </a:r>
            <a:endParaRPr lang="en-US" sz="1450" dirty="0"/>
          </a:p>
          <a:p>
            <a:pPr marL="342900" indent="-342900">
              <a:spcAft>
                <a:spcPts val="1200"/>
              </a:spcAft>
              <a:buSzPct val="100000"/>
              <a:buChar char="•"/>
            </a:pPr>
            <a:r>
              <a:rPr lang="en-US" sz="1450" dirty="0">
                <a:solidFill>
                  <a:srgbClr val="1B1F2A"/>
                </a:solidFill>
                <a:latin typeface="Calibri" pitchFamily="34" charset="0"/>
                <a:ea typeface="Calibri" pitchFamily="34" charset="-122"/>
                <a:cs typeface="Calibri" pitchFamily="34" charset="-120"/>
              </a:rPr>
              <a:t>POS tags: the grammatical job of each word</a:t>
            </a:r>
            <a:endParaRPr lang="en-US" sz="1450" dirty="0"/>
          </a:p>
          <a:p>
            <a:pPr marL="342900" indent="-342900">
              <a:spcAft>
                <a:spcPts val="1200"/>
              </a:spcAft>
              <a:buSzPct val="100000"/>
              <a:buChar char="•"/>
            </a:pPr>
            <a:r>
              <a:rPr lang="en-US" sz="1450" dirty="0">
                <a:solidFill>
                  <a:srgbClr val="1B1F2A"/>
                </a:solidFill>
                <a:latin typeface="Calibri" pitchFamily="34" charset="0"/>
                <a:ea typeface="Calibri" pitchFamily="34" charset="-122"/>
                <a:cs typeface="Calibri" pitchFamily="34" charset="-120"/>
              </a:rPr>
              <a:t>NER: the real-world entities inside the text</a:t>
            </a:r>
            <a:endParaRPr lang="en-US" sz="1450" dirty="0"/>
          </a:p>
          <a:p>
            <a:pPr marL="342900" indent="-342900">
              <a:spcAft>
                <a:spcPts val="1200"/>
              </a:spcAft>
              <a:buSzPct val="100000"/>
              <a:buChar char="•"/>
            </a:pPr>
            <a:r>
              <a:rPr lang="en-US" sz="1450" dirty="0">
                <a:solidFill>
                  <a:srgbClr val="1B1F2A"/>
                </a:solidFill>
                <a:latin typeface="Calibri" pitchFamily="34" charset="0"/>
                <a:ea typeface="Calibri" pitchFamily="34" charset="-122"/>
                <a:cs typeface="Calibri" pitchFamily="34" charset="-120"/>
              </a:rPr>
              <a:t>Token economics as a fairness and pricing question</a:t>
            </a:r>
            <a:endParaRPr lang="en-US" sz="1450" dirty="0"/>
          </a:p>
        </p:txBody>
      </p:sp>
      <p:sp>
        <p:nvSpPr>
          <p:cNvPr id="7" name="Shape 5"/>
          <p:cNvSpPr/>
          <p:nvPr/>
        </p:nvSpPr>
        <p:spPr>
          <a:xfrm>
            <a:off x="6217920" y="1920240"/>
            <a:ext cx="5394960" cy="3931920"/>
          </a:xfrm>
          <a:prstGeom prst="roundRect">
            <a:avLst>
              <a:gd name="adj" fmla="val 1860"/>
            </a:avLst>
          </a:prstGeom>
          <a:solidFill>
            <a:srgbClr val="F7F3E9"/>
          </a:solidFill>
          <a:ln/>
          <a:effectLst>
            <a:outerShdw blurRad="88900" dist="38100" dir="5400000" algn="bl" rotWithShape="0">
              <a:srgbClr val="000000">
                <a:alpha val="10000"/>
              </a:srgbClr>
            </a:outerShdw>
          </a:effectLst>
        </p:spPr>
        <p:txBody>
          <a:bodyPr/>
          <a:lstStyle/>
          <a:p>
            <a:endParaRPr lang="en-US"/>
          </a:p>
        </p:txBody>
      </p:sp>
      <p:sp>
        <p:nvSpPr>
          <p:cNvPr id="8" name="Text 6"/>
          <p:cNvSpPr/>
          <p:nvPr/>
        </p:nvSpPr>
        <p:spPr>
          <a:xfrm>
            <a:off x="6492240" y="2148840"/>
            <a:ext cx="4846320" cy="365760"/>
          </a:xfrm>
          <a:prstGeom prst="rect">
            <a:avLst/>
          </a:prstGeom>
          <a:noFill/>
          <a:ln/>
        </p:spPr>
        <p:txBody>
          <a:bodyPr wrap="square" lIns="0" tIns="0" rIns="0" bIns="0" rtlCol="0" anchor="ctr"/>
          <a:lstStyle/>
          <a:p>
            <a:pPr marL="0" indent="0">
              <a:buNone/>
            </a:pPr>
            <a:r>
              <a:rPr lang="en-US" sz="1500" b="1" dirty="0">
                <a:solidFill>
                  <a:srgbClr val="8A6D1F"/>
                </a:solidFill>
                <a:latin typeface="Calibri" pitchFamily="34" charset="0"/>
                <a:ea typeface="Calibri" pitchFamily="34" charset="-122"/>
                <a:cs typeface="Calibri" pitchFamily="34" charset="-120"/>
              </a:rPr>
              <a:t>Today we add</a:t>
            </a:r>
            <a:endParaRPr lang="en-US" sz="1500" dirty="0"/>
          </a:p>
        </p:txBody>
      </p:sp>
      <p:sp>
        <p:nvSpPr>
          <p:cNvPr id="9" name="Text 7"/>
          <p:cNvSpPr/>
          <p:nvPr/>
        </p:nvSpPr>
        <p:spPr>
          <a:xfrm>
            <a:off x="6537960" y="2606040"/>
            <a:ext cx="4846320" cy="3017520"/>
          </a:xfrm>
          <a:prstGeom prst="rect">
            <a:avLst/>
          </a:prstGeom>
          <a:noFill/>
          <a:ln/>
        </p:spPr>
        <p:txBody>
          <a:bodyPr wrap="square" rtlCol="0" anchor="t"/>
          <a:lstStyle/>
          <a:p>
            <a:pPr marL="342900" indent="-342900">
              <a:spcAft>
                <a:spcPts val="1200"/>
              </a:spcAft>
              <a:buSzPct val="100000"/>
              <a:buChar char="•"/>
            </a:pPr>
            <a:r>
              <a:rPr lang="en-US" sz="1450" dirty="0">
                <a:solidFill>
                  <a:srgbClr val="1B1F2A"/>
                </a:solidFill>
                <a:latin typeface="Calibri" pitchFamily="34" charset="0"/>
                <a:ea typeface="Calibri" pitchFamily="34" charset="-122"/>
                <a:cs typeface="Calibri" pitchFamily="34" charset="-120"/>
              </a:rPr>
              <a:t>Syntax: how words combine into phrases and sentences</a:t>
            </a:r>
            <a:endParaRPr lang="en-US" sz="1450" dirty="0"/>
          </a:p>
          <a:p>
            <a:pPr marL="342900" indent="-342900">
              <a:spcAft>
                <a:spcPts val="1200"/>
              </a:spcAft>
              <a:buSzPct val="100000"/>
              <a:buChar char="•"/>
            </a:pPr>
            <a:r>
              <a:rPr lang="en-US" sz="1450" dirty="0">
                <a:solidFill>
                  <a:srgbClr val="1B1F2A"/>
                </a:solidFill>
                <a:latin typeface="Calibri" pitchFamily="34" charset="0"/>
                <a:ea typeface="Calibri" pitchFamily="34" charset="-122"/>
                <a:cs typeface="Calibri" pitchFamily="34" charset="-120"/>
              </a:rPr>
              <a:t>Two ways to parse: constituency and dependency</a:t>
            </a:r>
            <a:endParaRPr lang="en-US" sz="1450" dirty="0"/>
          </a:p>
          <a:p>
            <a:pPr marL="342900" indent="-342900">
              <a:spcAft>
                <a:spcPts val="1200"/>
              </a:spcAft>
              <a:buSzPct val="100000"/>
              <a:buChar char="•"/>
            </a:pPr>
            <a:r>
              <a:rPr lang="en-US" sz="1450" dirty="0">
                <a:solidFill>
                  <a:srgbClr val="1B1F2A"/>
                </a:solidFill>
                <a:latin typeface="Calibri" pitchFamily="34" charset="0"/>
                <a:ea typeface="Calibri" pitchFamily="34" charset="-122"/>
                <a:cs typeface="Calibri" pitchFamily="34" charset="-120"/>
              </a:rPr>
              <a:t>Why one sentence can have several valid meanings</a:t>
            </a:r>
            <a:endParaRPr lang="en-US" sz="1450" dirty="0"/>
          </a:p>
          <a:p>
            <a:pPr marL="342900" indent="-342900">
              <a:spcAft>
                <a:spcPts val="1200"/>
              </a:spcAft>
              <a:buSzPct val="100000"/>
              <a:buChar char="•"/>
            </a:pPr>
            <a:r>
              <a:rPr lang="en-US" sz="1450" dirty="0">
                <a:solidFill>
                  <a:srgbClr val="1B1F2A"/>
                </a:solidFill>
                <a:latin typeface="Calibri" pitchFamily="34" charset="0"/>
                <a:ea typeface="Calibri" pitchFamily="34" charset="-122"/>
                <a:cs typeface="Calibri" pitchFamily="34" charset="-120"/>
              </a:rPr>
              <a:t>The tokenizer bug that silently breaks production</a:t>
            </a:r>
            <a:endParaRPr lang="en-US" sz="1450" dirty="0"/>
          </a:p>
        </p:txBody>
      </p:sp>
      <p:sp>
        <p:nvSpPr>
          <p:cNvPr id="10" name="Text 8"/>
          <p:cNvSpPr/>
          <p:nvPr/>
        </p:nvSpPr>
        <p:spPr>
          <a:xfrm>
            <a:off x="457200" y="6437376"/>
            <a:ext cx="9601200" cy="274320"/>
          </a:xfrm>
          <a:prstGeom prst="rect">
            <a:avLst/>
          </a:prstGeom>
          <a:noFill/>
          <a:ln/>
        </p:spPr>
        <p:txBody>
          <a:bodyPr wrap="square" lIns="0" tIns="0" rIns="0" bIns="0" rtlCol="0" anchor="ctr"/>
          <a:lstStyle/>
          <a:p>
            <a:pPr marL="0" indent="0" algn="l">
              <a:buNone/>
            </a:pPr>
            <a:r>
              <a:rPr lang="en-US" sz="900" dirty="0">
                <a:solidFill>
                  <a:srgbClr val="5B6172"/>
                </a:solidFill>
                <a:latin typeface="Calibri" pitchFamily="34" charset="0"/>
                <a:ea typeface="Calibri" pitchFamily="34" charset="-122"/>
                <a:cs typeface="Calibri" pitchFamily="34" charset="-120"/>
              </a:rPr>
              <a:t>ISBA 2411 · Natural Language Processing &amp; AI · Summer 2026</a:t>
            </a:r>
            <a:endParaRPr lang="en-US" sz="900" dirty="0"/>
          </a:p>
        </p:txBody>
      </p:sp>
      <p:sp>
        <p:nvSpPr>
          <p:cNvPr id="11" name="Text 9"/>
          <p:cNvSpPr/>
          <p:nvPr/>
        </p:nvSpPr>
        <p:spPr>
          <a:xfrm>
            <a:off x="11338560" y="6437376"/>
            <a:ext cx="365760" cy="274320"/>
          </a:xfrm>
          <a:prstGeom prst="rect">
            <a:avLst/>
          </a:prstGeom>
          <a:noFill/>
          <a:ln/>
        </p:spPr>
        <p:txBody>
          <a:bodyPr wrap="square" lIns="0" tIns="0" rIns="0" bIns="0" rtlCol="0" anchor="ctr"/>
          <a:lstStyle/>
          <a:p>
            <a:pPr marL="0" indent="0" algn="r">
              <a:buNone/>
            </a:pPr>
            <a:r>
              <a:rPr lang="en-US" sz="900" dirty="0">
                <a:solidFill>
                  <a:srgbClr val="5B6172"/>
                </a:solidFill>
                <a:latin typeface="Calibri" pitchFamily="34" charset="0"/>
                <a:ea typeface="Calibri" pitchFamily="34" charset="-122"/>
                <a:cs typeface="Calibri" pitchFamily="34" charset="-120"/>
              </a:rPr>
              <a:t>1</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548640" y="384048"/>
            <a:ext cx="10972800" cy="320040"/>
          </a:xfrm>
          <a:prstGeom prst="rect">
            <a:avLst/>
          </a:prstGeom>
          <a:noFill/>
          <a:ln/>
        </p:spPr>
        <p:txBody>
          <a:bodyPr wrap="square" lIns="0" tIns="0" rIns="0" bIns="0" rtlCol="0" anchor="ctr"/>
          <a:lstStyle/>
          <a:p>
            <a:pPr marL="0" indent="0">
              <a:buNone/>
            </a:pPr>
            <a:r>
              <a:rPr lang="en-US" sz="1300" b="1" kern="0" spc="200" dirty="0">
                <a:solidFill>
                  <a:srgbClr val="B31A38"/>
                </a:solidFill>
                <a:latin typeface="Calibri" pitchFamily="34" charset="0"/>
                <a:ea typeface="Calibri" pitchFamily="34" charset="-122"/>
                <a:cs typeface="Calibri" pitchFamily="34" charset="-120"/>
              </a:rPr>
              <a:t>TEAM UPDATES</a:t>
            </a:r>
            <a:endParaRPr lang="en-US" sz="1300" dirty="0"/>
          </a:p>
        </p:txBody>
      </p:sp>
      <p:sp>
        <p:nvSpPr>
          <p:cNvPr id="3" name="Text 1"/>
          <p:cNvSpPr/>
          <p:nvPr/>
        </p:nvSpPr>
        <p:spPr>
          <a:xfrm>
            <a:off x="548640" y="676656"/>
            <a:ext cx="11064240" cy="777240"/>
          </a:xfrm>
          <a:prstGeom prst="rect">
            <a:avLst/>
          </a:prstGeom>
          <a:noFill/>
          <a:ln/>
        </p:spPr>
        <p:txBody>
          <a:bodyPr wrap="square" lIns="0" tIns="0" rIns="0" bIns="0" rtlCol="0" anchor="ctr"/>
          <a:lstStyle/>
          <a:p>
            <a:pPr marL="0" indent="0">
              <a:buNone/>
            </a:pPr>
            <a:r>
              <a:rPr lang="en-US" sz="3000" b="1" dirty="0">
                <a:solidFill>
                  <a:srgbClr val="151A2E"/>
                </a:solidFill>
                <a:latin typeface="Cambria" pitchFamily="34" charset="0"/>
                <a:ea typeface="Cambria" pitchFamily="34" charset="-122"/>
                <a:cs typeface="Cambria" pitchFamily="34" charset="-120"/>
              </a:rPr>
              <a:t>Six teams, five minutes each. Where does your system stand?</a:t>
            </a:r>
            <a:endParaRPr lang="en-US" sz="3000" dirty="0"/>
          </a:p>
        </p:txBody>
      </p:sp>
      <p:sp>
        <p:nvSpPr>
          <p:cNvPr id="4" name="Shape 2"/>
          <p:cNvSpPr/>
          <p:nvPr/>
        </p:nvSpPr>
        <p:spPr>
          <a:xfrm>
            <a:off x="548640" y="1920240"/>
            <a:ext cx="5394960" cy="3931920"/>
          </a:xfrm>
          <a:prstGeom prst="roundRect">
            <a:avLst>
              <a:gd name="adj" fmla="val 1860"/>
            </a:avLst>
          </a:prstGeom>
          <a:solidFill>
            <a:srgbClr val="F4F5F8"/>
          </a:solidFill>
          <a:ln/>
          <a:effectLst>
            <a:outerShdw blurRad="88900" dist="38100" dir="5400000" algn="bl" rotWithShape="0">
              <a:srgbClr val="000000">
                <a:alpha val="10000"/>
              </a:srgbClr>
            </a:outerShdw>
          </a:effectLst>
        </p:spPr>
        <p:txBody>
          <a:bodyPr/>
          <a:lstStyle/>
          <a:p>
            <a:endParaRPr lang="en-US"/>
          </a:p>
        </p:txBody>
      </p:sp>
      <p:sp>
        <p:nvSpPr>
          <p:cNvPr id="5" name="Text 3"/>
          <p:cNvSpPr/>
          <p:nvPr/>
        </p:nvSpPr>
        <p:spPr>
          <a:xfrm>
            <a:off x="822960" y="2148840"/>
            <a:ext cx="4846320" cy="365760"/>
          </a:xfrm>
          <a:prstGeom prst="rect">
            <a:avLst/>
          </a:prstGeom>
          <a:noFill/>
          <a:ln/>
        </p:spPr>
        <p:txBody>
          <a:bodyPr wrap="square" lIns="0" tIns="0" rIns="0" bIns="0" rtlCol="0" anchor="ctr"/>
          <a:lstStyle/>
          <a:p>
            <a:pPr marL="0" indent="0">
              <a:buNone/>
            </a:pPr>
            <a:r>
              <a:rPr lang="en-US" sz="1500" b="1" dirty="0">
                <a:solidFill>
                  <a:srgbClr val="B31A38"/>
                </a:solidFill>
                <a:latin typeface="Calibri" pitchFamily="34" charset="0"/>
                <a:ea typeface="Calibri" pitchFamily="34" charset="-122"/>
                <a:cs typeface="Calibri" pitchFamily="34" charset="-120"/>
              </a:rPr>
              <a:t>How it runs</a:t>
            </a:r>
            <a:endParaRPr lang="en-US" sz="1500" dirty="0"/>
          </a:p>
        </p:txBody>
      </p:sp>
      <p:sp>
        <p:nvSpPr>
          <p:cNvPr id="6" name="Text 4"/>
          <p:cNvSpPr/>
          <p:nvPr/>
        </p:nvSpPr>
        <p:spPr>
          <a:xfrm>
            <a:off x="868680" y="2606040"/>
            <a:ext cx="4846320" cy="3017520"/>
          </a:xfrm>
          <a:prstGeom prst="rect">
            <a:avLst/>
          </a:prstGeom>
          <a:noFill/>
          <a:ln/>
        </p:spPr>
        <p:txBody>
          <a:bodyPr wrap="square" rtlCol="0" anchor="t"/>
          <a:lstStyle/>
          <a:p>
            <a:pPr marL="342900" indent="-342900">
              <a:spcAft>
                <a:spcPts val="1200"/>
              </a:spcAft>
              <a:buSzPct val="100000"/>
              <a:buChar char="•"/>
            </a:pPr>
            <a:r>
              <a:rPr lang="en-US" sz="1450" dirty="0">
                <a:solidFill>
                  <a:srgbClr val="1B1F2A"/>
                </a:solidFill>
                <a:latin typeface="Calibri" pitchFamily="34" charset="0"/>
                <a:ea typeface="Calibri" pitchFamily="34" charset="-122"/>
                <a:cs typeface="Calibri" pitchFamily="34" charset="-120"/>
              </a:rPr>
              <a:t>Five minutes per team, hard stop</a:t>
            </a:r>
            <a:endParaRPr lang="en-US" sz="1450" dirty="0"/>
          </a:p>
          <a:p>
            <a:pPr marL="342900" indent="-342900">
              <a:spcAft>
                <a:spcPts val="1200"/>
              </a:spcAft>
              <a:buSzPct val="100000"/>
              <a:buChar char="•"/>
            </a:pPr>
            <a:r>
              <a:rPr lang="en-US" sz="1450" dirty="0">
                <a:solidFill>
                  <a:srgbClr val="1B1F2A"/>
                </a:solidFill>
                <a:latin typeface="Calibri" pitchFamily="34" charset="0"/>
                <a:ea typeface="Calibri" pitchFamily="34" charset="-122"/>
                <a:cs typeface="Calibri" pitchFamily="34" charset="-120"/>
              </a:rPr>
              <a:t>Six teams back to back, thirty minutes total</a:t>
            </a:r>
            <a:endParaRPr lang="en-US" sz="1450" dirty="0"/>
          </a:p>
          <a:p>
            <a:pPr marL="342900" indent="-342900">
              <a:spcAft>
                <a:spcPts val="1200"/>
              </a:spcAft>
              <a:buSzPct val="100000"/>
              <a:buChar char="•"/>
            </a:pPr>
            <a:r>
              <a:rPr lang="en-US" sz="1450" dirty="0">
                <a:solidFill>
                  <a:srgbClr val="1B1F2A"/>
                </a:solidFill>
                <a:latin typeface="Calibri" pitchFamily="34" charset="0"/>
                <a:ea typeface="Calibri" pitchFamily="34" charset="-122"/>
                <a:cs typeface="Calibri" pitchFamily="34" charset="-120"/>
              </a:rPr>
              <a:t>One slide or a quick screen share, optional</a:t>
            </a:r>
            <a:endParaRPr lang="en-US" sz="1450" dirty="0"/>
          </a:p>
          <a:p>
            <a:pPr marL="342900" indent="-342900">
              <a:spcAft>
                <a:spcPts val="1200"/>
              </a:spcAft>
              <a:buSzPct val="100000"/>
              <a:buChar char="•"/>
            </a:pPr>
            <a:r>
              <a:rPr lang="en-US" sz="1450" dirty="0">
                <a:solidFill>
                  <a:srgbClr val="1B1F2A"/>
                </a:solidFill>
                <a:latin typeface="Calibri" pitchFamily="34" charset="0"/>
                <a:ea typeface="Calibri" pitchFamily="34" charset="-122"/>
                <a:cs typeface="Calibri" pitchFamily="34" charset="-120"/>
              </a:rPr>
              <a:t>I keep time, you keep momentum</a:t>
            </a:r>
            <a:endParaRPr lang="en-US" sz="1450" dirty="0"/>
          </a:p>
        </p:txBody>
      </p:sp>
      <p:sp>
        <p:nvSpPr>
          <p:cNvPr id="7" name="Shape 5"/>
          <p:cNvSpPr/>
          <p:nvPr/>
        </p:nvSpPr>
        <p:spPr>
          <a:xfrm>
            <a:off x="6217920" y="1920240"/>
            <a:ext cx="5394960" cy="3931920"/>
          </a:xfrm>
          <a:prstGeom prst="roundRect">
            <a:avLst>
              <a:gd name="adj" fmla="val 1860"/>
            </a:avLst>
          </a:prstGeom>
          <a:solidFill>
            <a:srgbClr val="F7F3E9"/>
          </a:solidFill>
          <a:ln/>
          <a:effectLst>
            <a:outerShdw blurRad="88900" dist="38100" dir="5400000" algn="bl" rotWithShape="0">
              <a:srgbClr val="000000">
                <a:alpha val="10000"/>
              </a:srgbClr>
            </a:outerShdw>
          </a:effectLst>
        </p:spPr>
        <p:txBody>
          <a:bodyPr/>
          <a:lstStyle/>
          <a:p>
            <a:endParaRPr lang="en-US"/>
          </a:p>
        </p:txBody>
      </p:sp>
      <p:sp>
        <p:nvSpPr>
          <p:cNvPr id="8" name="Text 6"/>
          <p:cNvSpPr/>
          <p:nvPr/>
        </p:nvSpPr>
        <p:spPr>
          <a:xfrm>
            <a:off x="6492240" y="2148840"/>
            <a:ext cx="4846320" cy="365760"/>
          </a:xfrm>
          <a:prstGeom prst="rect">
            <a:avLst/>
          </a:prstGeom>
          <a:noFill/>
          <a:ln/>
        </p:spPr>
        <p:txBody>
          <a:bodyPr wrap="square" lIns="0" tIns="0" rIns="0" bIns="0" rtlCol="0" anchor="ctr"/>
          <a:lstStyle/>
          <a:p>
            <a:pPr marL="0" indent="0">
              <a:buNone/>
            </a:pPr>
            <a:r>
              <a:rPr lang="en-US" sz="1500" b="1" dirty="0">
                <a:solidFill>
                  <a:srgbClr val="8A6D1F"/>
                </a:solidFill>
                <a:latin typeface="Calibri" pitchFamily="34" charset="0"/>
                <a:ea typeface="Calibri" pitchFamily="34" charset="-122"/>
                <a:cs typeface="Calibri" pitchFamily="34" charset="-120"/>
              </a:rPr>
              <a:t>What to cover</a:t>
            </a:r>
            <a:endParaRPr lang="en-US" sz="1500" dirty="0"/>
          </a:p>
        </p:txBody>
      </p:sp>
      <p:sp>
        <p:nvSpPr>
          <p:cNvPr id="9" name="Text 7"/>
          <p:cNvSpPr/>
          <p:nvPr/>
        </p:nvSpPr>
        <p:spPr>
          <a:xfrm>
            <a:off x="6537960" y="2606040"/>
            <a:ext cx="4846320" cy="3017520"/>
          </a:xfrm>
          <a:prstGeom prst="rect">
            <a:avLst/>
          </a:prstGeom>
          <a:noFill/>
          <a:ln/>
        </p:spPr>
        <p:txBody>
          <a:bodyPr wrap="square" rtlCol="0" anchor="t"/>
          <a:lstStyle/>
          <a:p>
            <a:pPr marL="342900" indent="-342900">
              <a:spcAft>
                <a:spcPts val="1200"/>
              </a:spcAft>
              <a:buSzPct val="100000"/>
              <a:buChar char="•"/>
            </a:pPr>
            <a:r>
              <a:rPr lang="en-US" sz="1450" dirty="0">
                <a:solidFill>
                  <a:srgbClr val="1B1F2A"/>
                </a:solidFill>
                <a:latin typeface="Calibri" pitchFamily="34" charset="0"/>
                <a:ea typeface="Calibri" pitchFamily="34" charset="-122"/>
                <a:cs typeface="Calibri" pitchFamily="34" charset="-120"/>
              </a:rPr>
              <a:t>Where your system stands since last week</a:t>
            </a:r>
            <a:endParaRPr lang="en-US" sz="1450" dirty="0"/>
          </a:p>
          <a:p>
            <a:pPr marL="342900" indent="-342900">
              <a:spcAft>
                <a:spcPts val="1200"/>
              </a:spcAft>
              <a:buSzPct val="100000"/>
              <a:buChar char="•"/>
            </a:pPr>
            <a:r>
              <a:rPr lang="en-US" sz="1450" dirty="0">
                <a:solidFill>
                  <a:srgbClr val="1B1F2A"/>
                </a:solidFill>
                <a:latin typeface="Calibri" pitchFamily="34" charset="0"/>
                <a:ea typeface="Calibri" pitchFamily="34" charset="-122"/>
                <a:cs typeface="Calibri" pitchFamily="34" charset="-120"/>
              </a:rPr>
              <a:t>One thing working, one thing blocked</a:t>
            </a:r>
            <a:endParaRPr lang="en-US" sz="1450" dirty="0"/>
          </a:p>
          <a:p>
            <a:pPr marL="342900" indent="-342900">
              <a:spcAft>
                <a:spcPts val="1200"/>
              </a:spcAft>
              <a:buSzPct val="100000"/>
              <a:buChar char="•"/>
            </a:pPr>
            <a:r>
              <a:rPr lang="en-US" sz="1450" dirty="0">
                <a:solidFill>
                  <a:srgbClr val="1B1F2A"/>
                </a:solidFill>
                <a:latin typeface="Calibri" pitchFamily="34" charset="0"/>
                <a:ea typeface="Calibri" pitchFamily="34" charset="-122"/>
                <a:cs typeface="Calibri" pitchFamily="34" charset="-120"/>
              </a:rPr>
              <a:t>A decision you are stuck on</a:t>
            </a:r>
            <a:endParaRPr lang="en-US" sz="1450" dirty="0"/>
          </a:p>
          <a:p>
            <a:pPr marL="342900" indent="-342900">
              <a:spcAft>
                <a:spcPts val="1200"/>
              </a:spcAft>
              <a:buSzPct val="100000"/>
              <a:buChar char="•"/>
            </a:pPr>
            <a:r>
              <a:rPr lang="en-US" sz="1450" dirty="0">
                <a:solidFill>
                  <a:srgbClr val="1B1F2A"/>
                </a:solidFill>
                <a:latin typeface="Calibri" pitchFamily="34" charset="0"/>
                <a:ea typeface="Calibri" pitchFamily="34" charset="-122"/>
                <a:cs typeface="Calibri" pitchFamily="34" charset="-120"/>
              </a:rPr>
              <a:t>What you need from the room</a:t>
            </a:r>
            <a:endParaRPr lang="en-US" sz="1450" dirty="0"/>
          </a:p>
        </p:txBody>
      </p:sp>
      <p:sp>
        <p:nvSpPr>
          <p:cNvPr id="10" name="Text 8"/>
          <p:cNvSpPr/>
          <p:nvPr/>
        </p:nvSpPr>
        <p:spPr>
          <a:xfrm>
            <a:off x="457200" y="6437376"/>
            <a:ext cx="9601200" cy="274320"/>
          </a:xfrm>
          <a:prstGeom prst="rect">
            <a:avLst/>
          </a:prstGeom>
          <a:noFill/>
          <a:ln/>
        </p:spPr>
        <p:txBody>
          <a:bodyPr wrap="square" lIns="0" tIns="0" rIns="0" bIns="0" rtlCol="0" anchor="ctr"/>
          <a:lstStyle/>
          <a:p>
            <a:pPr marL="0" indent="0" algn="l">
              <a:buNone/>
            </a:pPr>
            <a:r>
              <a:rPr lang="en-US" sz="900" dirty="0">
                <a:solidFill>
                  <a:srgbClr val="5B6172"/>
                </a:solidFill>
                <a:latin typeface="Calibri" pitchFamily="34" charset="0"/>
                <a:ea typeface="Calibri" pitchFamily="34" charset="-122"/>
                <a:cs typeface="Calibri" pitchFamily="34" charset="-120"/>
              </a:rPr>
              <a:t>ISBA 2411 · Natural Language Processing &amp; AI · Summer 2026</a:t>
            </a:r>
            <a:endParaRPr lang="en-US" sz="900" dirty="0"/>
          </a:p>
        </p:txBody>
      </p:sp>
      <p:sp>
        <p:nvSpPr>
          <p:cNvPr id="11" name="Text 9"/>
          <p:cNvSpPr/>
          <p:nvPr/>
        </p:nvSpPr>
        <p:spPr>
          <a:xfrm>
            <a:off x="11338560" y="6437376"/>
            <a:ext cx="365760" cy="274320"/>
          </a:xfrm>
          <a:prstGeom prst="rect">
            <a:avLst/>
          </a:prstGeom>
          <a:noFill/>
          <a:ln/>
        </p:spPr>
        <p:txBody>
          <a:bodyPr wrap="square" lIns="0" tIns="0" rIns="0" bIns="0" rtlCol="0" anchor="ctr"/>
          <a:lstStyle/>
          <a:p>
            <a:pPr marL="0" indent="0" algn="r">
              <a:buNone/>
            </a:pP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548640" y="384048"/>
            <a:ext cx="10972800" cy="320040"/>
          </a:xfrm>
          <a:prstGeom prst="rect">
            <a:avLst/>
          </a:prstGeom>
          <a:noFill/>
          <a:ln/>
        </p:spPr>
        <p:txBody>
          <a:bodyPr wrap="square" lIns="0" tIns="0" rIns="0" bIns="0" rtlCol="0" anchor="ctr"/>
          <a:lstStyle/>
          <a:p>
            <a:pPr marL="0" indent="0">
              <a:buNone/>
            </a:pPr>
            <a:r>
              <a:rPr lang="en-US" sz="1300" b="1" kern="0" spc="200" dirty="0">
                <a:solidFill>
                  <a:srgbClr val="B31A38"/>
                </a:solidFill>
                <a:latin typeface="Calibri" pitchFamily="34" charset="0"/>
                <a:ea typeface="Calibri" pitchFamily="34" charset="-122"/>
                <a:cs typeface="Calibri" pitchFamily="34" charset="-120"/>
              </a:rPr>
              <a:t>TEAM UPDATES</a:t>
            </a:r>
            <a:endParaRPr lang="en-US" sz="1300" dirty="0"/>
          </a:p>
        </p:txBody>
      </p:sp>
      <p:sp>
        <p:nvSpPr>
          <p:cNvPr id="3" name="Text 1"/>
          <p:cNvSpPr/>
          <p:nvPr/>
        </p:nvSpPr>
        <p:spPr>
          <a:xfrm>
            <a:off x="548640" y="676656"/>
            <a:ext cx="11064240" cy="777240"/>
          </a:xfrm>
          <a:prstGeom prst="rect">
            <a:avLst/>
          </a:prstGeom>
          <a:noFill/>
          <a:ln/>
        </p:spPr>
        <p:txBody>
          <a:bodyPr wrap="square" lIns="0" tIns="0" rIns="0" bIns="0" rtlCol="0" anchor="ctr"/>
          <a:lstStyle/>
          <a:p>
            <a:pPr marL="0" indent="0">
              <a:buNone/>
            </a:pPr>
            <a:r>
              <a:rPr lang="en-US" sz="3000" b="1" dirty="0">
                <a:solidFill>
                  <a:srgbClr val="151A2E"/>
                </a:solidFill>
                <a:latin typeface="Cambria" pitchFamily="34" charset="0"/>
                <a:ea typeface="Cambria" pitchFamily="34" charset="-122"/>
                <a:cs typeface="Cambria" pitchFamily="34" charset="-120"/>
              </a:rPr>
              <a:t>Your five minutes, four questions.</a:t>
            </a:r>
            <a:endParaRPr lang="en-US" sz="3000" dirty="0"/>
          </a:p>
        </p:txBody>
      </p:sp>
      <p:sp>
        <p:nvSpPr>
          <p:cNvPr id="4" name="Shape 2"/>
          <p:cNvSpPr/>
          <p:nvPr/>
        </p:nvSpPr>
        <p:spPr>
          <a:xfrm>
            <a:off x="548640" y="1920240"/>
            <a:ext cx="5394960" cy="3931920"/>
          </a:xfrm>
          <a:prstGeom prst="roundRect">
            <a:avLst>
              <a:gd name="adj" fmla="val 1860"/>
            </a:avLst>
          </a:prstGeom>
          <a:solidFill>
            <a:srgbClr val="F4F5F8"/>
          </a:solidFill>
          <a:ln/>
          <a:effectLst>
            <a:outerShdw blurRad="88900" dist="38100" dir="5400000" algn="bl" rotWithShape="0">
              <a:srgbClr val="000000">
                <a:alpha val="10000"/>
              </a:srgbClr>
            </a:outerShdw>
          </a:effectLst>
        </p:spPr>
        <p:txBody>
          <a:bodyPr/>
          <a:lstStyle/>
          <a:p>
            <a:endParaRPr lang="en-US"/>
          </a:p>
        </p:txBody>
      </p:sp>
      <p:sp>
        <p:nvSpPr>
          <p:cNvPr id="5" name="Text 3"/>
          <p:cNvSpPr/>
          <p:nvPr/>
        </p:nvSpPr>
        <p:spPr>
          <a:xfrm>
            <a:off x="822960" y="2148840"/>
            <a:ext cx="4846320" cy="365760"/>
          </a:xfrm>
          <a:prstGeom prst="rect">
            <a:avLst/>
          </a:prstGeom>
          <a:noFill/>
          <a:ln/>
        </p:spPr>
        <p:txBody>
          <a:bodyPr wrap="square" lIns="0" tIns="0" rIns="0" bIns="0" rtlCol="0" anchor="ctr"/>
          <a:lstStyle/>
          <a:p>
            <a:pPr marL="0" indent="0">
              <a:buNone/>
            </a:pPr>
            <a:r>
              <a:rPr lang="en-US" sz="1500" b="1" dirty="0">
                <a:solidFill>
                  <a:srgbClr val="B31A38"/>
                </a:solidFill>
                <a:latin typeface="Calibri" pitchFamily="34" charset="0"/>
                <a:ea typeface="Calibri" pitchFamily="34" charset="-122"/>
                <a:cs typeface="Calibri" pitchFamily="34" charset="-120"/>
              </a:rPr>
              <a:t>Each team hits these</a:t>
            </a:r>
            <a:endParaRPr lang="en-US" sz="1500" dirty="0"/>
          </a:p>
        </p:txBody>
      </p:sp>
      <p:sp>
        <p:nvSpPr>
          <p:cNvPr id="6" name="Text 4"/>
          <p:cNvSpPr/>
          <p:nvPr/>
        </p:nvSpPr>
        <p:spPr>
          <a:xfrm>
            <a:off x="868680" y="2606040"/>
            <a:ext cx="4846320" cy="3017520"/>
          </a:xfrm>
          <a:prstGeom prst="rect">
            <a:avLst/>
          </a:prstGeom>
          <a:noFill/>
          <a:ln/>
        </p:spPr>
        <p:txBody>
          <a:bodyPr wrap="square" rtlCol="0" anchor="t"/>
          <a:lstStyle/>
          <a:p>
            <a:pPr marL="342900" indent="-342900">
              <a:spcAft>
                <a:spcPts val="1200"/>
              </a:spcAft>
              <a:buSzPct val="100000"/>
              <a:buChar char="•"/>
            </a:pPr>
            <a:r>
              <a:rPr lang="en-US" sz="1450" b="1" dirty="0">
                <a:solidFill>
                  <a:srgbClr val="B31A38"/>
                </a:solidFill>
                <a:latin typeface="Calibri" pitchFamily="34" charset="0"/>
                <a:ea typeface="Calibri" pitchFamily="34" charset="-122"/>
                <a:cs typeface="Calibri" pitchFamily="34" charset="-120"/>
              </a:rPr>
              <a:t>Status  </a:t>
            </a:r>
            <a:r>
              <a:rPr lang="en-US" sz="1450" dirty="0">
                <a:solidFill>
                  <a:srgbClr val="1B1F2A"/>
                </a:solidFill>
                <a:latin typeface="Calibri" pitchFamily="34" charset="0"/>
                <a:ea typeface="Calibri" pitchFamily="34" charset="-122"/>
                <a:cs typeface="Calibri" pitchFamily="34" charset="-120"/>
              </a:rPr>
              <a:t>where the system stands now</a:t>
            </a:r>
            <a:endParaRPr lang="en-US" sz="1450" dirty="0"/>
          </a:p>
          <a:p>
            <a:pPr marL="342900" indent="-342900">
              <a:spcAft>
                <a:spcPts val="1200"/>
              </a:spcAft>
              <a:buSzPct val="100000"/>
              <a:buChar char="•"/>
            </a:pPr>
            <a:r>
              <a:rPr lang="en-US" sz="1450" b="1" dirty="0">
                <a:solidFill>
                  <a:srgbClr val="B31A38"/>
                </a:solidFill>
                <a:latin typeface="Calibri" pitchFamily="34" charset="0"/>
                <a:ea typeface="Calibri" pitchFamily="34" charset="-122"/>
                <a:cs typeface="Calibri" pitchFamily="34" charset="-120"/>
              </a:rPr>
              <a:t>Win  </a:t>
            </a:r>
            <a:r>
              <a:rPr lang="en-US" sz="1450" dirty="0">
                <a:solidFill>
                  <a:srgbClr val="1B1F2A"/>
                </a:solidFill>
                <a:latin typeface="Calibri" pitchFamily="34" charset="0"/>
                <a:ea typeface="Calibri" pitchFamily="34" charset="-122"/>
                <a:cs typeface="Calibri" pitchFamily="34" charset="-120"/>
              </a:rPr>
              <a:t>one thing working since last week</a:t>
            </a:r>
            <a:endParaRPr lang="en-US" sz="1450" dirty="0"/>
          </a:p>
          <a:p>
            <a:pPr marL="342900" indent="-342900">
              <a:spcAft>
                <a:spcPts val="1200"/>
              </a:spcAft>
              <a:buSzPct val="100000"/>
              <a:buChar char="•"/>
            </a:pPr>
            <a:r>
              <a:rPr lang="en-US" sz="1450" b="1" dirty="0">
                <a:solidFill>
                  <a:srgbClr val="B31A38"/>
                </a:solidFill>
                <a:latin typeface="Calibri" pitchFamily="34" charset="0"/>
                <a:ea typeface="Calibri" pitchFamily="34" charset="-122"/>
                <a:cs typeface="Calibri" pitchFamily="34" charset="-120"/>
              </a:rPr>
              <a:t>Block  </a:t>
            </a:r>
            <a:r>
              <a:rPr lang="en-US" sz="1450" dirty="0">
                <a:solidFill>
                  <a:srgbClr val="1B1F2A"/>
                </a:solidFill>
                <a:latin typeface="Calibri" pitchFamily="34" charset="0"/>
                <a:ea typeface="Calibri" pitchFamily="34" charset="-122"/>
                <a:cs typeface="Calibri" pitchFamily="34" charset="-120"/>
              </a:rPr>
              <a:t>one thing stuck or unclear</a:t>
            </a:r>
            <a:endParaRPr lang="en-US" sz="1450" dirty="0"/>
          </a:p>
          <a:p>
            <a:pPr marL="342900" indent="-342900">
              <a:spcAft>
                <a:spcPts val="1200"/>
              </a:spcAft>
              <a:buSzPct val="100000"/>
              <a:buChar char="•"/>
            </a:pPr>
            <a:r>
              <a:rPr lang="en-US" sz="1450" b="1" dirty="0">
                <a:solidFill>
                  <a:srgbClr val="B31A38"/>
                </a:solidFill>
                <a:latin typeface="Calibri" pitchFamily="34" charset="0"/>
                <a:ea typeface="Calibri" pitchFamily="34" charset="-122"/>
                <a:cs typeface="Calibri" pitchFamily="34" charset="-120"/>
              </a:rPr>
              <a:t>Ask  </a:t>
            </a:r>
            <a:r>
              <a:rPr lang="en-US" sz="1450" dirty="0">
                <a:solidFill>
                  <a:srgbClr val="1B1F2A"/>
                </a:solidFill>
                <a:latin typeface="Calibri" pitchFamily="34" charset="0"/>
                <a:ea typeface="Calibri" pitchFamily="34" charset="-122"/>
                <a:cs typeface="Calibri" pitchFamily="34" charset="-120"/>
              </a:rPr>
              <a:t>what you need from the room</a:t>
            </a:r>
            <a:endParaRPr lang="en-US" sz="1450" dirty="0"/>
          </a:p>
        </p:txBody>
      </p:sp>
      <p:sp>
        <p:nvSpPr>
          <p:cNvPr id="7" name="Shape 5"/>
          <p:cNvSpPr/>
          <p:nvPr/>
        </p:nvSpPr>
        <p:spPr>
          <a:xfrm>
            <a:off x="6217920" y="1920240"/>
            <a:ext cx="5394960" cy="3931920"/>
          </a:xfrm>
          <a:prstGeom prst="roundRect">
            <a:avLst>
              <a:gd name="adj" fmla="val 1860"/>
            </a:avLst>
          </a:prstGeom>
          <a:solidFill>
            <a:srgbClr val="F7F3E9"/>
          </a:solidFill>
          <a:ln/>
          <a:effectLst>
            <a:outerShdw blurRad="88900" dist="38100" dir="5400000" algn="bl" rotWithShape="0">
              <a:srgbClr val="000000">
                <a:alpha val="10000"/>
              </a:srgbClr>
            </a:outerShdw>
          </a:effectLst>
        </p:spPr>
        <p:txBody>
          <a:bodyPr/>
          <a:lstStyle/>
          <a:p>
            <a:endParaRPr lang="en-US"/>
          </a:p>
        </p:txBody>
      </p:sp>
      <p:sp>
        <p:nvSpPr>
          <p:cNvPr id="8" name="Text 6"/>
          <p:cNvSpPr/>
          <p:nvPr/>
        </p:nvSpPr>
        <p:spPr>
          <a:xfrm>
            <a:off x="6492240" y="2148840"/>
            <a:ext cx="4846320" cy="365760"/>
          </a:xfrm>
          <a:prstGeom prst="rect">
            <a:avLst/>
          </a:prstGeom>
          <a:noFill/>
          <a:ln/>
        </p:spPr>
        <p:txBody>
          <a:bodyPr wrap="square" lIns="0" tIns="0" rIns="0" bIns="0" rtlCol="0" anchor="ctr"/>
          <a:lstStyle/>
          <a:p>
            <a:pPr marL="0" indent="0">
              <a:buNone/>
            </a:pPr>
            <a:r>
              <a:rPr lang="en-US" sz="1500" b="1" dirty="0">
                <a:solidFill>
                  <a:srgbClr val="8A6D1F"/>
                </a:solidFill>
                <a:latin typeface="Calibri" pitchFamily="34" charset="0"/>
                <a:ea typeface="Calibri" pitchFamily="34" charset="-122"/>
                <a:cs typeface="Calibri" pitchFamily="34" charset="-120"/>
              </a:rPr>
              <a:t>Running order</a:t>
            </a:r>
            <a:endParaRPr lang="en-US" sz="1500" dirty="0"/>
          </a:p>
        </p:txBody>
      </p:sp>
      <p:sp>
        <p:nvSpPr>
          <p:cNvPr id="9" name="Text 7"/>
          <p:cNvSpPr/>
          <p:nvPr/>
        </p:nvSpPr>
        <p:spPr>
          <a:xfrm>
            <a:off x="6537960" y="2606040"/>
            <a:ext cx="4846320" cy="3017520"/>
          </a:xfrm>
          <a:prstGeom prst="rect">
            <a:avLst/>
          </a:prstGeom>
          <a:noFill/>
          <a:ln/>
        </p:spPr>
        <p:txBody>
          <a:bodyPr wrap="square" rtlCol="0" anchor="t"/>
          <a:lstStyle/>
          <a:p>
            <a:pPr marL="342900" indent="-342900">
              <a:spcAft>
                <a:spcPts val="1200"/>
              </a:spcAft>
              <a:buSzPct val="100000"/>
              <a:buChar char="•"/>
            </a:pPr>
            <a:r>
              <a:rPr lang="en-US" sz="1450" dirty="0">
                <a:solidFill>
                  <a:srgbClr val="1B1F2A"/>
                </a:solidFill>
                <a:latin typeface="Calibri" pitchFamily="34" charset="0"/>
                <a:ea typeface="Calibri" pitchFamily="34" charset="-122"/>
                <a:cs typeface="Calibri" pitchFamily="34" charset="-120"/>
              </a:rPr>
              <a:t>Team 1:  0:00 to 5:00</a:t>
            </a:r>
            <a:endParaRPr lang="en-US" sz="1450" dirty="0"/>
          </a:p>
          <a:p>
            <a:pPr marL="342900" indent="-342900">
              <a:spcAft>
                <a:spcPts val="1200"/>
              </a:spcAft>
              <a:buSzPct val="100000"/>
              <a:buChar char="•"/>
            </a:pPr>
            <a:r>
              <a:rPr lang="en-US" sz="1450" dirty="0">
                <a:solidFill>
                  <a:srgbClr val="1B1F2A"/>
                </a:solidFill>
                <a:latin typeface="Calibri" pitchFamily="34" charset="0"/>
                <a:ea typeface="Calibri" pitchFamily="34" charset="-122"/>
                <a:cs typeface="Calibri" pitchFamily="34" charset="-120"/>
              </a:rPr>
              <a:t>Team 2:  5:00 to 10:00</a:t>
            </a:r>
            <a:endParaRPr lang="en-US" sz="1450" dirty="0"/>
          </a:p>
          <a:p>
            <a:pPr marL="342900" indent="-342900">
              <a:spcAft>
                <a:spcPts val="1200"/>
              </a:spcAft>
              <a:buSzPct val="100000"/>
              <a:buChar char="•"/>
            </a:pPr>
            <a:r>
              <a:rPr lang="en-US" sz="1450" dirty="0">
                <a:solidFill>
                  <a:srgbClr val="1B1F2A"/>
                </a:solidFill>
                <a:latin typeface="Calibri" pitchFamily="34" charset="0"/>
                <a:ea typeface="Calibri" pitchFamily="34" charset="-122"/>
                <a:cs typeface="Calibri" pitchFamily="34" charset="-120"/>
              </a:rPr>
              <a:t>Team 3:  10:00 to 15:00</a:t>
            </a:r>
            <a:endParaRPr lang="en-US" sz="1450" dirty="0"/>
          </a:p>
          <a:p>
            <a:pPr marL="342900" indent="-342900">
              <a:spcAft>
                <a:spcPts val="1200"/>
              </a:spcAft>
              <a:buSzPct val="100000"/>
              <a:buChar char="•"/>
            </a:pPr>
            <a:r>
              <a:rPr lang="en-US" sz="1450" dirty="0">
                <a:solidFill>
                  <a:srgbClr val="1B1F2A"/>
                </a:solidFill>
                <a:latin typeface="Calibri" pitchFamily="34" charset="0"/>
                <a:ea typeface="Calibri" pitchFamily="34" charset="-122"/>
                <a:cs typeface="Calibri" pitchFamily="34" charset="-120"/>
              </a:rPr>
              <a:t>Team 4:  15:00 to 20:00</a:t>
            </a:r>
            <a:endParaRPr lang="en-US" sz="1450" dirty="0"/>
          </a:p>
          <a:p>
            <a:pPr marL="342900" indent="-342900">
              <a:spcAft>
                <a:spcPts val="1200"/>
              </a:spcAft>
              <a:buSzPct val="100000"/>
              <a:buChar char="•"/>
            </a:pPr>
            <a:r>
              <a:rPr lang="en-US" sz="1450" dirty="0">
                <a:solidFill>
                  <a:srgbClr val="1B1F2A"/>
                </a:solidFill>
                <a:latin typeface="Calibri" pitchFamily="34" charset="0"/>
                <a:ea typeface="Calibri" pitchFamily="34" charset="-122"/>
                <a:cs typeface="Calibri" pitchFamily="34" charset="-120"/>
              </a:rPr>
              <a:t>Team 5:  20:00 to 25:00</a:t>
            </a:r>
            <a:endParaRPr lang="en-US" sz="1450" dirty="0"/>
          </a:p>
          <a:p>
            <a:pPr marL="342900" indent="-342900">
              <a:spcAft>
                <a:spcPts val="1200"/>
              </a:spcAft>
              <a:buSzPct val="100000"/>
              <a:buChar char="•"/>
            </a:pPr>
            <a:r>
              <a:rPr lang="en-US" sz="1450" dirty="0">
                <a:solidFill>
                  <a:srgbClr val="1B1F2A"/>
                </a:solidFill>
                <a:latin typeface="Calibri" pitchFamily="34" charset="0"/>
                <a:ea typeface="Calibri" pitchFamily="34" charset="-122"/>
                <a:cs typeface="Calibri" pitchFamily="34" charset="-120"/>
              </a:rPr>
              <a:t>Team 6:  25:00 to 30:00</a:t>
            </a:r>
            <a:endParaRPr lang="en-US" sz="1450" dirty="0"/>
          </a:p>
        </p:txBody>
      </p:sp>
      <p:sp>
        <p:nvSpPr>
          <p:cNvPr id="10" name="Text 8"/>
          <p:cNvSpPr/>
          <p:nvPr/>
        </p:nvSpPr>
        <p:spPr>
          <a:xfrm>
            <a:off x="457200" y="6437376"/>
            <a:ext cx="9601200" cy="274320"/>
          </a:xfrm>
          <a:prstGeom prst="rect">
            <a:avLst/>
          </a:prstGeom>
          <a:noFill/>
          <a:ln/>
        </p:spPr>
        <p:txBody>
          <a:bodyPr wrap="square" lIns="0" tIns="0" rIns="0" bIns="0" rtlCol="0" anchor="ctr"/>
          <a:lstStyle/>
          <a:p>
            <a:pPr marL="0" indent="0" algn="l">
              <a:buNone/>
            </a:pPr>
            <a:r>
              <a:rPr lang="en-US" sz="900" dirty="0">
                <a:solidFill>
                  <a:srgbClr val="5B6172"/>
                </a:solidFill>
                <a:latin typeface="Calibri" pitchFamily="34" charset="0"/>
                <a:ea typeface="Calibri" pitchFamily="34" charset="-122"/>
                <a:cs typeface="Calibri" pitchFamily="34" charset="-120"/>
              </a:rPr>
              <a:t>ISBA 2411 · Natural Language Processing &amp; AI · Summer 2026</a:t>
            </a:r>
            <a:endParaRPr lang="en-US" sz="900" dirty="0"/>
          </a:p>
        </p:txBody>
      </p:sp>
      <p:sp>
        <p:nvSpPr>
          <p:cNvPr id="11" name="Text 9"/>
          <p:cNvSpPr/>
          <p:nvPr/>
        </p:nvSpPr>
        <p:spPr>
          <a:xfrm>
            <a:off x="11338560" y="6437376"/>
            <a:ext cx="365760" cy="274320"/>
          </a:xfrm>
          <a:prstGeom prst="rect">
            <a:avLst/>
          </a:prstGeom>
          <a:noFill/>
          <a:ln/>
        </p:spPr>
        <p:txBody>
          <a:bodyPr wrap="square" lIns="0" tIns="0" rIns="0" bIns="0" rtlCol="0" anchor="ctr"/>
          <a:lstStyle/>
          <a:p>
            <a:pPr marL="0" indent="0" algn="r">
              <a:buNone/>
            </a:pP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548640" y="384048"/>
            <a:ext cx="10972800" cy="320040"/>
          </a:xfrm>
          <a:prstGeom prst="rect">
            <a:avLst/>
          </a:prstGeom>
          <a:noFill/>
          <a:ln/>
        </p:spPr>
        <p:txBody>
          <a:bodyPr wrap="square" lIns="0" tIns="0" rIns="0" bIns="0" rtlCol="0" anchor="ctr"/>
          <a:lstStyle/>
          <a:p>
            <a:pPr marL="0" indent="0">
              <a:buNone/>
            </a:pPr>
            <a:r>
              <a:rPr lang="en-US" sz="1300" b="1" kern="0" spc="200" dirty="0">
                <a:solidFill>
                  <a:srgbClr val="B31A38"/>
                </a:solidFill>
                <a:latin typeface="Calibri" pitchFamily="34" charset="0"/>
                <a:ea typeface="Calibri" pitchFamily="34" charset="-122"/>
                <a:cs typeface="Calibri" pitchFamily="34" charset="-120"/>
              </a:rPr>
              <a:t>TODAY</a:t>
            </a:r>
            <a:endParaRPr lang="en-US" sz="1300" dirty="0"/>
          </a:p>
        </p:txBody>
      </p:sp>
      <p:sp>
        <p:nvSpPr>
          <p:cNvPr id="3" name="Text 1"/>
          <p:cNvSpPr/>
          <p:nvPr/>
        </p:nvSpPr>
        <p:spPr>
          <a:xfrm>
            <a:off x="548640" y="676656"/>
            <a:ext cx="11064240" cy="777240"/>
          </a:xfrm>
          <a:prstGeom prst="rect">
            <a:avLst/>
          </a:prstGeom>
          <a:noFill/>
          <a:ln/>
        </p:spPr>
        <p:txBody>
          <a:bodyPr wrap="square" lIns="0" tIns="0" rIns="0" bIns="0" rtlCol="0" anchor="ctr"/>
          <a:lstStyle/>
          <a:p>
            <a:pPr marL="0" indent="0">
              <a:buNone/>
            </a:pPr>
            <a:r>
              <a:rPr lang="en-US" sz="3000" b="1" dirty="0">
                <a:solidFill>
                  <a:srgbClr val="151A2E"/>
                </a:solidFill>
                <a:latin typeface="Cambria" pitchFamily="34" charset="0"/>
                <a:ea typeface="Cambria" pitchFamily="34" charset="-122"/>
                <a:cs typeface="Cambria" pitchFamily="34" charset="-120"/>
              </a:rPr>
              <a:t>By the end of class you will be able to</a:t>
            </a:r>
            <a:endParaRPr lang="en-US" sz="3000" dirty="0"/>
          </a:p>
        </p:txBody>
      </p:sp>
      <p:sp>
        <p:nvSpPr>
          <p:cNvPr id="4" name="Shape 2"/>
          <p:cNvSpPr/>
          <p:nvPr/>
        </p:nvSpPr>
        <p:spPr>
          <a:xfrm>
            <a:off x="548640" y="2011680"/>
            <a:ext cx="11064240" cy="896112"/>
          </a:xfrm>
          <a:prstGeom prst="roundRect">
            <a:avLst>
              <a:gd name="adj" fmla="val 8163"/>
            </a:avLst>
          </a:prstGeom>
          <a:solidFill>
            <a:srgbClr val="F4F5F8"/>
          </a:solidFill>
          <a:ln/>
          <a:effectLst>
            <a:outerShdw blurRad="88900" dist="38100" dir="5400000" algn="bl" rotWithShape="0">
              <a:srgbClr val="000000">
                <a:alpha val="10000"/>
              </a:srgbClr>
            </a:outerShdw>
          </a:effectLst>
        </p:spPr>
        <p:txBody>
          <a:bodyPr/>
          <a:lstStyle/>
          <a:p>
            <a:endParaRPr lang="en-US"/>
          </a:p>
        </p:txBody>
      </p:sp>
      <p:sp>
        <p:nvSpPr>
          <p:cNvPr id="5" name="Shape 3"/>
          <p:cNvSpPr/>
          <p:nvPr/>
        </p:nvSpPr>
        <p:spPr>
          <a:xfrm>
            <a:off x="777240" y="2185416"/>
            <a:ext cx="548640" cy="548640"/>
          </a:xfrm>
          <a:prstGeom prst="line">
            <a:avLst/>
          </a:prstGeom>
          <a:solidFill>
            <a:srgbClr val="B31A38"/>
          </a:solidFill>
          <a:ln/>
        </p:spPr>
        <p:txBody>
          <a:bodyPr/>
          <a:lstStyle/>
          <a:p>
            <a:endParaRPr lang="en-US"/>
          </a:p>
        </p:txBody>
      </p:sp>
      <p:pic>
        <p:nvPicPr>
          <p:cNvPr id="6" name="Image 0" descr="preencoded.png"/>
          <p:cNvPicPr>
            <a:picLocks noChangeAspect="1"/>
          </p:cNvPicPr>
          <p:nvPr/>
        </p:nvPicPr>
        <p:blipFill>
          <a:blip r:embed="rId3"/>
          <a:stretch>
            <a:fillRect/>
          </a:stretch>
        </p:blipFill>
        <p:spPr>
          <a:xfrm>
            <a:off x="919886" y="2328062"/>
            <a:ext cx="263347" cy="263347"/>
          </a:xfrm>
          <a:prstGeom prst="rect">
            <a:avLst/>
          </a:prstGeom>
        </p:spPr>
      </p:pic>
      <p:sp>
        <p:nvSpPr>
          <p:cNvPr id="7" name="Text 4"/>
          <p:cNvSpPr/>
          <p:nvPr/>
        </p:nvSpPr>
        <p:spPr>
          <a:xfrm>
            <a:off x="1508760" y="2121408"/>
            <a:ext cx="2103120" cy="676656"/>
          </a:xfrm>
          <a:prstGeom prst="rect">
            <a:avLst/>
          </a:prstGeom>
          <a:noFill/>
          <a:ln/>
        </p:spPr>
        <p:txBody>
          <a:bodyPr wrap="square" lIns="0" tIns="0" rIns="0" bIns="0" rtlCol="0" anchor="ctr"/>
          <a:lstStyle/>
          <a:p>
            <a:pPr marL="0" indent="0">
              <a:buNone/>
            </a:pPr>
            <a:r>
              <a:rPr lang="en-US" sz="1900" b="1" dirty="0">
                <a:solidFill>
                  <a:srgbClr val="B31A38"/>
                </a:solidFill>
                <a:latin typeface="Cambria" pitchFamily="34" charset="0"/>
                <a:ea typeface="Cambria" pitchFamily="34" charset="-122"/>
                <a:cs typeface="Cambria" pitchFamily="34" charset="-120"/>
              </a:rPr>
              <a:t>Read</a:t>
            </a:r>
            <a:endParaRPr lang="en-US" sz="1900" dirty="0"/>
          </a:p>
        </p:txBody>
      </p:sp>
      <p:sp>
        <p:nvSpPr>
          <p:cNvPr id="8" name="Text 5"/>
          <p:cNvSpPr/>
          <p:nvPr/>
        </p:nvSpPr>
        <p:spPr>
          <a:xfrm>
            <a:off x="3566160" y="2121408"/>
            <a:ext cx="7863840" cy="676656"/>
          </a:xfrm>
          <a:prstGeom prst="rect">
            <a:avLst/>
          </a:prstGeom>
          <a:noFill/>
          <a:ln/>
        </p:spPr>
        <p:txBody>
          <a:bodyPr wrap="square" lIns="0" tIns="0" rIns="0" bIns="0" rtlCol="0" anchor="ctr"/>
          <a:lstStyle/>
          <a:p>
            <a:pPr marL="0" indent="0">
              <a:buNone/>
            </a:pPr>
            <a:r>
              <a:rPr lang="en-US" sz="1550" dirty="0">
                <a:solidFill>
                  <a:srgbClr val="1B1F2A"/>
                </a:solidFill>
                <a:latin typeface="Calibri" pitchFamily="34" charset="0"/>
                <a:ea typeface="Calibri" pitchFamily="34" charset="-122"/>
                <a:cs typeface="Calibri" pitchFamily="34" charset="-120"/>
              </a:rPr>
              <a:t>Interpret a dependency parse of a real sentence</a:t>
            </a:r>
            <a:endParaRPr lang="en-US" sz="1550" dirty="0"/>
          </a:p>
        </p:txBody>
      </p:sp>
      <p:sp>
        <p:nvSpPr>
          <p:cNvPr id="9" name="Shape 6"/>
          <p:cNvSpPr/>
          <p:nvPr/>
        </p:nvSpPr>
        <p:spPr>
          <a:xfrm>
            <a:off x="548640" y="3035808"/>
            <a:ext cx="11064240" cy="896112"/>
          </a:xfrm>
          <a:prstGeom prst="roundRect">
            <a:avLst>
              <a:gd name="adj" fmla="val 8163"/>
            </a:avLst>
          </a:prstGeom>
          <a:solidFill>
            <a:srgbClr val="FFFFFF"/>
          </a:solidFill>
          <a:ln/>
          <a:effectLst>
            <a:outerShdw blurRad="88900" dist="38100" dir="5400000" algn="bl" rotWithShape="0">
              <a:srgbClr val="000000">
                <a:alpha val="10000"/>
              </a:srgbClr>
            </a:outerShdw>
          </a:effectLst>
        </p:spPr>
        <p:txBody>
          <a:bodyPr/>
          <a:lstStyle/>
          <a:p>
            <a:endParaRPr lang="en-US"/>
          </a:p>
        </p:txBody>
      </p:sp>
      <p:sp>
        <p:nvSpPr>
          <p:cNvPr id="10" name="Shape 7"/>
          <p:cNvSpPr/>
          <p:nvPr/>
        </p:nvSpPr>
        <p:spPr>
          <a:xfrm>
            <a:off x="777240" y="3209544"/>
            <a:ext cx="548640" cy="548640"/>
          </a:xfrm>
          <a:prstGeom prst="line">
            <a:avLst/>
          </a:prstGeom>
          <a:solidFill>
            <a:srgbClr val="151A2E"/>
          </a:solidFill>
          <a:ln/>
        </p:spPr>
        <p:txBody>
          <a:bodyPr/>
          <a:lstStyle/>
          <a:p>
            <a:endParaRPr lang="en-US"/>
          </a:p>
        </p:txBody>
      </p:sp>
      <p:pic>
        <p:nvPicPr>
          <p:cNvPr id="11" name="Image 1" descr="preencoded.png"/>
          <p:cNvPicPr>
            <a:picLocks noChangeAspect="1"/>
          </p:cNvPicPr>
          <p:nvPr/>
        </p:nvPicPr>
        <p:blipFill>
          <a:blip r:embed="rId4"/>
          <a:stretch>
            <a:fillRect/>
          </a:stretch>
        </p:blipFill>
        <p:spPr>
          <a:xfrm>
            <a:off x="919886" y="3352190"/>
            <a:ext cx="263347" cy="263347"/>
          </a:xfrm>
          <a:prstGeom prst="rect">
            <a:avLst/>
          </a:prstGeom>
        </p:spPr>
      </p:pic>
      <p:sp>
        <p:nvSpPr>
          <p:cNvPr id="12" name="Text 8"/>
          <p:cNvSpPr/>
          <p:nvPr/>
        </p:nvSpPr>
        <p:spPr>
          <a:xfrm>
            <a:off x="1508760" y="3145536"/>
            <a:ext cx="2103120" cy="676656"/>
          </a:xfrm>
          <a:prstGeom prst="rect">
            <a:avLst/>
          </a:prstGeom>
          <a:noFill/>
          <a:ln/>
        </p:spPr>
        <p:txBody>
          <a:bodyPr wrap="square" lIns="0" tIns="0" rIns="0" bIns="0" rtlCol="0" anchor="ctr"/>
          <a:lstStyle/>
          <a:p>
            <a:pPr marL="0" indent="0">
              <a:buNone/>
            </a:pPr>
            <a:r>
              <a:rPr lang="en-US" sz="1900" b="1" dirty="0">
                <a:solidFill>
                  <a:srgbClr val="151A2E"/>
                </a:solidFill>
                <a:latin typeface="Cambria" pitchFamily="34" charset="0"/>
                <a:ea typeface="Cambria" pitchFamily="34" charset="-122"/>
                <a:cs typeface="Cambria" pitchFamily="34" charset="-120"/>
              </a:rPr>
              <a:t>Analyze</a:t>
            </a:r>
            <a:endParaRPr lang="en-US" sz="1900" dirty="0"/>
          </a:p>
        </p:txBody>
      </p:sp>
      <p:sp>
        <p:nvSpPr>
          <p:cNvPr id="13" name="Text 9"/>
          <p:cNvSpPr/>
          <p:nvPr/>
        </p:nvSpPr>
        <p:spPr>
          <a:xfrm>
            <a:off x="3566160" y="3145536"/>
            <a:ext cx="7863840" cy="676656"/>
          </a:xfrm>
          <a:prstGeom prst="rect">
            <a:avLst/>
          </a:prstGeom>
          <a:noFill/>
          <a:ln/>
        </p:spPr>
        <p:txBody>
          <a:bodyPr wrap="square" lIns="0" tIns="0" rIns="0" bIns="0" rtlCol="0" anchor="ctr"/>
          <a:lstStyle/>
          <a:p>
            <a:pPr marL="0" indent="0">
              <a:buNone/>
            </a:pPr>
            <a:r>
              <a:rPr lang="en-US" sz="1550" dirty="0">
                <a:solidFill>
                  <a:srgbClr val="1B1F2A"/>
                </a:solidFill>
                <a:latin typeface="Calibri" pitchFamily="34" charset="0"/>
                <a:ea typeface="Calibri" pitchFamily="34" charset="-122"/>
                <a:cs typeface="Calibri" pitchFamily="34" charset="-120"/>
              </a:rPr>
              <a:t>Trace how syntactic ambiguity changes meaning</a:t>
            </a:r>
            <a:endParaRPr lang="en-US" sz="1550" dirty="0"/>
          </a:p>
        </p:txBody>
      </p:sp>
      <p:sp>
        <p:nvSpPr>
          <p:cNvPr id="14" name="Shape 10"/>
          <p:cNvSpPr/>
          <p:nvPr/>
        </p:nvSpPr>
        <p:spPr>
          <a:xfrm>
            <a:off x="548640" y="4059936"/>
            <a:ext cx="11064240" cy="896112"/>
          </a:xfrm>
          <a:prstGeom prst="roundRect">
            <a:avLst>
              <a:gd name="adj" fmla="val 8163"/>
            </a:avLst>
          </a:prstGeom>
          <a:solidFill>
            <a:srgbClr val="F4F5F8"/>
          </a:solidFill>
          <a:ln/>
          <a:effectLst>
            <a:outerShdw blurRad="88900" dist="38100" dir="5400000" algn="bl" rotWithShape="0">
              <a:srgbClr val="000000">
                <a:alpha val="10000"/>
              </a:srgbClr>
            </a:outerShdw>
          </a:effectLst>
        </p:spPr>
        <p:txBody>
          <a:bodyPr/>
          <a:lstStyle/>
          <a:p>
            <a:endParaRPr lang="en-US"/>
          </a:p>
        </p:txBody>
      </p:sp>
      <p:sp>
        <p:nvSpPr>
          <p:cNvPr id="15" name="Shape 11"/>
          <p:cNvSpPr/>
          <p:nvPr/>
        </p:nvSpPr>
        <p:spPr>
          <a:xfrm>
            <a:off x="777240" y="4233672"/>
            <a:ext cx="548640" cy="548640"/>
          </a:xfrm>
          <a:prstGeom prst="line">
            <a:avLst/>
          </a:prstGeom>
          <a:solidFill>
            <a:srgbClr val="B5A06A"/>
          </a:solidFill>
          <a:ln/>
        </p:spPr>
        <p:txBody>
          <a:bodyPr/>
          <a:lstStyle/>
          <a:p>
            <a:endParaRPr lang="en-US"/>
          </a:p>
        </p:txBody>
      </p:sp>
      <p:pic>
        <p:nvPicPr>
          <p:cNvPr id="16" name="Image 2" descr="preencoded.png"/>
          <p:cNvPicPr>
            <a:picLocks noChangeAspect="1"/>
          </p:cNvPicPr>
          <p:nvPr/>
        </p:nvPicPr>
        <p:blipFill>
          <a:blip r:embed="rId5"/>
          <a:stretch>
            <a:fillRect/>
          </a:stretch>
        </p:blipFill>
        <p:spPr>
          <a:xfrm>
            <a:off x="919886" y="4376318"/>
            <a:ext cx="263347" cy="263347"/>
          </a:xfrm>
          <a:prstGeom prst="rect">
            <a:avLst/>
          </a:prstGeom>
        </p:spPr>
      </p:pic>
      <p:sp>
        <p:nvSpPr>
          <p:cNvPr id="17" name="Text 12"/>
          <p:cNvSpPr/>
          <p:nvPr/>
        </p:nvSpPr>
        <p:spPr>
          <a:xfrm>
            <a:off x="1508760" y="4169664"/>
            <a:ext cx="2103120" cy="676656"/>
          </a:xfrm>
          <a:prstGeom prst="rect">
            <a:avLst/>
          </a:prstGeom>
          <a:noFill/>
          <a:ln/>
        </p:spPr>
        <p:txBody>
          <a:bodyPr wrap="square" lIns="0" tIns="0" rIns="0" bIns="0" rtlCol="0" anchor="ctr"/>
          <a:lstStyle/>
          <a:p>
            <a:pPr marL="0" indent="0">
              <a:buNone/>
            </a:pPr>
            <a:r>
              <a:rPr lang="en-US" sz="1900" b="1" dirty="0">
                <a:solidFill>
                  <a:srgbClr val="B5A06A"/>
                </a:solidFill>
                <a:latin typeface="Cambria" pitchFamily="34" charset="0"/>
                <a:ea typeface="Cambria" pitchFamily="34" charset="-122"/>
                <a:cs typeface="Cambria" pitchFamily="34" charset="-120"/>
              </a:rPr>
              <a:t>Diagnose</a:t>
            </a:r>
            <a:endParaRPr lang="en-US" sz="1900" dirty="0"/>
          </a:p>
        </p:txBody>
      </p:sp>
      <p:sp>
        <p:nvSpPr>
          <p:cNvPr id="18" name="Text 13"/>
          <p:cNvSpPr/>
          <p:nvPr/>
        </p:nvSpPr>
        <p:spPr>
          <a:xfrm>
            <a:off x="3566160" y="4169664"/>
            <a:ext cx="7863840" cy="676656"/>
          </a:xfrm>
          <a:prstGeom prst="rect">
            <a:avLst/>
          </a:prstGeom>
          <a:noFill/>
          <a:ln/>
        </p:spPr>
        <p:txBody>
          <a:bodyPr wrap="square" lIns="0" tIns="0" rIns="0" bIns="0" rtlCol="0" anchor="ctr"/>
          <a:lstStyle/>
          <a:p>
            <a:pPr marL="0" indent="0">
              <a:buNone/>
            </a:pPr>
            <a:r>
              <a:rPr lang="en-US" sz="1550" dirty="0">
                <a:solidFill>
                  <a:srgbClr val="1B1F2A"/>
                </a:solidFill>
                <a:latin typeface="Calibri" pitchFamily="34" charset="0"/>
                <a:ea typeface="Calibri" pitchFamily="34" charset="-122"/>
                <a:cs typeface="Calibri" pitchFamily="34" charset="-120"/>
              </a:rPr>
              <a:t>Spot a tokenizer-model mismatch before it ships</a:t>
            </a:r>
            <a:endParaRPr lang="en-US" sz="1550" dirty="0"/>
          </a:p>
        </p:txBody>
      </p:sp>
      <p:sp>
        <p:nvSpPr>
          <p:cNvPr id="19" name="Shape 14"/>
          <p:cNvSpPr/>
          <p:nvPr/>
        </p:nvSpPr>
        <p:spPr>
          <a:xfrm>
            <a:off x="548640" y="5084064"/>
            <a:ext cx="11064240" cy="896112"/>
          </a:xfrm>
          <a:prstGeom prst="roundRect">
            <a:avLst>
              <a:gd name="adj" fmla="val 8163"/>
            </a:avLst>
          </a:prstGeom>
          <a:solidFill>
            <a:srgbClr val="FFFFFF"/>
          </a:solidFill>
          <a:ln/>
          <a:effectLst>
            <a:outerShdw blurRad="88900" dist="38100" dir="5400000" algn="bl" rotWithShape="0">
              <a:srgbClr val="000000">
                <a:alpha val="10000"/>
              </a:srgbClr>
            </a:outerShdw>
          </a:effectLst>
        </p:spPr>
        <p:txBody>
          <a:bodyPr/>
          <a:lstStyle/>
          <a:p>
            <a:endParaRPr lang="en-US"/>
          </a:p>
        </p:txBody>
      </p:sp>
      <p:sp>
        <p:nvSpPr>
          <p:cNvPr id="20" name="Shape 15"/>
          <p:cNvSpPr/>
          <p:nvPr/>
        </p:nvSpPr>
        <p:spPr>
          <a:xfrm>
            <a:off x="777240" y="5257800"/>
            <a:ext cx="548640" cy="548640"/>
          </a:xfrm>
          <a:prstGeom prst="line">
            <a:avLst/>
          </a:prstGeom>
          <a:solidFill>
            <a:srgbClr val="B31A38"/>
          </a:solidFill>
          <a:ln/>
        </p:spPr>
        <p:txBody>
          <a:bodyPr/>
          <a:lstStyle/>
          <a:p>
            <a:endParaRPr lang="en-US"/>
          </a:p>
        </p:txBody>
      </p:sp>
      <p:pic>
        <p:nvPicPr>
          <p:cNvPr id="21" name="Image 3" descr="preencoded.png"/>
          <p:cNvPicPr>
            <a:picLocks noChangeAspect="1"/>
          </p:cNvPicPr>
          <p:nvPr/>
        </p:nvPicPr>
        <p:blipFill>
          <a:blip r:embed="rId6"/>
          <a:stretch>
            <a:fillRect/>
          </a:stretch>
        </p:blipFill>
        <p:spPr>
          <a:xfrm>
            <a:off x="919886" y="5400446"/>
            <a:ext cx="263347" cy="263347"/>
          </a:xfrm>
          <a:prstGeom prst="rect">
            <a:avLst/>
          </a:prstGeom>
        </p:spPr>
      </p:pic>
      <p:sp>
        <p:nvSpPr>
          <p:cNvPr id="22" name="Text 16"/>
          <p:cNvSpPr/>
          <p:nvPr/>
        </p:nvSpPr>
        <p:spPr>
          <a:xfrm>
            <a:off x="1508760" y="5193792"/>
            <a:ext cx="2103120" cy="676656"/>
          </a:xfrm>
          <a:prstGeom prst="rect">
            <a:avLst/>
          </a:prstGeom>
          <a:noFill/>
          <a:ln/>
        </p:spPr>
        <p:txBody>
          <a:bodyPr wrap="square" lIns="0" tIns="0" rIns="0" bIns="0" rtlCol="0" anchor="ctr"/>
          <a:lstStyle/>
          <a:p>
            <a:pPr marL="0" indent="0">
              <a:buNone/>
            </a:pPr>
            <a:r>
              <a:rPr lang="en-US" sz="1900" b="1" dirty="0">
                <a:solidFill>
                  <a:srgbClr val="B31A38"/>
                </a:solidFill>
                <a:latin typeface="Cambria" pitchFamily="34" charset="0"/>
                <a:ea typeface="Cambria" pitchFamily="34" charset="-122"/>
                <a:cs typeface="Cambria" pitchFamily="34" charset="-120"/>
              </a:rPr>
              <a:t>Evaluate</a:t>
            </a:r>
            <a:endParaRPr lang="en-US" sz="1900" dirty="0"/>
          </a:p>
        </p:txBody>
      </p:sp>
      <p:sp>
        <p:nvSpPr>
          <p:cNvPr id="23" name="Text 17"/>
          <p:cNvSpPr/>
          <p:nvPr/>
        </p:nvSpPr>
        <p:spPr>
          <a:xfrm>
            <a:off x="3566160" y="5193792"/>
            <a:ext cx="7863840" cy="676656"/>
          </a:xfrm>
          <a:prstGeom prst="rect">
            <a:avLst/>
          </a:prstGeom>
          <a:noFill/>
          <a:ln/>
        </p:spPr>
        <p:txBody>
          <a:bodyPr wrap="square" lIns="0" tIns="0" rIns="0" bIns="0" rtlCol="0" anchor="ctr"/>
          <a:lstStyle/>
          <a:p>
            <a:pPr marL="0" indent="0">
              <a:buNone/>
            </a:pPr>
            <a:r>
              <a:rPr lang="en-US" sz="1550" dirty="0">
                <a:solidFill>
                  <a:srgbClr val="1B1F2A"/>
                </a:solidFill>
                <a:latin typeface="Calibri" pitchFamily="34" charset="0"/>
                <a:ea typeface="Calibri" pitchFamily="34" charset="-122"/>
                <a:cs typeface="Calibri" pitchFamily="34" charset="-120"/>
              </a:rPr>
              <a:t>Judge tokenizer choices across languages and scripts</a:t>
            </a:r>
            <a:endParaRPr lang="en-US" sz="1550" dirty="0"/>
          </a:p>
        </p:txBody>
      </p:sp>
      <p:sp>
        <p:nvSpPr>
          <p:cNvPr id="24" name="Text 18"/>
          <p:cNvSpPr/>
          <p:nvPr/>
        </p:nvSpPr>
        <p:spPr>
          <a:xfrm>
            <a:off x="457200" y="6437376"/>
            <a:ext cx="9601200" cy="274320"/>
          </a:xfrm>
          <a:prstGeom prst="rect">
            <a:avLst/>
          </a:prstGeom>
          <a:noFill/>
          <a:ln/>
        </p:spPr>
        <p:txBody>
          <a:bodyPr wrap="square" lIns="0" tIns="0" rIns="0" bIns="0" rtlCol="0" anchor="ctr"/>
          <a:lstStyle/>
          <a:p>
            <a:pPr marL="0" indent="0" algn="l">
              <a:buNone/>
            </a:pPr>
            <a:r>
              <a:rPr lang="en-US" sz="900" dirty="0">
                <a:solidFill>
                  <a:srgbClr val="5B6172"/>
                </a:solidFill>
                <a:latin typeface="Calibri" pitchFamily="34" charset="0"/>
                <a:ea typeface="Calibri" pitchFamily="34" charset="-122"/>
                <a:cs typeface="Calibri" pitchFamily="34" charset="-120"/>
              </a:rPr>
              <a:t>ISBA 2411 · Natural Language Processing &amp; AI · Summer 2026</a:t>
            </a:r>
            <a:endParaRPr lang="en-US" sz="900" dirty="0"/>
          </a:p>
        </p:txBody>
      </p:sp>
      <p:sp>
        <p:nvSpPr>
          <p:cNvPr id="25" name="Text 19"/>
          <p:cNvSpPr/>
          <p:nvPr/>
        </p:nvSpPr>
        <p:spPr>
          <a:xfrm>
            <a:off x="11338560" y="6437376"/>
            <a:ext cx="365760" cy="274320"/>
          </a:xfrm>
          <a:prstGeom prst="rect">
            <a:avLst/>
          </a:prstGeom>
          <a:noFill/>
          <a:ln/>
        </p:spPr>
        <p:txBody>
          <a:bodyPr wrap="square" lIns="0" tIns="0" rIns="0" bIns="0" rtlCol="0" anchor="ctr"/>
          <a:lstStyle/>
          <a:p>
            <a:pPr marL="0" indent="0" algn="r">
              <a:buNone/>
            </a:pPr>
            <a:r>
              <a:rPr lang="en-US" sz="900" dirty="0">
                <a:solidFill>
                  <a:srgbClr val="5B6172"/>
                </a:solidFill>
                <a:latin typeface="Calibri" pitchFamily="34" charset="0"/>
                <a:ea typeface="Calibri" pitchFamily="34" charset="-122"/>
                <a:cs typeface="Calibri" pitchFamily="34" charset="-120"/>
              </a:rPr>
              <a:t>2</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548640" y="384048"/>
            <a:ext cx="10972800" cy="320040"/>
          </a:xfrm>
          <a:prstGeom prst="rect">
            <a:avLst/>
          </a:prstGeom>
          <a:noFill/>
          <a:ln/>
        </p:spPr>
        <p:txBody>
          <a:bodyPr wrap="square" lIns="0" tIns="0" rIns="0" bIns="0" rtlCol="0" anchor="ctr"/>
          <a:lstStyle/>
          <a:p>
            <a:pPr marL="0" indent="0">
              <a:buNone/>
            </a:pPr>
            <a:r>
              <a:rPr lang="en-US" sz="1300" b="1" kern="0" spc="200" dirty="0">
                <a:solidFill>
                  <a:srgbClr val="B31A38"/>
                </a:solidFill>
                <a:latin typeface="Calibri" pitchFamily="34" charset="0"/>
                <a:ea typeface="Calibri" pitchFamily="34" charset="-122"/>
                <a:cs typeface="Calibri" pitchFamily="34" charset="-120"/>
              </a:rPr>
              <a:t>THE BIG IDEA</a:t>
            </a:r>
            <a:endParaRPr lang="en-US" sz="1300" dirty="0"/>
          </a:p>
        </p:txBody>
      </p:sp>
      <p:sp>
        <p:nvSpPr>
          <p:cNvPr id="3" name="Text 1"/>
          <p:cNvSpPr/>
          <p:nvPr/>
        </p:nvSpPr>
        <p:spPr>
          <a:xfrm>
            <a:off x="548640" y="676656"/>
            <a:ext cx="11064240" cy="777240"/>
          </a:xfrm>
          <a:prstGeom prst="rect">
            <a:avLst/>
          </a:prstGeom>
          <a:noFill/>
          <a:ln/>
        </p:spPr>
        <p:txBody>
          <a:bodyPr wrap="square" lIns="0" tIns="0" rIns="0" bIns="0" rtlCol="0" anchor="ctr"/>
          <a:lstStyle/>
          <a:p>
            <a:pPr marL="0" indent="0">
              <a:buNone/>
            </a:pPr>
            <a:r>
              <a:rPr lang="en-US" sz="3000" b="1" dirty="0">
                <a:solidFill>
                  <a:srgbClr val="151A2E"/>
                </a:solidFill>
                <a:latin typeface="Cambria" pitchFamily="34" charset="0"/>
                <a:ea typeface="Cambria" pitchFamily="34" charset="-122"/>
                <a:cs typeface="Cambria" pitchFamily="34" charset="-120"/>
              </a:rPr>
              <a:t>A sentence is not a flat list. It is a structure.</a:t>
            </a:r>
            <a:endParaRPr lang="en-US" sz="3000" dirty="0"/>
          </a:p>
        </p:txBody>
      </p:sp>
      <p:sp>
        <p:nvSpPr>
          <p:cNvPr id="4" name="Text 2"/>
          <p:cNvSpPr/>
          <p:nvPr/>
        </p:nvSpPr>
        <p:spPr>
          <a:xfrm>
            <a:off x="548640" y="1600200"/>
            <a:ext cx="11064240" cy="640080"/>
          </a:xfrm>
          <a:prstGeom prst="rect">
            <a:avLst/>
          </a:prstGeom>
          <a:noFill/>
          <a:ln/>
        </p:spPr>
        <p:txBody>
          <a:bodyPr wrap="square" rtlCol="0" anchor="ctr"/>
          <a:lstStyle/>
          <a:p>
            <a:pPr marL="0" indent="0">
              <a:buNone/>
            </a:pPr>
            <a:r>
              <a:rPr lang="en-US" sz="1550" i="1" dirty="0">
                <a:solidFill>
                  <a:srgbClr val="1B1F2A"/>
                </a:solidFill>
                <a:latin typeface="Calibri" pitchFamily="34" charset="0"/>
                <a:ea typeface="Calibri" pitchFamily="34" charset="-122"/>
                <a:cs typeface="Calibri" pitchFamily="34" charset="-120"/>
              </a:rPr>
              <a:t>The dog that chased the cat ran away. Which animal ran? Word order alone will not tell you. You need the structure that links each word to its head.</a:t>
            </a:r>
            <a:endParaRPr lang="en-US" sz="1550" dirty="0"/>
          </a:p>
        </p:txBody>
      </p:sp>
      <p:sp>
        <p:nvSpPr>
          <p:cNvPr id="5" name="Shape 3"/>
          <p:cNvSpPr/>
          <p:nvPr/>
        </p:nvSpPr>
        <p:spPr>
          <a:xfrm>
            <a:off x="548640" y="2377440"/>
            <a:ext cx="5440680" cy="3429000"/>
          </a:xfrm>
          <a:prstGeom prst="roundRect">
            <a:avLst>
              <a:gd name="adj" fmla="val 2133"/>
            </a:avLst>
          </a:prstGeom>
          <a:solidFill>
            <a:srgbClr val="FFFFFF"/>
          </a:solidFill>
          <a:ln/>
          <a:effectLst>
            <a:outerShdw blurRad="88900" dist="38100" dir="5400000" algn="bl" rotWithShape="0">
              <a:srgbClr val="000000">
                <a:alpha val="10000"/>
              </a:srgbClr>
            </a:outerShdw>
          </a:effectLst>
        </p:spPr>
        <p:txBody>
          <a:bodyPr/>
          <a:lstStyle/>
          <a:p>
            <a:endParaRPr lang="en-US"/>
          </a:p>
        </p:txBody>
      </p:sp>
      <p:sp>
        <p:nvSpPr>
          <p:cNvPr id="6" name="Shape 4"/>
          <p:cNvSpPr/>
          <p:nvPr/>
        </p:nvSpPr>
        <p:spPr>
          <a:xfrm>
            <a:off x="822960" y="2606040"/>
            <a:ext cx="685800" cy="685800"/>
          </a:xfrm>
          <a:prstGeom prst="line">
            <a:avLst/>
          </a:prstGeom>
          <a:solidFill>
            <a:srgbClr val="151A2E"/>
          </a:solidFill>
          <a:ln/>
        </p:spPr>
        <p:txBody>
          <a:bodyPr/>
          <a:lstStyle/>
          <a:p>
            <a:endParaRPr lang="en-US"/>
          </a:p>
        </p:txBody>
      </p:sp>
      <p:pic>
        <p:nvPicPr>
          <p:cNvPr id="7" name="Image 0" descr="preencoded.png"/>
          <p:cNvPicPr>
            <a:picLocks noChangeAspect="1"/>
          </p:cNvPicPr>
          <p:nvPr/>
        </p:nvPicPr>
        <p:blipFill>
          <a:blip r:embed="rId3"/>
          <a:stretch>
            <a:fillRect/>
          </a:stretch>
        </p:blipFill>
        <p:spPr>
          <a:xfrm>
            <a:off x="1001268" y="2784348"/>
            <a:ext cx="329184" cy="329184"/>
          </a:xfrm>
          <a:prstGeom prst="rect">
            <a:avLst/>
          </a:prstGeom>
        </p:spPr>
      </p:pic>
      <p:sp>
        <p:nvSpPr>
          <p:cNvPr id="8" name="Text 5"/>
          <p:cNvSpPr/>
          <p:nvPr/>
        </p:nvSpPr>
        <p:spPr>
          <a:xfrm>
            <a:off x="1645920" y="2651760"/>
            <a:ext cx="4206240" cy="548640"/>
          </a:xfrm>
          <a:prstGeom prst="rect">
            <a:avLst/>
          </a:prstGeom>
          <a:noFill/>
          <a:ln/>
        </p:spPr>
        <p:txBody>
          <a:bodyPr wrap="square" lIns="0" tIns="0" rIns="0" bIns="0" rtlCol="0" anchor="ctr"/>
          <a:lstStyle/>
          <a:p>
            <a:pPr marL="0" indent="0">
              <a:buNone/>
            </a:pPr>
            <a:r>
              <a:rPr lang="en-US" sz="1800" b="1" dirty="0">
                <a:solidFill>
                  <a:srgbClr val="151A2E"/>
                </a:solidFill>
                <a:latin typeface="Cambria" pitchFamily="34" charset="0"/>
                <a:ea typeface="Cambria" pitchFamily="34" charset="-122"/>
                <a:cs typeface="Cambria" pitchFamily="34" charset="-120"/>
              </a:rPr>
              <a:t>Constituency parsing</a:t>
            </a:r>
            <a:endParaRPr lang="en-US" sz="1800" dirty="0"/>
          </a:p>
        </p:txBody>
      </p:sp>
      <p:sp>
        <p:nvSpPr>
          <p:cNvPr id="9" name="Text 6"/>
          <p:cNvSpPr/>
          <p:nvPr/>
        </p:nvSpPr>
        <p:spPr>
          <a:xfrm>
            <a:off x="868680" y="3429000"/>
            <a:ext cx="4846320" cy="2194560"/>
          </a:xfrm>
          <a:prstGeom prst="rect">
            <a:avLst/>
          </a:prstGeom>
          <a:noFill/>
          <a:ln/>
        </p:spPr>
        <p:txBody>
          <a:bodyPr wrap="square" rtlCol="0" anchor="t"/>
          <a:lstStyle/>
          <a:p>
            <a:pPr marL="342900" indent="-342900">
              <a:spcAft>
                <a:spcPts val="900"/>
              </a:spcAft>
              <a:buSzPct val="100000"/>
              <a:buChar char="•"/>
            </a:pPr>
            <a:r>
              <a:rPr lang="en-US" sz="1400" dirty="0">
                <a:solidFill>
                  <a:srgbClr val="1B1F2A"/>
                </a:solidFill>
                <a:latin typeface="Calibri" pitchFamily="34" charset="0"/>
                <a:ea typeface="Calibri" pitchFamily="34" charset="-122"/>
                <a:cs typeface="Calibri" pitchFamily="34" charset="-120"/>
              </a:rPr>
              <a:t>Groups words into nested phrases</a:t>
            </a:r>
            <a:endParaRPr lang="en-US" sz="1400" dirty="0"/>
          </a:p>
          <a:p>
            <a:pPr marL="342900" indent="-342900">
              <a:spcAft>
                <a:spcPts val="900"/>
              </a:spcAft>
              <a:buSzPct val="100000"/>
              <a:buChar char="•"/>
            </a:pPr>
            <a:r>
              <a:rPr lang="en-US" sz="1400" dirty="0">
                <a:solidFill>
                  <a:srgbClr val="1B1F2A"/>
                </a:solidFill>
                <a:latin typeface="Calibri" pitchFamily="34" charset="0"/>
                <a:ea typeface="Calibri" pitchFamily="34" charset="-122"/>
                <a:cs typeface="Calibri" pitchFamily="34" charset="-120"/>
              </a:rPr>
              <a:t>Noun phrases, verb phrases, prepositional phrases</a:t>
            </a:r>
            <a:endParaRPr lang="en-US" sz="1400" dirty="0"/>
          </a:p>
          <a:p>
            <a:pPr marL="342900" indent="-342900">
              <a:spcAft>
                <a:spcPts val="900"/>
              </a:spcAft>
              <a:buSzPct val="100000"/>
              <a:buChar char="•"/>
            </a:pPr>
            <a:r>
              <a:rPr lang="en-US" sz="1400" dirty="0">
                <a:solidFill>
                  <a:srgbClr val="1B1F2A"/>
                </a:solidFill>
                <a:latin typeface="Calibri" pitchFamily="34" charset="0"/>
                <a:ea typeface="Calibri" pitchFamily="34" charset="-122"/>
                <a:cs typeface="Calibri" pitchFamily="34" charset="-120"/>
              </a:rPr>
              <a:t>Drawn as a tree of brackets inside brackets</a:t>
            </a:r>
            <a:endParaRPr lang="en-US" sz="1400" dirty="0"/>
          </a:p>
          <a:p>
            <a:pPr marL="342900" indent="-342900">
              <a:spcAft>
                <a:spcPts val="900"/>
              </a:spcAft>
              <a:buSzPct val="100000"/>
              <a:buChar char="•"/>
            </a:pPr>
            <a:r>
              <a:rPr lang="en-US" sz="1400" dirty="0">
                <a:solidFill>
                  <a:srgbClr val="1B1F2A"/>
                </a:solidFill>
                <a:latin typeface="Calibri" pitchFamily="34" charset="0"/>
                <a:ea typeface="Calibri" pitchFamily="34" charset="-122"/>
                <a:cs typeface="Calibri" pitchFamily="34" charset="-120"/>
              </a:rPr>
              <a:t>Answers: what are the chunks?</a:t>
            </a:r>
            <a:endParaRPr lang="en-US" sz="1400" dirty="0"/>
          </a:p>
        </p:txBody>
      </p:sp>
      <p:sp>
        <p:nvSpPr>
          <p:cNvPr id="10" name="Shape 7"/>
          <p:cNvSpPr/>
          <p:nvPr/>
        </p:nvSpPr>
        <p:spPr>
          <a:xfrm>
            <a:off x="6172200" y="2377440"/>
            <a:ext cx="5440680" cy="3429000"/>
          </a:xfrm>
          <a:prstGeom prst="roundRect">
            <a:avLst>
              <a:gd name="adj" fmla="val 2133"/>
            </a:avLst>
          </a:prstGeom>
          <a:solidFill>
            <a:srgbClr val="F7F3E9"/>
          </a:solidFill>
          <a:ln/>
          <a:effectLst>
            <a:outerShdw blurRad="88900" dist="38100" dir="5400000" algn="bl" rotWithShape="0">
              <a:srgbClr val="000000">
                <a:alpha val="10000"/>
              </a:srgbClr>
            </a:outerShdw>
          </a:effectLst>
        </p:spPr>
        <p:txBody>
          <a:bodyPr/>
          <a:lstStyle/>
          <a:p>
            <a:endParaRPr lang="en-US"/>
          </a:p>
        </p:txBody>
      </p:sp>
      <p:sp>
        <p:nvSpPr>
          <p:cNvPr id="11" name="Shape 8"/>
          <p:cNvSpPr/>
          <p:nvPr/>
        </p:nvSpPr>
        <p:spPr>
          <a:xfrm>
            <a:off x="6446520" y="2606040"/>
            <a:ext cx="685800" cy="685800"/>
          </a:xfrm>
          <a:prstGeom prst="line">
            <a:avLst/>
          </a:prstGeom>
          <a:solidFill>
            <a:srgbClr val="B5A06A"/>
          </a:solidFill>
          <a:ln/>
        </p:spPr>
        <p:txBody>
          <a:bodyPr/>
          <a:lstStyle/>
          <a:p>
            <a:endParaRPr lang="en-US"/>
          </a:p>
        </p:txBody>
      </p:sp>
      <p:pic>
        <p:nvPicPr>
          <p:cNvPr id="12" name="Image 1" descr="preencoded.png"/>
          <p:cNvPicPr>
            <a:picLocks noChangeAspect="1"/>
          </p:cNvPicPr>
          <p:nvPr/>
        </p:nvPicPr>
        <p:blipFill>
          <a:blip r:embed="rId4"/>
          <a:stretch>
            <a:fillRect/>
          </a:stretch>
        </p:blipFill>
        <p:spPr>
          <a:xfrm>
            <a:off x="6624828" y="2784348"/>
            <a:ext cx="329184" cy="329184"/>
          </a:xfrm>
          <a:prstGeom prst="rect">
            <a:avLst/>
          </a:prstGeom>
        </p:spPr>
      </p:pic>
      <p:sp>
        <p:nvSpPr>
          <p:cNvPr id="13" name="Text 9"/>
          <p:cNvSpPr/>
          <p:nvPr/>
        </p:nvSpPr>
        <p:spPr>
          <a:xfrm>
            <a:off x="7269480" y="2651760"/>
            <a:ext cx="4206240" cy="548640"/>
          </a:xfrm>
          <a:prstGeom prst="rect">
            <a:avLst/>
          </a:prstGeom>
          <a:noFill/>
          <a:ln/>
        </p:spPr>
        <p:txBody>
          <a:bodyPr wrap="square" lIns="0" tIns="0" rIns="0" bIns="0" rtlCol="0" anchor="ctr"/>
          <a:lstStyle/>
          <a:p>
            <a:pPr marL="0" indent="0">
              <a:buNone/>
            </a:pPr>
            <a:r>
              <a:rPr lang="en-US" sz="1800" b="1" dirty="0">
                <a:solidFill>
                  <a:srgbClr val="8A6D1F"/>
                </a:solidFill>
                <a:latin typeface="Cambria" pitchFamily="34" charset="0"/>
                <a:ea typeface="Cambria" pitchFamily="34" charset="-122"/>
                <a:cs typeface="Cambria" pitchFamily="34" charset="-120"/>
              </a:rPr>
              <a:t>Dependency parsing</a:t>
            </a:r>
            <a:endParaRPr lang="en-US" sz="1800" dirty="0"/>
          </a:p>
        </p:txBody>
      </p:sp>
      <p:sp>
        <p:nvSpPr>
          <p:cNvPr id="14" name="Text 10"/>
          <p:cNvSpPr/>
          <p:nvPr/>
        </p:nvSpPr>
        <p:spPr>
          <a:xfrm>
            <a:off x="6492240" y="3429000"/>
            <a:ext cx="4846320" cy="2194560"/>
          </a:xfrm>
          <a:prstGeom prst="rect">
            <a:avLst/>
          </a:prstGeom>
          <a:noFill/>
          <a:ln/>
        </p:spPr>
        <p:txBody>
          <a:bodyPr wrap="square" rtlCol="0" anchor="t"/>
          <a:lstStyle/>
          <a:p>
            <a:pPr marL="342900" indent="-342900">
              <a:spcAft>
                <a:spcPts val="900"/>
              </a:spcAft>
              <a:buSzPct val="100000"/>
              <a:buChar char="•"/>
            </a:pPr>
            <a:r>
              <a:rPr lang="en-US" sz="1400" dirty="0">
                <a:solidFill>
                  <a:srgbClr val="1B1F2A"/>
                </a:solidFill>
                <a:latin typeface="Calibri" pitchFamily="34" charset="0"/>
                <a:ea typeface="Calibri" pitchFamily="34" charset="-122"/>
                <a:cs typeface="Calibri" pitchFamily="34" charset="-120"/>
              </a:rPr>
              <a:t>Links each word directly to its head word</a:t>
            </a:r>
            <a:endParaRPr lang="en-US" sz="1400" dirty="0"/>
          </a:p>
          <a:p>
            <a:pPr marL="342900" indent="-342900">
              <a:spcAft>
                <a:spcPts val="900"/>
              </a:spcAft>
              <a:buSzPct val="100000"/>
              <a:buChar char="•"/>
            </a:pPr>
            <a:r>
              <a:rPr lang="en-US" sz="1400" dirty="0">
                <a:solidFill>
                  <a:srgbClr val="1B1F2A"/>
                </a:solidFill>
                <a:latin typeface="Calibri" pitchFamily="34" charset="0"/>
                <a:ea typeface="Calibri" pitchFamily="34" charset="-122"/>
                <a:cs typeface="Calibri" pitchFamily="34" charset="-120"/>
              </a:rPr>
              <a:t>Labeled arcs: subject, object, modifier</a:t>
            </a:r>
            <a:endParaRPr lang="en-US" sz="1400" dirty="0"/>
          </a:p>
          <a:p>
            <a:pPr marL="342900" indent="-342900">
              <a:spcAft>
                <a:spcPts val="900"/>
              </a:spcAft>
              <a:buSzPct val="100000"/>
              <a:buChar char="•"/>
            </a:pPr>
            <a:r>
              <a:rPr lang="en-US" sz="1400" dirty="0">
                <a:solidFill>
                  <a:srgbClr val="1B1F2A"/>
                </a:solidFill>
                <a:latin typeface="Calibri" pitchFamily="34" charset="0"/>
                <a:ea typeface="Calibri" pitchFamily="34" charset="-122"/>
                <a:cs typeface="Calibri" pitchFamily="34" charset="-120"/>
              </a:rPr>
              <a:t>The basis of Universal Dependencies, used worldwide</a:t>
            </a:r>
            <a:endParaRPr lang="en-US" sz="1400" dirty="0"/>
          </a:p>
          <a:p>
            <a:pPr marL="342900" indent="-342900">
              <a:spcAft>
                <a:spcPts val="900"/>
              </a:spcAft>
              <a:buSzPct val="100000"/>
              <a:buChar char="•"/>
            </a:pPr>
            <a:r>
              <a:rPr lang="en-US" sz="1400" dirty="0">
                <a:solidFill>
                  <a:srgbClr val="1B1F2A"/>
                </a:solidFill>
                <a:latin typeface="Calibri" pitchFamily="34" charset="0"/>
                <a:ea typeface="Calibri" pitchFamily="34" charset="-122"/>
                <a:cs typeface="Calibri" pitchFamily="34" charset="-120"/>
              </a:rPr>
              <a:t>Answers: who relates to whom?</a:t>
            </a:r>
            <a:endParaRPr lang="en-US" sz="1400" dirty="0"/>
          </a:p>
        </p:txBody>
      </p:sp>
      <p:sp>
        <p:nvSpPr>
          <p:cNvPr id="15" name="Text 11"/>
          <p:cNvSpPr/>
          <p:nvPr/>
        </p:nvSpPr>
        <p:spPr>
          <a:xfrm>
            <a:off x="457200" y="6437376"/>
            <a:ext cx="9601200" cy="274320"/>
          </a:xfrm>
          <a:prstGeom prst="rect">
            <a:avLst/>
          </a:prstGeom>
          <a:noFill/>
          <a:ln/>
        </p:spPr>
        <p:txBody>
          <a:bodyPr wrap="square" lIns="0" tIns="0" rIns="0" bIns="0" rtlCol="0" anchor="ctr"/>
          <a:lstStyle/>
          <a:p>
            <a:pPr marL="0" indent="0" algn="l">
              <a:buNone/>
            </a:pPr>
            <a:r>
              <a:rPr lang="en-US" sz="900" dirty="0">
                <a:solidFill>
                  <a:srgbClr val="5B6172"/>
                </a:solidFill>
                <a:latin typeface="Calibri" pitchFamily="34" charset="0"/>
                <a:ea typeface="Calibri" pitchFamily="34" charset="-122"/>
                <a:cs typeface="Calibri" pitchFamily="34" charset="-120"/>
              </a:rPr>
              <a:t>ISBA 2411 · Natural Language Processing &amp; AI · Summer 2026</a:t>
            </a:r>
            <a:endParaRPr lang="en-US" sz="900" dirty="0"/>
          </a:p>
        </p:txBody>
      </p:sp>
      <p:sp>
        <p:nvSpPr>
          <p:cNvPr id="16" name="Text 12"/>
          <p:cNvSpPr/>
          <p:nvPr/>
        </p:nvSpPr>
        <p:spPr>
          <a:xfrm>
            <a:off x="11338560" y="6437376"/>
            <a:ext cx="365760" cy="274320"/>
          </a:xfrm>
          <a:prstGeom prst="rect">
            <a:avLst/>
          </a:prstGeom>
          <a:noFill/>
          <a:ln/>
        </p:spPr>
        <p:txBody>
          <a:bodyPr wrap="square" lIns="0" tIns="0" rIns="0" bIns="0" rtlCol="0" anchor="ctr"/>
          <a:lstStyle/>
          <a:p>
            <a:pPr marL="0" indent="0" algn="r">
              <a:buNone/>
            </a:pPr>
            <a:r>
              <a:rPr lang="en-US" sz="900" dirty="0">
                <a:solidFill>
                  <a:srgbClr val="5B6172"/>
                </a:solidFill>
                <a:latin typeface="Calibri" pitchFamily="34" charset="0"/>
                <a:ea typeface="Calibri" pitchFamily="34" charset="-122"/>
                <a:cs typeface="Calibri" pitchFamily="34" charset="-120"/>
              </a:rPr>
              <a:t>3</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548640" y="384048"/>
            <a:ext cx="10972800" cy="320040"/>
          </a:xfrm>
          <a:prstGeom prst="rect">
            <a:avLst/>
          </a:prstGeom>
          <a:noFill/>
          <a:ln/>
        </p:spPr>
        <p:txBody>
          <a:bodyPr wrap="square" lIns="0" tIns="0" rIns="0" bIns="0" rtlCol="0" anchor="ctr"/>
          <a:lstStyle/>
          <a:p>
            <a:pPr marL="0" indent="0">
              <a:buNone/>
            </a:pPr>
            <a:r>
              <a:rPr lang="en-US" sz="1300" b="1" kern="0" spc="200" dirty="0">
                <a:solidFill>
                  <a:srgbClr val="B31A38"/>
                </a:solidFill>
                <a:latin typeface="Calibri" pitchFamily="34" charset="0"/>
                <a:ea typeface="Calibri" pitchFamily="34" charset="-122"/>
                <a:cs typeface="Calibri" pitchFamily="34" charset="-120"/>
              </a:rPr>
              <a:t>WHY STRUCTURE MATTERS</a:t>
            </a:r>
            <a:endParaRPr lang="en-US" sz="1300" dirty="0"/>
          </a:p>
        </p:txBody>
      </p:sp>
      <p:sp>
        <p:nvSpPr>
          <p:cNvPr id="3" name="Text 1"/>
          <p:cNvSpPr/>
          <p:nvPr/>
        </p:nvSpPr>
        <p:spPr>
          <a:xfrm>
            <a:off x="548640" y="676656"/>
            <a:ext cx="11064240" cy="777240"/>
          </a:xfrm>
          <a:prstGeom prst="rect">
            <a:avLst/>
          </a:prstGeom>
          <a:noFill/>
          <a:ln/>
        </p:spPr>
        <p:txBody>
          <a:bodyPr wrap="square" lIns="0" tIns="0" rIns="0" bIns="0" rtlCol="0" anchor="ctr"/>
          <a:lstStyle/>
          <a:p>
            <a:pPr marL="0" indent="0">
              <a:buNone/>
            </a:pPr>
            <a:r>
              <a:rPr lang="en-US" sz="3000" b="1" dirty="0">
                <a:solidFill>
                  <a:srgbClr val="151A2E"/>
                </a:solidFill>
                <a:latin typeface="Cambria" pitchFamily="34" charset="0"/>
                <a:ea typeface="Cambria" pitchFamily="34" charset="-122"/>
                <a:cs typeface="Cambria" pitchFamily="34" charset="-120"/>
              </a:rPr>
              <a:t>One sentence, two structures, two meanings</a:t>
            </a:r>
            <a:endParaRPr lang="en-US" sz="3000" dirty="0"/>
          </a:p>
        </p:txBody>
      </p:sp>
      <p:sp>
        <p:nvSpPr>
          <p:cNvPr id="4" name="Shape 2"/>
          <p:cNvSpPr/>
          <p:nvPr/>
        </p:nvSpPr>
        <p:spPr>
          <a:xfrm>
            <a:off x="548640" y="1965960"/>
            <a:ext cx="11064240" cy="1188720"/>
          </a:xfrm>
          <a:prstGeom prst="roundRect">
            <a:avLst>
              <a:gd name="adj" fmla="val 6154"/>
            </a:avLst>
          </a:prstGeom>
          <a:solidFill>
            <a:srgbClr val="F4F5F8"/>
          </a:solidFill>
          <a:ln/>
          <a:effectLst>
            <a:outerShdw blurRad="88900" dist="38100" dir="5400000" algn="bl" rotWithShape="0">
              <a:srgbClr val="000000">
                <a:alpha val="10000"/>
              </a:srgbClr>
            </a:outerShdw>
          </a:effectLst>
        </p:spPr>
        <p:txBody>
          <a:bodyPr/>
          <a:lstStyle/>
          <a:p>
            <a:endParaRPr lang="en-US"/>
          </a:p>
        </p:txBody>
      </p:sp>
      <p:sp>
        <p:nvSpPr>
          <p:cNvPr id="5" name="Text 3"/>
          <p:cNvSpPr/>
          <p:nvPr/>
        </p:nvSpPr>
        <p:spPr>
          <a:xfrm>
            <a:off x="868680" y="2093976"/>
            <a:ext cx="5852160" cy="914400"/>
          </a:xfrm>
          <a:prstGeom prst="rect">
            <a:avLst/>
          </a:prstGeom>
          <a:noFill/>
          <a:ln/>
        </p:spPr>
        <p:txBody>
          <a:bodyPr wrap="square" lIns="0" tIns="0" rIns="0" bIns="0" rtlCol="0" anchor="ctr"/>
          <a:lstStyle/>
          <a:p>
            <a:pPr marL="0" indent="0">
              <a:buNone/>
            </a:pPr>
            <a:r>
              <a:rPr lang="en-US" sz="1700" b="1" i="1" dirty="0">
                <a:solidFill>
                  <a:srgbClr val="B31A38"/>
                </a:solidFill>
                <a:latin typeface="Cambria" pitchFamily="34" charset="0"/>
                <a:ea typeface="Cambria" pitchFamily="34" charset="-122"/>
                <a:cs typeface="Cambria" pitchFamily="34" charset="-120"/>
              </a:rPr>
              <a:t>"I saw the man with the telescope"</a:t>
            </a:r>
            <a:endParaRPr lang="en-US" sz="1700" dirty="0"/>
          </a:p>
        </p:txBody>
      </p:sp>
      <p:sp>
        <p:nvSpPr>
          <p:cNvPr id="6" name="Text 4"/>
          <p:cNvSpPr/>
          <p:nvPr/>
        </p:nvSpPr>
        <p:spPr>
          <a:xfrm>
            <a:off x="6858000" y="2093976"/>
            <a:ext cx="4572000" cy="914400"/>
          </a:xfrm>
          <a:prstGeom prst="rect">
            <a:avLst/>
          </a:prstGeom>
          <a:noFill/>
          <a:ln/>
        </p:spPr>
        <p:txBody>
          <a:bodyPr wrap="square" lIns="0" tIns="0" rIns="0" bIns="0" rtlCol="0" anchor="ctr"/>
          <a:lstStyle/>
          <a:p>
            <a:pPr marL="0" indent="0">
              <a:buNone/>
            </a:pPr>
            <a:r>
              <a:rPr lang="en-US" sz="1300" dirty="0">
                <a:solidFill>
                  <a:srgbClr val="1B1F2A"/>
                </a:solidFill>
                <a:latin typeface="Calibri" pitchFamily="34" charset="0"/>
                <a:ea typeface="Calibri" pitchFamily="34" charset="-122"/>
                <a:cs typeface="Calibri" pitchFamily="34" charset="-120"/>
              </a:rPr>
              <a:t>Who has the telescope? You, or the man? Two valid parses, two different scenes.</a:t>
            </a:r>
            <a:endParaRPr lang="en-US" sz="1300" dirty="0"/>
          </a:p>
        </p:txBody>
      </p:sp>
      <p:sp>
        <p:nvSpPr>
          <p:cNvPr id="7" name="Text 5"/>
          <p:cNvSpPr/>
          <p:nvPr/>
        </p:nvSpPr>
        <p:spPr>
          <a:xfrm>
            <a:off x="868680" y="2834640"/>
            <a:ext cx="5852160" cy="256032"/>
          </a:xfrm>
          <a:prstGeom prst="rect">
            <a:avLst/>
          </a:prstGeom>
          <a:noFill/>
          <a:ln/>
        </p:spPr>
        <p:txBody>
          <a:bodyPr wrap="square" lIns="0" tIns="0" rIns="0" bIns="0" rtlCol="0" anchor="ctr"/>
          <a:lstStyle/>
          <a:p>
            <a:pPr marL="0" indent="0">
              <a:buNone/>
            </a:pPr>
            <a:r>
              <a:rPr lang="en-US" sz="1050" b="1" kern="0" spc="100" dirty="0">
                <a:solidFill>
                  <a:srgbClr val="5B6172"/>
                </a:solidFill>
                <a:latin typeface="Calibri" pitchFamily="34" charset="0"/>
                <a:ea typeface="Calibri" pitchFamily="34" charset="-122"/>
                <a:cs typeface="Calibri" pitchFamily="34" charset="-120"/>
              </a:rPr>
              <a:t>PREPOSITIONAL PHRASE ATTACHMENT</a:t>
            </a:r>
            <a:endParaRPr lang="en-US" sz="1050" dirty="0"/>
          </a:p>
        </p:txBody>
      </p:sp>
      <p:sp>
        <p:nvSpPr>
          <p:cNvPr id="8" name="Shape 6"/>
          <p:cNvSpPr/>
          <p:nvPr/>
        </p:nvSpPr>
        <p:spPr>
          <a:xfrm>
            <a:off x="548640" y="3291840"/>
            <a:ext cx="11064240" cy="1188720"/>
          </a:xfrm>
          <a:prstGeom prst="roundRect">
            <a:avLst>
              <a:gd name="adj" fmla="val 6154"/>
            </a:avLst>
          </a:prstGeom>
          <a:solidFill>
            <a:srgbClr val="FFFFFF"/>
          </a:solidFill>
          <a:ln/>
          <a:effectLst>
            <a:outerShdw blurRad="88900" dist="38100" dir="5400000" algn="bl" rotWithShape="0">
              <a:srgbClr val="000000">
                <a:alpha val="10000"/>
              </a:srgbClr>
            </a:outerShdw>
          </a:effectLst>
        </p:spPr>
        <p:txBody>
          <a:bodyPr/>
          <a:lstStyle/>
          <a:p>
            <a:endParaRPr lang="en-US"/>
          </a:p>
        </p:txBody>
      </p:sp>
      <p:sp>
        <p:nvSpPr>
          <p:cNvPr id="9" name="Text 7"/>
          <p:cNvSpPr/>
          <p:nvPr/>
        </p:nvSpPr>
        <p:spPr>
          <a:xfrm>
            <a:off x="868680" y="3419856"/>
            <a:ext cx="5852160" cy="914400"/>
          </a:xfrm>
          <a:prstGeom prst="rect">
            <a:avLst/>
          </a:prstGeom>
          <a:noFill/>
          <a:ln/>
        </p:spPr>
        <p:txBody>
          <a:bodyPr wrap="square" lIns="0" tIns="0" rIns="0" bIns="0" rtlCol="0" anchor="ctr"/>
          <a:lstStyle/>
          <a:p>
            <a:pPr marL="0" indent="0">
              <a:buNone/>
            </a:pPr>
            <a:r>
              <a:rPr lang="en-US" sz="1700" b="1" i="1" dirty="0">
                <a:solidFill>
                  <a:srgbClr val="151A2E"/>
                </a:solidFill>
                <a:latin typeface="Cambria" pitchFamily="34" charset="0"/>
                <a:ea typeface="Cambria" pitchFamily="34" charset="-122"/>
                <a:cs typeface="Cambria" pitchFamily="34" charset="-120"/>
              </a:rPr>
              <a:t>"The horse raced past the barn fell"</a:t>
            </a:r>
            <a:endParaRPr lang="en-US" sz="1700" dirty="0"/>
          </a:p>
        </p:txBody>
      </p:sp>
      <p:sp>
        <p:nvSpPr>
          <p:cNvPr id="10" name="Text 8"/>
          <p:cNvSpPr/>
          <p:nvPr/>
        </p:nvSpPr>
        <p:spPr>
          <a:xfrm>
            <a:off x="6858000" y="3419856"/>
            <a:ext cx="4572000" cy="914400"/>
          </a:xfrm>
          <a:prstGeom prst="rect">
            <a:avLst/>
          </a:prstGeom>
          <a:noFill/>
          <a:ln/>
        </p:spPr>
        <p:txBody>
          <a:bodyPr wrap="square" lIns="0" tIns="0" rIns="0" bIns="0" rtlCol="0" anchor="ctr"/>
          <a:lstStyle/>
          <a:p>
            <a:pPr marL="0" indent="0">
              <a:buNone/>
            </a:pPr>
            <a:r>
              <a:rPr lang="en-US" sz="1300" dirty="0">
                <a:solidFill>
                  <a:srgbClr val="1B1F2A"/>
                </a:solidFill>
                <a:latin typeface="Calibri" pitchFamily="34" charset="0"/>
                <a:ea typeface="Calibri" pitchFamily="34" charset="-122"/>
                <a:cs typeface="Calibri" pitchFamily="34" charset="-120"/>
              </a:rPr>
              <a:t>A garden path: your first parse breaks at the last word and you reread it.</a:t>
            </a:r>
            <a:endParaRPr lang="en-US" sz="1300" dirty="0"/>
          </a:p>
        </p:txBody>
      </p:sp>
      <p:sp>
        <p:nvSpPr>
          <p:cNvPr id="11" name="Text 9"/>
          <p:cNvSpPr/>
          <p:nvPr/>
        </p:nvSpPr>
        <p:spPr>
          <a:xfrm>
            <a:off x="868680" y="4160520"/>
            <a:ext cx="5852160" cy="256032"/>
          </a:xfrm>
          <a:prstGeom prst="rect">
            <a:avLst/>
          </a:prstGeom>
          <a:noFill/>
          <a:ln/>
        </p:spPr>
        <p:txBody>
          <a:bodyPr wrap="square" lIns="0" tIns="0" rIns="0" bIns="0" rtlCol="0" anchor="ctr"/>
          <a:lstStyle/>
          <a:p>
            <a:pPr marL="0" indent="0">
              <a:buNone/>
            </a:pPr>
            <a:r>
              <a:rPr lang="en-US" sz="1050" b="1" kern="0" spc="100" dirty="0">
                <a:solidFill>
                  <a:srgbClr val="5B6172"/>
                </a:solidFill>
                <a:latin typeface="Calibri" pitchFamily="34" charset="0"/>
                <a:ea typeface="Calibri" pitchFamily="34" charset="-122"/>
                <a:cs typeface="Calibri" pitchFamily="34" charset="-120"/>
              </a:rPr>
              <a:t>GARDEN-PATH SENTENCE</a:t>
            </a:r>
            <a:endParaRPr lang="en-US" sz="1050" dirty="0"/>
          </a:p>
        </p:txBody>
      </p:sp>
      <p:sp>
        <p:nvSpPr>
          <p:cNvPr id="12" name="Shape 10"/>
          <p:cNvSpPr/>
          <p:nvPr/>
        </p:nvSpPr>
        <p:spPr>
          <a:xfrm>
            <a:off x="548640" y="4617720"/>
            <a:ext cx="11064240" cy="1188720"/>
          </a:xfrm>
          <a:prstGeom prst="roundRect">
            <a:avLst>
              <a:gd name="adj" fmla="val 6154"/>
            </a:avLst>
          </a:prstGeom>
          <a:solidFill>
            <a:srgbClr val="F4F5F8"/>
          </a:solidFill>
          <a:ln/>
          <a:effectLst>
            <a:outerShdw blurRad="88900" dist="38100" dir="5400000" algn="bl" rotWithShape="0">
              <a:srgbClr val="000000">
                <a:alpha val="10000"/>
              </a:srgbClr>
            </a:outerShdw>
          </a:effectLst>
        </p:spPr>
        <p:txBody>
          <a:bodyPr/>
          <a:lstStyle/>
          <a:p>
            <a:endParaRPr lang="en-US"/>
          </a:p>
        </p:txBody>
      </p:sp>
      <p:sp>
        <p:nvSpPr>
          <p:cNvPr id="13" name="Text 11"/>
          <p:cNvSpPr/>
          <p:nvPr/>
        </p:nvSpPr>
        <p:spPr>
          <a:xfrm>
            <a:off x="868680" y="4745736"/>
            <a:ext cx="5852160" cy="914400"/>
          </a:xfrm>
          <a:prstGeom prst="rect">
            <a:avLst/>
          </a:prstGeom>
          <a:noFill/>
          <a:ln/>
        </p:spPr>
        <p:txBody>
          <a:bodyPr wrap="square" lIns="0" tIns="0" rIns="0" bIns="0" rtlCol="0" anchor="ctr"/>
          <a:lstStyle/>
          <a:p>
            <a:pPr marL="0" indent="0">
              <a:buNone/>
            </a:pPr>
            <a:r>
              <a:rPr lang="en-US" sz="1700" b="1" i="1" dirty="0">
                <a:solidFill>
                  <a:srgbClr val="B5A06A"/>
                </a:solidFill>
                <a:latin typeface="Cambria" pitchFamily="34" charset="0"/>
                <a:ea typeface="Cambria" pitchFamily="34" charset="-122"/>
                <a:cs typeface="Cambria" pitchFamily="34" charset="-120"/>
              </a:rPr>
              <a:t>"Old men and women"</a:t>
            </a:r>
            <a:endParaRPr lang="en-US" sz="1700" dirty="0"/>
          </a:p>
        </p:txBody>
      </p:sp>
      <p:sp>
        <p:nvSpPr>
          <p:cNvPr id="14" name="Text 12"/>
          <p:cNvSpPr/>
          <p:nvPr/>
        </p:nvSpPr>
        <p:spPr>
          <a:xfrm>
            <a:off x="6858000" y="4745736"/>
            <a:ext cx="4572000" cy="914400"/>
          </a:xfrm>
          <a:prstGeom prst="rect">
            <a:avLst/>
          </a:prstGeom>
          <a:noFill/>
          <a:ln/>
        </p:spPr>
        <p:txBody>
          <a:bodyPr wrap="square" lIns="0" tIns="0" rIns="0" bIns="0" rtlCol="0" anchor="ctr"/>
          <a:lstStyle/>
          <a:p>
            <a:pPr marL="0" indent="0">
              <a:buNone/>
            </a:pPr>
            <a:r>
              <a:rPr lang="en-US" sz="1300" dirty="0">
                <a:solidFill>
                  <a:srgbClr val="1B1F2A"/>
                </a:solidFill>
                <a:latin typeface="Calibri" pitchFamily="34" charset="0"/>
                <a:ea typeface="Calibri" pitchFamily="34" charset="-122"/>
                <a:cs typeface="Calibri" pitchFamily="34" charset="-120"/>
              </a:rPr>
              <a:t>Are the women old too? Scope of old is genuinely unclear.</a:t>
            </a:r>
            <a:endParaRPr lang="en-US" sz="1300" dirty="0"/>
          </a:p>
        </p:txBody>
      </p:sp>
      <p:sp>
        <p:nvSpPr>
          <p:cNvPr id="15" name="Text 13"/>
          <p:cNvSpPr/>
          <p:nvPr/>
        </p:nvSpPr>
        <p:spPr>
          <a:xfrm>
            <a:off x="868680" y="5486400"/>
            <a:ext cx="5852160" cy="256032"/>
          </a:xfrm>
          <a:prstGeom prst="rect">
            <a:avLst/>
          </a:prstGeom>
          <a:noFill/>
          <a:ln/>
        </p:spPr>
        <p:txBody>
          <a:bodyPr wrap="square" lIns="0" tIns="0" rIns="0" bIns="0" rtlCol="0" anchor="ctr"/>
          <a:lstStyle/>
          <a:p>
            <a:pPr marL="0" indent="0">
              <a:buNone/>
            </a:pPr>
            <a:r>
              <a:rPr lang="en-US" sz="1050" b="1" kern="0" spc="100" dirty="0">
                <a:solidFill>
                  <a:srgbClr val="5B6172"/>
                </a:solidFill>
                <a:latin typeface="Calibri" pitchFamily="34" charset="0"/>
                <a:ea typeface="Calibri" pitchFamily="34" charset="-122"/>
                <a:cs typeface="Calibri" pitchFamily="34" charset="-120"/>
              </a:rPr>
              <a:t>COORDINATION SCOPE</a:t>
            </a:r>
            <a:endParaRPr lang="en-US" sz="1050" dirty="0"/>
          </a:p>
        </p:txBody>
      </p:sp>
      <p:sp>
        <p:nvSpPr>
          <p:cNvPr id="16" name="Text 14"/>
          <p:cNvSpPr/>
          <p:nvPr/>
        </p:nvSpPr>
        <p:spPr>
          <a:xfrm>
            <a:off x="457200" y="6437376"/>
            <a:ext cx="9601200" cy="274320"/>
          </a:xfrm>
          <a:prstGeom prst="rect">
            <a:avLst/>
          </a:prstGeom>
          <a:noFill/>
          <a:ln/>
        </p:spPr>
        <p:txBody>
          <a:bodyPr wrap="square" lIns="0" tIns="0" rIns="0" bIns="0" rtlCol="0" anchor="ctr"/>
          <a:lstStyle/>
          <a:p>
            <a:pPr marL="0" indent="0" algn="l">
              <a:buNone/>
            </a:pPr>
            <a:r>
              <a:rPr lang="en-US" sz="900" dirty="0">
                <a:solidFill>
                  <a:srgbClr val="5B6172"/>
                </a:solidFill>
                <a:latin typeface="Calibri" pitchFamily="34" charset="0"/>
                <a:ea typeface="Calibri" pitchFamily="34" charset="-122"/>
                <a:cs typeface="Calibri" pitchFamily="34" charset="-120"/>
              </a:rPr>
              <a:t>ISBA 2411 · Natural Language Processing &amp; AI · Summer 2026</a:t>
            </a:r>
            <a:endParaRPr lang="en-US" sz="900" dirty="0"/>
          </a:p>
        </p:txBody>
      </p:sp>
      <p:sp>
        <p:nvSpPr>
          <p:cNvPr id="17" name="Text 15"/>
          <p:cNvSpPr/>
          <p:nvPr/>
        </p:nvSpPr>
        <p:spPr>
          <a:xfrm>
            <a:off x="11338560" y="6437376"/>
            <a:ext cx="365760" cy="274320"/>
          </a:xfrm>
          <a:prstGeom prst="rect">
            <a:avLst/>
          </a:prstGeom>
          <a:noFill/>
          <a:ln/>
        </p:spPr>
        <p:txBody>
          <a:bodyPr wrap="square" lIns="0" tIns="0" rIns="0" bIns="0" rtlCol="0" anchor="ctr"/>
          <a:lstStyle/>
          <a:p>
            <a:pPr marL="0" indent="0" algn="r">
              <a:buNone/>
            </a:pPr>
            <a:r>
              <a:rPr lang="en-US" sz="900" dirty="0">
                <a:solidFill>
                  <a:srgbClr val="5B6172"/>
                </a:solidFill>
                <a:latin typeface="Calibri" pitchFamily="34" charset="0"/>
                <a:ea typeface="Calibri" pitchFamily="34" charset="-122"/>
                <a:cs typeface="Calibri" pitchFamily="34" charset="-120"/>
              </a:rPr>
              <a:t>4</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6">
    <p:bg>
      <p:bgPr>
        <a:solidFill>
          <a:srgbClr val="151A2E"/>
        </a:solidFill>
        <a:effectLst/>
      </p:bgPr>
    </p:bg>
    <p:spTree>
      <p:nvGrpSpPr>
        <p:cNvPr id="1" name=""/>
        <p:cNvGrpSpPr/>
        <p:nvPr/>
      </p:nvGrpSpPr>
      <p:grpSpPr>
        <a:xfrm>
          <a:off x="0" y="0"/>
          <a:ext cx="0" cy="0"/>
          <a:chOff x="0" y="0"/>
          <a:chExt cx="0" cy="0"/>
        </a:xfrm>
      </p:grpSpPr>
      <p:sp>
        <p:nvSpPr>
          <p:cNvPr id="2" name="Shape 0"/>
          <p:cNvSpPr/>
          <p:nvPr/>
        </p:nvSpPr>
        <p:spPr>
          <a:xfrm>
            <a:off x="640080" y="548640"/>
            <a:ext cx="1005840" cy="1005840"/>
          </a:xfrm>
          <a:prstGeom prst="line">
            <a:avLst/>
          </a:prstGeom>
          <a:solidFill>
            <a:srgbClr val="B31A38"/>
          </a:solidFill>
          <a:ln/>
        </p:spPr>
        <p:txBody>
          <a:bodyPr/>
          <a:lstStyle/>
          <a:p>
            <a:endParaRPr lang="en-US"/>
          </a:p>
        </p:txBody>
      </p:sp>
      <p:pic>
        <p:nvPicPr>
          <p:cNvPr id="3" name="Image 0" descr="preencoded.png"/>
          <p:cNvPicPr>
            <a:picLocks noChangeAspect="1"/>
          </p:cNvPicPr>
          <p:nvPr/>
        </p:nvPicPr>
        <p:blipFill>
          <a:blip r:embed="rId3"/>
          <a:stretch>
            <a:fillRect/>
          </a:stretch>
        </p:blipFill>
        <p:spPr>
          <a:xfrm>
            <a:off x="901598" y="810158"/>
            <a:ext cx="482803" cy="482803"/>
          </a:xfrm>
          <a:prstGeom prst="rect">
            <a:avLst/>
          </a:prstGeom>
        </p:spPr>
      </p:pic>
      <p:sp>
        <p:nvSpPr>
          <p:cNvPr id="4" name="Text 1"/>
          <p:cNvSpPr/>
          <p:nvPr/>
        </p:nvSpPr>
        <p:spPr>
          <a:xfrm>
            <a:off x="1828800" y="566928"/>
            <a:ext cx="8229600" cy="365760"/>
          </a:xfrm>
          <a:prstGeom prst="rect">
            <a:avLst/>
          </a:prstGeom>
          <a:noFill/>
          <a:ln/>
        </p:spPr>
        <p:txBody>
          <a:bodyPr wrap="square" rtlCol="0" anchor="ctr"/>
          <a:lstStyle/>
          <a:p>
            <a:pPr marL="0" indent="0">
              <a:buNone/>
            </a:pPr>
            <a:r>
              <a:rPr lang="en-US" sz="1400" b="1" kern="0" spc="200" dirty="0">
                <a:solidFill>
                  <a:srgbClr val="B5A06A"/>
                </a:solidFill>
                <a:latin typeface="Calibri" pitchFamily="34" charset="0"/>
                <a:ea typeface="Calibri" pitchFamily="34" charset="-122"/>
                <a:cs typeface="Calibri" pitchFamily="34" charset="-120"/>
              </a:rPr>
              <a:t>IN-CLASS EXERCISE 1</a:t>
            </a:r>
            <a:endParaRPr lang="en-US" sz="1400" dirty="0"/>
          </a:p>
        </p:txBody>
      </p:sp>
      <p:sp>
        <p:nvSpPr>
          <p:cNvPr id="5" name="Text 2"/>
          <p:cNvSpPr/>
          <p:nvPr/>
        </p:nvSpPr>
        <p:spPr>
          <a:xfrm>
            <a:off x="1828800" y="914400"/>
            <a:ext cx="10058400" cy="640080"/>
          </a:xfrm>
          <a:prstGeom prst="rect">
            <a:avLst/>
          </a:prstGeom>
          <a:noFill/>
          <a:ln/>
        </p:spPr>
        <p:txBody>
          <a:bodyPr wrap="square" rtlCol="0" anchor="ctr"/>
          <a:lstStyle/>
          <a:p>
            <a:pPr marL="0" indent="0">
              <a:buNone/>
            </a:pPr>
            <a:r>
              <a:rPr lang="en-US" sz="3000" b="1" dirty="0">
                <a:solidFill>
                  <a:srgbClr val="FFFFFF"/>
                </a:solidFill>
                <a:latin typeface="Cambria" pitchFamily="34" charset="0"/>
                <a:ea typeface="Cambria" pitchFamily="34" charset="-122"/>
                <a:cs typeface="Cambria" pitchFamily="34" charset="-120"/>
              </a:rPr>
              <a:t>Break the parser on purpose</a:t>
            </a:r>
            <a:endParaRPr lang="en-US" sz="3000" dirty="0"/>
          </a:p>
        </p:txBody>
      </p:sp>
      <p:sp>
        <p:nvSpPr>
          <p:cNvPr id="6" name="Text 3"/>
          <p:cNvSpPr/>
          <p:nvPr/>
        </p:nvSpPr>
        <p:spPr>
          <a:xfrm>
            <a:off x="1828800" y="1554480"/>
            <a:ext cx="10058400" cy="365760"/>
          </a:xfrm>
          <a:prstGeom prst="rect">
            <a:avLst/>
          </a:prstGeom>
          <a:noFill/>
          <a:ln/>
        </p:spPr>
        <p:txBody>
          <a:bodyPr wrap="square" rtlCol="0" anchor="ctr"/>
          <a:lstStyle/>
          <a:p>
            <a:pPr marL="0" indent="0">
              <a:buNone/>
            </a:pPr>
            <a:r>
              <a:rPr lang="en-US" sz="1400" i="1" dirty="0">
                <a:solidFill>
                  <a:srgbClr val="C9CDDA"/>
                </a:solidFill>
                <a:latin typeface="Calibri" pitchFamily="34" charset="0"/>
                <a:ea typeface="Calibri" pitchFamily="34" charset="-122"/>
                <a:cs typeface="Calibri" pitchFamily="34" charset="-120"/>
              </a:rPr>
              <a:t>Colab with spaCy and displacy, no API key   ·   ~15 minutes   ·   pairs   ·   ex3_dependency_ambiguity.ipynb</a:t>
            </a:r>
            <a:endParaRPr lang="en-US" sz="1400" dirty="0"/>
          </a:p>
        </p:txBody>
      </p:sp>
      <p:sp>
        <p:nvSpPr>
          <p:cNvPr id="7" name="Shape 4"/>
          <p:cNvSpPr/>
          <p:nvPr/>
        </p:nvSpPr>
        <p:spPr>
          <a:xfrm>
            <a:off x="640080" y="2194560"/>
            <a:ext cx="6766560" cy="3703320"/>
          </a:xfrm>
          <a:prstGeom prst="roundRect">
            <a:avLst>
              <a:gd name="adj" fmla="val 1975"/>
            </a:avLst>
          </a:prstGeom>
          <a:solidFill>
            <a:srgbClr val="1F2540"/>
          </a:solidFill>
          <a:ln/>
          <a:effectLst>
            <a:outerShdw blurRad="88900" dist="38100" dir="5400000" algn="bl" rotWithShape="0">
              <a:srgbClr val="000000">
                <a:alpha val="10000"/>
              </a:srgbClr>
            </a:outerShdw>
          </a:effectLst>
        </p:spPr>
        <p:txBody>
          <a:bodyPr/>
          <a:lstStyle/>
          <a:p>
            <a:endParaRPr lang="en-US"/>
          </a:p>
        </p:txBody>
      </p:sp>
      <p:sp>
        <p:nvSpPr>
          <p:cNvPr id="8" name="Text 5"/>
          <p:cNvSpPr/>
          <p:nvPr/>
        </p:nvSpPr>
        <p:spPr>
          <a:xfrm>
            <a:off x="868680" y="2377440"/>
            <a:ext cx="6217920" cy="365760"/>
          </a:xfrm>
          <a:prstGeom prst="rect">
            <a:avLst/>
          </a:prstGeom>
          <a:noFill/>
          <a:ln/>
        </p:spPr>
        <p:txBody>
          <a:bodyPr wrap="square" lIns="0" tIns="0" rIns="0" bIns="0" rtlCol="0" anchor="ctr"/>
          <a:lstStyle/>
          <a:p>
            <a:pPr marL="0" indent="0">
              <a:buNone/>
            </a:pPr>
            <a:r>
              <a:rPr lang="en-US" sz="1400" b="1" dirty="0">
                <a:solidFill>
                  <a:srgbClr val="B5A06A"/>
                </a:solidFill>
                <a:latin typeface="Calibri" pitchFamily="34" charset="0"/>
                <a:ea typeface="Calibri" pitchFamily="34" charset="-122"/>
                <a:cs typeface="Calibri" pitchFamily="34" charset="-120"/>
              </a:rPr>
              <a:t>Your task</a:t>
            </a:r>
            <a:endParaRPr lang="en-US" sz="1400" dirty="0"/>
          </a:p>
        </p:txBody>
      </p:sp>
      <p:sp>
        <p:nvSpPr>
          <p:cNvPr id="9" name="Text 6"/>
          <p:cNvSpPr/>
          <p:nvPr/>
        </p:nvSpPr>
        <p:spPr>
          <a:xfrm>
            <a:off x="914400" y="2788920"/>
            <a:ext cx="6309360" cy="2926080"/>
          </a:xfrm>
          <a:prstGeom prst="rect">
            <a:avLst/>
          </a:prstGeom>
          <a:noFill/>
          <a:ln/>
        </p:spPr>
        <p:txBody>
          <a:bodyPr wrap="square" rtlCol="0" anchor="t"/>
          <a:lstStyle/>
          <a:p>
            <a:pPr marL="342900" indent="-342900">
              <a:spcAft>
                <a:spcPts val="1000"/>
              </a:spcAft>
              <a:buSzPct val="100000"/>
              <a:buChar char="•"/>
            </a:pPr>
            <a:r>
              <a:rPr lang="en-US" sz="1400" dirty="0">
                <a:solidFill>
                  <a:srgbClr val="E4E6EF"/>
                </a:solidFill>
                <a:latin typeface="Calibri" pitchFamily="34" charset="0"/>
                <a:ea typeface="Calibri" pitchFamily="34" charset="-122"/>
                <a:cs typeface="Calibri" pitchFamily="34" charset="-120"/>
              </a:rPr>
              <a:t>Parse three given sentences and view the dependency arcs</a:t>
            </a:r>
            <a:endParaRPr lang="en-US" sz="1400" dirty="0"/>
          </a:p>
          <a:p>
            <a:pPr marL="342900" indent="-342900">
              <a:spcAft>
                <a:spcPts val="1000"/>
              </a:spcAft>
              <a:buSzPct val="100000"/>
              <a:buChar char="•"/>
            </a:pPr>
            <a:r>
              <a:rPr lang="en-US" sz="1400" dirty="0">
                <a:solidFill>
                  <a:srgbClr val="E4E6EF"/>
                </a:solidFill>
                <a:latin typeface="Calibri" pitchFamily="34" charset="0"/>
                <a:ea typeface="Calibri" pitchFamily="34" charset="-122"/>
                <a:cs typeface="Calibri" pitchFamily="34" charset="-120"/>
              </a:rPr>
              <a:t>Include one ambiguous sentence from the last slide</a:t>
            </a:r>
            <a:endParaRPr lang="en-US" sz="1400" dirty="0"/>
          </a:p>
          <a:p>
            <a:pPr marL="342900" indent="-342900">
              <a:spcAft>
                <a:spcPts val="1000"/>
              </a:spcAft>
              <a:buSzPct val="100000"/>
              <a:buChar char="•"/>
            </a:pPr>
            <a:r>
              <a:rPr lang="en-US" sz="1400" dirty="0">
                <a:solidFill>
                  <a:srgbClr val="E4E6EF"/>
                </a:solidFill>
                <a:latin typeface="Calibri" pitchFamily="34" charset="0"/>
                <a:ea typeface="Calibri" pitchFamily="34" charset="-122"/>
                <a:cs typeface="Calibri" pitchFamily="34" charset="-120"/>
              </a:rPr>
              <a:t>Note which reading the parser committed to</a:t>
            </a:r>
            <a:endParaRPr lang="en-US" sz="1400" dirty="0"/>
          </a:p>
          <a:p>
            <a:pPr marL="342900" indent="-342900">
              <a:spcAft>
                <a:spcPts val="1000"/>
              </a:spcAft>
              <a:buSzPct val="100000"/>
              <a:buChar char="•"/>
            </a:pPr>
            <a:r>
              <a:rPr lang="en-US" sz="1400" dirty="0">
                <a:solidFill>
                  <a:srgbClr val="E4E6EF"/>
                </a:solidFill>
                <a:latin typeface="Calibri" pitchFamily="34" charset="0"/>
                <a:ea typeface="Calibri" pitchFamily="34" charset="-122"/>
                <a:cs typeface="Calibri" pitchFamily="34" charset="-120"/>
              </a:rPr>
              <a:t>Write your own sentence that you think will fool it</a:t>
            </a:r>
            <a:endParaRPr lang="en-US" sz="1400" dirty="0"/>
          </a:p>
          <a:p>
            <a:pPr marL="342900" indent="-342900">
              <a:spcAft>
                <a:spcPts val="1000"/>
              </a:spcAft>
              <a:buSzPct val="100000"/>
              <a:buChar char="•"/>
            </a:pPr>
            <a:r>
              <a:rPr lang="en-US" sz="1400" dirty="0">
                <a:solidFill>
                  <a:srgbClr val="E4E6EF"/>
                </a:solidFill>
                <a:latin typeface="Calibri" pitchFamily="34" charset="0"/>
                <a:ea typeface="Calibri" pitchFamily="34" charset="-122"/>
                <a:cs typeface="Calibri" pitchFamily="34" charset="-120"/>
              </a:rPr>
              <a:t>See if the parser agrees with your intended meaning</a:t>
            </a:r>
            <a:endParaRPr lang="en-US" sz="1400" dirty="0"/>
          </a:p>
        </p:txBody>
      </p:sp>
      <p:sp>
        <p:nvSpPr>
          <p:cNvPr id="10" name="Shape 7"/>
          <p:cNvSpPr/>
          <p:nvPr/>
        </p:nvSpPr>
        <p:spPr>
          <a:xfrm>
            <a:off x="7635240" y="2194560"/>
            <a:ext cx="3977640" cy="3703320"/>
          </a:xfrm>
          <a:prstGeom prst="roundRect">
            <a:avLst>
              <a:gd name="adj" fmla="val 1975"/>
            </a:avLst>
          </a:prstGeom>
          <a:solidFill>
            <a:srgbClr val="1F2540"/>
          </a:solidFill>
          <a:ln/>
          <a:effectLst>
            <a:outerShdw blurRad="88900" dist="38100" dir="5400000" algn="bl" rotWithShape="0">
              <a:srgbClr val="000000">
                <a:alpha val="10000"/>
              </a:srgbClr>
            </a:outerShdw>
          </a:effectLst>
        </p:spPr>
        <p:txBody>
          <a:bodyPr/>
          <a:lstStyle/>
          <a:p>
            <a:endParaRPr lang="en-US"/>
          </a:p>
        </p:txBody>
      </p:sp>
      <p:sp>
        <p:nvSpPr>
          <p:cNvPr id="11" name="Text 8"/>
          <p:cNvSpPr/>
          <p:nvPr/>
        </p:nvSpPr>
        <p:spPr>
          <a:xfrm>
            <a:off x="7863840" y="2377440"/>
            <a:ext cx="3566160" cy="365760"/>
          </a:xfrm>
          <a:prstGeom prst="rect">
            <a:avLst/>
          </a:prstGeom>
          <a:noFill/>
          <a:ln/>
        </p:spPr>
        <p:txBody>
          <a:bodyPr wrap="square" lIns="0" tIns="0" rIns="0" bIns="0" rtlCol="0" anchor="ctr"/>
          <a:lstStyle/>
          <a:p>
            <a:pPr marL="0" indent="0">
              <a:buNone/>
            </a:pPr>
            <a:r>
              <a:rPr lang="en-US" sz="1400" b="1" dirty="0">
                <a:solidFill>
                  <a:srgbClr val="B5A06A"/>
                </a:solidFill>
                <a:latin typeface="Calibri" pitchFamily="34" charset="0"/>
                <a:ea typeface="Calibri" pitchFamily="34" charset="-122"/>
                <a:cs typeface="Calibri" pitchFamily="34" charset="-120"/>
              </a:rPr>
              <a:t>Bring back an answer to</a:t>
            </a:r>
            <a:endParaRPr lang="en-US" sz="1400" dirty="0"/>
          </a:p>
        </p:txBody>
      </p:sp>
      <p:sp>
        <p:nvSpPr>
          <p:cNvPr id="12" name="Text 9"/>
          <p:cNvSpPr/>
          <p:nvPr/>
        </p:nvSpPr>
        <p:spPr>
          <a:xfrm>
            <a:off x="7909560" y="2788920"/>
            <a:ext cx="3566160" cy="2926080"/>
          </a:xfrm>
          <a:prstGeom prst="rect">
            <a:avLst/>
          </a:prstGeom>
          <a:noFill/>
          <a:ln/>
        </p:spPr>
        <p:txBody>
          <a:bodyPr wrap="square" rtlCol="0" anchor="t"/>
          <a:lstStyle/>
          <a:p>
            <a:pPr marL="342900" indent="-342900">
              <a:spcAft>
                <a:spcPts val="1200"/>
              </a:spcAft>
              <a:buSzPct val="100000"/>
              <a:buChar char="•"/>
            </a:pPr>
            <a:r>
              <a:rPr lang="en-US" sz="1350" dirty="0">
                <a:solidFill>
                  <a:srgbClr val="E4E6EF"/>
                </a:solidFill>
                <a:latin typeface="Calibri" pitchFamily="34" charset="0"/>
                <a:ea typeface="Calibri" pitchFamily="34" charset="-122"/>
                <a:cs typeface="Calibri" pitchFamily="34" charset="-120"/>
              </a:rPr>
              <a:t>Did the parser pick the reading you expected?</a:t>
            </a:r>
            <a:endParaRPr lang="en-US" sz="1350" dirty="0"/>
          </a:p>
          <a:p>
            <a:pPr marL="342900" indent="-342900">
              <a:spcAft>
                <a:spcPts val="1200"/>
              </a:spcAft>
              <a:buSzPct val="100000"/>
              <a:buChar char="•"/>
            </a:pPr>
            <a:r>
              <a:rPr lang="en-US" sz="1350" dirty="0">
                <a:solidFill>
                  <a:srgbClr val="E4E6EF"/>
                </a:solidFill>
                <a:latin typeface="Calibri" pitchFamily="34" charset="0"/>
                <a:ea typeface="Calibri" pitchFamily="34" charset="-122"/>
                <a:cs typeface="Calibri" pitchFamily="34" charset="-120"/>
              </a:rPr>
              <a:t>What kind of sentence fooled it most reliably?</a:t>
            </a:r>
            <a:endParaRPr lang="en-US" sz="1350" dirty="0"/>
          </a:p>
          <a:p>
            <a:pPr marL="342900" indent="-342900">
              <a:spcAft>
                <a:spcPts val="1200"/>
              </a:spcAft>
              <a:buSzPct val="100000"/>
              <a:buChar char="•"/>
            </a:pPr>
            <a:r>
              <a:rPr lang="en-US" sz="1350" dirty="0">
                <a:solidFill>
                  <a:srgbClr val="E4E6EF"/>
                </a:solidFill>
                <a:latin typeface="Calibri" pitchFamily="34" charset="0"/>
                <a:ea typeface="Calibri" pitchFamily="34" charset="-122"/>
                <a:cs typeface="Calibri" pitchFamily="34" charset="-120"/>
              </a:rPr>
              <a:t>Could a human always tell which reading was meant?</a:t>
            </a:r>
            <a:endParaRPr lang="en-US" sz="1350" dirty="0"/>
          </a:p>
        </p:txBody>
      </p:sp>
      <p:sp>
        <p:nvSpPr>
          <p:cNvPr id="13" name="Text 10"/>
          <p:cNvSpPr/>
          <p:nvPr/>
        </p:nvSpPr>
        <p:spPr>
          <a:xfrm>
            <a:off x="640080" y="6355080"/>
            <a:ext cx="10058400" cy="274320"/>
          </a:xfrm>
          <a:prstGeom prst="rect">
            <a:avLst/>
          </a:prstGeom>
          <a:noFill/>
          <a:ln/>
        </p:spPr>
        <p:txBody>
          <a:bodyPr wrap="square" rtlCol="0" anchor="ctr"/>
          <a:lstStyle/>
          <a:p>
            <a:pPr marL="0" indent="0">
              <a:buNone/>
            </a:pPr>
            <a:r>
              <a:rPr lang="en-US" sz="1000" dirty="0">
                <a:solidFill>
                  <a:srgbClr val="8A90A2"/>
                </a:solidFill>
                <a:latin typeface="Calibri" pitchFamily="34" charset="0"/>
                <a:ea typeface="Calibri" pitchFamily="34" charset="-122"/>
                <a:cs typeface="Calibri" pitchFamily="34" charset="-120"/>
              </a:rPr>
              <a:t>ISBA 2411 · Natural Language Processing &amp; AI · Summer 2026</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548640" y="384048"/>
            <a:ext cx="10972800" cy="320040"/>
          </a:xfrm>
          <a:prstGeom prst="rect">
            <a:avLst/>
          </a:prstGeom>
          <a:noFill/>
          <a:ln/>
        </p:spPr>
        <p:txBody>
          <a:bodyPr wrap="square" lIns="0" tIns="0" rIns="0" bIns="0" rtlCol="0" anchor="ctr"/>
          <a:lstStyle/>
          <a:p>
            <a:pPr marL="0" indent="0">
              <a:buNone/>
            </a:pPr>
            <a:r>
              <a:rPr lang="en-US" sz="1300" b="1" kern="0" spc="200" dirty="0">
                <a:solidFill>
                  <a:srgbClr val="B31A38"/>
                </a:solidFill>
                <a:latin typeface="Calibri" pitchFamily="34" charset="0"/>
                <a:ea typeface="Calibri" pitchFamily="34" charset="-122"/>
                <a:cs typeface="Calibri" pitchFamily="34" charset="-120"/>
              </a:rPr>
              <a:t>DISCUSSION</a:t>
            </a:r>
            <a:endParaRPr lang="en-US" sz="1300" dirty="0"/>
          </a:p>
        </p:txBody>
      </p:sp>
      <p:sp>
        <p:nvSpPr>
          <p:cNvPr id="3" name="Text 1"/>
          <p:cNvSpPr/>
          <p:nvPr/>
        </p:nvSpPr>
        <p:spPr>
          <a:xfrm>
            <a:off x="548640" y="676656"/>
            <a:ext cx="11064240" cy="777240"/>
          </a:xfrm>
          <a:prstGeom prst="rect">
            <a:avLst/>
          </a:prstGeom>
          <a:noFill/>
          <a:ln/>
        </p:spPr>
        <p:txBody>
          <a:bodyPr wrap="square" lIns="0" tIns="0" rIns="0" bIns="0" rtlCol="0" anchor="ctr"/>
          <a:lstStyle/>
          <a:p>
            <a:pPr marL="0" indent="0">
              <a:buNone/>
            </a:pPr>
            <a:r>
              <a:rPr lang="en-US" sz="3000" b="1" dirty="0">
                <a:solidFill>
                  <a:srgbClr val="151A2E"/>
                </a:solidFill>
                <a:latin typeface="Cambria" pitchFamily="34" charset="0"/>
                <a:ea typeface="Cambria" pitchFamily="34" charset="-122"/>
                <a:cs typeface="Cambria" pitchFamily="34" charset="-120"/>
              </a:rPr>
              <a:t>When the machine has to guess, where does the risk land?</a:t>
            </a:r>
            <a:endParaRPr lang="en-US" sz="3000" dirty="0"/>
          </a:p>
        </p:txBody>
      </p:sp>
      <p:sp>
        <p:nvSpPr>
          <p:cNvPr id="4" name="Shape 2"/>
          <p:cNvSpPr/>
          <p:nvPr/>
        </p:nvSpPr>
        <p:spPr>
          <a:xfrm>
            <a:off x="548640" y="1920240"/>
            <a:ext cx="11064240" cy="1371600"/>
          </a:xfrm>
          <a:prstGeom prst="roundRect">
            <a:avLst>
              <a:gd name="adj" fmla="val 5333"/>
            </a:avLst>
          </a:prstGeom>
          <a:solidFill>
            <a:srgbClr val="F7F3E9"/>
          </a:solidFill>
          <a:ln/>
          <a:effectLst>
            <a:outerShdw blurRad="88900" dist="38100" dir="5400000" algn="bl" rotWithShape="0">
              <a:srgbClr val="000000">
                <a:alpha val="10000"/>
              </a:srgbClr>
            </a:outerShdw>
          </a:effectLst>
        </p:spPr>
        <p:txBody>
          <a:bodyPr/>
          <a:lstStyle/>
          <a:p>
            <a:endParaRPr lang="en-US"/>
          </a:p>
        </p:txBody>
      </p:sp>
      <p:sp>
        <p:nvSpPr>
          <p:cNvPr id="5" name="Text 3"/>
          <p:cNvSpPr/>
          <p:nvPr/>
        </p:nvSpPr>
        <p:spPr>
          <a:xfrm>
            <a:off x="777240" y="2084832"/>
            <a:ext cx="10607040" cy="320040"/>
          </a:xfrm>
          <a:prstGeom prst="rect">
            <a:avLst/>
          </a:prstGeom>
          <a:noFill/>
          <a:ln/>
        </p:spPr>
        <p:txBody>
          <a:bodyPr wrap="square" lIns="0" tIns="0" rIns="0" bIns="0" rtlCol="0" anchor="ctr"/>
          <a:lstStyle/>
          <a:p>
            <a:pPr marL="0" indent="0">
              <a:buNone/>
            </a:pPr>
            <a:r>
              <a:rPr lang="en-US" sz="1300" b="1" dirty="0">
                <a:solidFill>
                  <a:srgbClr val="8A6D1F"/>
                </a:solidFill>
                <a:latin typeface="Calibri" pitchFamily="34" charset="0"/>
                <a:ea typeface="Calibri" pitchFamily="34" charset="-122"/>
                <a:cs typeface="Calibri" pitchFamily="34" charset="-120"/>
              </a:rPr>
              <a:t>The setup</a:t>
            </a:r>
            <a:endParaRPr lang="en-US" sz="1300" dirty="0"/>
          </a:p>
        </p:txBody>
      </p:sp>
      <p:sp>
        <p:nvSpPr>
          <p:cNvPr id="6" name="Text 4"/>
          <p:cNvSpPr/>
          <p:nvPr/>
        </p:nvSpPr>
        <p:spPr>
          <a:xfrm>
            <a:off x="777240" y="2414016"/>
            <a:ext cx="10607040" cy="822960"/>
          </a:xfrm>
          <a:prstGeom prst="rect">
            <a:avLst/>
          </a:prstGeom>
          <a:noFill/>
          <a:ln/>
        </p:spPr>
        <p:txBody>
          <a:bodyPr wrap="square" lIns="0" tIns="0" rIns="0" bIns="0" rtlCol="0" anchor="t"/>
          <a:lstStyle/>
          <a:p>
            <a:pPr marL="0" indent="0">
              <a:buNone/>
            </a:pPr>
            <a:r>
              <a:rPr lang="en-US" sz="1450" dirty="0">
                <a:solidFill>
                  <a:srgbClr val="1B1F2A"/>
                </a:solidFill>
                <a:latin typeface="Calibri" pitchFamily="34" charset="0"/>
                <a:ea typeface="Calibri" pitchFamily="34" charset="-122"/>
                <a:cs typeface="Calibri" pitchFamily="34" charset="-120"/>
              </a:rPr>
              <a:t>A parser, and an LLM behind it, cannot hold two readings at once forever. At some point it commits to one interpretation and acts on it. Usually that is fine. Sometimes the cost of guessing wrong is large.</a:t>
            </a:r>
            <a:endParaRPr lang="en-US" sz="1450" dirty="0"/>
          </a:p>
        </p:txBody>
      </p:sp>
      <p:sp>
        <p:nvSpPr>
          <p:cNvPr id="7" name="Shape 5"/>
          <p:cNvSpPr/>
          <p:nvPr/>
        </p:nvSpPr>
        <p:spPr>
          <a:xfrm>
            <a:off x="548640" y="3474720"/>
            <a:ext cx="3593592" cy="1417320"/>
          </a:xfrm>
          <a:prstGeom prst="roundRect">
            <a:avLst>
              <a:gd name="adj" fmla="val 5161"/>
            </a:avLst>
          </a:prstGeom>
          <a:solidFill>
            <a:srgbClr val="FFFFFF"/>
          </a:solidFill>
          <a:ln/>
          <a:effectLst>
            <a:outerShdw blurRad="88900" dist="38100" dir="5400000" algn="bl" rotWithShape="0">
              <a:srgbClr val="000000">
                <a:alpha val="10000"/>
              </a:srgbClr>
            </a:outerShdw>
          </a:effectLst>
        </p:spPr>
        <p:txBody>
          <a:bodyPr/>
          <a:lstStyle/>
          <a:p>
            <a:endParaRPr lang="en-US"/>
          </a:p>
        </p:txBody>
      </p:sp>
      <p:sp>
        <p:nvSpPr>
          <p:cNvPr id="8" name="Shape 6"/>
          <p:cNvSpPr/>
          <p:nvPr/>
        </p:nvSpPr>
        <p:spPr>
          <a:xfrm>
            <a:off x="804672" y="3703320"/>
            <a:ext cx="548640" cy="548640"/>
          </a:xfrm>
          <a:prstGeom prst="line">
            <a:avLst/>
          </a:prstGeom>
          <a:solidFill>
            <a:srgbClr val="B31A38"/>
          </a:solidFill>
          <a:ln/>
        </p:spPr>
        <p:txBody>
          <a:bodyPr/>
          <a:lstStyle/>
          <a:p>
            <a:endParaRPr lang="en-US"/>
          </a:p>
        </p:txBody>
      </p:sp>
      <p:pic>
        <p:nvPicPr>
          <p:cNvPr id="9" name="Image 0" descr="preencoded.png"/>
          <p:cNvPicPr>
            <a:picLocks noChangeAspect="1"/>
          </p:cNvPicPr>
          <p:nvPr/>
        </p:nvPicPr>
        <p:blipFill>
          <a:blip r:embed="rId3"/>
          <a:stretch>
            <a:fillRect/>
          </a:stretch>
        </p:blipFill>
        <p:spPr>
          <a:xfrm>
            <a:off x="947318" y="3845966"/>
            <a:ext cx="263347" cy="263347"/>
          </a:xfrm>
          <a:prstGeom prst="rect">
            <a:avLst/>
          </a:prstGeom>
        </p:spPr>
      </p:pic>
      <p:sp>
        <p:nvSpPr>
          <p:cNvPr id="10" name="Text 7"/>
          <p:cNvSpPr/>
          <p:nvPr/>
        </p:nvSpPr>
        <p:spPr>
          <a:xfrm>
            <a:off x="1463040" y="3657600"/>
            <a:ext cx="2496312" cy="502920"/>
          </a:xfrm>
          <a:prstGeom prst="rect">
            <a:avLst/>
          </a:prstGeom>
          <a:noFill/>
          <a:ln/>
        </p:spPr>
        <p:txBody>
          <a:bodyPr wrap="square" lIns="0" tIns="0" rIns="0" bIns="0" rtlCol="0" anchor="ctr"/>
          <a:lstStyle/>
          <a:p>
            <a:pPr marL="0" indent="0">
              <a:buNone/>
            </a:pPr>
            <a:r>
              <a:rPr lang="en-US" sz="1500" b="1" dirty="0">
                <a:solidFill>
                  <a:srgbClr val="151A2E"/>
                </a:solidFill>
                <a:latin typeface="Cambria" pitchFamily="34" charset="0"/>
                <a:ea typeface="Cambria" pitchFamily="34" charset="-122"/>
                <a:cs typeface="Cambria" pitchFamily="34" charset="-120"/>
              </a:rPr>
              <a:t>Legal contracts</a:t>
            </a:r>
            <a:endParaRPr lang="en-US" sz="1500" dirty="0"/>
          </a:p>
        </p:txBody>
      </p:sp>
      <p:sp>
        <p:nvSpPr>
          <p:cNvPr id="11" name="Text 8"/>
          <p:cNvSpPr/>
          <p:nvPr/>
        </p:nvSpPr>
        <p:spPr>
          <a:xfrm>
            <a:off x="822960" y="4315968"/>
            <a:ext cx="3044952" cy="502920"/>
          </a:xfrm>
          <a:prstGeom prst="rect">
            <a:avLst/>
          </a:prstGeom>
          <a:noFill/>
          <a:ln/>
        </p:spPr>
        <p:txBody>
          <a:bodyPr wrap="square" lIns="0" tIns="0" rIns="0" bIns="0" rtlCol="0" anchor="t"/>
          <a:lstStyle/>
          <a:p>
            <a:pPr marL="0" indent="0">
              <a:buNone/>
            </a:pPr>
            <a:r>
              <a:rPr lang="en-US" sz="1250" dirty="0">
                <a:solidFill>
                  <a:srgbClr val="1B1F2A"/>
                </a:solidFill>
                <a:latin typeface="Calibri" pitchFamily="34" charset="0"/>
                <a:ea typeface="Calibri" pitchFamily="34" charset="-122"/>
                <a:cs typeface="Calibri" pitchFamily="34" charset="-120"/>
              </a:rPr>
              <a:t>A misattached clause changes who owes what</a:t>
            </a:r>
            <a:endParaRPr lang="en-US" sz="1250" dirty="0"/>
          </a:p>
        </p:txBody>
      </p:sp>
      <p:sp>
        <p:nvSpPr>
          <p:cNvPr id="12" name="Shape 9"/>
          <p:cNvSpPr/>
          <p:nvPr/>
        </p:nvSpPr>
        <p:spPr>
          <a:xfrm>
            <a:off x="4288536" y="3474720"/>
            <a:ext cx="3593592" cy="1417320"/>
          </a:xfrm>
          <a:prstGeom prst="roundRect">
            <a:avLst>
              <a:gd name="adj" fmla="val 5161"/>
            </a:avLst>
          </a:prstGeom>
          <a:solidFill>
            <a:srgbClr val="FFFFFF"/>
          </a:solidFill>
          <a:ln/>
          <a:effectLst>
            <a:outerShdw blurRad="88900" dist="38100" dir="5400000" algn="bl" rotWithShape="0">
              <a:srgbClr val="000000">
                <a:alpha val="10000"/>
              </a:srgbClr>
            </a:outerShdw>
          </a:effectLst>
        </p:spPr>
        <p:txBody>
          <a:bodyPr/>
          <a:lstStyle/>
          <a:p>
            <a:endParaRPr lang="en-US"/>
          </a:p>
        </p:txBody>
      </p:sp>
      <p:sp>
        <p:nvSpPr>
          <p:cNvPr id="13" name="Shape 10"/>
          <p:cNvSpPr/>
          <p:nvPr/>
        </p:nvSpPr>
        <p:spPr>
          <a:xfrm>
            <a:off x="4544568" y="3703320"/>
            <a:ext cx="548640" cy="548640"/>
          </a:xfrm>
          <a:prstGeom prst="line">
            <a:avLst/>
          </a:prstGeom>
          <a:solidFill>
            <a:srgbClr val="B31A38"/>
          </a:solidFill>
          <a:ln/>
        </p:spPr>
        <p:txBody>
          <a:bodyPr/>
          <a:lstStyle/>
          <a:p>
            <a:endParaRPr lang="en-US"/>
          </a:p>
        </p:txBody>
      </p:sp>
      <p:pic>
        <p:nvPicPr>
          <p:cNvPr id="14" name="Image 1" descr="preencoded.png"/>
          <p:cNvPicPr>
            <a:picLocks noChangeAspect="1"/>
          </p:cNvPicPr>
          <p:nvPr/>
        </p:nvPicPr>
        <p:blipFill>
          <a:blip r:embed="rId4"/>
          <a:stretch>
            <a:fillRect/>
          </a:stretch>
        </p:blipFill>
        <p:spPr>
          <a:xfrm>
            <a:off x="4687214" y="3845966"/>
            <a:ext cx="263347" cy="263347"/>
          </a:xfrm>
          <a:prstGeom prst="rect">
            <a:avLst/>
          </a:prstGeom>
        </p:spPr>
      </p:pic>
      <p:sp>
        <p:nvSpPr>
          <p:cNvPr id="15" name="Text 11"/>
          <p:cNvSpPr/>
          <p:nvPr/>
        </p:nvSpPr>
        <p:spPr>
          <a:xfrm>
            <a:off x="5202936" y="3657600"/>
            <a:ext cx="2496312" cy="502920"/>
          </a:xfrm>
          <a:prstGeom prst="rect">
            <a:avLst/>
          </a:prstGeom>
          <a:noFill/>
          <a:ln/>
        </p:spPr>
        <p:txBody>
          <a:bodyPr wrap="square" lIns="0" tIns="0" rIns="0" bIns="0" rtlCol="0" anchor="ctr"/>
          <a:lstStyle/>
          <a:p>
            <a:pPr marL="0" indent="0">
              <a:buNone/>
            </a:pPr>
            <a:r>
              <a:rPr lang="en-US" sz="1500" b="1" dirty="0">
                <a:solidFill>
                  <a:srgbClr val="151A2E"/>
                </a:solidFill>
                <a:latin typeface="Cambria" pitchFamily="34" charset="0"/>
                <a:ea typeface="Cambria" pitchFamily="34" charset="-122"/>
                <a:cs typeface="Cambria" pitchFamily="34" charset="-120"/>
              </a:rPr>
              <a:t>Medical notes</a:t>
            </a:r>
            <a:endParaRPr lang="en-US" sz="1500" dirty="0"/>
          </a:p>
        </p:txBody>
      </p:sp>
      <p:sp>
        <p:nvSpPr>
          <p:cNvPr id="16" name="Text 12"/>
          <p:cNvSpPr/>
          <p:nvPr/>
        </p:nvSpPr>
        <p:spPr>
          <a:xfrm>
            <a:off x="4562856" y="4315968"/>
            <a:ext cx="3044952" cy="502920"/>
          </a:xfrm>
          <a:prstGeom prst="rect">
            <a:avLst/>
          </a:prstGeom>
          <a:noFill/>
          <a:ln/>
        </p:spPr>
        <p:txBody>
          <a:bodyPr wrap="square" lIns="0" tIns="0" rIns="0" bIns="0" rtlCol="0" anchor="t"/>
          <a:lstStyle/>
          <a:p>
            <a:pPr marL="0" indent="0">
              <a:buNone/>
            </a:pPr>
            <a:r>
              <a:rPr lang="en-US" sz="1250" dirty="0">
                <a:solidFill>
                  <a:srgbClr val="1B1F2A"/>
                </a:solidFill>
                <a:latin typeface="Calibri" pitchFamily="34" charset="0"/>
                <a:ea typeface="Calibri" pitchFamily="34" charset="-122"/>
                <a:cs typeface="Calibri" pitchFamily="34" charset="-120"/>
              </a:rPr>
              <a:t>Wrong scope on a negation flips a diagnosis</a:t>
            </a:r>
            <a:endParaRPr lang="en-US" sz="1250" dirty="0"/>
          </a:p>
        </p:txBody>
      </p:sp>
      <p:sp>
        <p:nvSpPr>
          <p:cNvPr id="17" name="Shape 13"/>
          <p:cNvSpPr/>
          <p:nvPr/>
        </p:nvSpPr>
        <p:spPr>
          <a:xfrm>
            <a:off x="8028432" y="3474720"/>
            <a:ext cx="3593592" cy="1417320"/>
          </a:xfrm>
          <a:prstGeom prst="roundRect">
            <a:avLst>
              <a:gd name="adj" fmla="val 5161"/>
            </a:avLst>
          </a:prstGeom>
          <a:solidFill>
            <a:srgbClr val="FFFFFF"/>
          </a:solidFill>
          <a:ln/>
          <a:effectLst>
            <a:outerShdw blurRad="88900" dist="38100" dir="5400000" algn="bl" rotWithShape="0">
              <a:srgbClr val="000000">
                <a:alpha val="10000"/>
              </a:srgbClr>
            </a:outerShdw>
          </a:effectLst>
        </p:spPr>
        <p:txBody>
          <a:bodyPr/>
          <a:lstStyle/>
          <a:p>
            <a:endParaRPr lang="en-US"/>
          </a:p>
        </p:txBody>
      </p:sp>
      <p:sp>
        <p:nvSpPr>
          <p:cNvPr id="18" name="Shape 14"/>
          <p:cNvSpPr/>
          <p:nvPr/>
        </p:nvSpPr>
        <p:spPr>
          <a:xfrm>
            <a:off x="8284464" y="3703320"/>
            <a:ext cx="548640" cy="548640"/>
          </a:xfrm>
          <a:prstGeom prst="line">
            <a:avLst/>
          </a:prstGeom>
          <a:solidFill>
            <a:srgbClr val="B31A38"/>
          </a:solidFill>
          <a:ln/>
        </p:spPr>
        <p:txBody>
          <a:bodyPr/>
          <a:lstStyle/>
          <a:p>
            <a:endParaRPr lang="en-US"/>
          </a:p>
        </p:txBody>
      </p:sp>
      <p:pic>
        <p:nvPicPr>
          <p:cNvPr id="19" name="Image 2" descr="preencoded.png"/>
          <p:cNvPicPr>
            <a:picLocks noChangeAspect="1"/>
          </p:cNvPicPr>
          <p:nvPr/>
        </p:nvPicPr>
        <p:blipFill>
          <a:blip r:embed="rId5"/>
          <a:stretch>
            <a:fillRect/>
          </a:stretch>
        </p:blipFill>
        <p:spPr>
          <a:xfrm>
            <a:off x="8427110" y="3845966"/>
            <a:ext cx="263347" cy="263347"/>
          </a:xfrm>
          <a:prstGeom prst="rect">
            <a:avLst/>
          </a:prstGeom>
        </p:spPr>
      </p:pic>
      <p:sp>
        <p:nvSpPr>
          <p:cNvPr id="20" name="Text 15"/>
          <p:cNvSpPr/>
          <p:nvPr/>
        </p:nvSpPr>
        <p:spPr>
          <a:xfrm>
            <a:off x="8942832" y="3657600"/>
            <a:ext cx="2496312" cy="502920"/>
          </a:xfrm>
          <a:prstGeom prst="rect">
            <a:avLst/>
          </a:prstGeom>
          <a:noFill/>
          <a:ln/>
        </p:spPr>
        <p:txBody>
          <a:bodyPr wrap="square" lIns="0" tIns="0" rIns="0" bIns="0" rtlCol="0" anchor="ctr"/>
          <a:lstStyle/>
          <a:p>
            <a:pPr marL="0" indent="0">
              <a:buNone/>
            </a:pPr>
            <a:r>
              <a:rPr lang="en-US" sz="1500" b="1" dirty="0">
                <a:solidFill>
                  <a:srgbClr val="151A2E"/>
                </a:solidFill>
                <a:latin typeface="Cambria" pitchFamily="34" charset="0"/>
                <a:ea typeface="Cambria" pitchFamily="34" charset="-122"/>
                <a:cs typeface="Cambria" pitchFamily="34" charset="-120"/>
              </a:rPr>
              <a:t>Search &amp; voice</a:t>
            </a:r>
            <a:endParaRPr lang="en-US" sz="1500" dirty="0"/>
          </a:p>
        </p:txBody>
      </p:sp>
      <p:sp>
        <p:nvSpPr>
          <p:cNvPr id="21" name="Text 16"/>
          <p:cNvSpPr/>
          <p:nvPr/>
        </p:nvSpPr>
        <p:spPr>
          <a:xfrm>
            <a:off x="8302752" y="4315968"/>
            <a:ext cx="3044952" cy="502920"/>
          </a:xfrm>
          <a:prstGeom prst="rect">
            <a:avLst/>
          </a:prstGeom>
          <a:noFill/>
          <a:ln/>
        </p:spPr>
        <p:txBody>
          <a:bodyPr wrap="square" lIns="0" tIns="0" rIns="0" bIns="0" rtlCol="0" anchor="t"/>
          <a:lstStyle/>
          <a:p>
            <a:pPr marL="0" indent="0">
              <a:buNone/>
            </a:pPr>
            <a:r>
              <a:rPr lang="en-US" sz="1250" dirty="0">
                <a:solidFill>
                  <a:srgbClr val="1B1F2A"/>
                </a:solidFill>
                <a:latin typeface="Calibri" pitchFamily="34" charset="0"/>
                <a:ea typeface="Calibri" pitchFamily="34" charset="-122"/>
                <a:cs typeface="Calibri" pitchFamily="34" charset="-120"/>
              </a:rPr>
              <a:t>The system answers a question you did not ask</a:t>
            </a:r>
            <a:endParaRPr lang="en-US" sz="1250" dirty="0"/>
          </a:p>
        </p:txBody>
      </p:sp>
      <p:sp>
        <p:nvSpPr>
          <p:cNvPr id="22" name="Shape 17"/>
          <p:cNvSpPr/>
          <p:nvPr/>
        </p:nvSpPr>
        <p:spPr>
          <a:xfrm>
            <a:off x="548640" y="5074920"/>
            <a:ext cx="11064240" cy="777240"/>
          </a:xfrm>
          <a:prstGeom prst="roundRect">
            <a:avLst>
              <a:gd name="adj" fmla="val 9412"/>
            </a:avLst>
          </a:prstGeom>
          <a:solidFill>
            <a:srgbClr val="FBEDEF"/>
          </a:solidFill>
          <a:ln/>
          <a:effectLst>
            <a:outerShdw blurRad="88900" dist="38100" dir="5400000" algn="bl" rotWithShape="0">
              <a:srgbClr val="000000">
                <a:alpha val="10000"/>
              </a:srgbClr>
            </a:outerShdw>
          </a:effectLst>
        </p:spPr>
        <p:txBody>
          <a:bodyPr/>
          <a:lstStyle/>
          <a:p>
            <a:endParaRPr lang="en-US"/>
          </a:p>
        </p:txBody>
      </p:sp>
      <p:sp>
        <p:nvSpPr>
          <p:cNvPr id="23" name="Text 18"/>
          <p:cNvSpPr/>
          <p:nvPr/>
        </p:nvSpPr>
        <p:spPr>
          <a:xfrm>
            <a:off x="822960" y="5074920"/>
            <a:ext cx="10515600" cy="777240"/>
          </a:xfrm>
          <a:prstGeom prst="rect">
            <a:avLst/>
          </a:prstGeom>
          <a:noFill/>
          <a:ln/>
        </p:spPr>
        <p:txBody>
          <a:bodyPr wrap="square" rtlCol="0" anchor="ctr"/>
          <a:lstStyle/>
          <a:p>
            <a:pPr marL="0" indent="0">
              <a:buNone/>
            </a:pPr>
            <a:r>
              <a:rPr lang="en-US" sz="1400" b="1" dirty="0">
                <a:solidFill>
                  <a:srgbClr val="B31A38"/>
                </a:solidFill>
                <a:latin typeface="Calibri" pitchFamily="34" charset="0"/>
                <a:ea typeface="Calibri" pitchFamily="34" charset="-122"/>
                <a:cs typeface="Calibri" pitchFamily="34" charset="-120"/>
              </a:rPr>
              <a:t>Question for the room:  </a:t>
            </a:r>
            <a:r>
              <a:rPr lang="en-US" sz="1400" dirty="0">
                <a:solidFill>
                  <a:srgbClr val="1B1F2A"/>
                </a:solidFill>
                <a:latin typeface="Calibri" pitchFamily="34" charset="0"/>
                <a:ea typeface="Calibri" pitchFamily="34" charset="-122"/>
                <a:cs typeface="Calibri" pitchFamily="34" charset="-120"/>
              </a:rPr>
              <a:t>If a model must commit to one reading, should it ever flag its own uncertainty? Who decides the threshold, and who is accountable when it guesses wrong?</a:t>
            </a:r>
            <a:endParaRPr lang="en-US" sz="1400" dirty="0"/>
          </a:p>
        </p:txBody>
      </p:sp>
      <p:sp>
        <p:nvSpPr>
          <p:cNvPr id="24" name="Text 19"/>
          <p:cNvSpPr/>
          <p:nvPr/>
        </p:nvSpPr>
        <p:spPr>
          <a:xfrm>
            <a:off x="457200" y="6437376"/>
            <a:ext cx="9601200" cy="274320"/>
          </a:xfrm>
          <a:prstGeom prst="rect">
            <a:avLst/>
          </a:prstGeom>
          <a:noFill/>
          <a:ln/>
        </p:spPr>
        <p:txBody>
          <a:bodyPr wrap="square" lIns="0" tIns="0" rIns="0" bIns="0" rtlCol="0" anchor="ctr"/>
          <a:lstStyle/>
          <a:p>
            <a:pPr marL="0" indent="0" algn="l">
              <a:buNone/>
            </a:pPr>
            <a:r>
              <a:rPr lang="en-US" sz="900" dirty="0">
                <a:solidFill>
                  <a:srgbClr val="5B6172"/>
                </a:solidFill>
                <a:latin typeface="Calibri" pitchFamily="34" charset="0"/>
                <a:ea typeface="Calibri" pitchFamily="34" charset="-122"/>
                <a:cs typeface="Calibri" pitchFamily="34" charset="-120"/>
              </a:rPr>
              <a:t>ISBA 2411 · Natural Language Processing &amp; AI · Summer 2026</a:t>
            </a:r>
            <a:endParaRPr lang="en-US" sz="900" dirty="0"/>
          </a:p>
        </p:txBody>
      </p:sp>
      <p:sp>
        <p:nvSpPr>
          <p:cNvPr id="25" name="Text 20"/>
          <p:cNvSpPr/>
          <p:nvPr/>
        </p:nvSpPr>
        <p:spPr>
          <a:xfrm>
            <a:off x="11338560" y="6437376"/>
            <a:ext cx="365760" cy="274320"/>
          </a:xfrm>
          <a:prstGeom prst="rect">
            <a:avLst/>
          </a:prstGeom>
          <a:noFill/>
          <a:ln/>
        </p:spPr>
        <p:txBody>
          <a:bodyPr wrap="square" lIns="0" tIns="0" rIns="0" bIns="0" rtlCol="0" anchor="ctr"/>
          <a:lstStyle/>
          <a:p>
            <a:pPr marL="0" indent="0" algn="r">
              <a:buNone/>
            </a:pPr>
            <a:r>
              <a:rPr lang="en-US" sz="900" dirty="0">
                <a:solidFill>
                  <a:srgbClr val="5B6172"/>
                </a:solidFill>
                <a:latin typeface="Calibri" pitchFamily="34" charset="0"/>
                <a:ea typeface="Calibri" pitchFamily="34" charset="-122"/>
                <a:cs typeface="Calibri" pitchFamily="34" charset="-120"/>
              </a:rPr>
              <a:t>5</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548640" y="384048"/>
            <a:ext cx="10972800" cy="320040"/>
          </a:xfrm>
          <a:prstGeom prst="rect">
            <a:avLst/>
          </a:prstGeom>
          <a:noFill/>
          <a:ln/>
        </p:spPr>
        <p:txBody>
          <a:bodyPr wrap="square" lIns="0" tIns="0" rIns="0" bIns="0" rtlCol="0" anchor="ctr"/>
          <a:lstStyle/>
          <a:p>
            <a:pPr marL="0" indent="0">
              <a:buNone/>
            </a:pPr>
            <a:r>
              <a:rPr lang="en-US" sz="1300" b="1" kern="0" spc="200" dirty="0">
                <a:solidFill>
                  <a:srgbClr val="B31A38"/>
                </a:solidFill>
                <a:latin typeface="Calibri" pitchFamily="34" charset="0"/>
                <a:ea typeface="Calibri" pitchFamily="34" charset="-122"/>
                <a:cs typeface="Calibri" pitchFamily="34" charset="-120"/>
              </a:rPr>
              <a:t>THE PRODUCTION BUG</a:t>
            </a:r>
            <a:endParaRPr lang="en-US" sz="1300" dirty="0"/>
          </a:p>
        </p:txBody>
      </p:sp>
      <p:sp>
        <p:nvSpPr>
          <p:cNvPr id="3" name="Text 1"/>
          <p:cNvSpPr/>
          <p:nvPr/>
        </p:nvSpPr>
        <p:spPr>
          <a:xfrm>
            <a:off x="548640" y="676656"/>
            <a:ext cx="11064240" cy="777240"/>
          </a:xfrm>
          <a:prstGeom prst="rect">
            <a:avLst/>
          </a:prstGeom>
          <a:noFill/>
          <a:ln/>
        </p:spPr>
        <p:txBody>
          <a:bodyPr wrap="square" lIns="0" tIns="0" rIns="0" bIns="0" rtlCol="0" anchor="ctr"/>
          <a:lstStyle/>
          <a:p>
            <a:pPr marL="0" indent="0">
              <a:buNone/>
            </a:pPr>
            <a:r>
              <a:rPr lang="en-US" sz="3000" b="1" dirty="0">
                <a:solidFill>
                  <a:srgbClr val="151A2E"/>
                </a:solidFill>
                <a:latin typeface="Cambria" pitchFamily="34" charset="0"/>
                <a:ea typeface="Cambria" pitchFamily="34" charset="-122"/>
                <a:cs typeface="Cambria" pitchFamily="34" charset="-120"/>
              </a:rPr>
              <a:t>Tokenizer-model mismatch: silent, and everywhere</a:t>
            </a:r>
            <a:endParaRPr lang="en-US" sz="3000" dirty="0"/>
          </a:p>
        </p:txBody>
      </p:sp>
      <p:sp>
        <p:nvSpPr>
          <p:cNvPr id="4" name="Shape 2"/>
          <p:cNvSpPr/>
          <p:nvPr/>
        </p:nvSpPr>
        <p:spPr>
          <a:xfrm>
            <a:off x="548640" y="1874520"/>
            <a:ext cx="5486400" cy="3977640"/>
          </a:xfrm>
          <a:prstGeom prst="roundRect">
            <a:avLst>
              <a:gd name="adj" fmla="val 1839"/>
            </a:avLst>
          </a:prstGeom>
          <a:solidFill>
            <a:srgbClr val="FBEDEF"/>
          </a:solidFill>
          <a:ln/>
          <a:effectLst>
            <a:outerShdw blurRad="88900" dist="38100" dir="5400000" algn="bl" rotWithShape="0">
              <a:srgbClr val="000000">
                <a:alpha val="10000"/>
              </a:srgbClr>
            </a:outerShdw>
          </a:effectLst>
        </p:spPr>
        <p:txBody>
          <a:bodyPr/>
          <a:lstStyle/>
          <a:p>
            <a:endParaRPr lang="en-US"/>
          </a:p>
        </p:txBody>
      </p:sp>
      <p:sp>
        <p:nvSpPr>
          <p:cNvPr id="5" name="Shape 3"/>
          <p:cNvSpPr/>
          <p:nvPr/>
        </p:nvSpPr>
        <p:spPr>
          <a:xfrm>
            <a:off x="822960" y="2103120"/>
            <a:ext cx="685800" cy="685800"/>
          </a:xfrm>
          <a:prstGeom prst="line">
            <a:avLst/>
          </a:prstGeom>
          <a:solidFill>
            <a:srgbClr val="B31A38"/>
          </a:solidFill>
          <a:ln/>
        </p:spPr>
        <p:txBody>
          <a:bodyPr/>
          <a:lstStyle/>
          <a:p>
            <a:endParaRPr lang="en-US"/>
          </a:p>
        </p:txBody>
      </p:sp>
      <p:pic>
        <p:nvPicPr>
          <p:cNvPr id="6" name="Image 0" descr="preencoded.png"/>
          <p:cNvPicPr>
            <a:picLocks noChangeAspect="1"/>
          </p:cNvPicPr>
          <p:nvPr/>
        </p:nvPicPr>
        <p:blipFill>
          <a:blip r:embed="rId3"/>
          <a:stretch>
            <a:fillRect/>
          </a:stretch>
        </p:blipFill>
        <p:spPr>
          <a:xfrm>
            <a:off x="1001268" y="2281428"/>
            <a:ext cx="329184" cy="329184"/>
          </a:xfrm>
          <a:prstGeom prst="rect">
            <a:avLst/>
          </a:prstGeom>
        </p:spPr>
      </p:pic>
      <p:sp>
        <p:nvSpPr>
          <p:cNvPr id="7" name="Text 4"/>
          <p:cNvSpPr/>
          <p:nvPr/>
        </p:nvSpPr>
        <p:spPr>
          <a:xfrm>
            <a:off x="1645920" y="2148840"/>
            <a:ext cx="4206240" cy="548640"/>
          </a:xfrm>
          <a:prstGeom prst="rect">
            <a:avLst/>
          </a:prstGeom>
          <a:noFill/>
          <a:ln/>
        </p:spPr>
        <p:txBody>
          <a:bodyPr wrap="square" lIns="0" tIns="0" rIns="0" bIns="0" rtlCol="0" anchor="ctr"/>
          <a:lstStyle/>
          <a:p>
            <a:pPr marL="0" indent="0">
              <a:buNone/>
            </a:pPr>
            <a:r>
              <a:rPr lang="en-US" sz="1700" b="1" dirty="0">
                <a:solidFill>
                  <a:srgbClr val="B31A38"/>
                </a:solidFill>
                <a:latin typeface="Cambria" pitchFamily="34" charset="0"/>
                <a:ea typeface="Cambria" pitchFamily="34" charset="-122"/>
                <a:cs typeface="Cambria" pitchFamily="34" charset="-120"/>
              </a:rPr>
              <a:t>What goes wrong</a:t>
            </a:r>
            <a:endParaRPr lang="en-US" sz="1700" dirty="0"/>
          </a:p>
        </p:txBody>
      </p:sp>
      <p:sp>
        <p:nvSpPr>
          <p:cNvPr id="8" name="Text 5"/>
          <p:cNvSpPr/>
          <p:nvPr/>
        </p:nvSpPr>
        <p:spPr>
          <a:xfrm>
            <a:off x="868680" y="2880360"/>
            <a:ext cx="4937760" cy="2834640"/>
          </a:xfrm>
          <a:prstGeom prst="rect">
            <a:avLst/>
          </a:prstGeom>
          <a:noFill/>
          <a:ln/>
        </p:spPr>
        <p:txBody>
          <a:bodyPr wrap="square" rtlCol="0" anchor="t"/>
          <a:lstStyle/>
          <a:p>
            <a:pPr marL="342900" indent="-342900">
              <a:spcAft>
                <a:spcPts val="1000"/>
              </a:spcAft>
              <a:buSzPct val="100000"/>
              <a:buChar char="•"/>
            </a:pPr>
            <a:r>
              <a:rPr lang="en-US" sz="1400" dirty="0">
                <a:solidFill>
                  <a:srgbClr val="1B1F2A"/>
                </a:solidFill>
                <a:latin typeface="Calibri" pitchFamily="34" charset="0"/>
                <a:ea typeface="Calibri" pitchFamily="34" charset="-122"/>
                <a:cs typeface="Calibri" pitchFamily="34" charset="-120"/>
              </a:rPr>
              <a:t>A model is trained with one specific tokenizer</a:t>
            </a:r>
            <a:endParaRPr lang="en-US" sz="1400" dirty="0"/>
          </a:p>
          <a:p>
            <a:pPr marL="342900" indent="-342900">
              <a:spcAft>
                <a:spcPts val="1000"/>
              </a:spcAft>
              <a:buSzPct val="100000"/>
              <a:buChar char="•"/>
            </a:pPr>
            <a:r>
              <a:rPr lang="en-US" sz="1400" dirty="0">
                <a:solidFill>
                  <a:srgbClr val="1B1F2A"/>
                </a:solidFill>
                <a:latin typeface="Calibri" pitchFamily="34" charset="0"/>
                <a:ea typeface="Calibri" pitchFamily="34" charset="-122"/>
                <a:cs typeface="Calibri" pitchFamily="34" charset="-120"/>
              </a:rPr>
              <a:t>You feed it text tokenized by a different one</a:t>
            </a:r>
            <a:endParaRPr lang="en-US" sz="1400" dirty="0"/>
          </a:p>
          <a:p>
            <a:pPr marL="342900" indent="-342900">
              <a:spcAft>
                <a:spcPts val="1000"/>
              </a:spcAft>
              <a:buSzPct val="100000"/>
              <a:buChar char="•"/>
            </a:pPr>
            <a:r>
              <a:rPr lang="en-US" sz="1400" dirty="0">
                <a:solidFill>
                  <a:srgbClr val="1B1F2A"/>
                </a:solidFill>
                <a:latin typeface="Calibri" pitchFamily="34" charset="0"/>
                <a:ea typeface="Calibri" pitchFamily="34" charset="-122"/>
                <a:cs typeface="Calibri" pitchFamily="34" charset="-120"/>
              </a:rPr>
              <a:t>Token IDs now point to the wrong embeddings</a:t>
            </a:r>
            <a:endParaRPr lang="en-US" sz="1400" dirty="0"/>
          </a:p>
          <a:p>
            <a:pPr marL="342900" indent="-342900">
              <a:spcAft>
                <a:spcPts val="1000"/>
              </a:spcAft>
              <a:buSzPct val="100000"/>
              <a:buChar char="•"/>
            </a:pPr>
            <a:r>
              <a:rPr lang="en-US" sz="1400" dirty="0">
                <a:solidFill>
                  <a:srgbClr val="1B1F2A"/>
                </a:solidFill>
                <a:latin typeface="Calibri" pitchFamily="34" charset="0"/>
                <a:ea typeface="Calibri" pitchFamily="34" charset="-122"/>
                <a:cs typeface="Calibri" pitchFamily="34" charset="-120"/>
              </a:rPr>
              <a:t>No crash. No error. Just degraded output</a:t>
            </a:r>
            <a:endParaRPr lang="en-US" sz="1400" dirty="0"/>
          </a:p>
          <a:p>
            <a:pPr marL="342900" indent="-342900">
              <a:spcAft>
                <a:spcPts val="1000"/>
              </a:spcAft>
              <a:buSzPct val="100000"/>
              <a:buChar char="•"/>
            </a:pPr>
            <a:r>
              <a:rPr lang="en-US" sz="1400" dirty="0">
                <a:solidFill>
                  <a:srgbClr val="1B1F2A"/>
                </a:solidFill>
                <a:latin typeface="Calibri" pitchFamily="34" charset="0"/>
                <a:ea typeface="Calibri" pitchFamily="34" charset="-122"/>
                <a:cs typeface="Calibri" pitchFamily="34" charset="-120"/>
              </a:rPr>
              <a:t>Hardest class of bug: it looks like it works</a:t>
            </a:r>
            <a:endParaRPr lang="en-US" sz="1400" dirty="0"/>
          </a:p>
        </p:txBody>
      </p:sp>
      <p:sp>
        <p:nvSpPr>
          <p:cNvPr id="9" name="Shape 6"/>
          <p:cNvSpPr/>
          <p:nvPr/>
        </p:nvSpPr>
        <p:spPr>
          <a:xfrm>
            <a:off x="6263640" y="1874520"/>
            <a:ext cx="5349240" cy="3977640"/>
          </a:xfrm>
          <a:prstGeom prst="roundRect">
            <a:avLst>
              <a:gd name="adj" fmla="val 1839"/>
            </a:avLst>
          </a:prstGeom>
          <a:solidFill>
            <a:srgbClr val="151A2E"/>
          </a:solidFill>
          <a:ln/>
          <a:effectLst>
            <a:outerShdw blurRad="88900" dist="38100" dir="5400000" algn="bl" rotWithShape="0">
              <a:srgbClr val="000000">
                <a:alpha val="10000"/>
              </a:srgbClr>
            </a:outerShdw>
          </a:effectLst>
        </p:spPr>
        <p:txBody>
          <a:bodyPr/>
          <a:lstStyle/>
          <a:p>
            <a:endParaRPr lang="en-US"/>
          </a:p>
        </p:txBody>
      </p:sp>
      <p:sp>
        <p:nvSpPr>
          <p:cNvPr id="10" name="Text 7"/>
          <p:cNvSpPr/>
          <p:nvPr/>
        </p:nvSpPr>
        <p:spPr>
          <a:xfrm>
            <a:off x="6492240" y="2057400"/>
            <a:ext cx="4846320" cy="365760"/>
          </a:xfrm>
          <a:prstGeom prst="rect">
            <a:avLst/>
          </a:prstGeom>
          <a:noFill/>
          <a:ln/>
        </p:spPr>
        <p:txBody>
          <a:bodyPr wrap="square" lIns="0" tIns="0" rIns="0" bIns="0" rtlCol="0" anchor="ctr"/>
          <a:lstStyle/>
          <a:p>
            <a:pPr marL="0" indent="0">
              <a:buNone/>
            </a:pPr>
            <a:r>
              <a:rPr lang="en-US" sz="1400" b="1" dirty="0">
                <a:solidFill>
                  <a:srgbClr val="B5A06A"/>
                </a:solidFill>
                <a:latin typeface="Calibri" pitchFamily="34" charset="0"/>
                <a:ea typeface="Calibri" pitchFamily="34" charset="-122"/>
                <a:cs typeface="Calibri" pitchFamily="34" charset="-120"/>
              </a:rPr>
              <a:t>The rule that saves you</a:t>
            </a:r>
            <a:endParaRPr lang="en-US" sz="1400" dirty="0"/>
          </a:p>
        </p:txBody>
      </p:sp>
      <p:sp>
        <p:nvSpPr>
          <p:cNvPr id="11" name="Text 8"/>
          <p:cNvSpPr/>
          <p:nvPr/>
        </p:nvSpPr>
        <p:spPr>
          <a:xfrm>
            <a:off x="6492240" y="2468880"/>
            <a:ext cx="4937760" cy="3291840"/>
          </a:xfrm>
          <a:prstGeom prst="rect">
            <a:avLst/>
          </a:prstGeom>
          <a:noFill/>
          <a:ln/>
        </p:spPr>
        <p:txBody>
          <a:bodyPr wrap="square" rtlCol="0" anchor="t"/>
          <a:lstStyle/>
          <a:p>
            <a:pPr marL="0" indent="0">
              <a:buNone/>
            </a:pPr>
            <a:r>
              <a:rPr lang="en-US" sz="1350" dirty="0">
                <a:solidFill>
                  <a:srgbClr val="FF9BA8"/>
                </a:solidFill>
                <a:latin typeface="Consolas" pitchFamily="34" charset="0"/>
                <a:ea typeface="Consolas" pitchFamily="34" charset="-122"/>
                <a:cs typeface="Consolas" pitchFamily="34" charset="-120"/>
              </a:rPr>
              <a:t># WRONG: mixed sources</a:t>
            </a:r>
            <a:endParaRPr lang="en-US" sz="1350" dirty="0"/>
          </a:p>
          <a:p>
            <a:pPr marL="0" indent="0">
              <a:buNone/>
            </a:pPr>
            <a:r>
              <a:rPr lang="en-US" sz="1350" dirty="0">
                <a:solidFill>
                  <a:srgbClr val="D7DAE6"/>
                </a:solidFill>
                <a:latin typeface="Consolas" pitchFamily="34" charset="0"/>
                <a:ea typeface="Consolas" pitchFamily="34" charset="-122"/>
                <a:cs typeface="Consolas" pitchFamily="34" charset="-120"/>
              </a:rPr>
              <a:t>tok = Tokenizer("gpt2")</a:t>
            </a:r>
            <a:endParaRPr lang="en-US" sz="1350" dirty="0"/>
          </a:p>
          <a:p>
            <a:pPr marL="0" indent="0">
              <a:buNone/>
            </a:pPr>
            <a:r>
              <a:rPr lang="en-US" sz="1350" dirty="0">
                <a:solidFill>
                  <a:srgbClr val="D7DAE6"/>
                </a:solidFill>
                <a:latin typeface="Consolas" pitchFamily="34" charset="0"/>
                <a:ea typeface="Consolas" pitchFamily="34" charset="-122"/>
                <a:cs typeface="Consolas" pitchFamily="34" charset="-120"/>
              </a:rPr>
              <a:t>model = Model("bert-base")</a:t>
            </a:r>
            <a:endParaRPr lang="en-US" sz="1350" dirty="0"/>
          </a:p>
          <a:p>
            <a:pPr marL="0" indent="0">
              <a:buNone/>
            </a:pPr>
            <a:r>
              <a:rPr lang="en-US" sz="800" dirty="0">
                <a:solidFill>
                  <a:srgbClr val="D7DAE6"/>
                </a:solidFill>
                <a:latin typeface="Consolas" pitchFamily="34" charset="0"/>
                <a:ea typeface="Consolas" pitchFamily="34" charset="-122"/>
                <a:cs typeface="Consolas" pitchFamily="34" charset="-120"/>
              </a:rPr>
              <a:t> </a:t>
            </a:r>
            <a:endParaRPr lang="en-US" sz="1350" dirty="0"/>
          </a:p>
          <a:p>
            <a:pPr marL="0" indent="0">
              <a:buNone/>
            </a:pPr>
            <a:r>
              <a:rPr lang="en-US" sz="1350" dirty="0">
                <a:solidFill>
                  <a:srgbClr val="9BE7B0"/>
                </a:solidFill>
                <a:latin typeface="Consolas" pitchFamily="34" charset="0"/>
                <a:ea typeface="Consolas" pitchFamily="34" charset="-122"/>
                <a:cs typeface="Consolas" pitchFamily="34" charset="-120"/>
              </a:rPr>
              <a:t># RIGHT: same checkpoint</a:t>
            </a:r>
            <a:endParaRPr lang="en-US" sz="1350" dirty="0"/>
          </a:p>
          <a:p>
            <a:pPr marL="0" indent="0">
              <a:buNone/>
            </a:pPr>
            <a:r>
              <a:rPr lang="en-US" sz="1350" dirty="0">
                <a:solidFill>
                  <a:srgbClr val="D7DAE6"/>
                </a:solidFill>
                <a:latin typeface="Consolas" pitchFamily="34" charset="0"/>
                <a:ea typeface="Consolas" pitchFamily="34" charset="-122"/>
                <a:cs typeface="Consolas" pitchFamily="34" charset="-120"/>
              </a:rPr>
              <a:t>name = "bert-base-uncased"</a:t>
            </a:r>
            <a:endParaRPr lang="en-US" sz="1350" dirty="0"/>
          </a:p>
          <a:p>
            <a:pPr marL="0" indent="0">
              <a:buNone/>
            </a:pPr>
            <a:r>
              <a:rPr lang="en-US" sz="1350" dirty="0">
                <a:solidFill>
                  <a:srgbClr val="D7DAE6"/>
                </a:solidFill>
                <a:latin typeface="Consolas" pitchFamily="34" charset="0"/>
                <a:ea typeface="Consolas" pitchFamily="34" charset="-122"/>
                <a:cs typeface="Consolas" pitchFamily="34" charset="-120"/>
              </a:rPr>
              <a:t>tok = AutoTokenizer</a:t>
            </a:r>
            <a:endParaRPr lang="en-US" sz="1350" dirty="0"/>
          </a:p>
          <a:p>
            <a:pPr marL="0" indent="0">
              <a:buNone/>
            </a:pPr>
            <a:r>
              <a:rPr lang="en-US" sz="1350" dirty="0">
                <a:solidFill>
                  <a:srgbClr val="D7DAE6"/>
                </a:solidFill>
                <a:latin typeface="Consolas" pitchFamily="34" charset="0"/>
                <a:ea typeface="Consolas" pitchFamily="34" charset="-122"/>
                <a:cs typeface="Consolas" pitchFamily="34" charset="-120"/>
              </a:rPr>
              <a:t>    .from_pretrained(name)</a:t>
            </a:r>
            <a:endParaRPr lang="en-US" sz="1350" dirty="0"/>
          </a:p>
          <a:p>
            <a:pPr marL="0" indent="0">
              <a:buNone/>
            </a:pPr>
            <a:r>
              <a:rPr lang="en-US" sz="1350" dirty="0">
                <a:solidFill>
                  <a:srgbClr val="D7DAE6"/>
                </a:solidFill>
                <a:latin typeface="Consolas" pitchFamily="34" charset="0"/>
                <a:ea typeface="Consolas" pitchFamily="34" charset="-122"/>
                <a:cs typeface="Consolas" pitchFamily="34" charset="-120"/>
              </a:rPr>
              <a:t>model = AutoModel</a:t>
            </a:r>
            <a:endParaRPr lang="en-US" sz="1350" dirty="0"/>
          </a:p>
          <a:p>
            <a:pPr marL="0" indent="0">
              <a:buNone/>
            </a:pPr>
            <a:r>
              <a:rPr lang="en-US" sz="1350" dirty="0">
                <a:solidFill>
                  <a:srgbClr val="D7DAE6"/>
                </a:solidFill>
                <a:latin typeface="Consolas" pitchFamily="34" charset="0"/>
                <a:ea typeface="Consolas" pitchFamily="34" charset="-122"/>
                <a:cs typeface="Consolas" pitchFamily="34" charset="-120"/>
              </a:rPr>
              <a:t>    .from_pretrained(name)</a:t>
            </a:r>
            <a:endParaRPr lang="en-US" sz="1350" dirty="0"/>
          </a:p>
        </p:txBody>
      </p:sp>
      <p:sp>
        <p:nvSpPr>
          <p:cNvPr id="12" name="Text 9"/>
          <p:cNvSpPr/>
          <p:nvPr/>
        </p:nvSpPr>
        <p:spPr>
          <a:xfrm>
            <a:off x="457200" y="6437376"/>
            <a:ext cx="9601200" cy="274320"/>
          </a:xfrm>
          <a:prstGeom prst="rect">
            <a:avLst/>
          </a:prstGeom>
          <a:noFill/>
          <a:ln/>
        </p:spPr>
        <p:txBody>
          <a:bodyPr wrap="square" lIns="0" tIns="0" rIns="0" bIns="0" rtlCol="0" anchor="ctr"/>
          <a:lstStyle/>
          <a:p>
            <a:pPr marL="0" indent="0" algn="l">
              <a:buNone/>
            </a:pPr>
            <a:r>
              <a:rPr lang="en-US" sz="900" dirty="0">
                <a:solidFill>
                  <a:srgbClr val="5B6172"/>
                </a:solidFill>
                <a:latin typeface="Calibri" pitchFamily="34" charset="0"/>
                <a:ea typeface="Calibri" pitchFamily="34" charset="-122"/>
                <a:cs typeface="Calibri" pitchFamily="34" charset="-120"/>
              </a:rPr>
              <a:t>ISBA 2411 · Natural Language Processing &amp; AI · Summer 2026</a:t>
            </a:r>
            <a:endParaRPr lang="en-US" sz="900" dirty="0"/>
          </a:p>
        </p:txBody>
      </p:sp>
      <p:sp>
        <p:nvSpPr>
          <p:cNvPr id="13" name="Text 10"/>
          <p:cNvSpPr/>
          <p:nvPr/>
        </p:nvSpPr>
        <p:spPr>
          <a:xfrm>
            <a:off x="11338560" y="6437376"/>
            <a:ext cx="365760" cy="274320"/>
          </a:xfrm>
          <a:prstGeom prst="rect">
            <a:avLst/>
          </a:prstGeom>
          <a:noFill/>
          <a:ln/>
        </p:spPr>
        <p:txBody>
          <a:bodyPr wrap="square" lIns="0" tIns="0" rIns="0" bIns="0" rtlCol="0" anchor="ctr"/>
          <a:lstStyle/>
          <a:p>
            <a:pPr marL="0" indent="0" algn="r">
              <a:buNone/>
            </a:pPr>
            <a:r>
              <a:rPr lang="en-US" sz="900" dirty="0">
                <a:solidFill>
                  <a:srgbClr val="5B6172"/>
                </a:solidFill>
                <a:latin typeface="Calibri" pitchFamily="34" charset="0"/>
                <a:ea typeface="Calibri" pitchFamily="34" charset="-122"/>
                <a:cs typeface="Calibri" pitchFamily="34" charset="-120"/>
              </a:rPr>
              <a:t>6</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548640" y="384048"/>
            <a:ext cx="10972800" cy="320040"/>
          </a:xfrm>
          <a:prstGeom prst="rect">
            <a:avLst/>
          </a:prstGeom>
          <a:noFill/>
          <a:ln/>
        </p:spPr>
        <p:txBody>
          <a:bodyPr wrap="square" lIns="0" tIns="0" rIns="0" bIns="0" rtlCol="0" anchor="ctr"/>
          <a:lstStyle/>
          <a:p>
            <a:pPr marL="0" indent="0">
              <a:buNone/>
            </a:pPr>
            <a:r>
              <a:rPr lang="en-US" sz="1300" b="1" kern="0" spc="200" dirty="0">
                <a:solidFill>
                  <a:srgbClr val="B31A38"/>
                </a:solidFill>
                <a:latin typeface="Calibri" pitchFamily="34" charset="0"/>
                <a:ea typeface="Calibri" pitchFamily="34" charset="-122"/>
                <a:cs typeface="Calibri" pitchFamily="34" charset="-120"/>
              </a:rPr>
              <a:t>BEYOND ENGLISH</a:t>
            </a:r>
            <a:endParaRPr lang="en-US" sz="1300" dirty="0"/>
          </a:p>
        </p:txBody>
      </p:sp>
      <p:sp>
        <p:nvSpPr>
          <p:cNvPr id="3" name="Text 1"/>
          <p:cNvSpPr/>
          <p:nvPr/>
        </p:nvSpPr>
        <p:spPr>
          <a:xfrm>
            <a:off x="548640" y="676656"/>
            <a:ext cx="11064240" cy="777240"/>
          </a:xfrm>
          <a:prstGeom prst="rect">
            <a:avLst/>
          </a:prstGeom>
          <a:noFill/>
          <a:ln/>
        </p:spPr>
        <p:txBody>
          <a:bodyPr wrap="square" lIns="0" tIns="0" rIns="0" bIns="0" rtlCol="0" anchor="ctr"/>
          <a:lstStyle/>
          <a:p>
            <a:pPr marL="0" indent="0">
              <a:buNone/>
            </a:pPr>
            <a:r>
              <a:rPr lang="en-US" sz="3000" b="1" dirty="0">
                <a:solidFill>
                  <a:srgbClr val="151A2E"/>
                </a:solidFill>
                <a:latin typeface="Cambria" pitchFamily="34" charset="0"/>
                <a:ea typeface="Cambria" pitchFamily="34" charset="-122"/>
                <a:cs typeface="Cambria" pitchFamily="34" charset="-120"/>
              </a:rPr>
              <a:t>Where the standard pipeline assumes English</a:t>
            </a:r>
            <a:endParaRPr lang="en-US" sz="3000" dirty="0"/>
          </a:p>
        </p:txBody>
      </p:sp>
      <p:sp>
        <p:nvSpPr>
          <p:cNvPr id="4" name="Shape 2"/>
          <p:cNvSpPr/>
          <p:nvPr/>
        </p:nvSpPr>
        <p:spPr>
          <a:xfrm>
            <a:off x="548640" y="2011680"/>
            <a:ext cx="11064240" cy="877824"/>
          </a:xfrm>
          <a:prstGeom prst="roundRect">
            <a:avLst>
              <a:gd name="adj" fmla="val 8333"/>
            </a:avLst>
          </a:prstGeom>
          <a:solidFill>
            <a:srgbClr val="F4F5F8"/>
          </a:solidFill>
          <a:ln/>
          <a:effectLst>
            <a:outerShdw blurRad="88900" dist="38100" dir="5400000" algn="bl" rotWithShape="0">
              <a:srgbClr val="000000">
                <a:alpha val="10000"/>
              </a:srgbClr>
            </a:outerShdw>
          </a:effectLst>
        </p:spPr>
        <p:txBody>
          <a:bodyPr/>
          <a:lstStyle/>
          <a:p>
            <a:endParaRPr lang="en-US"/>
          </a:p>
        </p:txBody>
      </p:sp>
      <p:sp>
        <p:nvSpPr>
          <p:cNvPr id="5" name="Shape 3"/>
          <p:cNvSpPr/>
          <p:nvPr/>
        </p:nvSpPr>
        <p:spPr>
          <a:xfrm>
            <a:off x="749808" y="2176272"/>
            <a:ext cx="548640" cy="548640"/>
          </a:xfrm>
          <a:prstGeom prst="line">
            <a:avLst/>
          </a:prstGeom>
          <a:solidFill>
            <a:srgbClr val="151A2E"/>
          </a:solidFill>
          <a:ln/>
        </p:spPr>
        <p:txBody>
          <a:bodyPr/>
          <a:lstStyle/>
          <a:p>
            <a:endParaRPr lang="en-US"/>
          </a:p>
        </p:txBody>
      </p:sp>
      <p:pic>
        <p:nvPicPr>
          <p:cNvPr id="6" name="Image 0" descr="preencoded.png"/>
          <p:cNvPicPr>
            <a:picLocks noChangeAspect="1"/>
          </p:cNvPicPr>
          <p:nvPr/>
        </p:nvPicPr>
        <p:blipFill>
          <a:blip r:embed="rId3"/>
          <a:stretch>
            <a:fillRect/>
          </a:stretch>
        </p:blipFill>
        <p:spPr>
          <a:xfrm>
            <a:off x="892454" y="2318918"/>
            <a:ext cx="263347" cy="263347"/>
          </a:xfrm>
          <a:prstGeom prst="rect">
            <a:avLst/>
          </a:prstGeom>
        </p:spPr>
      </p:pic>
      <p:sp>
        <p:nvSpPr>
          <p:cNvPr id="7" name="Text 4"/>
          <p:cNvSpPr/>
          <p:nvPr/>
        </p:nvSpPr>
        <p:spPr>
          <a:xfrm>
            <a:off x="1508760" y="2103120"/>
            <a:ext cx="3200400" cy="694944"/>
          </a:xfrm>
          <a:prstGeom prst="rect">
            <a:avLst/>
          </a:prstGeom>
          <a:noFill/>
          <a:ln/>
        </p:spPr>
        <p:txBody>
          <a:bodyPr wrap="square" lIns="0" tIns="0" rIns="0" bIns="0" rtlCol="0" anchor="ctr"/>
          <a:lstStyle/>
          <a:p>
            <a:pPr marL="0" indent="0">
              <a:buNone/>
            </a:pPr>
            <a:r>
              <a:rPr lang="en-US" sz="1650" b="1" dirty="0">
                <a:solidFill>
                  <a:srgbClr val="151A2E"/>
                </a:solidFill>
                <a:latin typeface="Cambria" pitchFamily="34" charset="0"/>
                <a:ea typeface="Cambria" pitchFamily="34" charset="-122"/>
                <a:cs typeface="Cambria" pitchFamily="34" charset="-120"/>
              </a:rPr>
              <a:t>Scripts vary</a:t>
            </a:r>
            <a:endParaRPr lang="en-US" sz="1650" dirty="0"/>
          </a:p>
        </p:txBody>
      </p:sp>
      <p:sp>
        <p:nvSpPr>
          <p:cNvPr id="8" name="Text 5"/>
          <p:cNvSpPr/>
          <p:nvPr/>
        </p:nvSpPr>
        <p:spPr>
          <a:xfrm>
            <a:off x="4754880" y="2103120"/>
            <a:ext cx="6675120" cy="694944"/>
          </a:xfrm>
          <a:prstGeom prst="rect">
            <a:avLst/>
          </a:prstGeom>
          <a:noFill/>
          <a:ln/>
        </p:spPr>
        <p:txBody>
          <a:bodyPr wrap="square" lIns="0" tIns="0" rIns="0" bIns="0" rtlCol="0" anchor="ctr"/>
          <a:lstStyle/>
          <a:p>
            <a:pPr marL="0" indent="0">
              <a:buNone/>
            </a:pPr>
            <a:r>
              <a:rPr lang="en-US" sz="1400" dirty="0">
                <a:solidFill>
                  <a:srgbClr val="1B1F2A"/>
                </a:solidFill>
                <a:latin typeface="Calibri" pitchFamily="34" charset="0"/>
                <a:ea typeface="Calibri" pitchFamily="34" charset="-122"/>
                <a:cs typeface="Calibri" pitchFamily="34" charset="-120"/>
              </a:rPr>
              <a:t>Latin, Cyrillic, CJK, Arabic, Devanagari. Different bytes, different rules</a:t>
            </a:r>
            <a:endParaRPr lang="en-US" sz="1400" dirty="0"/>
          </a:p>
        </p:txBody>
      </p:sp>
      <p:sp>
        <p:nvSpPr>
          <p:cNvPr id="9" name="Shape 6"/>
          <p:cNvSpPr/>
          <p:nvPr/>
        </p:nvSpPr>
        <p:spPr>
          <a:xfrm>
            <a:off x="548640" y="3017520"/>
            <a:ext cx="11064240" cy="877824"/>
          </a:xfrm>
          <a:prstGeom prst="roundRect">
            <a:avLst>
              <a:gd name="adj" fmla="val 8333"/>
            </a:avLst>
          </a:prstGeom>
          <a:solidFill>
            <a:srgbClr val="FFFFFF"/>
          </a:solidFill>
          <a:ln/>
          <a:effectLst>
            <a:outerShdw blurRad="88900" dist="38100" dir="5400000" algn="bl" rotWithShape="0">
              <a:srgbClr val="000000">
                <a:alpha val="10000"/>
              </a:srgbClr>
            </a:outerShdw>
          </a:effectLst>
        </p:spPr>
        <p:txBody>
          <a:bodyPr/>
          <a:lstStyle/>
          <a:p>
            <a:endParaRPr lang="en-US"/>
          </a:p>
        </p:txBody>
      </p:sp>
      <p:sp>
        <p:nvSpPr>
          <p:cNvPr id="10" name="Shape 7"/>
          <p:cNvSpPr/>
          <p:nvPr/>
        </p:nvSpPr>
        <p:spPr>
          <a:xfrm>
            <a:off x="749808" y="3182112"/>
            <a:ext cx="548640" cy="548640"/>
          </a:xfrm>
          <a:prstGeom prst="line">
            <a:avLst/>
          </a:prstGeom>
          <a:solidFill>
            <a:srgbClr val="B31A38"/>
          </a:solidFill>
          <a:ln/>
        </p:spPr>
        <p:txBody>
          <a:bodyPr/>
          <a:lstStyle/>
          <a:p>
            <a:endParaRPr lang="en-US"/>
          </a:p>
        </p:txBody>
      </p:sp>
      <p:pic>
        <p:nvPicPr>
          <p:cNvPr id="11" name="Image 1" descr="preencoded.png"/>
          <p:cNvPicPr>
            <a:picLocks noChangeAspect="1"/>
          </p:cNvPicPr>
          <p:nvPr/>
        </p:nvPicPr>
        <p:blipFill>
          <a:blip r:embed="rId3"/>
          <a:stretch>
            <a:fillRect/>
          </a:stretch>
        </p:blipFill>
        <p:spPr>
          <a:xfrm>
            <a:off x="892454" y="3324758"/>
            <a:ext cx="263347" cy="263347"/>
          </a:xfrm>
          <a:prstGeom prst="rect">
            <a:avLst/>
          </a:prstGeom>
        </p:spPr>
      </p:pic>
      <p:sp>
        <p:nvSpPr>
          <p:cNvPr id="12" name="Text 8"/>
          <p:cNvSpPr/>
          <p:nvPr/>
        </p:nvSpPr>
        <p:spPr>
          <a:xfrm>
            <a:off x="1508760" y="3108960"/>
            <a:ext cx="3200400" cy="694944"/>
          </a:xfrm>
          <a:prstGeom prst="rect">
            <a:avLst/>
          </a:prstGeom>
          <a:noFill/>
          <a:ln/>
        </p:spPr>
        <p:txBody>
          <a:bodyPr wrap="square" lIns="0" tIns="0" rIns="0" bIns="0" rtlCol="0" anchor="ctr"/>
          <a:lstStyle/>
          <a:p>
            <a:pPr marL="0" indent="0">
              <a:buNone/>
            </a:pPr>
            <a:r>
              <a:rPr lang="en-US" sz="1650" b="1" dirty="0">
                <a:solidFill>
                  <a:srgbClr val="B31A38"/>
                </a:solidFill>
                <a:latin typeface="Cambria" pitchFamily="34" charset="0"/>
                <a:ea typeface="Cambria" pitchFamily="34" charset="-122"/>
                <a:cs typeface="Cambria" pitchFamily="34" charset="-120"/>
              </a:rPr>
              <a:t>No spaces</a:t>
            </a:r>
            <a:endParaRPr lang="en-US" sz="1650" dirty="0"/>
          </a:p>
        </p:txBody>
      </p:sp>
      <p:sp>
        <p:nvSpPr>
          <p:cNvPr id="13" name="Text 9"/>
          <p:cNvSpPr/>
          <p:nvPr/>
        </p:nvSpPr>
        <p:spPr>
          <a:xfrm>
            <a:off x="4754880" y="3108960"/>
            <a:ext cx="6675120" cy="694944"/>
          </a:xfrm>
          <a:prstGeom prst="rect">
            <a:avLst/>
          </a:prstGeom>
          <a:noFill/>
          <a:ln/>
        </p:spPr>
        <p:txBody>
          <a:bodyPr wrap="square" lIns="0" tIns="0" rIns="0" bIns="0" rtlCol="0" anchor="ctr"/>
          <a:lstStyle/>
          <a:p>
            <a:pPr marL="0" indent="0">
              <a:buNone/>
            </a:pPr>
            <a:r>
              <a:rPr lang="en-US" sz="1400" dirty="0">
                <a:solidFill>
                  <a:srgbClr val="1B1F2A"/>
                </a:solidFill>
                <a:latin typeface="Calibri" pitchFamily="34" charset="0"/>
                <a:ea typeface="Calibri" pitchFamily="34" charset="-122"/>
                <a:cs typeface="Calibri" pitchFamily="34" charset="-120"/>
              </a:rPr>
              <a:t>Chinese, Japanese, Thai do not delimit words with spaces at all</a:t>
            </a:r>
            <a:endParaRPr lang="en-US" sz="1400" dirty="0"/>
          </a:p>
        </p:txBody>
      </p:sp>
      <p:sp>
        <p:nvSpPr>
          <p:cNvPr id="14" name="Shape 10"/>
          <p:cNvSpPr/>
          <p:nvPr/>
        </p:nvSpPr>
        <p:spPr>
          <a:xfrm>
            <a:off x="548640" y="4023360"/>
            <a:ext cx="11064240" cy="877824"/>
          </a:xfrm>
          <a:prstGeom prst="roundRect">
            <a:avLst>
              <a:gd name="adj" fmla="val 8333"/>
            </a:avLst>
          </a:prstGeom>
          <a:solidFill>
            <a:srgbClr val="F4F5F8"/>
          </a:solidFill>
          <a:ln/>
          <a:effectLst>
            <a:outerShdw blurRad="88900" dist="38100" dir="5400000" algn="bl" rotWithShape="0">
              <a:srgbClr val="000000">
                <a:alpha val="10000"/>
              </a:srgbClr>
            </a:outerShdw>
          </a:effectLst>
        </p:spPr>
        <p:txBody>
          <a:bodyPr/>
          <a:lstStyle/>
          <a:p>
            <a:endParaRPr lang="en-US"/>
          </a:p>
        </p:txBody>
      </p:sp>
      <p:sp>
        <p:nvSpPr>
          <p:cNvPr id="15" name="Shape 11"/>
          <p:cNvSpPr/>
          <p:nvPr/>
        </p:nvSpPr>
        <p:spPr>
          <a:xfrm>
            <a:off x="749808" y="4187952"/>
            <a:ext cx="548640" cy="548640"/>
          </a:xfrm>
          <a:prstGeom prst="line">
            <a:avLst/>
          </a:prstGeom>
          <a:solidFill>
            <a:srgbClr val="B5A06A"/>
          </a:solidFill>
          <a:ln/>
        </p:spPr>
        <p:txBody>
          <a:bodyPr/>
          <a:lstStyle/>
          <a:p>
            <a:endParaRPr lang="en-US"/>
          </a:p>
        </p:txBody>
      </p:sp>
      <p:pic>
        <p:nvPicPr>
          <p:cNvPr id="16" name="Image 2" descr="preencoded.png"/>
          <p:cNvPicPr>
            <a:picLocks noChangeAspect="1"/>
          </p:cNvPicPr>
          <p:nvPr/>
        </p:nvPicPr>
        <p:blipFill>
          <a:blip r:embed="rId3"/>
          <a:stretch>
            <a:fillRect/>
          </a:stretch>
        </p:blipFill>
        <p:spPr>
          <a:xfrm>
            <a:off x="892454" y="4330598"/>
            <a:ext cx="263347" cy="263347"/>
          </a:xfrm>
          <a:prstGeom prst="rect">
            <a:avLst/>
          </a:prstGeom>
        </p:spPr>
      </p:pic>
      <p:sp>
        <p:nvSpPr>
          <p:cNvPr id="17" name="Text 12"/>
          <p:cNvSpPr/>
          <p:nvPr/>
        </p:nvSpPr>
        <p:spPr>
          <a:xfrm>
            <a:off x="1508760" y="4114800"/>
            <a:ext cx="3200400" cy="694944"/>
          </a:xfrm>
          <a:prstGeom prst="rect">
            <a:avLst/>
          </a:prstGeom>
          <a:noFill/>
          <a:ln/>
        </p:spPr>
        <p:txBody>
          <a:bodyPr wrap="square" lIns="0" tIns="0" rIns="0" bIns="0" rtlCol="0" anchor="ctr"/>
          <a:lstStyle/>
          <a:p>
            <a:pPr marL="0" indent="0">
              <a:buNone/>
            </a:pPr>
            <a:r>
              <a:rPr lang="en-US" sz="1650" b="1" dirty="0">
                <a:solidFill>
                  <a:srgbClr val="B5A06A"/>
                </a:solidFill>
                <a:latin typeface="Cambria" pitchFamily="34" charset="0"/>
                <a:ea typeface="Cambria" pitchFamily="34" charset="-122"/>
                <a:cs typeface="Cambria" pitchFamily="34" charset="-120"/>
              </a:rPr>
              <a:t>Rich morphology</a:t>
            </a:r>
            <a:endParaRPr lang="en-US" sz="1650" dirty="0"/>
          </a:p>
        </p:txBody>
      </p:sp>
      <p:sp>
        <p:nvSpPr>
          <p:cNvPr id="18" name="Text 13"/>
          <p:cNvSpPr/>
          <p:nvPr/>
        </p:nvSpPr>
        <p:spPr>
          <a:xfrm>
            <a:off x="4754880" y="4114800"/>
            <a:ext cx="6675120" cy="694944"/>
          </a:xfrm>
          <a:prstGeom prst="rect">
            <a:avLst/>
          </a:prstGeom>
          <a:noFill/>
          <a:ln/>
        </p:spPr>
        <p:txBody>
          <a:bodyPr wrap="square" lIns="0" tIns="0" rIns="0" bIns="0" rtlCol="0" anchor="ctr"/>
          <a:lstStyle/>
          <a:p>
            <a:pPr marL="0" indent="0">
              <a:buNone/>
            </a:pPr>
            <a:r>
              <a:rPr lang="en-US" sz="1400" dirty="0">
                <a:solidFill>
                  <a:srgbClr val="1B1F2A"/>
                </a:solidFill>
                <a:latin typeface="Calibri" pitchFamily="34" charset="0"/>
                <a:ea typeface="Calibri" pitchFamily="34" charset="-122"/>
                <a:cs typeface="Calibri" pitchFamily="34" charset="-120"/>
              </a:rPr>
              <a:t>Turkish and Finnish pack a sentence into one long word</a:t>
            </a:r>
            <a:endParaRPr lang="en-US" sz="1400" dirty="0"/>
          </a:p>
        </p:txBody>
      </p:sp>
      <p:sp>
        <p:nvSpPr>
          <p:cNvPr id="19" name="Shape 14"/>
          <p:cNvSpPr/>
          <p:nvPr/>
        </p:nvSpPr>
        <p:spPr>
          <a:xfrm>
            <a:off x="548640" y="5029200"/>
            <a:ext cx="11064240" cy="877824"/>
          </a:xfrm>
          <a:prstGeom prst="roundRect">
            <a:avLst>
              <a:gd name="adj" fmla="val 8333"/>
            </a:avLst>
          </a:prstGeom>
          <a:solidFill>
            <a:srgbClr val="FFFFFF"/>
          </a:solidFill>
          <a:ln/>
          <a:effectLst>
            <a:outerShdw blurRad="88900" dist="38100" dir="5400000" algn="bl" rotWithShape="0">
              <a:srgbClr val="000000">
                <a:alpha val="10000"/>
              </a:srgbClr>
            </a:outerShdw>
          </a:effectLst>
        </p:spPr>
        <p:txBody>
          <a:bodyPr/>
          <a:lstStyle/>
          <a:p>
            <a:endParaRPr lang="en-US"/>
          </a:p>
        </p:txBody>
      </p:sp>
      <p:sp>
        <p:nvSpPr>
          <p:cNvPr id="20" name="Shape 15"/>
          <p:cNvSpPr/>
          <p:nvPr/>
        </p:nvSpPr>
        <p:spPr>
          <a:xfrm>
            <a:off x="749808" y="5193792"/>
            <a:ext cx="548640" cy="548640"/>
          </a:xfrm>
          <a:prstGeom prst="line">
            <a:avLst/>
          </a:prstGeom>
          <a:solidFill>
            <a:srgbClr val="B31A38"/>
          </a:solidFill>
          <a:ln/>
        </p:spPr>
        <p:txBody>
          <a:bodyPr/>
          <a:lstStyle/>
          <a:p>
            <a:endParaRPr lang="en-US"/>
          </a:p>
        </p:txBody>
      </p:sp>
      <p:pic>
        <p:nvPicPr>
          <p:cNvPr id="21" name="Image 3" descr="preencoded.png"/>
          <p:cNvPicPr>
            <a:picLocks noChangeAspect="1"/>
          </p:cNvPicPr>
          <p:nvPr/>
        </p:nvPicPr>
        <p:blipFill>
          <a:blip r:embed="rId3"/>
          <a:stretch>
            <a:fillRect/>
          </a:stretch>
        </p:blipFill>
        <p:spPr>
          <a:xfrm>
            <a:off x="892454" y="5336438"/>
            <a:ext cx="263347" cy="263347"/>
          </a:xfrm>
          <a:prstGeom prst="rect">
            <a:avLst/>
          </a:prstGeom>
        </p:spPr>
      </p:pic>
      <p:sp>
        <p:nvSpPr>
          <p:cNvPr id="22" name="Text 16"/>
          <p:cNvSpPr/>
          <p:nvPr/>
        </p:nvSpPr>
        <p:spPr>
          <a:xfrm>
            <a:off x="1508760" y="5120640"/>
            <a:ext cx="3200400" cy="694944"/>
          </a:xfrm>
          <a:prstGeom prst="rect">
            <a:avLst/>
          </a:prstGeom>
          <a:noFill/>
          <a:ln/>
        </p:spPr>
        <p:txBody>
          <a:bodyPr wrap="square" lIns="0" tIns="0" rIns="0" bIns="0" rtlCol="0" anchor="ctr"/>
          <a:lstStyle/>
          <a:p>
            <a:pPr marL="0" indent="0">
              <a:buNone/>
            </a:pPr>
            <a:r>
              <a:rPr lang="en-US" sz="1650" b="1" dirty="0">
                <a:solidFill>
                  <a:srgbClr val="B31A38"/>
                </a:solidFill>
                <a:latin typeface="Cambria" pitchFamily="34" charset="0"/>
                <a:ea typeface="Cambria" pitchFamily="34" charset="-122"/>
                <a:cs typeface="Cambria" pitchFamily="34" charset="-120"/>
              </a:rPr>
              <a:t>The token tax</a:t>
            </a:r>
            <a:endParaRPr lang="en-US" sz="1650" dirty="0"/>
          </a:p>
        </p:txBody>
      </p:sp>
      <p:sp>
        <p:nvSpPr>
          <p:cNvPr id="23" name="Text 17"/>
          <p:cNvSpPr/>
          <p:nvPr/>
        </p:nvSpPr>
        <p:spPr>
          <a:xfrm>
            <a:off x="4754880" y="5120640"/>
            <a:ext cx="6675120" cy="694944"/>
          </a:xfrm>
          <a:prstGeom prst="rect">
            <a:avLst/>
          </a:prstGeom>
          <a:noFill/>
          <a:ln/>
        </p:spPr>
        <p:txBody>
          <a:bodyPr wrap="square" lIns="0" tIns="0" rIns="0" bIns="0" rtlCol="0" anchor="ctr"/>
          <a:lstStyle/>
          <a:p>
            <a:pPr marL="0" indent="0">
              <a:buNone/>
            </a:pPr>
            <a:r>
              <a:rPr lang="en-US" sz="1400" dirty="0">
                <a:solidFill>
                  <a:srgbClr val="1B1F2A"/>
                </a:solidFill>
                <a:latin typeface="Calibri" pitchFamily="34" charset="0"/>
                <a:ea typeface="Calibri" pitchFamily="34" charset="-122"/>
                <a:cs typeface="Calibri" pitchFamily="34" charset="-120"/>
              </a:rPr>
              <a:t>Non-English text costs more tokens, money, and context</a:t>
            </a:r>
            <a:endParaRPr lang="en-US" sz="1400" dirty="0"/>
          </a:p>
        </p:txBody>
      </p:sp>
      <p:sp>
        <p:nvSpPr>
          <p:cNvPr id="24" name="Text 18"/>
          <p:cNvSpPr/>
          <p:nvPr/>
        </p:nvSpPr>
        <p:spPr>
          <a:xfrm>
            <a:off x="457200" y="6437376"/>
            <a:ext cx="9601200" cy="274320"/>
          </a:xfrm>
          <a:prstGeom prst="rect">
            <a:avLst/>
          </a:prstGeom>
          <a:noFill/>
          <a:ln/>
        </p:spPr>
        <p:txBody>
          <a:bodyPr wrap="square" lIns="0" tIns="0" rIns="0" bIns="0" rtlCol="0" anchor="ctr"/>
          <a:lstStyle/>
          <a:p>
            <a:pPr marL="0" indent="0" algn="l">
              <a:buNone/>
            </a:pPr>
            <a:r>
              <a:rPr lang="en-US" sz="900" dirty="0">
                <a:solidFill>
                  <a:srgbClr val="5B6172"/>
                </a:solidFill>
                <a:latin typeface="Calibri" pitchFamily="34" charset="0"/>
                <a:ea typeface="Calibri" pitchFamily="34" charset="-122"/>
                <a:cs typeface="Calibri" pitchFamily="34" charset="-120"/>
              </a:rPr>
              <a:t>ISBA 2411 · Natural Language Processing &amp; AI · Summer 2026</a:t>
            </a:r>
            <a:endParaRPr lang="en-US" sz="900" dirty="0"/>
          </a:p>
        </p:txBody>
      </p:sp>
      <p:sp>
        <p:nvSpPr>
          <p:cNvPr id="25" name="Text 19"/>
          <p:cNvSpPr/>
          <p:nvPr/>
        </p:nvSpPr>
        <p:spPr>
          <a:xfrm>
            <a:off x="11338560" y="6437376"/>
            <a:ext cx="365760" cy="274320"/>
          </a:xfrm>
          <a:prstGeom prst="rect">
            <a:avLst/>
          </a:prstGeom>
          <a:noFill/>
          <a:ln/>
        </p:spPr>
        <p:txBody>
          <a:bodyPr wrap="square" lIns="0" tIns="0" rIns="0" bIns="0" rtlCol="0" anchor="ctr"/>
          <a:lstStyle/>
          <a:p>
            <a:pPr marL="0" indent="0" algn="r">
              <a:buNone/>
            </a:pPr>
            <a:r>
              <a:rPr lang="en-US" sz="900" dirty="0">
                <a:solidFill>
                  <a:srgbClr val="5B6172"/>
                </a:solidFill>
                <a:latin typeface="Calibri" pitchFamily="34" charset="0"/>
                <a:ea typeface="Calibri" pitchFamily="34" charset="-122"/>
                <a:cs typeface="Calibri" pitchFamily="34" charset="-120"/>
              </a:rPr>
              <a:t>7</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6">
    <p:bg>
      <p:bgPr>
        <a:solidFill>
          <a:srgbClr val="151A2E"/>
        </a:solidFill>
        <a:effectLst/>
      </p:bgPr>
    </p:bg>
    <p:spTree>
      <p:nvGrpSpPr>
        <p:cNvPr id="1" name=""/>
        <p:cNvGrpSpPr/>
        <p:nvPr/>
      </p:nvGrpSpPr>
      <p:grpSpPr>
        <a:xfrm>
          <a:off x="0" y="0"/>
          <a:ext cx="0" cy="0"/>
          <a:chOff x="0" y="0"/>
          <a:chExt cx="0" cy="0"/>
        </a:xfrm>
      </p:grpSpPr>
      <p:sp>
        <p:nvSpPr>
          <p:cNvPr id="2" name="Shape 0"/>
          <p:cNvSpPr/>
          <p:nvPr/>
        </p:nvSpPr>
        <p:spPr>
          <a:xfrm>
            <a:off x="640080" y="548640"/>
            <a:ext cx="1005840" cy="1005840"/>
          </a:xfrm>
          <a:prstGeom prst="line">
            <a:avLst/>
          </a:prstGeom>
          <a:solidFill>
            <a:srgbClr val="B31A38"/>
          </a:solidFill>
          <a:ln/>
        </p:spPr>
        <p:txBody>
          <a:bodyPr/>
          <a:lstStyle/>
          <a:p>
            <a:endParaRPr lang="en-US"/>
          </a:p>
        </p:txBody>
      </p:sp>
      <p:pic>
        <p:nvPicPr>
          <p:cNvPr id="3" name="Image 0" descr="preencoded.png"/>
          <p:cNvPicPr>
            <a:picLocks noChangeAspect="1"/>
          </p:cNvPicPr>
          <p:nvPr/>
        </p:nvPicPr>
        <p:blipFill>
          <a:blip r:embed="rId2"/>
          <a:stretch>
            <a:fillRect/>
          </a:stretch>
        </p:blipFill>
        <p:spPr>
          <a:xfrm>
            <a:off x="901598" y="810158"/>
            <a:ext cx="482803" cy="482803"/>
          </a:xfrm>
          <a:prstGeom prst="rect">
            <a:avLst/>
          </a:prstGeom>
        </p:spPr>
      </p:pic>
      <p:sp>
        <p:nvSpPr>
          <p:cNvPr id="4" name="Text 1"/>
          <p:cNvSpPr/>
          <p:nvPr/>
        </p:nvSpPr>
        <p:spPr>
          <a:xfrm>
            <a:off x="1828800" y="566928"/>
            <a:ext cx="8229600" cy="365760"/>
          </a:xfrm>
          <a:prstGeom prst="rect">
            <a:avLst/>
          </a:prstGeom>
          <a:noFill/>
          <a:ln/>
        </p:spPr>
        <p:txBody>
          <a:bodyPr wrap="square" rtlCol="0" anchor="ctr"/>
          <a:lstStyle/>
          <a:p>
            <a:pPr marL="0" indent="0">
              <a:buNone/>
            </a:pPr>
            <a:r>
              <a:rPr lang="en-US" sz="1400" b="1" kern="0" spc="200" dirty="0">
                <a:solidFill>
                  <a:srgbClr val="B5A06A"/>
                </a:solidFill>
                <a:latin typeface="Calibri" pitchFamily="34" charset="0"/>
                <a:ea typeface="Calibri" pitchFamily="34" charset="-122"/>
                <a:cs typeface="Calibri" pitchFamily="34" charset="-120"/>
              </a:rPr>
              <a:t>IN-CLASS EXERCISE 2</a:t>
            </a:r>
            <a:endParaRPr lang="en-US" sz="1400" dirty="0"/>
          </a:p>
        </p:txBody>
      </p:sp>
      <p:sp>
        <p:nvSpPr>
          <p:cNvPr id="5" name="Text 2"/>
          <p:cNvSpPr/>
          <p:nvPr/>
        </p:nvSpPr>
        <p:spPr>
          <a:xfrm>
            <a:off x="1828800" y="914400"/>
            <a:ext cx="10058400" cy="640080"/>
          </a:xfrm>
          <a:prstGeom prst="rect">
            <a:avLst/>
          </a:prstGeom>
          <a:noFill/>
          <a:ln/>
        </p:spPr>
        <p:txBody>
          <a:bodyPr wrap="square" rtlCol="0" anchor="ctr"/>
          <a:lstStyle/>
          <a:p>
            <a:pPr marL="0" indent="0">
              <a:buNone/>
            </a:pPr>
            <a:r>
              <a:rPr lang="en-US" sz="3000" b="1" dirty="0">
                <a:solidFill>
                  <a:srgbClr val="FFFFFF"/>
                </a:solidFill>
                <a:latin typeface="Cambria" pitchFamily="34" charset="0"/>
                <a:ea typeface="Cambria" pitchFamily="34" charset="-122"/>
                <a:cs typeface="Cambria" pitchFamily="34" charset="-120"/>
              </a:rPr>
              <a:t>Measure the token tax</a:t>
            </a:r>
            <a:endParaRPr lang="en-US" sz="3000" dirty="0"/>
          </a:p>
        </p:txBody>
      </p:sp>
      <p:sp>
        <p:nvSpPr>
          <p:cNvPr id="6" name="Text 3"/>
          <p:cNvSpPr/>
          <p:nvPr/>
        </p:nvSpPr>
        <p:spPr>
          <a:xfrm>
            <a:off x="1828800" y="1554480"/>
            <a:ext cx="10058400" cy="365760"/>
          </a:xfrm>
          <a:prstGeom prst="rect">
            <a:avLst/>
          </a:prstGeom>
          <a:noFill/>
          <a:ln/>
        </p:spPr>
        <p:txBody>
          <a:bodyPr wrap="square" rtlCol="0" anchor="ctr"/>
          <a:lstStyle/>
          <a:p>
            <a:pPr marL="0" indent="0">
              <a:buNone/>
            </a:pPr>
            <a:r>
              <a:rPr lang="en-US" sz="1400" i="1" dirty="0">
                <a:solidFill>
                  <a:srgbClr val="C9CDDA"/>
                </a:solidFill>
                <a:latin typeface="Calibri" pitchFamily="34" charset="0"/>
                <a:ea typeface="Calibri" pitchFamily="34" charset="-122"/>
                <a:cs typeface="Calibri" pitchFamily="34" charset="-120"/>
              </a:rPr>
              <a:t>Colab with multilingual BERT, no API key   ·   ~12 minutes   ·   pairs   ·   ex4_token_tax.ipynb</a:t>
            </a:r>
            <a:endParaRPr lang="en-US" sz="1400" dirty="0"/>
          </a:p>
        </p:txBody>
      </p:sp>
      <p:sp>
        <p:nvSpPr>
          <p:cNvPr id="7" name="Shape 4"/>
          <p:cNvSpPr/>
          <p:nvPr/>
        </p:nvSpPr>
        <p:spPr>
          <a:xfrm>
            <a:off x="640080" y="2194560"/>
            <a:ext cx="6766560" cy="3703320"/>
          </a:xfrm>
          <a:prstGeom prst="roundRect">
            <a:avLst>
              <a:gd name="adj" fmla="val 1975"/>
            </a:avLst>
          </a:prstGeom>
          <a:solidFill>
            <a:srgbClr val="1F2540"/>
          </a:solidFill>
          <a:ln/>
          <a:effectLst>
            <a:outerShdw blurRad="88900" dist="38100" dir="5400000" algn="bl" rotWithShape="0">
              <a:srgbClr val="000000">
                <a:alpha val="10000"/>
              </a:srgbClr>
            </a:outerShdw>
          </a:effectLst>
        </p:spPr>
        <p:txBody>
          <a:bodyPr/>
          <a:lstStyle/>
          <a:p>
            <a:endParaRPr lang="en-US"/>
          </a:p>
        </p:txBody>
      </p:sp>
      <p:sp>
        <p:nvSpPr>
          <p:cNvPr id="8" name="Text 5"/>
          <p:cNvSpPr/>
          <p:nvPr/>
        </p:nvSpPr>
        <p:spPr>
          <a:xfrm>
            <a:off x="868680" y="2377440"/>
            <a:ext cx="6217920" cy="365760"/>
          </a:xfrm>
          <a:prstGeom prst="rect">
            <a:avLst/>
          </a:prstGeom>
          <a:noFill/>
          <a:ln/>
        </p:spPr>
        <p:txBody>
          <a:bodyPr wrap="square" lIns="0" tIns="0" rIns="0" bIns="0" rtlCol="0" anchor="ctr"/>
          <a:lstStyle/>
          <a:p>
            <a:pPr marL="0" indent="0">
              <a:buNone/>
            </a:pPr>
            <a:r>
              <a:rPr lang="en-US" sz="1400" b="1" dirty="0">
                <a:solidFill>
                  <a:srgbClr val="B5A06A"/>
                </a:solidFill>
                <a:latin typeface="Calibri" pitchFamily="34" charset="0"/>
                <a:ea typeface="Calibri" pitchFamily="34" charset="-122"/>
                <a:cs typeface="Calibri" pitchFamily="34" charset="-120"/>
              </a:rPr>
              <a:t>Your task</a:t>
            </a:r>
            <a:endParaRPr lang="en-US" sz="1400" dirty="0"/>
          </a:p>
        </p:txBody>
      </p:sp>
      <p:sp>
        <p:nvSpPr>
          <p:cNvPr id="9" name="Text 6"/>
          <p:cNvSpPr/>
          <p:nvPr/>
        </p:nvSpPr>
        <p:spPr>
          <a:xfrm>
            <a:off x="914400" y="2788920"/>
            <a:ext cx="6309360" cy="2926080"/>
          </a:xfrm>
          <a:prstGeom prst="rect">
            <a:avLst/>
          </a:prstGeom>
          <a:noFill/>
          <a:ln/>
        </p:spPr>
        <p:txBody>
          <a:bodyPr wrap="square" rtlCol="0" anchor="t"/>
          <a:lstStyle/>
          <a:p>
            <a:pPr marL="342900" indent="-342900">
              <a:spcAft>
                <a:spcPts val="1000"/>
              </a:spcAft>
              <a:buSzPct val="100000"/>
              <a:buChar char="•"/>
            </a:pPr>
            <a:r>
              <a:rPr lang="en-US" sz="1400" dirty="0">
                <a:solidFill>
                  <a:srgbClr val="E4E6EF"/>
                </a:solidFill>
                <a:latin typeface="Calibri" pitchFamily="34" charset="0"/>
                <a:ea typeface="Calibri" pitchFamily="34" charset="-122"/>
                <a:cs typeface="Calibri" pitchFamily="34" charset="-120"/>
              </a:rPr>
              <a:t>Take one sentence with the same meaning in four languages</a:t>
            </a:r>
            <a:endParaRPr lang="en-US" sz="1400" dirty="0"/>
          </a:p>
          <a:p>
            <a:pPr marL="342900" indent="-342900">
              <a:spcAft>
                <a:spcPts val="1000"/>
              </a:spcAft>
              <a:buSzPct val="100000"/>
              <a:buChar char="•"/>
            </a:pPr>
            <a:r>
              <a:rPr lang="en-US" sz="1400" dirty="0">
                <a:solidFill>
                  <a:srgbClr val="E4E6EF"/>
                </a:solidFill>
                <a:latin typeface="Calibri" pitchFamily="34" charset="0"/>
                <a:ea typeface="Calibri" pitchFamily="34" charset="-122"/>
                <a:cs typeface="Calibri" pitchFamily="34" charset="-120"/>
              </a:rPr>
              <a:t>Tokenize each with the same multilingual tokenizer</a:t>
            </a:r>
            <a:endParaRPr lang="en-US" sz="1400" dirty="0"/>
          </a:p>
          <a:p>
            <a:pPr marL="342900" indent="-342900">
              <a:spcAft>
                <a:spcPts val="1000"/>
              </a:spcAft>
              <a:buSzPct val="100000"/>
              <a:buChar char="•"/>
            </a:pPr>
            <a:r>
              <a:rPr lang="en-US" sz="1400" dirty="0">
                <a:solidFill>
                  <a:srgbClr val="E4E6EF"/>
                </a:solidFill>
                <a:latin typeface="Calibri" pitchFamily="34" charset="0"/>
                <a:ea typeface="Calibri" pitchFamily="34" charset="-122"/>
                <a:cs typeface="Calibri" pitchFamily="34" charset="-120"/>
              </a:rPr>
              <a:t>Record the token count per language</a:t>
            </a:r>
            <a:endParaRPr lang="en-US" sz="1400" dirty="0"/>
          </a:p>
          <a:p>
            <a:pPr marL="342900" indent="-342900">
              <a:spcAft>
                <a:spcPts val="1000"/>
              </a:spcAft>
              <a:buSzPct val="100000"/>
              <a:buChar char="•"/>
            </a:pPr>
            <a:r>
              <a:rPr lang="en-US" sz="1400" dirty="0">
                <a:solidFill>
                  <a:srgbClr val="E4E6EF"/>
                </a:solidFill>
                <a:latin typeface="Calibri" pitchFamily="34" charset="0"/>
                <a:ea typeface="Calibri" pitchFamily="34" charset="-122"/>
                <a:cs typeface="Calibri" pitchFamily="34" charset="-120"/>
              </a:rPr>
              <a:t>Compute the cost ratio against English as the baseline</a:t>
            </a:r>
            <a:endParaRPr lang="en-US" sz="1400" dirty="0"/>
          </a:p>
        </p:txBody>
      </p:sp>
      <p:sp>
        <p:nvSpPr>
          <p:cNvPr id="10" name="Shape 7"/>
          <p:cNvSpPr/>
          <p:nvPr/>
        </p:nvSpPr>
        <p:spPr>
          <a:xfrm>
            <a:off x="7635240" y="2194560"/>
            <a:ext cx="3977640" cy="3703320"/>
          </a:xfrm>
          <a:prstGeom prst="roundRect">
            <a:avLst>
              <a:gd name="adj" fmla="val 1975"/>
            </a:avLst>
          </a:prstGeom>
          <a:solidFill>
            <a:srgbClr val="1F2540"/>
          </a:solidFill>
          <a:ln/>
          <a:effectLst>
            <a:outerShdw blurRad="88900" dist="38100" dir="5400000" algn="bl" rotWithShape="0">
              <a:srgbClr val="000000">
                <a:alpha val="10000"/>
              </a:srgbClr>
            </a:outerShdw>
          </a:effectLst>
        </p:spPr>
        <p:txBody>
          <a:bodyPr/>
          <a:lstStyle/>
          <a:p>
            <a:endParaRPr lang="en-US"/>
          </a:p>
        </p:txBody>
      </p:sp>
      <p:sp>
        <p:nvSpPr>
          <p:cNvPr id="11" name="Text 8"/>
          <p:cNvSpPr/>
          <p:nvPr/>
        </p:nvSpPr>
        <p:spPr>
          <a:xfrm>
            <a:off x="7863840" y="2377440"/>
            <a:ext cx="3566160" cy="365760"/>
          </a:xfrm>
          <a:prstGeom prst="rect">
            <a:avLst/>
          </a:prstGeom>
          <a:noFill/>
          <a:ln/>
        </p:spPr>
        <p:txBody>
          <a:bodyPr wrap="square" lIns="0" tIns="0" rIns="0" bIns="0" rtlCol="0" anchor="ctr"/>
          <a:lstStyle/>
          <a:p>
            <a:pPr marL="0" indent="0">
              <a:buNone/>
            </a:pPr>
            <a:r>
              <a:rPr lang="en-US" sz="1400" b="1" dirty="0">
                <a:solidFill>
                  <a:srgbClr val="B5A06A"/>
                </a:solidFill>
                <a:latin typeface="Calibri" pitchFamily="34" charset="0"/>
                <a:ea typeface="Calibri" pitchFamily="34" charset="-122"/>
                <a:cs typeface="Calibri" pitchFamily="34" charset="-120"/>
              </a:rPr>
              <a:t>Bring back an answer to</a:t>
            </a:r>
            <a:endParaRPr lang="en-US" sz="1400" dirty="0"/>
          </a:p>
        </p:txBody>
      </p:sp>
      <p:sp>
        <p:nvSpPr>
          <p:cNvPr id="12" name="Text 9"/>
          <p:cNvSpPr/>
          <p:nvPr/>
        </p:nvSpPr>
        <p:spPr>
          <a:xfrm>
            <a:off x="7909560" y="2788920"/>
            <a:ext cx="3566160" cy="2926080"/>
          </a:xfrm>
          <a:prstGeom prst="rect">
            <a:avLst/>
          </a:prstGeom>
          <a:noFill/>
          <a:ln/>
        </p:spPr>
        <p:txBody>
          <a:bodyPr wrap="square" rtlCol="0" anchor="t"/>
          <a:lstStyle/>
          <a:p>
            <a:pPr marL="342900" indent="-342900">
              <a:spcAft>
                <a:spcPts val="1200"/>
              </a:spcAft>
              <a:buSzPct val="100000"/>
              <a:buChar char="•"/>
            </a:pPr>
            <a:r>
              <a:rPr lang="en-US" sz="1350" dirty="0">
                <a:solidFill>
                  <a:srgbClr val="E4E6EF"/>
                </a:solidFill>
                <a:latin typeface="Calibri" pitchFamily="34" charset="0"/>
                <a:ea typeface="Calibri" pitchFamily="34" charset="-122"/>
                <a:cs typeface="Calibri" pitchFamily="34" charset="-120"/>
              </a:rPr>
              <a:t>Which language paid the highest token tax?</a:t>
            </a:r>
            <a:endParaRPr lang="en-US" sz="1350" dirty="0"/>
          </a:p>
          <a:p>
            <a:pPr marL="342900" indent="-342900">
              <a:spcAft>
                <a:spcPts val="1200"/>
              </a:spcAft>
              <a:buSzPct val="100000"/>
              <a:buChar char="•"/>
            </a:pPr>
            <a:r>
              <a:rPr lang="en-US" sz="1350" dirty="0">
                <a:solidFill>
                  <a:srgbClr val="E4E6EF"/>
                </a:solidFill>
                <a:latin typeface="Calibri" pitchFamily="34" charset="0"/>
                <a:ea typeface="Calibri" pitchFamily="34" charset="-122"/>
                <a:cs typeface="Calibri" pitchFamily="34" charset="-120"/>
              </a:rPr>
              <a:t>If you charged a flat price, who subsidizes whom?</a:t>
            </a:r>
            <a:endParaRPr lang="en-US" sz="1350" dirty="0"/>
          </a:p>
          <a:p>
            <a:pPr marL="342900" indent="-342900">
              <a:spcAft>
                <a:spcPts val="1200"/>
              </a:spcAft>
              <a:buSzPct val="100000"/>
              <a:buChar char="•"/>
            </a:pPr>
            <a:r>
              <a:rPr lang="en-US" sz="1350" dirty="0">
                <a:solidFill>
                  <a:srgbClr val="E4E6EF"/>
                </a:solidFill>
                <a:latin typeface="Calibri" pitchFamily="34" charset="0"/>
                <a:ea typeface="Calibri" pitchFamily="34" charset="-122"/>
                <a:cs typeface="Calibri" pitchFamily="34" charset="-120"/>
              </a:rPr>
              <a:t>One concrete fix you would propose</a:t>
            </a:r>
            <a:endParaRPr lang="en-US" sz="1350" dirty="0"/>
          </a:p>
        </p:txBody>
      </p:sp>
      <p:sp>
        <p:nvSpPr>
          <p:cNvPr id="13" name="Text 10"/>
          <p:cNvSpPr/>
          <p:nvPr/>
        </p:nvSpPr>
        <p:spPr>
          <a:xfrm>
            <a:off x="640080" y="6355080"/>
            <a:ext cx="10058400" cy="274320"/>
          </a:xfrm>
          <a:prstGeom prst="rect">
            <a:avLst/>
          </a:prstGeom>
          <a:noFill/>
          <a:ln/>
        </p:spPr>
        <p:txBody>
          <a:bodyPr wrap="square" rtlCol="0" anchor="ctr"/>
          <a:lstStyle/>
          <a:p>
            <a:pPr marL="0" indent="0">
              <a:buNone/>
            </a:pPr>
            <a:r>
              <a:rPr lang="en-US" sz="1000" dirty="0">
                <a:solidFill>
                  <a:srgbClr val="8A90A2"/>
                </a:solidFill>
                <a:latin typeface="Calibri" pitchFamily="34" charset="0"/>
                <a:ea typeface="Calibri" pitchFamily="34" charset="-122"/>
                <a:cs typeface="Calibri" pitchFamily="34" charset="-120"/>
              </a:rPr>
              <a:t>ISBA 2411 · Natural Language Processing &amp; AI · Summer 2026</a:t>
            </a:r>
            <a:endParaRPr lang="en-US" sz="10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548640" y="384048"/>
            <a:ext cx="10972800" cy="320040"/>
          </a:xfrm>
          <a:prstGeom prst="rect">
            <a:avLst/>
          </a:prstGeom>
          <a:noFill/>
          <a:ln/>
        </p:spPr>
        <p:txBody>
          <a:bodyPr wrap="square" lIns="0" tIns="0" rIns="0" bIns="0" rtlCol="0" anchor="ctr"/>
          <a:lstStyle/>
          <a:p>
            <a:pPr marL="0" indent="0">
              <a:buNone/>
            </a:pPr>
            <a:r>
              <a:rPr lang="en-US" sz="1300" b="1" kern="0" spc="200" dirty="0">
                <a:solidFill>
                  <a:srgbClr val="B31A38"/>
                </a:solidFill>
                <a:latin typeface="Calibri" pitchFamily="34" charset="0"/>
                <a:ea typeface="Calibri" pitchFamily="34" charset="-122"/>
                <a:cs typeface="Calibri" pitchFamily="34" charset="-120"/>
              </a:rPr>
              <a:t>WHERE THIS LEADS</a:t>
            </a:r>
            <a:endParaRPr lang="en-US" sz="1300" dirty="0"/>
          </a:p>
        </p:txBody>
      </p:sp>
      <p:sp>
        <p:nvSpPr>
          <p:cNvPr id="3" name="Text 1"/>
          <p:cNvSpPr/>
          <p:nvPr/>
        </p:nvSpPr>
        <p:spPr>
          <a:xfrm>
            <a:off x="548640" y="676656"/>
            <a:ext cx="11064240" cy="777240"/>
          </a:xfrm>
          <a:prstGeom prst="rect">
            <a:avLst/>
          </a:prstGeom>
          <a:noFill/>
          <a:ln/>
        </p:spPr>
        <p:txBody>
          <a:bodyPr wrap="square" lIns="0" tIns="0" rIns="0" bIns="0" rtlCol="0" anchor="ctr"/>
          <a:lstStyle/>
          <a:p>
            <a:pPr marL="0" indent="0">
              <a:buNone/>
            </a:pPr>
            <a:r>
              <a:rPr lang="en-US" sz="3000" b="1" dirty="0">
                <a:solidFill>
                  <a:srgbClr val="151A2E"/>
                </a:solidFill>
                <a:latin typeface="Cambria" pitchFamily="34" charset="0"/>
                <a:ea typeface="Cambria" pitchFamily="34" charset="-122"/>
                <a:cs typeface="Cambria" pitchFamily="34" charset="-120"/>
              </a:rPr>
              <a:t>Attention echoes the arcs you drew</a:t>
            </a:r>
            <a:endParaRPr lang="en-US" sz="3000" dirty="0"/>
          </a:p>
        </p:txBody>
      </p:sp>
      <p:sp>
        <p:nvSpPr>
          <p:cNvPr id="4" name="Text 2"/>
          <p:cNvSpPr/>
          <p:nvPr/>
        </p:nvSpPr>
        <p:spPr>
          <a:xfrm>
            <a:off x="548640" y="1600200"/>
            <a:ext cx="11064240" cy="640080"/>
          </a:xfrm>
          <a:prstGeom prst="rect">
            <a:avLst/>
          </a:prstGeom>
          <a:noFill/>
          <a:ln/>
        </p:spPr>
        <p:txBody>
          <a:bodyPr wrap="square" rtlCol="0" anchor="ctr"/>
          <a:lstStyle/>
          <a:p>
            <a:pPr marL="0" indent="0">
              <a:buNone/>
            </a:pPr>
            <a:r>
              <a:rPr lang="en-US" sz="1550" i="1" dirty="0">
                <a:solidFill>
                  <a:srgbClr val="1B1F2A"/>
                </a:solidFill>
                <a:latin typeface="Calibri" pitchFamily="34" charset="0"/>
                <a:ea typeface="Calibri" pitchFamily="34" charset="-122"/>
                <a:cs typeface="Calibri" pitchFamily="34" charset="-120"/>
              </a:rPr>
              <a:t>Earlier today you drew dependency arcs by hand, each word linked to its head. A transformer learns something similar on its own: soft, weighted links across every pair of words. That mechanism is attention, and it is what runs modern NLP.</a:t>
            </a:r>
            <a:endParaRPr lang="en-US" sz="1550" dirty="0"/>
          </a:p>
        </p:txBody>
      </p:sp>
      <p:sp>
        <p:nvSpPr>
          <p:cNvPr id="5" name="Shape 3"/>
          <p:cNvSpPr/>
          <p:nvPr/>
        </p:nvSpPr>
        <p:spPr>
          <a:xfrm>
            <a:off x="548640" y="2377440"/>
            <a:ext cx="5440680" cy="3429000"/>
          </a:xfrm>
          <a:prstGeom prst="roundRect">
            <a:avLst>
              <a:gd name="adj" fmla="val 2133"/>
            </a:avLst>
          </a:prstGeom>
          <a:solidFill>
            <a:srgbClr val="FFFFFF"/>
          </a:solidFill>
          <a:ln/>
          <a:effectLst>
            <a:outerShdw blurRad="88900" dist="38100" dir="5400000" algn="bl" rotWithShape="0">
              <a:srgbClr val="000000">
                <a:alpha val="10000"/>
              </a:srgbClr>
            </a:outerShdw>
          </a:effectLst>
        </p:spPr>
        <p:txBody>
          <a:bodyPr/>
          <a:lstStyle/>
          <a:p>
            <a:endParaRPr lang="en-US"/>
          </a:p>
        </p:txBody>
      </p:sp>
      <p:sp>
        <p:nvSpPr>
          <p:cNvPr id="6" name="Shape 4"/>
          <p:cNvSpPr/>
          <p:nvPr/>
        </p:nvSpPr>
        <p:spPr>
          <a:xfrm>
            <a:off x="822960" y="2606040"/>
            <a:ext cx="685800" cy="685800"/>
          </a:xfrm>
          <a:prstGeom prst="line">
            <a:avLst/>
          </a:prstGeom>
          <a:solidFill>
            <a:srgbClr val="151A2E"/>
          </a:solidFill>
          <a:ln/>
        </p:spPr>
        <p:txBody>
          <a:bodyPr/>
          <a:lstStyle/>
          <a:p>
            <a:endParaRPr lang="en-US"/>
          </a:p>
        </p:txBody>
      </p:sp>
      <p:pic>
        <p:nvPicPr>
          <p:cNvPr id="7" name="Image 0" descr="preencoded.png"/>
          <p:cNvPicPr>
            <a:picLocks noChangeAspect="1"/>
          </p:cNvPicPr>
          <p:nvPr/>
        </p:nvPicPr>
        <p:blipFill>
          <a:blip r:embed="rId2"/>
          <a:stretch>
            <a:fillRect/>
          </a:stretch>
        </p:blipFill>
        <p:spPr>
          <a:xfrm>
            <a:off x="1001268" y="2784348"/>
            <a:ext cx="329184" cy="329184"/>
          </a:xfrm>
          <a:prstGeom prst="rect">
            <a:avLst/>
          </a:prstGeom>
        </p:spPr>
      </p:pic>
      <p:sp>
        <p:nvSpPr>
          <p:cNvPr id="8" name="Text 5"/>
          <p:cNvSpPr/>
          <p:nvPr/>
        </p:nvSpPr>
        <p:spPr>
          <a:xfrm>
            <a:off x="1645920" y="2651760"/>
            <a:ext cx="4206240" cy="548640"/>
          </a:xfrm>
          <a:prstGeom prst="rect">
            <a:avLst/>
          </a:prstGeom>
          <a:noFill/>
          <a:ln/>
        </p:spPr>
        <p:txBody>
          <a:bodyPr wrap="square" lIns="0" tIns="0" rIns="0" bIns="0" rtlCol="0" anchor="ctr"/>
          <a:lstStyle/>
          <a:p>
            <a:pPr marL="0" indent="0">
              <a:buNone/>
            </a:pPr>
            <a:r>
              <a:rPr lang="en-US" sz="1800" b="1" dirty="0">
                <a:solidFill>
                  <a:srgbClr val="151A2E"/>
                </a:solidFill>
                <a:latin typeface="Cambria" pitchFamily="34" charset="0"/>
                <a:ea typeface="Cambria" pitchFamily="34" charset="-122"/>
                <a:cs typeface="Cambria" pitchFamily="34" charset="-120"/>
              </a:rPr>
              <a:t>The parse you drew</a:t>
            </a:r>
            <a:endParaRPr lang="en-US" sz="1800" dirty="0"/>
          </a:p>
        </p:txBody>
      </p:sp>
      <p:sp>
        <p:nvSpPr>
          <p:cNvPr id="9" name="Text 6"/>
          <p:cNvSpPr/>
          <p:nvPr/>
        </p:nvSpPr>
        <p:spPr>
          <a:xfrm>
            <a:off x="868680" y="3429000"/>
            <a:ext cx="4846320" cy="2194560"/>
          </a:xfrm>
          <a:prstGeom prst="rect">
            <a:avLst/>
          </a:prstGeom>
          <a:noFill/>
          <a:ln/>
        </p:spPr>
        <p:txBody>
          <a:bodyPr wrap="square" rtlCol="0" anchor="t"/>
          <a:lstStyle/>
          <a:p>
            <a:pPr marL="342900" indent="-342900">
              <a:spcAft>
                <a:spcPts val="900"/>
              </a:spcAft>
              <a:buSzPct val="100000"/>
              <a:buChar char="•"/>
            </a:pPr>
            <a:r>
              <a:rPr lang="en-US" sz="1400" dirty="0">
                <a:solidFill>
                  <a:srgbClr val="1B1F2A"/>
                </a:solidFill>
                <a:latin typeface="Calibri" pitchFamily="34" charset="0"/>
                <a:ea typeface="Calibri" pitchFamily="34" charset="-122"/>
                <a:cs typeface="Calibri" pitchFamily="34" charset="-120"/>
              </a:rPr>
              <a:t>Each word links to one head</a:t>
            </a:r>
            <a:endParaRPr lang="en-US" sz="1400" dirty="0"/>
          </a:p>
          <a:p>
            <a:pPr marL="342900" indent="-342900">
              <a:spcAft>
                <a:spcPts val="900"/>
              </a:spcAft>
              <a:buSzPct val="100000"/>
              <a:buChar char="•"/>
            </a:pPr>
            <a:r>
              <a:rPr lang="en-US" sz="1400" dirty="0">
                <a:solidFill>
                  <a:srgbClr val="1B1F2A"/>
                </a:solidFill>
                <a:latin typeface="Calibri" pitchFamily="34" charset="0"/>
                <a:ea typeface="Calibri" pitchFamily="34" charset="-122"/>
                <a:cs typeface="Calibri" pitchFamily="34" charset="-120"/>
              </a:rPr>
              <a:t>Arcs are labeled: subject, object, modifier</a:t>
            </a:r>
            <a:endParaRPr lang="en-US" sz="1400" dirty="0"/>
          </a:p>
          <a:p>
            <a:pPr marL="342900" indent="-342900">
              <a:spcAft>
                <a:spcPts val="900"/>
              </a:spcAft>
              <a:buSzPct val="100000"/>
              <a:buChar char="•"/>
            </a:pPr>
            <a:r>
              <a:rPr lang="en-US" sz="1400" dirty="0">
                <a:solidFill>
                  <a:srgbClr val="1B1F2A"/>
                </a:solidFill>
                <a:latin typeface="Calibri" pitchFamily="34" charset="0"/>
                <a:ea typeface="Calibri" pitchFamily="34" charset="-122"/>
                <a:cs typeface="Calibri" pitchFamily="34" charset="-120"/>
              </a:rPr>
              <a:t>One hard choice per relation</a:t>
            </a:r>
            <a:endParaRPr lang="en-US" sz="1400" dirty="0"/>
          </a:p>
          <a:p>
            <a:pPr marL="342900" indent="-342900">
              <a:spcAft>
                <a:spcPts val="900"/>
              </a:spcAft>
              <a:buSzPct val="100000"/>
              <a:buChar char="•"/>
            </a:pPr>
            <a:r>
              <a:rPr lang="en-US" sz="1400" dirty="0">
                <a:solidFill>
                  <a:srgbClr val="1B1F2A"/>
                </a:solidFill>
                <a:latin typeface="Calibri" pitchFamily="34" charset="0"/>
                <a:ea typeface="Calibri" pitchFamily="34" charset="-122"/>
                <a:cs typeface="Calibri" pitchFamily="34" charset="-120"/>
              </a:rPr>
              <a:t>Explicit, grounded in grammar</a:t>
            </a:r>
            <a:endParaRPr lang="en-US" sz="1400" dirty="0"/>
          </a:p>
        </p:txBody>
      </p:sp>
      <p:sp>
        <p:nvSpPr>
          <p:cNvPr id="10" name="Shape 7"/>
          <p:cNvSpPr/>
          <p:nvPr/>
        </p:nvSpPr>
        <p:spPr>
          <a:xfrm>
            <a:off x="6172200" y="2377440"/>
            <a:ext cx="5440680" cy="3429000"/>
          </a:xfrm>
          <a:prstGeom prst="roundRect">
            <a:avLst>
              <a:gd name="adj" fmla="val 2133"/>
            </a:avLst>
          </a:prstGeom>
          <a:solidFill>
            <a:srgbClr val="F7F3E9"/>
          </a:solidFill>
          <a:ln/>
          <a:effectLst>
            <a:outerShdw blurRad="88900" dist="38100" dir="5400000" algn="bl" rotWithShape="0">
              <a:srgbClr val="000000">
                <a:alpha val="10000"/>
              </a:srgbClr>
            </a:outerShdw>
          </a:effectLst>
        </p:spPr>
        <p:txBody>
          <a:bodyPr/>
          <a:lstStyle/>
          <a:p>
            <a:endParaRPr lang="en-US"/>
          </a:p>
        </p:txBody>
      </p:sp>
      <p:sp>
        <p:nvSpPr>
          <p:cNvPr id="11" name="Shape 8"/>
          <p:cNvSpPr/>
          <p:nvPr/>
        </p:nvSpPr>
        <p:spPr>
          <a:xfrm>
            <a:off x="6446520" y="2606040"/>
            <a:ext cx="685800" cy="685800"/>
          </a:xfrm>
          <a:prstGeom prst="line">
            <a:avLst/>
          </a:prstGeom>
          <a:solidFill>
            <a:srgbClr val="B5A06A"/>
          </a:solidFill>
          <a:ln/>
        </p:spPr>
        <p:txBody>
          <a:bodyPr/>
          <a:lstStyle/>
          <a:p>
            <a:endParaRPr lang="en-US"/>
          </a:p>
        </p:txBody>
      </p:sp>
      <p:pic>
        <p:nvPicPr>
          <p:cNvPr id="12" name="Image 1" descr="preencoded.png"/>
          <p:cNvPicPr>
            <a:picLocks noChangeAspect="1"/>
          </p:cNvPicPr>
          <p:nvPr/>
        </p:nvPicPr>
        <p:blipFill>
          <a:blip r:embed="rId3"/>
          <a:stretch>
            <a:fillRect/>
          </a:stretch>
        </p:blipFill>
        <p:spPr>
          <a:xfrm>
            <a:off x="6624828" y="2784348"/>
            <a:ext cx="329184" cy="329184"/>
          </a:xfrm>
          <a:prstGeom prst="rect">
            <a:avLst/>
          </a:prstGeom>
        </p:spPr>
      </p:pic>
      <p:sp>
        <p:nvSpPr>
          <p:cNvPr id="13" name="Text 9"/>
          <p:cNvSpPr/>
          <p:nvPr/>
        </p:nvSpPr>
        <p:spPr>
          <a:xfrm>
            <a:off x="7269480" y="2651760"/>
            <a:ext cx="4206240" cy="548640"/>
          </a:xfrm>
          <a:prstGeom prst="rect">
            <a:avLst/>
          </a:prstGeom>
          <a:noFill/>
          <a:ln/>
        </p:spPr>
        <p:txBody>
          <a:bodyPr wrap="square" lIns="0" tIns="0" rIns="0" bIns="0" rtlCol="0" anchor="ctr"/>
          <a:lstStyle/>
          <a:p>
            <a:pPr marL="0" indent="0">
              <a:buNone/>
            </a:pPr>
            <a:r>
              <a:rPr lang="en-US" sz="1800" b="1" dirty="0">
                <a:solidFill>
                  <a:srgbClr val="8A6D1F"/>
                </a:solidFill>
                <a:latin typeface="Cambria" pitchFamily="34" charset="0"/>
                <a:ea typeface="Cambria" pitchFamily="34" charset="-122"/>
                <a:cs typeface="Cambria" pitchFamily="34" charset="-120"/>
              </a:rPr>
              <a:t>Attention</a:t>
            </a:r>
            <a:endParaRPr lang="en-US" sz="1800" dirty="0"/>
          </a:p>
        </p:txBody>
      </p:sp>
      <p:sp>
        <p:nvSpPr>
          <p:cNvPr id="14" name="Text 10"/>
          <p:cNvSpPr/>
          <p:nvPr/>
        </p:nvSpPr>
        <p:spPr>
          <a:xfrm>
            <a:off x="6492240" y="3429000"/>
            <a:ext cx="4846320" cy="2194560"/>
          </a:xfrm>
          <a:prstGeom prst="rect">
            <a:avLst/>
          </a:prstGeom>
          <a:noFill/>
          <a:ln/>
        </p:spPr>
        <p:txBody>
          <a:bodyPr wrap="square" rtlCol="0" anchor="t"/>
          <a:lstStyle/>
          <a:p>
            <a:pPr marL="342900" indent="-342900">
              <a:spcAft>
                <a:spcPts val="900"/>
              </a:spcAft>
              <a:buSzPct val="100000"/>
              <a:buChar char="•"/>
            </a:pPr>
            <a:r>
              <a:rPr lang="en-US" sz="1400" dirty="0">
                <a:solidFill>
                  <a:srgbClr val="1B1F2A"/>
                </a:solidFill>
                <a:latin typeface="Calibri" pitchFamily="34" charset="0"/>
                <a:ea typeface="Calibri" pitchFamily="34" charset="-122"/>
                <a:cs typeface="Calibri" pitchFamily="34" charset="-120"/>
              </a:rPr>
              <a:t>Every token weighs every other token</a:t>
            </a:r>
            <a:endParaRPr lang="en-US" sz="1400" dirty="0"/>
          </a:p>
          <a:p>
            <a:pPr marL="342900" indent="-342900">
              <a:spcAft>
                <a:spcPts val="900"/>
              </a:spcAft>
              <a:buSzPct val="100000"/>
              <a:buChar char="•"/>
            </a:pPr>
            <a:r>
              <a:rPr lang="en-US" sz="1400" dirty="0">
                <a:solidFill>
                  <a:srgbClr val="1B1F2A"/>
                </a:solidFill>
                <a:latin typeface="Calibri" pitchFamily="34" charset="0"/>
                <a:ea typeface="Calibri" pitchFamily="34" charset="-122"/>
                <a:cs typeface="Calibri" pitchFamily="34" charset="-120"/>
              </a:rPr>
              <a:t>The weights are learned, not rules</a:t>
            </a:r>
            <a:endParaRPr lang="en-US" sz="1400" dirty="0"/>
          </a:p>
          <a:p>
            <a:pPr marL="342900" indent="-342900">
              <a:spcAft>
                <a:spcPts val="900"/>
              </a:spcAft>
              <a:buSzPct val="100000"/>
              <a:buChar char="•"/>
            </a:pPr>
            <a:r>
              <a:rPr lang="en-US" sz="1400" dirty="0">
                <a:solidFill>
                  <a:srgbClr val="1B1F2A"/>
                </a:solidFill>
                <a:latin typeface="Calibri" pitchFamily="34" charset="0"/>
                <a:ea typeface="Calibri" pitchFamily="34" charset="-122"/>
                <a:cs typeface="Calibri" pitchFamily="34" charset="-120"/>
              </a:rPr>
              <a:t>Many heads, many soft links at once</a:t>
            </a:r>
            <a:endParaRPr lang="en-US" sz="1400" dirty="0"/>
          </a:p>
          <a:p>
            <a:pPr marL="342900" indent="-342900">
              <a:spcAft>
                <a:spcPts val="900"/>
              </a:spcAft>
              <a:buSzPct val="100000"/>
              <a:buChar char="•"/>
            </a:pPr>
            <a:r>
              <a:rPr lang="en-US" sz="1400" dirty="0">
                <a:solidFill>
                  <a:srgbClr val="1B1F2A"/>
                </a:solidFill>
                <a:latin typeface="Calibri" pitchFamily="34" charset="0"/>
                <a:ea typeface="Calibri" pitchFamily="34" charset="-122"/>
                <a:cs typeface="Calibri" pitchFamily="34" charset="-120"/>
              </a:rPr>
              <a:t>We open this up in Week 5</a:t>
            </a:r>
            <a:endParaRPr lang="en-US" sz="1400" dirty="0"/>
          </a:p>
        </p:txBody>
      </p:sp>
      <p:sp>
        <p:nvSpPr>
          <p:cNvPr id="15" name="Text 11"/>
          <p:cNvSpPr/>
          <p:nvPr/>
        </p:nvSpPr>
        <p:spPr>
          <a:xfrm>
            <a:off x="457200" y="6437376"/>
            <a:ext cx="9601200" cy="274320"/>
          </a:xfrm>
          <a:prstGeom prst="rect">
            <a:avLst/>
          </a:prstGeom>
          <a:noFill/>
          <a:ln/>
        </p:spPr>
        <p:txBody>
          <a:bodyPr wrap="square" lIns="0" tIns="0" rIns="0" bIns="0" rtlCol="0" anchor="ctr"/>
          <a:lstStyle/>
          <a:p>
            <a:pPr marL="0" indent="0" algn="l">
              <a:buNone/>
            </a:pPr>
            <a:r>
              <a:rPr lang="en-US" sz="900" dirty="0">
                <a:solidFill>
                  <a:srgbClr val="5B6172"/>
                </a:solidFill>
                <a:latin typeface="Calibri" pitchFamily="34" charset="0"/>
                <a:ea typeface="Calibri" pitchFamily="34" charset="-122"/>
                <a:cs typeface="Calibri" pitchFamily="34" charset="-120"/>
              </a:rPr>
              <a:t>ISBA 2411 · Natural Language Processing &amp; AI · Summer 2026</a:t>
            </a:r>
            <a:endParaRPr lang="en-US" sz="900" dirty="0"/>
          </a:p>
        </p:txBody>
      </p:sp>
      <p:sp>
        <p:nvSpPr>
          <p:cNvPr id="16" name="Text 12"/>
          <p:cNvSpPr/>
          <p:nvPr/>
        </p:nvSpPr>
        <p:spPr>
          <a:xfrm>
            <a:off x="11338560" y="6437376"/>
            <a:ext cx="365760" cy="274320"/>
          </a:xfrm>
          <a:prstGeom prst="rect">
            <a:avLst/>
          </a:prstGeom>
          <a:noFill/>
          <a:ln/>
        </p:spPr>
        <p:txBody>
          <a:bodyPr wrap="square" lIns="0" tIns="0" rIns="0" bIns="0" rtlCol="0" anchor="ctr"/>
          <a:lstStyle/>
          <a:p>
            <a:pPr marL="0" indent="0" algn="r">
              <a:buNone/>
            </a:pPr>
            <a:r>
              <a:rPr lang="en-US" sz="900" dirty="0">
                <a:solidFill>
                  <a:srgbClr val="5B6172"/>
                </a:solidFill>
                <a:latin typeface="Calibri" pitchFamily="34" charset="0"/>
                <a:ea typeface="Calibri" pitchFamily="34" charset="-122"/>
                <a:cs typeface="Calibri" pitchFamily="34" charset="-120"/>
              </a:rPr>
              <a:t>8</a:t>
            </a:r>
            <a:endParaRPr lang="en-US" sz="9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0">
    <p:bg>
      <p:bgPr>
        <a:solidFill>
          <a:srgbClr val="151A2E"/>
        </a:solidFill>
        <a:effectLst/>
      </p:bgPr>
    </p:bg>
    <p:spTree>
      <p:nvGrpSpPr>
        <p:cNvPr id="1" name=""/>
        <p:cNvGrpSpPr/>
        <p:nvPr/>
      </p:nvGrpSpPr>
      <p:grpSpPr>
        <a:xfrm>
          <a:off x="0" y="0"/>
          <a:ext cx="0" cy="0"/>
          <a:chOff x="0" y="0"/>
          <a:chExt cx="0" cy="0"/>
        </a:xfrm>
      </p:grpSpPr>
      <p:sp>
        <p:nvSpPr>
          <p:cNvPr id="2" name="Shape 0"/>
          <p:cNvSpPr/>
          <p:nvPr/>
        </p:nvSpPr>
        <p:spPr>
          <a:xfrm>
            <a:off x="640080" y="548640"/>
            <a:ext cx="1005840" cy="1005840"/>
          </a:xfrm>
          <a:prstGeom prst="line">
            <a:avLst/>
          </a:prstGeom>
          <a:solidFill>
            <a:srgbClr val="B31A38"/>
          </a:solidFill>
          <a:ln/>
        </p:spPr>
        <p:txBody>
          <a:bodyPr/>
          <a:lstStyle/>
          <a:p>
            <a:endParaRPr lang="en-US"/>
          </a:p>
        </p:txBody>
      </p:sp>
      <p:pic>
        <p:nvPicPr>
          <p:cNvPr id="3" name="Image 0" descr="preencoded.png"/>
          <p:cNvPicPr>
            <a:picLocks noChangeAspect="1"/>
          </p:cNvPicPr>
          <p:nvPr/>
        </p:nvPicPr>
        <p:blipFill>
          <a:blip r:embed="rId3"/>
          <a:stretch>
            <a:fillRect/>
          </a:stretch>
        </p:blipFill>
        <p:spPr>
          <a:xfrm>
            <a:off x="901598" y="810158"/>
            <a:ext cx="482803" cy="482803"/>
          </a:xfrm>
          <a:prstGeom prst="rect">
            <a:avLst/>
          </a:prstGeom>
        </p:spPr>
      </p:pic>
      <p:sp>
        <p:nvSpPr>
          <p:cNvPr id="4" name="Text 1"/>
          <p:cNvSpPr/>
          <p:nvPr/>
        </p:nvSpPr>
        <p:spPr>
          <a:xfrm>
            <a:off x="1828800" y="566928"/>
            <a:ext cx="8229600" cy="365760"/>
          </a:xfrm>
          <a:prstGeom prst="rect">
            <a:avLst/>
          </a:prstGeom>
          <a:noFill/>
          <a:ln/>
        </p:spPr>
        <p:txBody>
          <a:bodyPr wrap="square" rtlCol="0" anchor="ctr"/>
          <a:lstStyle/>
          <a:p>
            <a:pPr marL="0" indent="0">
              <a:buNone/>
            </a:pPr>
            <a:r>
              <a:rPr lang="en-US" sz="1400" b="1" kern="0" spc="200" dirty="0">
                <a:solidFill>
                  <a:srgbClr val="B5A06A"/>
                </a:solidFill>
                <a:latin typeface="Calibri" pitchFamily="34" charset="0"/>
                <a:ea typeface="Calibri" pitchFamily="34" charset="-122"/>
                <a:cs typeface="Calibri" pitchFamily="34" charset="-120"/>
              </a:rPr>
              <a:t>IN-CLASS EXERCISE 3</a:t>
            </a:r>
            <a:endParaRPr lang="en-US" sz="1400" dirty="0"/>
          </a:p>
        </p:txBody>
      </p:sp>
      <p:sp>
        <p:nvSpPr>
          <p:cNvPr id="5" name="Text 2"/>
          <p:cNvSpPr/>
          <p:nvPr/>
        </p:nvSpPr>
        <p:spPr>
          <a:xfrm>
            <a:off x="1828800" y="914400"/>
            <a:ext cx="10058400" cy="640080"/>
          </a:xfrm>
          <a:prstGeom prst="rect">
            <a:avLst/>
          </a:prstGeom>
          <a:noFill/>
          <a:ln/>
        </p:spPr>
        <p:txBody>
          <a:bodyPr wrap="square" rtlCol="0" anchor="ctr"/>
          <a:lstStyle/>
          <a:p>
            <a:pPr marL="0" indent="0">
              <a:buNone/>
            </a:pPr>
            <a:r>
              <a:rPr lang="en-US" sz="3000" b="1" dirty="0">
                <a:solidFill>
                  <a:srgbClr val="FFFFFF"/>
                </a:solidFill>
                <a:latin typeface="Cambria" pitchFamily="34" charset="0"/>
                <a:ea typeface="Cambria" pitchFamily="34" charset="-122"/>
                <a:cs typeface="Cambria" pitchFamily="34" charset="-120"/>
              </a:rPr>
              <a:t>Attention vs the parse</a:t>
            </a:r>
            <a:endParaRPr lang="en-US" sz="3000" dirty="0"/>
          </a:p>
        </p:txBody>
      </p:sp>
      <p:sp>
        <p:nvSpPr>
          <p:cNvPr id="6" name="Text 3"/>
          <p:cNvSpPr/>
          <p:nvPr/>
        </p:nvSpPr>
        <p:spPr>
          <a:xfrm>
            <a:off x="1828800" y="1554480"/>
            <a:ext cx="10058400" cy="365760"/>
          </a:xfrm>
          <a:prstGeom prst="rect">
            <a:avLst/>
          </a:prstGeom>
          <a:noFill/>
          <a:ln/>
        </p:spPr>
        <p:txBody>
          <a:bodyPr wrap="square" rtlCol="0" anchor="ctr"/>
          <a:lstStyle/>
          <a:p>
            <a:pPr marL="0" indent="0">
              <a:buNone/>
            </a:pPr>
            <a:r>
              <a:rPr lang="en-US" sz="1400" i="1" dirty="0">
                <a:solidFill>
                  <a:srgbClr val="C9CDDA"/>
                </a:solidFill>
                <a:latin typeface="Calibri" pitchFamily="34" charset="0"/>
                <a:ea typeface="Calibri" pitchFamily="34" charset="-122"/>
                <a:cs typeface="Calibri" pitchFamily="34" charset="-120"/>
              </a:rPr>
              <a:t>Colab with transformers, no API key   ·   ~15 minutes   ·   pairs   ·   ex5_attention_vs_parse.ipynb</a:t>
            </a:r>
            <a:endParaRPr lang="en-US" sz="1400" dirty="0"/>
          </a:p>
        </p:txBody>
      </p:sp>
      <p:sp>
        <p:nvSpPr>
          <p:cNvPr id="7" name="Shape 4"/>
          <p:cNvSpPr/>
          <p:nvPr/>
        </p:nvSpPr>
        <p:spPr>
          <a:xfrm>
            <a:off x="640080" y="2194560"/>
            <a:ext cx="6766560" cy="3703320"/>
          </a:xfrm>
          <a:prstGeom prst="roundRect">
            <a:avLst>
              <a:gd name="adj" fmla="val 1975"/>
            </a:avLst>
          </a:prstGeom>
          <a:solidFill>
            <a:srgbClr val="1F2540"/>
          </a:solidFill>
          <a:ln/>
          <a:effectLst>
            <a:outerShdw blurRad="88900" dist="38100" dir="5400000" algn="bl" rotWithShape="0">
              <a:srgbClr val="000000">
                <a:alpha val="10000"/>
              </a:srgbClr>
            </a:outerShdw>
          </a:effectLst>
        </p:spPr>
        <p:txBody>
          <a:bodyPr/>
          <a:lstStyle/>
          <a:p>
            <a:endParaRPr lang="en-US"/>
          </a:p>
        </p:txBody>
      </p:sp>
      <p:sp>
        <p:nvSpPr>
          <p:cNvPr id="8" name="Text 5"/>
          <p:cNvSpPr/>
          <p:nvPr/>
        </p:nvSpPr>
        <p:spPr>
          <a:xfrm>
            <a:off x="868680" y="2377440"/>
            <a:ext cx="6217920" cy="365760"/>
          </a:xfrm>
          <a:prstGeom prst="rect">
            <a:avLst/>
          </a:prstGeom>
          <a:noFill/>
          <a:ln/>
        </p:spPr>
        <p:txBody>
          <a:bodyPr wrap="square" lIns="0" tIns="0" rIns="0" bIns="0" rtlCol="0" anchor="ctr"/>
          <a:lstStyle/>
          <a:p>
            <a:pPr marL="0" indent="0">
              <a:buNone/>
            </a:pPr>
            <a:r>
              <a:rPr lang="en-US" sz="1400" b="1" dirty="0">
                <a:solidFill>
                  <a:srgbClr val="B5A06A"/>
                </a:solidFill>
                <a:latin typeface="Calibri" pitchFamily="34" charset="0"/>
                <a:ea typeface="Calibri" pitchFamily="34" charset="-122"/>
                <a:cs typeface="Calibri" pitchFamily="34" charset="-120"/>
              </a:rPr>
              <a:t>Your task</a:t>
            </a:r>
            <a:endParaRPr lang="en-US" sz="1400" dirty="0"/>
          </a:p>
        </p:txBody>
      </p:sp>
      <p:sp>
        <p:nvSpPr>
          <p:cNvPr id="9" name="Text 6"/>
          <p:cNvSpPr/>
          <p:nvPr/>
        </p:nvSpPr>
        <p:spPr>
          <a:xfrm>
            <a:off x="914400" y="2788920"/>
            <a:ext cx="6309360" cy="2926080"/>
          </a:xfrm>
          <a:prstGeom prst="rect">
            <a:avLst/>
          </a:prstGeom>
          <a:noFill/>
          <a:ln/>
        </p:spPr>
        <p:txBody>
          <a:bodyPr wrap="square" rtlCol="0" anchor="t"/>
          <a:lstStyle/>
          <a:p>
            <a:pPr marL="342900" indent="-342900">
              <a:spcAft>
                <a:spcPts val="1000"/>
              </a:spcAft>
              <a:buSzPct val="100000"/>
              <a:buChar char="•"/>
            </a:pPr>
            <a:r>
              <a:rPr lang="en-US" sz="1400" dirty="0">
                <a:solidFill>
                  <a:srgbClr val="E4E6EF"/>
                </a:solidFill>
                <a:latin typeface="Calibri" pitchFamily="34" charset="0"/>
                <a:ea typeface="Calibri" pitchFamily="34" charset="-122"/>
                <a:cs typeface="Calibri" pitchFamily="34" charset="-120"/>
              </a:rPr>
              <a:t>Load DistilBERT and pull its attention weights</a:t>
            </a:r>
            <a:endParaRPr lang="en-US" sz="1400" dirty="0"/>
          </a:p>
          <a:p>
            <a:pPr marL="342900" indent="-342900">
              <a:spcAft>
                <a:spcPts val="1000"/>
              </a:spcAft>
              <a:buSzPct val="100000"/>
              <a:buChar char="•"/>
            </a:pPr>
            <a:r>
              <a:rPr lang="en-US" sz="1400" dirty="0">
                <a:solidFill>
                  <a:srgbClr val="E4E6EF"/>
                </a:solidFill>
                <a:latin typeface="Calibri" pitchFamily="34" charset="0"/>
                <a:ea typeface="Calibri" pitchFamily="34" charset="-122"/>
                <a:cs typeface="Calibri" pitchFamily="34" charset="-120"/>
              </a:rPr>
              <a:t>Run it on the ambiguous sentence you parsed earlier</a:t>
            </a:r>
            <a:endParaRPr lang="en-US" sz="1400" dirty="0"/>
          </a:p>
          <a:p>
            <a:pPr marL="342900" indent="-342900">
              <a:spcAft>
                <a:spcPts val="1000"/>
              </a:spcAft>
              <a:buSzPct val="100000"/>
              <a:buChar char="•"/>
            </a:pPr>
            <a:r>
              <a:rPr lang="en-US" sz="1400" dirty="0">
                <a:solidFill>
                  <a:srgbClr val="E4E6EF"/>
                </a:solidFill>
                <a:latin typeface="Calibri" pitchFamily="34" charset="0"/>
                <a:ea typeface="Calibri" pitchFamily="34" charset="-122"/>
                <a:cs typeface="Calibri" pitchFamily="34" charset="-120"/>
              </a:rPr>
              <a:t>Plot one layer and head as a token heatmap</a:t>
            </a:r>
            <a:endParaRPr lang="en-US" sz="1400" dirty="0"/>
          </a:p>
          <a:p>
            <a:pPr marL="342900" indent="-342900">
              <a:spcAft>
                <a:spcPts val="1000"/>
              </a:spcAft>
              <a:buSzPct val="100000"/>
              <a:buChar char="•"/>
            </a:pPr>
            <a:r>
              <a:rPr lang="en-US" sz="1400" dirty="0">
                <a:solidFill>
                  <a:srgbClr val="E4E6EF"/>
                </a:solidFill>
                <a:latin typeface="Calibri" pitchFamily="34" charset="0"/>
                <a:ea typeface="Calibri" pitchFamily="34" charset="-122"/>
                <a:cs typeface="Calibri" pitchFamily="34" charset="-120"/>
              </a:rPr>
              <a:t>Put the heatmap beside the dependency parse</a:t>
            </a:r>
            <a:endParaRPr lang="en-US" sz="1400" dirty="0"/>
          </a:p>
          <a:p>
            <a:pPr marL="342900" indent="-342900">
              <a:spcAft>
                <a:spcPts val="1000"/>
              </a:spcAft>
              <a:buSzPct val="100000"/>
              <a:buChar char="•"/>
            </a:pPr>
            <a:r>
              <a:rPr lang="en-US" sz="1400" dirty="0">
                <a:solidFill>
                  <a:srgbClr val="E4E6EF"/>
                </a:solidFill>
                <a:latin typeface="Calibri" pitchFamily="34" charset="0"/>
                <a:ea typeface="Calibri" pitchFamily="34" charset="-122"/>
                <a:cs typeface="Calibri" pitchFamily="34" charset="-120"/>
              </a:rPr>
              <a:t>Mark where attention follows the arcs, and where it does not</a:t>
            </a:r>
            <a:endParaRPr lang="en-US" sz="1400" dirty="0"/>
          </a:p>
        </p:txBody>
      </p:sp>
      <p:sp>
        <p:nvSpPr>
          <p:cNvPr id="10" name="Shape 7"/>
          <p:cNvSpPr/>
          <p:nvPr/>
        </p:nvSpPr>
        <p:spPr>
          <a:xfrm>
            <a:off x="7635240" y="2194560"/>
            <a:ext cx="3977640" cy="3703320"/>
          </a:xfrm>
          <a:prstGeom prst="roundRect">
            <a:avLst>
              <a:gd name="adj" fmla="val 1975"/>
            </a:avLst>
          </a:prstGeom>
          <a:solidFill>
            <a:srgbClr val="1F2540"/>
          </a:solidFill>
          <a:ln/>
          <a:effectLst>
            <a:outerShdw blurRad="88900" dist="38100" dir="5400000" algn="bl" rotWithShape="0">
              <a:srgbClr val="000000">
                <a:alpha val="10000"/>
              </a:srgbClr>
            </a:outerShdw>
          </a:effectLst>
        </p:spPr>
        <p:txBody>
          <a:bodyPr/>
          <a:lstStyle/>
          <a:p>
            <a:endParaRPr lang="en-US"/>
          </a:p>
        </p:txBody>
      </p:sp>
      <p:sp>
        <p:nvSpPr>
          <p:cNvPr id="11" name="Text 8"/>
          <p:cNvSpPr/>
          <p:nvPr/>
        </p:nvSpPr>
        <p:spPr>
          <a:xfrm>
            <a:off x="7863840" y="2377440"/>
            <a:ext cx="3566160" cy="365760"/>
          </a:xfrm>
          <a:prstGeom prst="rect">
            <a:avLst/>
          </a:prstGeom>
          <a:noFill/>
          <a:ln/>
        </p:spPr>
        <p:txBody>
          <a:bodyPr wrap="square" lIns="0" tIns="0" rIns="0" bIns="0" rtlCol="0" anchor="ctr"/>
          <a:lstStyle/>
          <a:p>
            <a:pPr marL="0" indent="0">
              <a:buNone/>
            </a:pPr>
            <a:r>
              <a:rPr lang="en-US" sz="1400" b="1" dirty="0">
                <a:solidFill>
                  <a:srgbClr val="B5A06A"/>
                </a:solidFill>
                <a:latin typeface="Calibri" pitchFamily="34" charset="0"/>
                <a:ea typeface="Calibri" pitchFamily="34" charset="-122"/>
                <a:cs typeface="Calibri" pitchFamily="34" charset="-120"/>
              </a:rPr>
              <a:t>Bring back an answer to</a:t>
            </a:r>
            <a:endParaRPr lang="en-US" sz="1400" dirty="0"/>
          </a:p>
        </p:txBody>
      </p:sp>
      <p:sp>
        <p:nvSpPr>
          <p:cNvPr id="12" name="Text 9"/>
          <p:cNvSpPr/>
          <p:nvPr/>
        </p:nvSpPr>
        <p:spPr>
          <a:xfrm>
            <a:off x="7909560" y="2788920"/>
            <a:ext cx="3566160" cy="2926080"/>
          </a:xfrm>
          <a:prstGeom prst="rect">
            <a:avLst/>
          </a:prstGeom>
          <a:noFill/>
          <a:ln/>
        </p:spPr>
        <p:txBody>
          <a:bodyPr wrap="square" rtlCol="0" anchor="t"/>
          <a:lstStyle/>
          <a:p>
            <a:pPr marL="342900" indent="-342900">
              <a:spcAft>
                <a:spcPts val="1200"/>
              </a:spcAft>
              <a:buSzPct val="100000"/>
              <a:buChar char="•"/>
            </a:pPr>
            <a:r>
              <a:rPr lang="en-US" sz="1350" dirty="0">
                <a:solidFill>
                  <a:srgbClr val="E4E6EF"/>
                </a:solidFill>
                <a:latin typeface="Calibri" pitchFamily="34" charset="0"/>
                <a:ea typeface="Calibri" pitchFamily="34" charset="-122"/>
                <a:cs typeface="Calibri" pitchFamily="34" charset="-120"/>
              </a:rPr>
              <a:t>Does any head line up with the arcs?</a:t>
            </a:r>
            <a:endParaRPr lang="en-US" sz="1350" dirty="0"/>
          </a:p>
          <a:p>
            <a:pPr marL="342900" indent="-342900">
              <a:spcAft>
                <a:spcPts val="1200"/>
              </a:spcAft>
              <a:buSzPct val="100000"/>
              <a:buChar char="•"/>
            </a:pPr>
            <a:r>
              <a:rPr lang="en-US" sz="1350" dirty="0">
                <a:solidFill>
                  <a:srgbClr val="E4E6EF"/>
                </a:solidFill>
                <a:latin typeface="Calibri" pitchFamily="34" charset="0"/>
                <a:ea typeface="Calibri" pitchFamily="34" charset="-122"/>
                <a:cs typeface="Calibri" pitchFamily="34" charset="-120"/>
              </a:rPr>
              <a:t>Does attention commit on the ambiguous sentence?</a:t>
            </a:r>
            <a:endParaRPr lang="en-US" sz="1350" dirty="0"/>
          </a:p>
          <a:p>
            <a:pPr marL="342900" indent="-342900">
              <a:spcAft>
                <a:spcPts val="1200"/>
              </a:spcAft>
              <a:buSzPct val="100000"/>
              <a:buChar char="•"/>
            </a:pPr>
            <a:r>
              <a:rPr lang="en-US" sz="1350" dirty="0">
                <a:solidFill>
                  <a:srgbClr val="E4E6EF"/>
                </a:solidFill>
                <a:latin typeface="Calibri" pitchFamily="34" charset="0"/>
                <a:ea typeface="Calibri" pitchFamily="34" charset="-122"/>
                <a:cs typeface="Calibri" pitchFamily="34" charset="-120"/>
              </a:rPr>
              <a:t>Is attention a parse, or does it just rhyme with one?</a:t>
            </a:r>
            <a:endParaRPr lang="en-US" sz="1350" dirty="0"/>
          </a:p>
        </p:txBody>
      </p:sp>
      <p:sp>
        <p:nvSpPr>
          <p:cNvPr id="13" name="Text 10"/>
          <p:cNvSpPr/>
          <p:nvPr/>
        </p:nvSpPr>
        <p:spPr>
          <a:xfrm>
            <a:off x="640080" y="6355080"/>
            <a:ext cx="10058400" cy="274320"/>
          </a:xfrm>
          <a:prstGeom prst="rect">
            <a:avLst/>
          </a:prstGeom>
          <a:noFill/>
          <a:ln/>
        </p:spPr>
        <p:txBody>
          <a:bodyPr wrap="square" rtlCol="0" anchor="ctr"/>
          <a:lstStyle/>
          <a:p>
            <a:pPr marL="0" indent="0">
              <a:buNone/>
            </a:pPr>
            <a:r>
              <a:rPr lang="en-US" sz="1000" dirty="0">
                <a:solidFill>
                  <a:srgbClr val="8A90A2"/>
                </a:solidFill>
                <a:latin typeface="Calibri" pitchFamily="34" charset="0"/>
                <a:ea typeface="Calibri" pitchFamily="34" charset="-122"/>
                <a:cs typeface="Calibri" pitchFamily="34" charset="-120"/>
              </a:rPr>
              <a:t>ISBA 2411 · Natural Language Processing &amp; AI · Summer 2026</a:t>
            </a:r>
            <a:endParaRPr lang="en-US" sz="10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548640" y="384048"/>
            <a:ext cx="10972800" cy="320040"/>
          </a:xfrm>
          <a:prstGeom prst="rect">
            <a:avLst/>
          </a:prstGeom>
          <a:noFill/>
          <a:ln/>
        </p:spPr>
        <p:txBody>
          <a:bodyPr wrap="square" lIns="0" tIns="0" rIns="0" bIns="0" rtlCol="0" anchor="ctr"/>
          <a:lstStyle/>
          <a:p>
            <a:pPr marL="0" indent="0">
              <a:buNone/>
            </a:pPr>
            <a:r>
              <a:rPr lang="en-US" sz="1300" b="1" kern="0" spc="200" dirty="0">
                <a:solidFill>
                  <a:srgbClr val="B31A38"/>
                </a:solidFill>
                <a:latin typeface="Calibri" pitchFamily="34" charset="0"/>
                <a:ea typeface="Calibri" pitchFamily="34" charset="-122"/>
                <a:cs typeface="Calibri" pitchFamily="34" charset="-120"/>
              </a:rPr>
              <a:t>DISCUSSION</a:t>
            </a:r>
            <a:endParaRPr lang="en-US" sz="1300" dirty="0"/>
          </a:p>
        </p:txBody>
      </p:sp>
      <p:sp>
        <p:nvSpPr>
          <p:cNvPr id="3" name="Text 1"/>
          <p:cNvSpPr/>
          <p:nvPr/>
        </p:nvSpPr>
        <p:spPr>
          <a:xfrm>
            <a:off x="548640" y="676656"/>
            <a:ext cx="11064240" cy="777240"/>
          </a:xfrm>
          <a:prstGeom prst="rect">
            <a:avLst/>
          </a:prstGeom>
          <a:noFill/>
          <a:ln/>
        </p:spPr>
        <p:txBody>
          <a:bodyPr wrap="square" lIns="0" tIns="0" rIns="0" bIns="0" rtlCol="0" anchor="ctr"/>
          <a:lstStyle/>
          <a:p>
            <a:pPr marL="0" indent="0">
              <a:buNone/>
            </a:pPr>
            <a:r>
              <a:rPr lang="en-US" sz="3000" b="1" dirty="0">
                <a:solidFill>
                  <a:srgbClr val="151A2E"/>
                </a:solidFill>
                <a:latin typeface="Cambria" pitchFamily="34" charset="0"/>
                <a:ea typeface="Cambria" pitchFamily="34" charset="-122"/>
                <a:cs typeface="Cambria" pitchFamily="34" charset="-120"/>
              </a:rPr>
              <a:t>Two more to argue about</a:t>
            </a:r>
            <a:endParaRPr lang="en-US" sz="3000" dirty="0"/>
          </a:p>
        </p:txBody>
      </p:sp>
      <p:sp>
        <p:nvSpPr>
          <p:cNvPr id="4" name="Shape 2"/>
          <p:cNvSpPr/>
          <p:nvPr/>
        </p:nvSpPr>
        <p:spPr>
          <a:xfrm>
            <a:off x="10607040" y="502920"/>
            <a:ext cx="1005840" cy="1005840"/>
          </a:xfrm>
          <a:prstGeom prst="line">
            <a:avLst/>
          </a:prstGeom>
          <a:solidFill>
            <a:srgbClr val="151A2E"/>
          </a:solidFill>
          <a:ln/>
        </p:spPr>
        <p:txBody>
          <a:bodyPr/>
          <a:lstStyle/>
          <a:p>
            <a:endParaRPr lang="en-US"/>
          </a:p>
        </p:txBody>
      </p:sp>
      <p:pic>
        <p:nvPicPr>
          <p:cNvPr id="5" name="Image 0" descr="preencoded.png"/>
          <p:cNvPicPr>
            <a:picLocks noChangeAspect="1"/>
          </p:cNvPicPr>
          <p:nvPr/>
        </p:nvPicPr>
        <p:blipFill>
          <a:blip r:embed="rId3"/>
          <a:stretch>
            <a:fillRect/>
          </a:stretch>
        </p:blipFill>
        <p:spPr>
          <a:xfrm>
            <a:off x="10868558" y="764438"/>
            <a:ext cx="482803" cy="482803"/>
          </a:xfrm>
          <a:prstGeom prst="rect">
            <a:avLst/>
          </a:prstGeom>
        </p:spPr>
      </p:pic>
      <p:sp>
        <p:nvSpPr>
          <p:cNvPr id="6" name="Text 3"/>
          <p:cNvSpPr/>
          <p:nvPr/>
        </p:nvSpPr>
        <p:spPr>
          <a:xfrm>
            <a:off x="548640" y="1600200"/>
            <a:ext cx="9601200" cy="365760"/>
          </a:xfrm>
          <a:prstGeom prst="rect">
            <a:avLst/>
          </a:prstGeom>
          <a:noFill/>
          <a:ln/>
        </p:spPr>
        <p:txBody>
          <a:bodyPr wrap="square" rtlCol="0" anchor="ctr"/>
          <a:lstStyle/>
          <a:p>
            <a:pPr marL="0" indent="0">
              <a:buNone/>
            </a:pPr>
            <a:r>
              <a:rPr lang="en-US" sz="1500" i="1" dirty="0">
                <a:solidFill>
                  <a:srgbClr val="5B6172"/>
                </a:solidFill>
                <a:latin typeface="Calibri" pitchFamily="34" charset="0"/>
                <a:ea typeface="Calibri" pitchFamily="34" charset="-122"/>
                <a:cs typeface="Calibri" pitchFamily="34" charset="-120"/>
              </a:rPr>
              <a:t>Small groups, then report out. Both are live debates in the field right now.</a:t>
            </a:r>
            <a:endParaRPr lang="en-US" sz="1500" dirty="0"/>
          </a:p>
        </p:txBody>
      </p:sp>
      <p:sp>
        <p:nvSpPr>
          <p:cNvPr id="7" name="Shape 4"/>
          <p:cNvSpPr/>
          <p:nvPr/>
        </p:nvSpPr>
        <p:spPr>
          <a:xfrm>
            <a:off x="548640" y="2148840"/>
            <a:ext cx="11064240" cy="1691640"/>
          </a:xfrm>
          <a:prstGeom prst="roundRect">
            <a:avLst>
              <a:gd name="adj" fmla="val 4324"/>
            </a:avLst>
          </a:prstGeom>
          <a:solidFill>
            <a:srgbClr val="FBEDEF"/>
          </a:solidFill>
          <a:ln/>
          <a:effectLst>
            <a:outerShdw blurRad="88900" dist="38100" dir="5400000" algn="bl" rotWithShape="0">
              <a:srgbClr val="000000">
                <a:alpha val="10000"/>
              </a:srgbClr>
            </a:outerShdw>
          </a:effectLst>
        </p:spPr>
        <p:txBody>
          <a:bodyPr/>
          <a:lstStyle/>
          <a:p>
            <a:endParaRPr lang="en-US"/>
          </a:p>
        </p:txBody>
      </p:sp>
      <p:sp>
        <p:nvSpPr>
          <p:cNvPr id="8" name="Shape 5"/>
          <p:cNvSpPr/>
          <p:nvPr/>
        </p:nvSpPr>
        <p:spPr>
          <a:xfrm>
            <a:off x="868680" y="2441448"/>
            <a:ext cx="868680" cy="868680"/>
          </a:xfrm>
          <a:prstGeom prst="ellipse">
            <a:avLst/>
          </a:prstGeom>
          <a:solidFill>
            <a:srgbClr val="B31A38"/>
          </a:solidFill>
          <a:ln/>
        </p:spPr>
        <p:txBody>
          <a:bodyPr/>
          <a:lstStyle/>
          <a:p>
            <a:endParaRPr lang="en-US"/>
          </a:p>
        </p:txBody>
      </p:sp>
      <p:sp>
        <p:nvSpPr>
          <p:cNvPr id="9" name="Text 6"/>
          <p:cNvSpPr/>
          <p:nvPr/>
        </p:nvSpPr>
        <p:spPr>
          <a:xfrm>
            <a:off x="868680" y="2441448"/>
            <a:ext cx="868680" cy="868680"/>
          </a:xfrm>
          <a:prstGeom prst="rect">
            <a:avLst/>
          </a:prstGeom>
          <a:noFill/>
          <a:ln/>
        </p:spPr>
        <p:txBody>
          <a:bodyPr wrap="square" rtlCol="0" anchor="ctr"/>
          <a:lstStyle/>
          <a:p>
            <a:pPr marL="0" indent="0" algn="ctr">
              <a:buNone/>
            </a:pPr>
            <a:r>
              <a:rPr lang="en-US" sz="3200" b="1" dirty="0">
                <a:solidFill>
                  <a:srgbClr val="FFFFFF"/>
                </a:solidFill>
                <a:latin typeface="Cambria" pitchFamily="34" charset="0"/>
                <a:ea typeface="Cambria" pitchFamily="34" charset="-122"/>
                <a:cs typeface="Cambria" pitchFamily="34" charset="-120"/>
              </a:rPr>
              <a:t>1</a:t>
            </a:r>
            <a:endParaRPr lang="en-US" sz="3200" dirty="0"/>
          </a:p>
        </p:txBody>
      </p:sp>
      <p:sp>
        <p:nvSpPr>
          <p:cNvPr id="10" name="Text 7"/>
          <p:cNvSpPr/>
          <p:nvPr/>
        </p:nvSpPr>
        <p:spPr>
          <a:xfrm>
            <a:off x="2011680" y="2377440"/>
            <a:ext cx="9235440" cy="914400"/>
          </a:xfrm>
          <a:prstGeom prst="rect">
            <a:avLst/>
          </a:prstGeom>
          <a:noFill/>
          <a:ln/>
        </p:spPr>
        <p:txBody>
          <a:bodyPr wrap="square" lIns="0" tIns="0" rIns="0" bIns="0" rtlCol="0" anchor="ctr"/>
          <a:lstStyle/>
          <a:p>
            <a:pPr marL="0" indent="0">
              <a:buNone/>
            </a:pPr>
            <a:r>
              <a:rPr lang="en-US" sz="1550" dirty="0">
                <a:solidFill>
                  <a:srgbClr val="1B1F2A"/>
                </a:solidFill>
                <a:latin typeface="Calibri" pitchFamily="34" charset="0"/>
                <a:ea typeface="Calibri" pitchFamily="34" charset="-122"/>
                <a:cs typeface="Calibri" pitchFamily="34" charset="-120"/>
              </a:rPr>
              <a:t>Modern LLMs never build an explicit parse tree, yet they resolve ambiguity better than classical parsers did. Does that mean syntax is solved, or is the structure still there, just implicit in the weights?</a:t>
            </a:r>
            <a:endParaRPr lang="en-US" sz="1550" dirty="0"/>
          </a:p>
        </p:txBody>
      </p:sp>
      <p:sp>
        <p:nvSpPr>
          <p:cNvPr id="11" name="Text 8"/>
          <p:cNvSpPr/>
          <p:nvPr/>
        </p:nvSpPr>
        <p:spPr>
          <a:xfrm>
            <a:off x="2011680" y="3319272"/>
            <a:ext cx="9235440" cy="365760"/>
          </a:xfrm>
          <a:prstGeom prst="rect">
            <a:avLst/>
          </a:prstGeom>
          <a:noFill/>
          <a:ln/>
        </p:spPr>
        <p:txBody>
          <a:bodyPr wrap="square" lIns="0" tIns="0" rIns="0" bIns="0" rtlCol="0" anchor="ctr"/>
          <a:lstStyle/>
          <a:p>
            <a:pPr marL="0" indent="0">
              <a:buNone/>
            </a:pPr>
            <a:r>
              <a:rPr lang="en-US" sz="1250" b="1" i="1" dirty="0">
                <a:solidFill>
                  <a:srgbClr val="B31A38"/>
                </a:solidFill>
                <a:latin typeface="Calibri" pitchFamily="34" charset="0"/>
                <a:ea typeface="Calibri" pitchFamily="34" charset="-122"/>
                <a:cs typeface="Calibri" pitchFamily="34" charset="-120"/>
              </a:rPr>
              <a:t>If the grammar disappeared, where did it go?</a:t>
            </a:r>
            <a:endParaRPr lang="en-US" sz="1250" dirty="0"/>
          </a:p>
        </p:txBody>
      </p:sp>
      <p:sp>
        <p:nvSpPr>
          <p:cNvPr id="12" name="Shape 9"/>
          <p:cNvSpPr/>
          <p:nvPr/>
        </p:nvSpPr>
        <p:spPr>
          <a:xfrm>
            <a:off x="548640" y="4023360"/>
            <a:ext cx="11064240" cy="1691640"/>
          </a:xfrm>
          <a:prstGeom prst="roundRect">
            <a:avLst>
              <a:gd name="adj" fmla="val 4324"/>
            </a:avLst>
          </a:prstGeom>
          <a:solidFill>
            <a:srgbClr val="F4F5F8"/>
          </a:solidFill>
          <a:ln/>
          <a:effectLst>
            <a:outerShdw blurRad="88900" dist="38100" dir="5400000" algn="bl" rotWithShape="0">
              <a:srgbClr val="000000">
                <a:alpha val="10000"/>
              </a:srgbClr>
            </a:outerShdw>
          </a:effectLst>
        </p:spPr>
        <p:txBody>
          <a:bodyPr/>
          <a:lstStyle/>
          <a:p>
            <a:endParaRPr lang="en-US"/>
          </a:p>
        </p:txBody>
      </p:sp>
      <p:sp>
        <p:nvSpPr>
          <p:cNvPr id="13" name="Shape 10"/>
          <p:cNvSpPr/>
          <p:nvPr/>
        </p:nvSpPr>
        <p:spPr>
          <a:xfrm>
            <a:off x="868680" y="4315968"/>
            <a:ext cx="868680" cy="868680"/>
          </a:xfrm>
          <a:prstGeom prst="ellipse">
            <a:avLst/>
          </a:prstGeom>
          <a:solidFill>
            <a:srgbClr val="151A2E"/>
          </a:solidFill>
          <a:ln/>
        </p:spPr>
        <p:txBody>
          <a:bodyPr/>
          <a:lstStyle/>
          <a:p>
            <a:endParaRPr lang="en-US"/>
          </a:p>
        </p:txBody>
      </p:sp>
      <p:sp>
        <p:nvSpPr>
          <p:cNvPr id="14" name="Text 11"/>
          <p:cNvSpPr/>
          <p:nvPr/>
        </p:nvSpPr>
        <p:spPr>
          <a:xfrm>
            <a:off x="868680" y="4315968"/>
            <a:ext cx="868680" cy="868680"/>
          </a:xfrm>
          <a:prstGeom prst="rect">
            <a:avLst/>
          </a:prstGeom>
          <a:noFill/>
          <a:ln/>
        </p:spPr>
        <p:txBody>
          <a:bodyPr wrap="square" rtlCol="0" anchor="ctr"/>
          <a:lstStyle/>
          <a:p>
            <a:pPr marL="0" indent="0" algn="ctr">
              <a:buNone/>
            </a:pPr>
            <a:r>
              <a:rPr lang="en-US" sz="3200" b="1" dirty="0">
                <a:solidFill>
                  <a:srgbClr val="FFFFFF"/>
                </a:solidFill>
                <a:latin typeface="Cambria" pitchFamily="34" charset="0"/>
                <a:ea typeface="Cambria" pitchFamily="34" charset="-122"/>
                <a:cs typeface="Cambria" pitchFamily="34" charset="-120"/>
              </a:rPr>
              <a:t>2</a:t>
            </a:r>
            <a:endParaRPr lang="en-US" sz="3200" dirty="0"/>
          </a:p>
        </p:txBody>
      </p:sp>
      <p:sp>
        <p:nvSpPr>
          <p:cNvPr id="15" name="Text 12"/>
          <p:cNvSpPr/>
          <p:nvPr/>
        </p:nvSpPr>
        <p:spPr>
          <a:xfrm>
            <a:off x="2011680" y="4251960"/>
            <a:ext cx="9235440" cy="914400"/>
          </a:xfrm>
          <a:prstGeom prst="rect">
            <a:avLst/>
          </a:prstGeom>
          <a:noFill/>
          <a:ln/>
        </p:spPr>
        <p:txBody>
          <a:bodyPr wrap="square" lIns="0" tIns="0" rIns="0" bIns="0" rtlCol="0" anchor="ctr"/>
          <a:lstStyle/>
          <a:p>
            <a:pPr marL="0" indent="0">
              <a:buNone/>
            </a:pPr>
            <a:r>
              <a:rPr lang="en-US" sz="1550" dirty="0">
                <a:solidFill>
                  <a:srgbClr val="1B1F2A"/>
                </a:solidFill>
                <a:latin typeface="Calibri" pitchFamily="34" charset="0"/>
                <a:ea typeface="Calibri" pitchFamily="34" charset="-122"/>
                <a:cs typeface="Calibri" pitchFamily="34" charset="-120"/>
              </a:rPr>
              <a:t>You are launching in a market whose language tokenizes at three times the cost of English. Raise prices there, absorb the margin, build a custom tokenizer, or skip the market? Pick one and defend it.</a:t>
            </a:r>
            <a:endParaRPr lang="en-US" sz="1550" dirty="0"/>
          </a:p>
        </p:txBody>
      </p:sp>
      <p:sp>
        <p:nvSpPr>
          <p:cNvPr id="16" name="Text 13"/>
          <p:cNvSpPr/>
          <p:nvPr/>
        </p:nvSpPr>
        <p:spPr>
          <a:xfrm>
            <a:off x="2011680" y="5193792"/>
            <a:ext cx="9235440" cy="365760"/>
          </a:xfrm>
          <a:prstGeom prst="rect">
            <a:avLst/>
          </a:prstGeom>
          <a:noFill/>
          <a:ln/>
        </p:spPr>
        <p:txBody>
          <a:bodyPr wrap="square" lIns="0" tIns="0" rIns="0" bIns="0" rtlCol="0" anchor="ctr"/>
          <a:lstStyle/>
          <a:p>
            <a:pPr marL="0" indent="0">
              <a:buNone/>
            </a:pPr>
            <a:r>
              <a:rPr lang="en-US" sz="1250" b="1" i="1" dirty="0">
                <a:solidFill>
                  <a:srgbClr val="151A2E"/>
                </a:solidFill>
                <a:latin typeface="Calibri" pitchFamily="34" charset="0"/>
                <a:ea typeface="Calibri" pitchFamily="34" charset="-122"/>
                <a:cs typeface="Calibri" pitchFamily="34" charset="-120"/>
              </a:rPr>
              <a:t>A real product call where every option costs something.</a:t>
            </a:r>
            <a:endParaRPr lang="en-US" sz="1250" dirty="0"/>
          </a:p>
        </p:txBody>
      </p:sp>
      <p:sp>
        <p:nvSpPr>
          <p:cNvPr id="17" name="Text 14"/>
          <p:cNvSpPr/>
          <p:nvPr/>
        </p:nvSpPr>
        <p:spPr>
          <a:xfrm>
            <a:off x="457200" y="6437376"/>
            <a:ext cx="9601200" cy="274320"/>
          </a:xfrm>
          <a:prstGeom prst="rect">
            <a:avLst/>
          </a:prstGeom>
          <a:noFill/>
          <a:ln/>
        </p:spPr>
        <p:txBody>
          <a:bodyPr wrap="square" lIns="0" tIns="0" rIns="0" bIns="0" rtlCol="0" anchor="ctr"/>
          <a:lstStyle/>
          <a:p>
            <a:pPr marL="0" indent="0" algn="l">
              <a:buNone/>
            </a:pPr>
            <a:r>
              <a:rPr lang="en-US" sz="900" dirty="0">
                <a:solidFill>
                  <a:srgbClr val="5B6172"/>
                </a:solidFill>
                <a:latin typeface="Calibri" pitchFamily="34" charset="0"/>
                <a:ea typeface="Calibri" pitchFamily="34" charset="-122"/>
                <a:cs typeface="Calibri" pitchFamily="34" charset="-120"/>
              </a:rPr>
              <a:t>ISBA 2411 · Natural Language Processing &amp; AI · Summer 2026</a:t>
            </a:r>
            <a:endParaRPr lang="en-US" sz="900" dirty="0"/>
          </a:p>
        </p:txBody>
      </p:sp>
      <p:sp>
        <p:nvSpPr>
          <p:cNvPr id="18" name="Text 15"/>
          <p:cNvSpPr/>
          <p:nvPr/>
        </p:nvSpPr>
        <p:spPr>
          <a:xfrm>
            <a:off x="11338560" y="6437376"/>
            <a:ext cx="365760" cy="274320"/>
          </a:xfrm>
          <a:prstGeom prst="rect">
            <a:avLst/>
          </a:prstGeom>
          <a:noFill/>
          <a:ln/>
        </p:spPr>
        <p:txBody>
          <a:bodyPr wrap="square" lIns="0" tIns="0" rIns="0" bIns="0" rtlCol="0" anchor="ctr"/>
          <a:lstStyle/>
          <a:p>
            <a:pPr marL="0" indent="0" algn="r">
              <a:buNone/>
            </a:pPr>
            <a:r>
              <a:rPr lang="en-US" sz="900" dirty="0">
                <a:solidFill>
                  <a:srgbClr val="5B6172"/>
                </a:solidFill>
                <a:latin typeface="Calibri" pitchFamily="34" charset="0"/>
                <a:ea typeface="Calibri" pitchFamily="34" charset="-122"/>
                <a:cs typeface="Calibri" pitchFamily="34" charset="-120"/>
              </a:rPr>
              <a:t>9</a:t>
            </a:r>
            <a:endParaRPr lang="en-US" sz="9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548640" y="384048"/>
            <a:ext cx="10972800" cy="320040"/>
          </a:xfrm>
          <a:prstGeom prst="rect">
            <a:avLst/>
          </a:prstGeom>
          <a:noFill/>
          <a:ln/>
        </p:spPr>
        <p:txBody>
          <a:bodyPr wrap="square" lIns="0" tIns="0" rIns="0" bIns="0" rtlCol="0" anchor="ctr"/>
          <a:lstStyle/>
          <a:p>
            <a:pPr marL="0" indent="0">
              <a:buNone/>
            </a:pPr>
            <a:r>
              <a:rPr lang="en-US" sz="1300" b="1" kern="0" spc="200" dirty="0">
                <a:solidFill>
                  <a:srgbClr val="B31A38"/>
                </a:solidFill>
                <a:latin typeface="Calibri" pitchFamily="34" charset="0"/>
                <a:ea typeface="Calibri" pitchFamily="34" charset="-122"/>
                <a:cs typeface="Calibri" pitchFamily="34" charset="-120"/>
              </a:rPr>
              <a:t>CONNECT TO YOUR PROJECT</a:t>
            </a:r>
            <a:endParaRPr lang="en-US" sz="1300" dirty="0"/>
          </a:p>
        </p:txBody>
      </p:sp>
      <p:sp>
        <p:nvSpPr>
          <p:cNvPr id="3" name="Text 1"/>
          <p:cNvSpPr/>
          <p:nvPr/>
        </p:nvSpPr>
        <p:spPr>
          <a:xfrm>
            <a:off x="548640" y="676656"/>
            <a:ext cx="11064240" cy="777240"/>
          </a:xfrm>
          <a:prstGeom prst="rect">
            <a:avLst/>
          </a:prstGeom>
          <a:noFill/>
          <a:ln/>
        </p:spPr>
        <p:txBody>
          <a:bodyPr wrap="square" lIns="0" tIns="0" rIns="0" bIns="0" rtlCol="0" anchor="ctr"/>
          <a:lstStyle/>
          <a:p>
            <a:pPr marL="0" indent="0">
              <a:buNone/>
            </a:pPr>
            <a:r>
              <a:rPr lang="en-US" sz="3000" b="1" dirty="0">
                <a:solidFill>
                  <a:srgbClr val="151A2E"/>
                </a:solidFill>
                <a:latin typeface="Cambria" pitchFamily="34" charset="0"/>
                <a:ea typeface="Cambria" pitchFamily="34" charset="-122"/>
                <a:cs typeface="Cambria" pitchFamily="34" charset="-120"/>
              </a:rPr>
              <a:t>How Week 2 shows up in the final system</a:t>
            </a:r>
            <a:endParaRPr lang="en-US" sz="3000" dirty="0"/>
          </a:p>
        </p:txBody>
      </p:sp>
      <p:sp>
        <p:nvSpPr>
          <p:cNvPr id="4" name="Shape 2"/>
          <p:cNvSpPr/>
          <p:nvPr/>
        </p:nvSpPr>
        <p:spPr>
          <a:xfrm>
            <a:off x="548640" y="1965960"/>
            <a:ext cx="11064240" cy="1143000"/>
          </a:xfrm>
          <a:prstGeom prst="roundRect">
            <a:avLst>
              <a:gd name="adj" fmla="val 6400"/>
            </a:avLst>
          </a:prstGeom>
          <a:solidFill>
            <a:srgbClr val="F7F3E9"/>
          </a:solidFill>
          <a:ln/>
          <a:effectLst>
            <a:outerShdw blurRad="88900" dist="38100" dir="5400000" algn="bl" rotWithShape="0">
              <a:srgbClr val="000000">
                <a:alpha val="10000"/>
              </a:srgbClr>
            </a:outerShdw>
          </a:effectLst>
        </p:spPr>
        <p:txBody>
          <a:bodyPr/>
          <a:lstStyle/>
          <a:p>
            <a:endParaRPr lang="en-US"/>
          </a:p>
        </p:txBody>
      </p:sp>
      <p:sp>
        <p:nvSpPr>
          <p:cNvPr id="5" name="Text 3"/>
          <p:cNvSpPr/>
          <p:nvPr/>
        </p:nvSpPr>
        <p:spPr>
          <a:xfrm>
            <a:off x="822960" y="1965960"/>
            <a:ext cx="10515600" cy="1143000"/>
          </a:xfrm>
          <a:prstGeom prst="rect">
            <a:avLst/>
          </a:prstGeom>
          <a:noFill/>
          <a:ln/>
        </p:spPr>
        <p:txBody>
          <a:bodyPr wrap="square" rtlCol="0" anchor="ctr"/>
          <a:lstStyle/>
          <a:p>
            <a:pPr marL="0" indent="0">
              <a:buNone/>
            </a:pPr>
            <a:r>
              <a:rPr lang="en-US" sz="1500" dirty="0">
                <a:solidFill>
                  <a:srgbClr val="1B1F2A"/>
                </a:solidFill>
                <a:latin typeface="Calibri" pitchFamily="34" charset="0"/>
                <a:ea typeface="Calibri" pitchFamily="34" charset="-122"/>
                <a:cs typeface="Calibri" pitchFamily="34" charset="-120"/>
              </a:rPr>
              <a:t>Your agentic NLP system will read messy, real-world text. </a:t>
            </a:r>
            <a:r>
              <a:rPr lang="en-US" sz="1500" b="1" dirty="0">
                <a:solidFill>
                  <a:srgbClr val="1B1F2A"/>
                </a:solidFill>
                <a:latin typeface="Calibri" pitchFamily="34" charset="0"/>
                <a:ea typeface="Calibri" pitchFamily="34" charset="-122"/>
                <a:cs typeface="Calibri" pitchFamily="34" charset="-120"/>
              </a:rPr>
              <a:t>Every choice today, the tokenizer, the entity extractor, the handling of non-English input, is a decision you will defend in your demo.</a:t>
            </a:r>
            <a:endParaRPr lang="en-US" sz="1500" dirty="0"/>
          </a:p>
        </p:txBody>
      </p:sp>
      <p:sp>
        <p:nvSpPr>
          <p:cNvPr id="6" name="Shape 4"/>
          <p:cNvSpPr/>
          <p:nvPr/>
        </p:nvSpPr>
        <p:spPr>
          <a:xfrm>
            <a:off x="548640" y="3383280"/>
            <a:ext cx="3593592" cy="1920240"/>
          </a:xfrm>
          <a:prstGeom prst="roundRect">
            <a:avLst>
              <a:gd name="adj" fmla="val 3810"/>
            </a:avLst>
          </a:prstGeom>
          <a:solidFill>
            <a:srgbClr val="FFFFFF"/>
          </a:solidFill>
          <a:ln/>
          <a:effectLst>
            <a:outerShdw blurRad="88900" dist="38100" dir="5400000" algn="bl" rotWithShape="0">
              <a:srgbClr val="000000">
                <a:alpha val="10000"/>
              </a:srgbClr>
            </a:outerShdw>
          </a:effectLst>
        </p:spPr>
        <p:txBody>
          <a:bodyPr/>
          <a:lstStyle/>
          <a:p>
            <a:endParaRPr lang="en-US"/>
          </a:p>
        </p:txBody>
      </p:sp>
      <p:sp>
        <p:nvSpPr>
          <p:cNvPr id="7" name="Shape 5"/>
          <p:cNvSpPr/>
          <p:nvPr/>
        </p:nvSpPr>
        <p:spPr>
          <a:xfrm>
            <a:off x="1933956" y="3611880"/>
            <a:ext cx="822960" cy="822960"/>
          </a:xfrm>
          <a:prstGeom prst="ellipse">
            <a:avLst/>
          </a:prstGeom>
          <a:solidFill>
            <a:srgbClr val="B31A38"/>
          </a:solidFill>
          <a:ln/>
        </p:spPr>
        <p:txBody>
          <a:bodyPr/>
          <a:lstStyle/>
          <a:p>
            <a:endParaRPr lang="en-US"/>
          </a:p>
        </p:txBody>
      </p:sp>
      <p:sp>
        <p:nvSpPr>
          <p:cNvPr id="8" name="Text 6"/>
          <p:cNvSpPr/>
          <p:nvPr/>
        </p:nvSpPr>
        <p:spPr>
          <a:xfrm>
            <a:off x="1933956" y="3611880"/>
            <a:ext cx="822960" cy="822960"/>
          </a:xfrm>
          <a:prstGeom prst="rect">
            <a:avLst/>
          </a:prstGeom>
          <a:noFill/>
          <a:ln/>
        </p:spPr>
        <p:txBody>
          <a:bodyPr wrap="square" rtlCol="0" anchor="ctr"/>
          <a:lstStyle/>
          <a:p>
            <a:pPr marL="0" indent="0" algn="ctr">
              <a:buNone/>
            </a:pPr>
            <a:r>
              <a:rPr lang="en-US" sz="3000" b="1" dirty="0">
                <a:solidFill>
                  <a:srgbClr val="FFFFFF"/>
                </a:solidFill>
                <a:latin typeface="Cambria" pitchFamily="34" charset="0"/>
                <a:ea typeface="Cambria" pitchFamily="34" charset="-122"/>
                <a:cs typeface="Cambria" pitchFamily="34" charset="-120"/>
              </a:rPr>
              <a:t>1</a:t>
            </a:r>
            <a:endParaRPr lang="en-US" sz="3000" dirty="0"/>
          </a:p>
        </p:txBody>
      </p:sp>
      <p:sp>
        <p:nvSpPr>
          <p:cNvPr id="9" name="Text 7"/>
          <p:cNvSpPr/>
          <p:nvPr/>
        </p:nvSpPr>
        <p:spPr>
          <a:xfrm>
            <a:off x="731520" y="4526280"/>
            <a:ext cx="3227832" cy="365760"/>
          </a:xfrm>
          <a:prstGeom prst="rect">
            <a:avLst/>
          </a:prstGeom>
          <a:noFill/>
          <a:ln/>
        </p:spPr>
        <p:txBody>
          <a:bodyPr wrap="square" lIns="0" tIns="0" rIns="0" bIns="0" rtlCol="0" anchor="ctr"/>
          <a:lstStyle/>
          <a:p>
            <a:pPr marL="0" indent="0" algn="ctr">
              <a:buNone/>
            </a:pPr>
            <a:r>
              <a:rPr lang="en-US" sz="1550" b="1" dirty="0">
                <a:solidFill>
                  <a:srgbClr val="B31A38"/>
                </a:solidFill>
                <a:latin typeface="Cambria" pitchFamily="34" charset="0"/>
                <a:ea typeface="Cambria" pitchFamily="34" charset="-122"/>
                <a:cs typeface="Cambria" pitchFamily="34" charset="-120"/>
              </a:rPr>
              <a:t>Pick a tokenizer</a:t>
            </a:r>
            <a:endParaRPr lang="en-US" sz="1550" dirty="0"/>
          </a:p>
        </p:txBody>
      </p:sp>
      <p:sp>
        <p:nvSpPr>
          <p:cNvPr id="10" name="Text 8"/>
          <p:cNvSpPr/>
          <p:nvPr/>
        </p:nvSpPr>
        <p:spPr>
          <a:xfrm>
            <a:off x="777240" y="4892040"/>
            <a:ext cx="3136392" cy="411480"/>
          </a:xfrm>
          <a:prstGeom prst="rect">
            <a:avLst/>
          </a:prstGeom>
          <a:noFill/>
          <a:ln/>
        </p:spPr>
        <p:txBody>
          <a:bodyPr wrap="square" lIns="0" tIns="0" rIns="0" bIns="0" rtlCol="0" anchor="ctr"/>
          <a:lstStyle/>
          <a:p>
            <a:pPr marL="0" indent="0" algn="ctr">
              <a:buNone/>
            </a:pPr>
            <a:r>
              <a:rPr lang="en-US" sz="1250" dirty="0">
                <a:solidFill>
                  <a:srgbClr val="1B1F2A"/>
                </a:solidFill>
                <a:latin typeface="Calibri" pitchFamily="34" charset="0"/>
                <a:ea typeface="Calibri" pitchFamily="34" charset="-122"/>
                <a:cs typeface="Calibri" pitchFamily="34" charset="-120"/>
              </a:rPr>
              <a:t>Match it to your model. Never mix checkpoints</a:t>
            </a:r>
            <a:endParaRPr lang="en-US" sz="1250" dirty="0"/>
          </a:p>
        </p:txBody>
      </p:sp>
      <p:sp>
        <p:nvSpPr>
          <p:cNvPr id="11" name="Shape 9"/>
          <p:cNvSpPr/>
          <p:nvPr/>
        </p:nvSpPr>
        <p:spPr>
          <a:xfrm>
            <a:off x="4288536" y="3383280"/>
            <a:ext cx="3593592" cy="1920240"/>
          </a:xfrm>
          <a:prstGeom prst="roundRect">
            <a:avLst>
              <a:gd name="adj" fmla="val 3810"/>
            </a:avLst>
          </a:prstGeom>
          <a:solidFill>
            <a:srgbClr val="FFFFFF"/>
          </a:solidFill>
          <a:ln/>
          <a:effectLst>
            <a:outerShdw blurRad="88900" dist="38100" dir="5400000" algn="bl" rotWithShape="0">
              <a:srgbClr val="000000">
                <a:alpha val="10000"/>
              </a:srgbClr>
            </a:outerShdw>
          </a:effectLst>
        </p:spPr>
        <p:txBody>
          <a:bodyPr/>
          <a:lstStyle/>
          <a:p>
            <a:endParaRPr lang="en-US"/>
          </a:p>
        </p:txBody>
      </p:sp>
      <p:sp>
        <p:nvSpPr>
          <p:cNvPr id="12" name="Shape 10"/>
          <p:cNvSpPr/>
          <p:nvPr/>
        </p:nvSpPr>
        <p:spPr>
          <a:xfrm>
            <a:off x="5673852" y="3611880"/>
            <a:ext cx="822960" cy="822960"/>
          </a:xfrm>
          <a:prstGeom prst="ellipse">
            <a:avLst/>
          </a:prstGeom>
          <a:solidFill>
            <a:srgbClr val="151A2E"/>
          </a:solidFill>
          <a:ln/>
        </p:spPr>
        <p:txBody>
          <a:bodyPr/>
          <a:lstStyle/>
          <a:p>
            <a:endParaRPr lang="en-US"/>
          </a:p>
        </p:txBody>
      </p:sp>
      <p:sp>
        <p:nvSpPr>
          <p:cNvPr id="13" name="Text 11"/>
          <p:cNvSpPr/>
          <p:nvPr/>
        </p:nvSpPr>
        <p:spPr>
          <a:xfrm>
            <a:off x="5673852" y="3611880"/>
            <a:ext cx="822960" cy="822960"/>
          </a:xfrm>
          <a:prstGeom prst="rect">
            <a:avLst/>
          </a:prstGeom>
          <a:noFill/>
          <a:ln/>
        </p:spPr>
        <p:txBody>
          <a:bodyPr wrap="square" rtlCol="0" anchor="ctr"/>
          <a:lstStyle/>
          <a:p>
            <a:pPr marL="0" indent="0" algn="ctr">
              <a:buNone/>
            </a:pPr>
            <a:r>
              <a:rPr lang="en-US" sz="3000" b="1" dirty="0">
                <a:solidFill>
                  <a:srgbClr val="FFFFFF"/>
                </a:solidFill>
                <a:latin typeface="Cambria" pitchFamily="34" charset="0"/>
                <a:ea typeface="Cambria" pitchFamily="34" charset="-122"/>
                <a:cs typeface="Cambria" pitchFamily="34" charset="-120"/>
              </a:rPr>
              <a:t>2</a:t>
            </a:r>
            <a:endParaRPr lang="en-US" sz="3000" dirty="0"/>
          </a:p>
        </p:txBody>
      </p:sp>
      <p:sp>
        <p:nvSpPr>
          <p:cNvPr id="14" name="Text 12"/>
          <p:cNvSpPr/>
          <p:nvPr/>
        </p:nvSpPr>
        <p:spPr>
          <a:xfrm>
            <a:off x="4471416" y="4526280"/>
            <a:ext cx="3227832" cy="365760"/>
          </a:xfrm>
          <a:prstGeom prst="rect">
            <a:avLst/>
          </a:prstGeom>
          <a:noFill/>
          <a:ln/>
        </p:spPr>
        <p:txBody>
          <a:bodyPr wrap="square" lIns="0" tIns="0" rIns="0" bIns="0" rtlCol="0" anchor="ctr"/>
          <a:lstStyle/>
          <a:p>
            <a:pPr marL="0" indent="0" algn="ctr">
              <a:buNone/>
            </a:pPr>
            <a:r>
              <a:rPr lang="en-US" sz="1550" b="1" dirty="0">
                <a:solidFill>
                  <a:srgbClr val="151A2E"/>
                </a:solidFill>
                <a:latin typeface="Cambria" pitchFamily="34" charset="0"/>
                <a:ea typeface="Cambria" pitchFamily="34" charset="-122"/>
                <a:cs typeface="Cambria" pitchFamily="34" charset="-120"/>
              </a:rPr>
              <a:t>Plan for entities</a:t>
            </a:r>
            <a:endParaRPr lang="en-US" sz="1550" dirty="0"/>
          </a:p>
        </p:txBody>
      </p:sp>
      <p:sp>
        <p:nvSpPr>
          <p:cNvPr id="15" name="Text 13"/>
          <p:cNvSpPr/>
          <p:nvPr/>
        </p:nvSpPr>
        <p:spPr>
          <a:xfrm>
            <a:off x="4517136" y="4892040"/>
            <a:ext cx="3136392" cy="411480"/>
          </a:xfrm>
          <a:prstGeom prst="rect">
            <a:avLst/>
          </a:prstGeom>
          <a:noFill/>
          <a:ln/>
        </p:spPr>
        <p:txBody>
          <a:bodyPr wrap="square" lIns="0" tIns="0" rIns="0" bIns="0" rtlCol="0" anchor="ctr"/>
          <a:lstStyle/>
          <a:p>
            <a:pPr marL="0" indent="0" algn="ctr">
              <a:buNone/>
            </a:pPr>
            <a:r>
              <a:rPr lang="en-US" sz="1250" dirty="0">
                <a:solidFill>
                  <a:srgbClr val="1B1F2A"/>
                </a:solidFill>
                <a:latin typeface="Calibri" pitchFamily="34" charset="0"/>
                <a:ea typeface="Calibri" pitchFamily="34" charset="-122"/>
                <a:cs typeface="Calibri" pitchFamily="34" charset="-120"/>
              </a:rPr>
              <a:t>Decide what NER your pipeline must extract</a:t>
            </a:r>
            <a:endParaRPr lang="en-US" sz="1250" dirty="0"/>
          </a:p>
        </p:txBody>
      </p:sp>
      <p:sp>
        <p:nvSpPr>
          <p:cNvPr id="16" name="Shape 14"/>
          <p:cNvSpPr/>
          <p:nvPr/>
        </p:nvSpPr>
        <p:spPr>
          <a:xfrm>
            <a:off x="8028432" y="3383280"/>
            <a:ext cx="3593592" cy="1920240"/>
          </a:xfrm>
          <a:prstGeom prst="roundRect">
            <a:avLst>
              <a:gd name="adj" fmla="val 3810"/>
            </a:avLst>
          </a:prstGeom>
          <a:solidFill>
            <a:srgbClr val="FFFFFF"/>
          </a:solidFill>
          <a:ln/>
          <a:effectLst>
            <a:outerShdw blurRad="88900" dist="38100" dir="5400000" algn="bl" rotWithShape="0">
              <a:srgbClr val="000000">
                <a:alpha val="10000"/>
              </a:srgbClr>
            </a:outerShdw>
          </a:effectLst>
        </p:spPr>
        <p:txBody>
          <a:bodyPr/>
          <a:lstStyle/>
          <a:p>
            <a:endParaRPr lang="en-US"/>
          </a:p>
        </p:txBody>
      </p:sp>
      <p:sp>
        <p:nvSpPr>
          <p:cNvPr id="17" name="Shape 15"/>
          <p:cNvSpPr/>
          <p:nvPr/>
        </p:nvSpPr>
        <p:spPr>
          <a:xfrm>
            <a:off x="9413748" y="3611880"/>
            <a:ext cx="822960" cy="822960"/>
          </a:xfrm>
          <a:prstGeom prst="ellipse">
            <a:avLst/>
          </a:prstGeom>
          <a:solidFill>
            <a:srgbClr val="B5A06A"/>
          </a:solidFill>
          <a:ln/>
        </p:spPr>
        <p:txBody>
          <a:bodyPr/>
          <a:lstStyle/>
          <a:p>
            <a:endParaRPr lang="en-US"/>
          </a:p>
        </p:txBody>
      </p:sp>
      <p:sp>
        <p:nvSpPr>
          <p:cNvPr id="18" name="Text 16"/>
          <p:cNvSpPr/>
          <p:nvPr/>
        </p:nvSpPr>
        <p:spPr>
          <a:xfrm>
            <a:off x="9413748" y="3611880"/>
            <a:ext cx="822960" cy="822960"/>
          </a:xfrm>
          <a:prstGeom prst="rect">
            <a:avLst/>
          </a:prstGeom>
          <a:noFill/>
          <a:ln/>
        </p:spPr>
        <p:txBody>
          <a:bodyPr wrap="square" rtlCol="0" anchor="ctr"/>
          <a:lstStyle/>
          <a:p>
            <a:pPr marL="0" indent="0" algn="ctr">
              <a:buNone/>
            </a:pPr>
            <a:r>
              <a:rPr lang="en-US" sz="3000" b="1" dirty="0">
                <a:solidFill>
                  <a:srgbClr val="FFFFFF"/>
                </a:solidFill>
                <a:latin typeface="Cambria" pitchFamily="34" charset="0"/>
                <a:ea typeface="Cambria" pitchFamily="34" charset="-122"/>
                <a:cs typeface="Cambria" pitchFamily="34" charset="-120"/>
              </a:rPr>
              <a:t>3</a:t>
            </a:r>
            <a:endParaRPr lang="en-US" sz="3000" dirty="0"/>
          </a:p>
        </p:txBody>
      </p:sp>
      <p:sp>
        <p:nvSpPr>
          <p:cNvPr id="19" name="Text 17"/>
          <p:cNvSpPr/>
          <p:nvPr/>
        </p:nvSpPr>
        <p:spPr>
          <a:xfrm>
            <a:off x="8211312" y="4526280"/>
            <a:ext cx="3227832" cy="365760"/>
          </a:xfrm>
          <a:prstGeom prst="rect">
            <a:avLst/>
          </a:prstGeom>
          <a:noFill/>
          <a:ln/>
        </p:spPr>
        <p:txBody>
          <a:bodyPr wrap="square" lIns="0" tIns="0" rIns="0" bIns="0" rtlCol="0" anchor="ctr"/>
          <a:lstStyle/>
          <a:p>
            <a:pPr marL="0" indent="0" algn="ctr">
              <a:buNone/>
            </a:pPr>
            <a:r>
              <a:rPr lang="en-US" sz="1550" b="1" dirty="0">
                <a:solidFill>
                  <a:srgbClr val="B5A06A"/>
                </a:solidFill>
                <a:latin typeface="Cambria" pitchFamily="34" charset="0"/>
                <a:ea typeface="Cambria" pitchFamily="34" charset="-122"/>
                <a:cs typeface="Cambria" pitchFamily="34" charset="-120"/>
              </a:rPr>
              <a:t>Budget your tokens</a:t>
            </a:r>
            <a:endParaRPr lang="en-US" sz="1550" dirty="0"/>
          </a:p>
        </p:txBody>
      </p:sp>
      <p:sp>
        <p:nvSpPr>
          <p:cNvPr id="20" name="Text 18"/>
          <p:cNvSpPr/>
          <p:nvPr/>
        </p:nvSpPr>
        <p:spPr>
          <a:xfrm>
            <a:off x="8257032" y="4892040"/>
            <a:ext cx="3136392" cy="411480"/>
          </a:xfrm>
          <a:prstGeom prst="rect">
            <a:avLst/>
          </a:prstGeom>
          <a:noFill/>
          <a:ln/>
        </p:spPr>
        <p:txBody>
          <a:bodyPr wrap="square" lIns="0" tIns="0" rIns="0" bIns="0" rtlCol="0" anchor="ctr"/>
          <a:lstStyle/>
          <a:p>
            <a:pPr marL="0" indent="0" algn="ctr">
              <a:buNone/>
            </a:pPr>
            <a:r>
              <a:rPr lang="en-US" sz="1250" dirty="0">
                <a:solidFill>
                  <a:srgbClr val="1B1F2A"/>
                </a:solidFill>
                <a:latin typeface="Calibri" pitchFamily="34" charset="0"/>
                <a:ea typeface="Calibri" pitchFamily="34" charset="-122"/>
                <a:cs typeface="Calibri" pitchFamily="34" charset="-120"/>
              </a:rPr>
              <a:t>Know your cost per request before you scale</a:t>
            </a:r>
            <a:endParaRPr lang="en-US" sz="1250" dirty="0"/>
          </a:p>
        </p:txBody>
      </p:sp>
      <p:sp>
        <p:nvSpPr>
          <p:cNvPr id="21" name="Text 19"/>
          <p:cNvSpPr/>
          <p:nvPr/>
        </p:nvSpPr>
        <p:spPr>
          <a:xfrm>
            <a:off x="457200" y="6437376"/>
            <a:ext cx="9601200" cy="274320"/>
          </a:xfrm>
          <a:prstGeom prst="rect">
            <a:avLst/>
          </a:prstGeom>
          <a:noFill/>
          <a:ln/>
        </p:spPr>
        <p:txBody>
          <a:bodyPr wrap="square" lIns="0" tIns="0" rIns="0" bIns="0" rtlCol="0" anchor="ctr"/>
          <a:lstStyle/>
          <a:p>
            <a:pPr marL="0" indent="0" algn="l">
              <a:buNone/>
            </a:pPr>
            <a:r>
              <a:rPr lang="en-US" sz="900" dirty="0">
                <a:solidFill>
                  <a:srgbClr val="5B6172"/>
                </a:solidFill>
                <a:latin typeface="Calibri" pitchFamily="34" charset="0"/>
                <a:ea typeface="Calibri" pitchFamily="34" charset="-122"/>
                <a:cs typeface="Calibri" pitchFamily="34" charset="-120"/>
              </a:rPr>
              <a:t>ISBA 2411 · Natural Language Processing &amp; AI · Summer 2026</a:t>
            </a:r>
            <a:endParaRPr lang="en-US" sz="900" dirty="0"/>
          </a:p>
        </p:txBody>
      </p:sp>
      <p:sp>
        <p:nvSpPr>
          <p:cNvPr id="22" name="Text 20"/>
          <p:cNvSpPr/>
          <p:nvPr/>
        </p:nvSpPr>
        <p:spPr>
          <a:xfrm>
            <a:off x="11338560" y="6437376"/>
            <a:ext cx="365760" cy="274320"/>
          </a:xfrm>
          <a:prstGeom prst="rect">
            <a:avLst/>
          </a:prstGeom>
          <a:noFill/>
          <a:ln/>
        </p:spPr>
        <p:txBody>
          <a:bodyPr wrap="square" lIns="0" tIns="0" rIns="0" bIns="0" rtlCol="0" anchor="ctr"/>
          <a:lstStyle/>
          <a:p>
            <a:pPr marL="0" indent="0" algn="r">
              <a:buNone/>
            </a:pPr>
            <a:r>
              <a:rPr lang="en-US" sz="900" dirty="0">
                <a:solidFill>
                  <a:srgbClr val="5B6172"/>
                </a:solidFill>
                <a:latin typeface="Calibri" pitchFamily="34" charset="0"/>
                <a:ea typeface="Calibri" pitchFamily="34" charset="-122"/>
                <a:cs typeface="Calibri" pitchFamily="34" charset="-120"/>
              </a:rPr>
              <a:t>10</a:t>
            </a:r>
            <a:endParaRPr lang="en-US" sz="9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3">
    <p:bg>
      <p:bgPr>
        <a:solidFill>
          <a:srgbClr val="151A2E"/>
        </a:solidFill>
        <a:effectLst/>
      </p:bgPr>
    </p:bg>
    <p:spTree>
      <p:nvGrpSpPr>
        <p:cNvPr id="1" name=""/>
        <p:cNvGrpSpPr/>
        <p:nvPr/>
      </p:nvGrpSpPr>
      <p:grpSpPr>
        <a:xfrm>
          <a:off x="0" y="0"/>
          <a:ext cx="0" cy="0"/>
          <a:chOff x="0" y="0"/>
          <a:chExt cx="0" cy="0"/>
        </a:xfrm>
      </p:grpSpPr>
      <p:sp>
        <p:nvSpPr>
          <p:cNvPr id="2" name="Text 0"/>
          <p:cNvSpPr/>
          <p:nvPr/>
        </p:nvSpPr>
        <p:spPr>
          <a:xfrm>
            <a:off x="640080" y="594360"/>
            <a:ext cx="10058400" cy="365760"/>
          </a:xfrm>
          <a:prstGeom prst="rect">
            <a:avLst/>
          </a:prstGeom>
          <a:noFill/>
          <a:ln/>
        </p:spPr>
        <p:txBody>
          <a:bodyPr wrap="square" rtlCol="0" anchor="ctr"/>
          <a:lstStyle/>
          <a:p>
            <a:pPr marL="0" indent="0">
              <a:buNone/>
            </a:pPr>
            <a:r>
              <a:rPr lang="en-US" sz="1400" b="1" kern="0" spc="300" dirty="0">
                <a:solidFill>
                  <a:srgbClr val="B5A06A"/>
                </a:solidFill>
                <a:latin typeface="Calibri" pitchFamily="34" charset="0"/>
                <a:ea typeface="Calibri" pitchFamily="34" charset="-122"/>
                <a:cs typeface="Calibri" pitchFamily="34" charset="-120"/>
              </a:rPr>
              <a:t>WRAP-UP</a:t>
            </a:r>
            <a:endParaRPr lang="en-US" sz="1400" dirty="0"/>
          </a:p>
        </p:txBody>
      </p:sp>
      <p:sp>
        <p:nvSpPr>
          <p:cNvPr id="3" name="Text 1"/>
          <p:cNvSpPr/>
          <p:nvPr/>
        </p:nvSpPr>
        <p:spPr>
          <a:xfrm>
            <a:off x="640080" y="960120"/>
            <a:ext cx="10972800" cy="640080"/>
          </a:xfrm>
          <a:prstGeom prst="rect">
            <a:avLst/>
          </a:prstGeom>
          <a:noFill/>
          <a:ln/>
        </p:spPr>
        <p:txBody>
          <a:bodyPr wrap="square" rtlCol="0" anchor="ctr"/>
          <a:lstStyle/>
          <a:p>
            <a:pPr marL="0" indent="0">
              <a:buNone/>
            </a:pPr>
            <a:r>
              <a:rPr lang="en-US" sz="3000" b="1" dirty="0">
                <a:solidFill>
                  <a:srgbClr val="FFFFFF"/>
                </a:solidFill>
                <a:latin typeface="Cambria" pitchFamily="34" charset="0"/>
                <a:ea typeface="Cambria" pitchFamily="34" charset="-122"/>
                <a:cs typeface="Cambria" pitchFamily="34" charset="-120"/>
              </a:rPr>
              <a:t>Week 2 in one line</a:t>
            </a:r>
            <a:endParaRPr lang="en-US" sz="3000" dirty="0"/>
          </a:p>
        </p:txBody>
      </p:sp>
      <p:sp>
        <p:nvSpPr>
          <p:cNvPr id="4" name="Text 2"/>
          <p:cNvSpPr/>
          <p:nvPr/>
        </p:nvSpPr>
        <p:spPr>
          <a:xfrm>
            <a:off x="640080" y="1691640"/>
            <a:ext cx="10698480" cy="548640"/>
          </a:xfrm>
          <a:prstGeom prst="rect">
            <a:avLst/>
          </a:prstGeom>
          <a:noFill/>
          <a:ln/>
        </p:spPr>
        <p:txBody>
          <a:bodyPr wrap="square" rtlCol="0" anchor="ctr"/>
          <a:lstStyle/>
          <a:p>
            <a:pPr marL="0" indent="0">
              <a:buNone/>
            </a:pPr>
            <a:r>
              <a:rPr lang="en-US" sz="1600" i="1" dirty="0">
                <a:solidFill>
                  <a:srgbClr val="C9CDDA"/>
                </a:solidFill>
                <a:latin typeface="Calibri" pitchFamily="34" charset="0"/>
                <a:ea typeface="Calibri" pitchFamily="34" charset="-122"/>
                <a:cs typeface="Calibri" pitchFamily="34" charset="-120"/>
              </a:rPr>
              <a:t>Language has structure, that structure is often ambiguous, and the pipeline that handles it assumes English until you make it not.</a:t>
            </a:r>
            <a:endParaRPr lang="en-US" sz="1600" dirty="0"/>
          </a:p>
        </p:txBody>
      </p:sp>
      <p:sp>
        <p:nvSpPr>
          <p:cNvPr id="5" name="Shape 3"/>
          <p:cNvSpPr/>
          <p:nvPr/>
        </p:nvSpPr>
        <p:spPr>
          <a:xfrm>
            <a:off x="640080" y="2468880"/>
            <a:ext cx="3630168" cy="1828800"/>
          </a:xfrm>
          <a:prstGeom prst="roundRect">
            <a:avLst>
              <a:gd name="adj" fmla="val 4000"/>
            </a:avLst>
          </a:prstGeom>
          <a:solidFill>
            <a:srgbClr val="1F2540"/>
          </a:solidFill>
          <a:ln/>
        </p:spPr>
        <p:txBody>
          <a:bodyPr/>
          <a:lstStyle/>
          <a:p>
            <a:endParaRPr lang="en-US"/>
          </a:p>
        </p:txBody>
      </p:sp>
      <p:sp>
        <p:nvSpPr>
          <p:cNvPr id="6" name="Shape 4"/>
          <p:cNvSpPr/>
          <p:nvPr/>
        </p:nvSpPr>
        <p:spPr>
          <a:xfrm>
            <a:off x="914400" y="2697480"/>
            <a:ext cx="640080" cy="640080"/>
          </a:xfrm>
          <a:prstGeom prst="line">
            <a:avLst/>
          </a:prstGeom>
          <a:solidFill>
            <a:srgbClr val="B31A38"/>
          </a:solidFill>
          <a:ln/>
        </p:spPr>
        <p:txBody>
          <a:bodyPr/>
          <a:lstStyle/>
          <a:p>
            <a:endParaRPr lang="en-US"/>
          </a:p>
        </p:txBody>
      </p:sp>
      <p:pic>
        <p:nvPicPr>
          <p:cNvPr id="7" name="Image 0" descr="preencoded.png"/>
          <p:cNvPicPr>
            <a:picLocks noChangeAspect="1"/>
          </p:cNvPicPr>
          <p:nvPr/>
        </p:nvPicPr>
        <p:blipFill>
          <a:blip r:embed="rId3"/>
          <a:stretch>
            <a:fillRect/>
          </a:stretch>
        </p:blipFill>
        <p:spPr>
          <a:xfrm>
            <a:off x="1080821" y="2863901"/>
            <a:ext cx="307238" cy="307238"/>
          </a:xfrm>
          <a:prstGeom prst="rect">
            <a:avLst/>
          </a:prstGeom>
        </p:spPr>
      </p:pic>
      <p:sp>
        <p:nvSpPr>
          <p:cNvPr id="8" name="Text 5"/>
          <p:cNvSpPr/>
          <p:nvPr/>
        </p:nvSpPr>
        <p:spPr>
          <a:xfrm>
            <a:off x="914400" y="3429000"/>
            <a:ext cx="3081528" cy="365760"/>
          </a:xfrm>
          <a:prstGeom prst="rect">
            <a:avLst/>
          </a:prstGeom>
          <a:noFill/>
          <a:ln/>
        </p:spPr>
        <p:txBody>
          <a:bodyPr wrap="square" lIns="0" tIns="0" rIns="0" bIns="0" rtlCol="0" anchor="ctr"/>
          <a:lstStyle/>
          <a:p>
            <a:pPr marL="0" indent="0">
              <a:buNone/>
            </a:pPr>
            <a:r>
              <a:rPr lang="en-US" sz="1550" b="1" dirty="0">
                <a:solidFill>
                  <a:srgbClr val="FFFFFF"/>
                </a:solidFill>
                <a:latin typeface="Cambria" pitchFamily="34" charset="0"/>
                <a:ea typeface="Cambria" pitchFamily="34" charset="-122"/>
                <a:cs typeface="Cambria" pitchFamily="34" charset="-120"/>
              </a:rPr>
              <a:t>Parsing</a:t>
            </a:r>
            <a:endParaRPr lang="en-US" sz="1550" dirty="0"/>
          </a:p>
        </p:txBody>
      </p:sp>
      <p:sp>
        <p:nvSpPr>
          <p:cNvPr id="9" name="Text 6"/>
          <p:cNvSpPr/>
          <p:nvPr/>
        </p:nvSpPr>
        <p:spPr>
          <a:xfrm>
            <a:off x="914400" y="3794760"/>
            <a:ext cx="3081528" cy="457200"/>
          </a:xfrm>
          <a:prstGeom prst="rect">
            <a:avLst/>
          </a:prstGeom>
          <a:noFill/>
          <a:ln/>
        </p:spPr>
        <p:txBody>
          <a:bodyPr wrap="square" lIns="0" tIns="0" rIns="0" bIns="0" rtlCol="0" anchor="ctr"/>
          <a:lstStyle/>
          <a:p>
            <a:pPr marL="0" indent="0">
              <a:buNone/>
            </a:pPr>
            <a:r>
              <a:rPr lang="en-US" sz="1250" dirty="0">
                <a:solidFill>
                  <a:srgbClr val="B9BDCC"/>
                </a:solidFill>
                <a:latin typeface="Calibri" pitchFamily="34" charset="0"/>
                <a:ea typeface="Calibri" pitchFamily="34" charset="-122"/>
                <a:cs typeface="Calibri" pitchFamily="34" charset="-120"/>
              </a:rPr>
              <a:t>Constituency for chunks, dependency for relations</a:t>
            </a:r>
            <a:endParaRPr lang="en-US" sz="1250" dirty="0"/>
          </a:p>
        </p:txBody>
      </p:sp>
      <p:sp>
        <p:nvSpPr>
          <p:cNvPr id="10" name="Shape 7"/>
          <p:cNvSpPr/>
          <p:nvPr/>
        </p:nvSpPr>
        <p:spPr>
          <a:xfrm>
            <a:off x="4434840" y="2468880"/>
            <a:ext cx="3630168" cy="1828800"/>
          </a:xfrm>
          <a:prstGeom prst="roundRect">
            <a:avLst>
              <a:gd name="adj" fmla="val 4000"/>
            </a:avLst>
          </a:prstGeom>
          <a:solidFill>
            <a:srgbClr val="1F2540"/>
          </a:solidFill>
          <a:ln/>
        </p:spPr>
        <p:txBody>
          <a:bodyPr/>
          <a:lstStyle/>
          <a:p>
            <a:endParaRPr lang="en-US"/>
          </a:p>
        </p:txBody>
      </p:sp>
      <p:sp>
        <p:nvSpPr>
          <p:cNvPr id="11" name="Shape 8"/>
          <p:cNvSpPr/>
          <p:nvPr/>
        </p:nvSpPr>
        <p:spPr>
          <a:xfrm>
            <a:off x="4709160" y="2697480"/>
            <a:ext cx="640080" cy="640080"/>
          </a:xfrm>
          <a:prstGeom prst="line">
            <a:avLst/>
          </a:prstGeom>
          <a:solidFill>
            <a:srgbClr val="B31A38"/>
          </a:solidFill>
          <a:ln/>
        </p:spPr>
        <p:txBody>
          <a:bodyPr/>
          <a:lstStyle/>
          <a:p>
            <a:endParaRPr lang="en-US"/>
          </a:p>
        </p:txBody>
      </p:sp>
      <p:pic>
        <p:nvPicPr>
          <p:cNvPr id="12" name="Image 1" descr="preencoded.png"/>
          <p:cNvPicPr>
            <a:picLocks noChangeAspect="1"/>
          </p:cNvPicPr>
          <p:nvPr/>
        </p:nvPicPr>
        <p:blipFill>
          <a:blip r:embed="rId4"/>
          <a:stretch>
            <a:fillRect/>
          </a:stretch>
        </p:blipFill>
        <p:spPr>
          <a:xfrm>
            <a:off x="4875581" y="2863901"/>
            <a:ext cx="307238" cy="307238"/>
          </a:xfrm>
          <a:prstGeom prst="rect">
            <a:avLst/>
          </a:prstGeom>
        </p:spPr>
      </p:pic>
      <p:sp>
        <p:nvSpPr>
          <p:cNvPr id="13" name="Text 9"/>
          <p:cNvSpPr/>
          <p:nvPr/>
        </p:nvSpPr>
        <p:spPr>
          <a:xfrm>
            <a:off x="4709160" y="3429000"/>
            <a:ext cx="3081528" cy="365760"/>
          </a:xfrm>
          <a:prstGeom prst="rect">
            <a:avLst/>
          </a:prstGeom>
          <a:noFill/>
          <a:ln/>
        </p:spPr>
        <p:txBody>
          <a:bodyPr wrap="square" lIns="0" tIns="0" rIns="0" bIns="0" rtlCol="0" anchor="ctr"/>
          <a:lstStyle/>
          <a:p>
            <a:pPr marL="0" indent="0">
              <a:buNone/>
            </a:pPr>
            <a:r>
              <a:rPr lang="en-US" sz="1550" b="1" dirty="0">
                <a:solidFill>
                  <a:srgbClr val="FFFFFF"/>
                </a:solidFill>
                <a:latin typeface="Cambria" pitchFamily="34" charset="0"/>
                <a:ea typeface="Cambria" pitchFamily="34" charset="-122"/>
                <a:cs typeface="Cambria" pitchFamily="34" charset="-120"/>
              </a:rPr>
              <a:t>Ambiguity</a:t>
            </a:r>
            <a:endParaRPr lang="en-US" sz="1550" dirty="0"/>
          </a:p>
        </p:txBody>
      </p:sp>
      <p:sp>
        <p:nvSpPr>
          <p:cNvPr id="14" name="Text 10"/>
          <p:cNvSpPr/>
          <p:nvPr/>
        </p:nvSpPr>
        <p:spPr>
          <a:xfrm>
            <a:off x="4709160" y="3794760"/>
            <a:ext cx="3081528" cy="457200"/>
          </a:xfrm>
          <a:prstGeom prst="rect">
            <a:avLst/>
          </a:prstGeom>
          <a:noFill/>
          <a:ln/>
        </p:spPr>
        <p:txBody>
          <a:bodyPr wrap="square" lIns="0" tIns="0" rIns="0" bIns="0" rtlCol="0" anchor="ctr"/>
          <a:lstStyle/>
          <a:p>
            <a:pPr marL="0" indent="0">
              <a:buNone/>
            </a:pPr>
            <a:r>
              <a:rPr lang="en-US" sz="1250" dirty="0">
                <a:solidFill>
                  <a:srgbClr val="B9BDCC"/>
                </a:solidFill>
                <a:latin typeface="Calibri" pitchFamily="34" charset="0"/>
                <a:ea typeface="Calibri" pitchFamily="34" charset="-122"/>
                <a:cs typeface="Calibri" pitchFamily="34" charset="-120"/>
              </a:rPr>
              <a:t>One sentence can carry several valid meanings</a:t>
            </a:r>
            <a:endParaRPr lang="en-US" sz="1250" dirty="0"/>
          </a:p>
        </p:txBody>
      </p:sp>
      <p:sp>
        <p:nvSpPr>
          <p:cNvPr id="15" name="Shape 11"/>
          <p:cNvSpPr/>
          <p:nvPr/>
        </p:nvSpPr>
        <p:spPr>
          <a:xfrm>
            <a:off x="8229600" y="2468880"/>
            <a:ext cx="3630168" cy="1828800"/>
          </a:xfrm>
          <a:prstGeom prst="roundRect">
            <a:avLst>
              <a:gd name="adj" fmla="val 4000"/>
            </a:avLst>
          </a:prstGeom>
          <a:solidFill>
            <a:srgbClr val="1F2540"/>
          </a:solidFill>
          <a:ln/>
        </p:spPr>
        <p:txBody>
          <a:bodyPr/>
          <a:lstStyle/>
          <a:p>
            <a:endParaRPr lang="en-US"/>
          </a:p>
        </p:txBody>
      </p:sp>
      <p:sp>
        <p:nvSpPr>
          <p:cNvPr id="16" name="Shape 12"/>
          <p:cNvSpPr/>
          <p:nvPr/>
        </p:nvSpPr>
        <p:spPr>
          <a:xfrm>
            <a:off x="8503920" y="2697480"/>
            <a:ext cx="640080" cy="640080"/>
          </a:xfrm>
          <a:prstGeom prst="line">
            <a:avLst/>
          </a:prstGeom>
          <a:solidFill>
            <a:srgbClr val="B31A38"/>
          </a:solidFill>
          <a:ln/>
        </p:spPr>
        <p:txBody>
          <a:bodyPr/>
          <a:lstStyle/>
          <a:p>
            <a:endParaRPr lang="en-US"/>
          </a:p>
        </p:txBody>
      </p:sp>
      <p:pic>
        <p:nvPicPr>
          <p:cNvPr id="17" name="Image 2" descr="preencoded.png"/>
          <p:cNvPicPr>
            <a:picLocks noChangeAspect="1"/>
          </p:cNvPicPr>
          <p:nvPr/>
        </p:nvPicPr>
        <p:blipFill>
          <a:blip r:embed="rId5"/>
          <a:stretch>
            <a:fillRect/>
          </a:stretch>
        </p:blipFill>
        <p:spPr>
          <a:xfrm>
            <a:off x="8670341" y="2863901"/>
            <a:ext cx="307238" cy="307238"/>
          </a:xfrm>
          <a:prstGeom prst="rect">
            <a:avLst/>
          </a:prstGeom>
        </p:spPr>
      </p:pic>
      <p:sp>
        <p:nvSpPr>
          <p:cNvPr id="18" name="Text 13"/>
          <p:cNvSpPr/>
          <p:nvPr/>
        </p:nvSpPr>
        <p:spPr>
          <a:xfrm>
            <a:off x="8503920" y="3429000"/>
            <a:ext cx="3081528" cy="365760"/>
          </a:xfrm>
          <a:prstGeom prst="rect">
            <a:avLst/>
          </a:prstGeom>
          <a:noFill/>
          <a:ln/>
        </p:spPr>
        <p:txBody>
          <a:bodyPr wrap="square" lIns="0" tIns="0" rIns="0" bIns="0" rtlCol="0" anchor="ctr"/>
          <a:lstStyle/>
          <a:p>
            <a:pPr marL="0" indent="0">
              <a:buNone/>
            </a:pPr>
            <a:r>
              <a:rPr lang="en-US" sz="1550" b="1" dirty="0">
                <a:solidFill>
                  <a:srgbClr val="FFFFFF"/>
                </a:solidFill>
                <a:latin typeface="Cambria" pitchFamily="34" charset="0"/>
                <a:ea typeface="Cambria" pitchFamily="34" charset="-122"/>
                <a:cs typeface="Cambria" pitchFamily="34" charset="-120"/>
              </a:rPr>
              <a:t>Pipelines</a:t>
            </a:r>
            <a:endParaRPr lang="en-US" sz="1550" dirty="0"/>
          </a:p>
        </p:txBody>
      </p:sp>
      <p:sp>
        <p:nvSpPr>
          <p:cNvPr id="19" name="Text 14"/>
          <p:cNvSpPr/>
          <p:nvPr/>
        </p:nvSpPr>
        <p:spPr>
          <a:xfrm>
            <a:off x="8503920" y="3794760"/>
            <a:ext cx="3081528" cy="457200"/>
          </a:xfrm>
          <a:prstGeom prst="rect">
            <a:avLst/>
          </a:prstGeom>
          <a:noFill/>
          <a:ln/>
        </p:spPr>
        <p:txBody>
          <a:bodyPr wrap="square" lIns="0" tIns="0" rIns="0" bIns="0" rtlCol="0" anchor="ctr"/>
          <a:lstStyle/>
          <a:p>
            <a:pPr marL="0" indent="0">
              <a:buNone/>
            </a:pPr>
            <a:r>
              <a:rPr lang="en-US" sz="1250" dirty="0">
                <a:solidFill>
                  <a:srgbClr val="B9BDCC"/>
                </a:solidFill>
                <a:latin typeface="Calibri" pitchFamily="34" charset="0"/>
                <a:ea typeface="Calibri" pitchFamily="34" charset="-122"/>
                <a:cs typeface="Calibri" pitchFamily="34" charset="-120"/>
              </a:rPr>
              <a:t>Match your tokenizer, and respect every language</a:t>
            </a:r>
            <a:endParaRPr lang="en-US" sz="1250" dirty="0"/>
          </a:p>
        </p:txBody>
      </p:sp>
      <p:sp>
        <p:nvSpPr>
          <p:cNvPr id="20" name="Shape 15"/>
          <p:cNvSpPr/>
          <p:nvPr/>
        </p:nvSpPr>
        <p:spPr>
          <a:xfrm>
            <a:off x="640080" y="4572000"/>
            <a:ext cx="10972800" cy="1280160"/>
          </a:xfrm>
          <a:prstGeom prst="roundRect">
            <a:avLst>
              <a:gd name="adj" fmla="val 5714"/>
            </a:avLst>
          </a:prstGeom>
          <a:solidFill>
            <a:srgbClr val="B31A38"/>
          </a:solidFill>
          <a:ln/>
        </p:spPr>
        <p:txBody>
          <a:bodyPr/>
          <a:lstStyle/>
          <a:p>
            <a:endParaRPr lang="en-US"/>
          </a:p>
        </p:txBody>
      </p:sp>
      <p:sp>
        <p:nvSpPr>
          <p:cNvPr id="21" name="Shape 16"/>
          <p:cNvSpPr/>
          <p:nvPr/>
        </p:nvSpPr>
        <p:spPr>
          <a:xfrm>
            <a:off x="914400" y="4846320"/>
            <a:ext cx="731520" cy="731520"/>
          </a:xfrm>
          <a:prstGeom prst="line">
            <a:avLst/>
          </a:prstGeom>
          <a:solidFill>
            <a:srgbClr val="151A2E"/>
          </a:solidFill>
          <a:ln/>
        </p:spPr>
        <p:txBody>
          <a:bodyPr/>
          <a:lstStyle/>
          <a:p>
            <a:endParaRPr lang="en-US"/>
          </a:p>
        </p:txBody>
      </p:sp>
      <p:pic>
        <p:nvPicPr>
          <p:cNvPr id="22" name="Image 3" descr="preencoded.png"/>
          <p:cNvPicPr>
            <a:picLocks noChangeAspect="1"/>
          </p:cNvPicPr>
          <p:nvPr/>
        </p:nvPicPr>
        <p:blipFill>
          <a:blip r:embed="rId6"/>
          <a:stretch>
            <a:fillRect/>
          </a:stretch>
        </p:blipFill>
        <p:spPr>
          <a:xfrm>
            <a:off x="1104595" y="5036515"/>
            <a:ext cx="351130" cy="351130"/>
          </a:xfrm>
          <a:prstGeom prst="rect">
            <a:avLst/>
          </a:prstGeom>
        </p:spPr>
      </p:pic>
      <p:sp>
        <p:nvSpPr>
          <p:cNvPr id="23" name="Text 17"/>
          <p:cNvSpPr/>
          <p:nvPr/>
        </p:nvSpPr>
        <p:spPr>
          <a:xfrm>
            <a:off x="1920240" y="4736592"/>
            <a:ext cx="9418320" cy="457200"/>
          </a:xfrm>
          <a:prstGeom prst="rect">
            <a:avLst/>
          </a:prstGeom>
          <a:noFill/>
          <a:ln/>
        </p:spPr>
        <p:txBody>
          <a:bodyPr wrap="square" lIns="0" tIns="0" rIns="0" bIns="0" rtlCol="0" anchor="ctr"/>
          <a:lstStyle/>
          <a:p>
            <a:pPr marL="0" indent="0">
              <a:buNone/>
            </a:pPr>
            <a:r>
              <a:rPr lang="en-US" sz="1800" b="1" dirty="0">
                <a:solidFill>
                  <a:srgbClr val="FFFFFF"/>
                </a:solidFill>
                <a:latin typeface="Cambria" pitchFamily="34" charset="0"/>
                <a:ea typeface="Cambria" pitchFamily="34" charset="-122"/>
                <a:cs typeface="Cambria" pitchFamily="34" charset="-120"/>
              </a:rPr>
              <a:t>Next week: Supervised Learning for NLP</a:t>
            </a:r>
            <a:endParaRPr lang="en-US" sz="1800" dirty="0"/>
          </a:p>
        </p:txBody>
      </p:sp>
      <p:sp>
        <p:nvSpPr>
          <p:cNvPr id="24" name="Text 18"/>
          <p:cNvSpPr/>
          <p:nvPr/>
        </p:nvSpPr>
        <p:spPr>
          <a:xfrm>
            <a:off x="1920240" y="5230368"/>
            <a:ext cx="9418320" cy="548640"/>
          </a:xfrm>
          <a:prstGeom prst="rect">
            <a:avLst/>
          </a:prstGeom>
          <a:noFill/>
          <a:ln/>
        </p:spPr>
        <p:txBody>
          <a:bodyPr wrap="square" lIns="0" tIns="0" rIns="0" bIns="0" rtlCol="0" anchor="ctr"/>
          <a:lstStyle/>
          <a:p>
            <a:pPr marL="0" indent="0">
              <a:buNone/>
            </a:pPr>
            <a:r>
              <a:rPr lang="en-US" sz="1350" dirty="0">
                <a:solidFill>
                  <a:srgbClr val="FFE3E8"/>
                </a:solidFill>
                <a:latin typeface="Calibri" pitchFamily="34" charset="0"/>
                <a:ea typeface="Calibri" pitchFamily="34" charset="-122"/>
                <a:cs typeface="Calibri" pitchFamily="34" charset="-120"/>
              </a:rPr>
              <a:t>From rules and parses to learning from data: n-gram models, distributional semantics, and the road to neural representations.</a:t>
            </a:r>
            <a:endParaRPr lang="en-US" sz="1350" dirty="0"/>
          </a:p>
        </p:txBody>
      </p:sp>
      <p:sp>
        <p:nvSpPr>
          <p:cNvPr id="25" name="Text 19"/>
          <p:cNvSpPr/>
          <p:nvPr/>
        </p:nvSpPr>
        <p:spPr>
          <a:xfrm>
            <a:off x="640080" y="6355080"/>
            <a:ext cx="10058400" cy="274320"/>
          </a:xfrm>
          <a:prstGeom prst="rect">
            <a:avLst/>
          </a:prstGeom>
          <a:noFill/>
          <a:ln/>
        </p:spPr>
        <p:txBody>
          <a:bodyPr wrap="square" rtlCol="0" anchor="ctr"/>
          <a:lstStyle/>
          <a:p>
            <a:pPr marL="0" indent="0">
              <a:buNone/>
            </a:pPr>
            <a:r>
              <a:rPr lang="en-US" sz="1000" dirty="0">
                <a:solidFill>
                  <a:srgbClr val="8A90A2"/>
                </a:solidFill>
                <a:latin typeface="Calibri" pitchFamily="34" charset="0"/>
                <a:ea typeface="Calibri" pitchFamily="34" charset="-122"/>
                <a:cs typeface="Calibri" pitchFamily="34" charset="-120"/>
              </a:rPr>
              <a:t>ISBA 2411 · Natural Language Processing &amp; AI · Summer 2026</a:t>
            </a:r>
            <a:endParaRPr lang="en-US" sz="1000" dirty="0"/>
          </a:p>
        </p:txBody>
      </p:sp>
      <p:sp>
        <p:nvSpPr>
          <p:cNvPr id="26" name="Text 20"/>
          <p:cNvSpPr/>
          <p:nvPr/>
        </p:nvSpPr>
        <p:spPr>
          <a:xfrm>
            <a:off x="5852160" y="6327648"/>
            <a:ext cx="5760720" cy="274320"/>
          </a:xfrm>
          <a:prstGeom prst="rect">
            <a:avLst/>
          </a:prstGeom>
          <a:noFill/>
          <a:ln/>
        </p:spPr>
        <p:txBody>
          <a:bodyPr wrap="square" rtlCol="0" anchor="ctr"/>
          <a:lstStyle/>
          <a:p>
            <a:pPr marL="0" indent="0" algn="r">
              <a:buNone/>
            </a:pPr>
            <a:r>
              <a:rPr lang="en-US" sz="1000" i="1" dirty="0">
                <a:solidFill>
                  <a:srgbClr val="B5A06A"/>
                </a:solidFill>
                <a:latin typeface="Calibri" pitchFamily="34" charset="0"/>
                <a:ea typeface="Calibri" pitchFamily="34" charset="-122"/>
                <a:cs typeface="Calibri" pitchFamily="34" charset="-120"/>
              </a:rPr>
              <a:t>Read: J&amp;M ch. 18 (constituency), ch. 19 (dependency) · Tunstall ch. 4 (multilingual)</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285</TotalTime>
  <Words>2529</Words>
  <Application>Microsoft Macintosh PowerPoint</Application>
  <PresentationFormat>Widescreen</PresentationFormat>
  <Paragraphs>252</Paragraphs>
  <Slides>17</Slides>
  <Notes>13</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17</vt:i4>
      </vt:variant>
    </vt:vector>
  </HeadingPairs>
  <TitlesOfParts>
    <vt:vector size="22" baseType="lpstr">
      <vt:lpstr>Arial</vt:lpstr>
      <vt:lpstr>Calibri</vt:lpstr>
      <vt:lpstr>Cambria</vt:lpstr>
      <vt:lpstr>Consolas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ISBA 2411 - L4 - Syntax, Ambiguity &amp; Multilingual Pipelines</dc:title>
  <dc:subject>PptxGenJS Presentation</dc:subject>
  <dc:creator>Jules Malin</dc:creator>
  <cp:lastModifiedBy>Jules Malin</cp:lastModifiedBy>
  <cp:revision>2</cp:revision>
  <dcterms:created xsi:type="dcterms:W3CDTF">2026-06-20T18:25:15Z</dcterms:created>
  <dcterms:modified xsi:type="dcterms:W3CDTF">2026-06-25T01:58:42Z</dcterms:modified>
</cp:coreProperties>
</file>