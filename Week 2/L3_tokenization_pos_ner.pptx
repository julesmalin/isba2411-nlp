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70"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898"/>
  </p:normalViewPr>
  <p:slideViewPr>
    <p:cSldViewPr snapToGrid="0" snapToObjects="1">
      <p:cViewPr varScale="1">
        <p:scale>
          <a:sx n="99" d="100"/>
          <a:sy n="99" d="100"/>
        </p:scale>
        <p:origin x="1248"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5257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about 3 minutes. Reconnect to Week 1. Key line: last week we treated text as a bag or sequence of tokens; today we ask what a token should even be, and what structure those tokens carry. Everything downstream (embeddings, transformers, the final project) inherits the choices made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These four verbs map to the four learning outcomes for Week 2 in the syllabus: apply, interpret, analyze, evaluate. Tell students the evaluate one (cost and fairness) is the one that shows up in their jobs and in the final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The punchline: the model only ever sees integers. Word-level and character-level are the two extremes; subword is the compromise everyone landed on. Ask the room: how many tokens is the word antidisestablishmentarianism? Hold the answer until the BPE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The recurring tension: every normalization step trades recall for lost meaning. Case folding helps you match Apple and apple but destroys the difference between US the country and us the pronoun. Modern LLM tokenizers actually do very little normalization on purpose, because the model learns to handle raw text. Good moment to flag that the textbook pipeline and the LLM pipeline diverge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the conceptual heart of the lecture. Walk merges live on the board if you can. The insight: est becomes a reusable unit shared by newest and widest, so the model learns the superlative suffix once. This is why subword tokenization generalizes. Answer the earlier question: antidisestablishmentarianism is roughly 6 to 9 tokens depending on tokenizer, never &lt;UNK&gt;. GPT family uses byte-level BPE.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the conceptual heart of the lecture. Walk merges live on the board if you can. The insight: est becomes a reusable unit shared by newest and widest, so the model learns the superlative suffix once. This is why subword tokenization generalizes. Answer the earlier question: antidisestablishmentarianism is roughly 6 to 9 tokens depending on tokenizer, never &lt;UNK&gt;. GPT family uses byte-level BPE.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Students do not need the math; they need to recognize names and know the families are close cousins. The one durable takeaway: the tokenizer is married to the model. We will hammer that on Thursday with the mismatch bug.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hands-on plus 3 to debrief. Circulate. Common surprise: the emoji and the Spanish phrase cost far more tokens than the English. That is the hook into the token economics discussion next. Notebook lives in the course repo under week2/ex1_tokenizers.ipynb.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of structured discussion. This is the business-school payoff and it connects to their own product thinking. Push the room to quantify: if Hindi costs 3x the tokens, a flat per-request price means you lose money on every Hindi user or you raise prices for everyone. There is no neutral choice. Tie back to Exercise 1 numbers they just generated.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Penn Treebank has 45 tags; Universal Dependencies uses 17 coarse tags. Students do not memorize tagsets. The point is that the tag is context-dependent, so a tagger is a small sequence model in its own right. Bridges naturally to NER, which is the same idea applied to multi-word spans.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NER is where NLP visibly touches the business: redaction for compliance, entity extraction for analytics, knowledge graphs for search. Note the hard cases: is Washington a person, a place, or an organization? Context decides, and models still get it wrong. This sets up Exercise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plus 3 debrief. Encourage students to pick messy text: tweets, sports recaps, finance headlines. Those break taggers in instructive ways. The wrong-entity hunt seeds the judgment theme that runs through the whole course: the model is confident and still wrong. Notebook: week2/ex2_spacy_pos_ner.ipynb.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two prompts, about 4 each. Prompt 1 turns precision and recall into a cost question: a missed name is a compliance breach, an over-redaction destroys the usefulness of the logs. Push students to say which error they would rather make and why. Prompt 2 surfaces a subtle production reality: the tokenizer is static, so emerging vocabulary fragments into more and more pieces over time, raising cost and hurting quality with no error ever thrown.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Recap the three takeaways, point ahead to Thursday and the reading. Reading is Jurafsky &amp; Martin chapter 2 and chapter 8. Remind them the final project tokenizer choice traces straight back to today.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640080" y="1371600"/>
            <a:ext cx="10058400" cy="365760"/>
          </a:xfrm>
          <a:prstGeom prst="rect">
            <a:avLst/>
          </a:prstGeom>
          <a:noFill/>
          <a:ln/>
        </p:spPr>
        <p:txBody>
          <a:bodyPr wrap="square" rtlCol="0" anchor="ctr"/>
          <a:lstStyle/>
          <a:p>
            <a:pPr marL="0" indent="0">
              <a:buNone/>
            </a:pPr>
            <a:r>
              <a:rPr lang="en-US" sz="1400" b="1" kern="0" spc="300" dirty="0">
                <a:solidFill>
                  <a:srgbClr val="B5A06A"/>
                </a:solidFill>
                <a:latin typeface="Calibri" pitchFamily="34" charset="0"/>
                <a:ea typeface="Calibri" pitchFamily="34" charset="-122"/>
                <a:cs typeface="Calibri" pitchFamily="34" charset="-120"/>
              </a:rPr>
              <a:t>WEEK 2  ·  LECTURE 3  ·  TUESDAY</a:t>
            </a:r>
            <a:endParaRPr lang="en-US" sz="1400" dirty="0"/>
          </a:p>
        </p:txBody>
      </p:sp>
      <p:sp>
        <p:nvSpPr>
          <p:cNvPr id="3" name="Text 1"/>
          <p:cNvSpPr/>
          <p:nvPr/>
        </p:nvSpPr>
        <p:spPr>
          <a:xfrm>
            <a:off x="640080" y="1874520"/>
            <a:ext cx="109728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Words &amp; Structure</a:t>
            </a:r>
            <a:endParaRPr lang="en-US" sz="4800" dirty="0"/>
          </a:p>
        </p:txBody>
      </p:sp>
      <p:sp>
        <p:nvSpPr>
          <p:cNvPr id="4" name="Text 2"/>
          <p:cNvSpPr/>
          <p:nvPr/>
        </p:nvSpPr>
        <p:spPr>
          <a:xfrm>
            <a:off x="640080" y="2788920"/>
            <a:ext cx="10972800" cy="548640"/>
          </a:xfrm>
          <a:prstGeom prst="rect">
            <a:avLst/>
          </a:prstGeom>
          <a:noFill/>
          <a:ln/>
        </p:spPr>
        <p:txBody>
          <a:bodyPr wrap="square" rtlCol="0" anchor="ctr"/>
          <a:lstStyle/>
          <a:p>
            <a:pPr marL="0" indent="0">
              <a:buNone/>
            </a:pPr>
            <a:r>
              <a:rPr lang="en-US" sz="2000" dirty="0">
                <a:solidFill>
                  <a:srgbClr val="C9CDDA"/>
                </a:solidFill>
                <a:latin typeface="Calibri" pitchFamily="34" charset="0"/>
                <a:ea typeface="Calibri" pitchFamily="34" charset="-122"/>
                <a:cs typeface="Calibri" pitchFamily="34" charset="-120"/>
              </a:rPr>
              <a:t>Subword Tokenization, POS Tagging &amp; Named Entity Recognition</a:t>
            </a:r>
            <a:endParaRPr lang="en-US" sz="2000" dirty="0"/>
          </a:p>
        </p:txBody>
      </p:sp>
      <p:sp>
        <p:nvSpPr>
          <p:cNvPr id="5" name="Shape 3"/>
          <p:cNvSpPr/>
          <p:nvPr/>
        </p:nvSpPr>
        <p:spPr>
          <a:xfrm>
            <a:off x="685800" y="3611880"/>
            <a:ext cx="2926080" cy="0"/>
          </a:xfrm>
          <a:prstGeom prst="line">
            <a:avLst/>
          </a:prstGeom>
          <a:noFill/>
          <a:ln w="31750">
            <a:solidFill>
              <a:srgbClr val="B31A38"/>
            </a:solidFill>
            <a:prstDash val="solid"/>
          </a:ln>
        </p:spPr>
        <p:txBody>
          <a:bodyPr/>
          <a:lstStyle/>
          <a:p>
            <a:endParaRPr lang="en-US"/>
          </a:p>
        </p:txBody>
      </p:sp>
      <p:sp>
        <p:nvSpPr>
          <p:cNvPr id="6" name="Text 4"/>
          <p:cNvSpPr/>
          <p:nvPr/>
        </p:nvSpPr>
        <p:spPr>
          <a:xfrm>
            <a:off x="640080" y="3794760"/>
            <a:ext cx="10058400" cy="365760"/>
          </a:xfrm>
          <a:prstGeom prst="rect">
            <a:avLst/>
          </a:prstGeom>
          <a:noFill/>
          <a:ln/>
        </p:spPr>
        <p:txBody>
          <a:bodyPr wrap="square" rtlCol="0" anchor="ctr"/>
          <a:lstStyle/>
          <a:p>
            <a:pPr marL="0" indent="0">
              <a:buNone/>
            </a:pPr>
            <a:r>
              <a:rPr lang="en-US" sz="1500" i="1" dirty="0">
                <a:solidFill>
                  <a:srgbClr val="B5A06A"/>
                </a:solidFill>
                <a:latin typeface="Calibri" pitchFamily="34" charset="0"/>
                <a:ea typeface="Calibri" pitchFamily="34" charset="-122"/>
                <a:cs typeface="Calibri" pitchFamily="34" charset="-120"/>
              </a:rPr>
              <a:t>Language as Structured Data</a:t>
            </a:r>
            <a:endParaRPr lang="en-US" sz="1500" dirty="0"/>
          </a:p>
        </p:txBody>
      </p:sp>
      <p:sp>
        <p:nvSpPr>
          <p:cNvPr id="7" name="Shape 5"/>
          <p:cNvSpPr/>
          <p:nvPr/>
        </p:nvSpPr>
        <p:spPr>
          <a:xfrm>
            <a:off x="9784080" y="4206240"/>
            <a:ext cx="1371600" cy="1371600"/>
          </a:xfrm>
          <a:prstGeom prst="line">
            <a:avLst/>
          </a:prstGeom>
          <a:solidFill>
            <a:srgbClr val="B31A3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140696" y="4562856"/>
            <a:ext cx="658368" cy="658368"/>
          </a:xfrm>
          <a:prstGeom prst="rect">
            <a:avLst/>
          </a:prstGeom>
        </p:spPr>
      </p:pic>
      <p:sp>
        <p:nvSpPr>
          <p:cNvPr id="9" name="Text 6"/>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WHERE WE LEFT OFF</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From counting words to seeing structure</a:t>
            </a:r>
            <a:endParaRPr lang="en-US" sz="3000" dirty="0"/>
          </a:p>
        </p:txBody>
      </p:sp>
      <p:sp>
        <p:nvSpPr>
          <p:cNvPr id="4" name="Shape 2"/>
          <p:cNvSpPr/>
          <p:nvPr/>
        </p:nvSpPr>
        <p:spPr>
          <a:xfrm>
            <a:off x="548640" y="1920240"/>
            <a:ext cx="5394960" cy="3931920"/>
          </a:xfrm>
          <a:prstGeom prst="roundRect">
            <a:avLst>
              <a:gd name="adj" fmla="val 1860"/>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22960" y="2148840"/>
            <a:ext cx="4846320" cy="365760"/>
          </a:xfrm>
          <a:prstGeom prst="rect">
            <a:avLst/>
          </a:prstGeom>
          <a:noFill/>
          <a:ln/>
        </p:spPr>
        <p:txBody>
          <a:bodyPr wrap="square" lIns="0" tIns="0" rIns="0" bIns="0" rtlCol="0" anchor="ctr"/>
          <a:lstStyle/>
          <a:p>
            <a:pPr marL="0" indent="0">
              <a:buNone/>
            </a:pPr>
            <a:r>
              <a:rPr lang="en-US" sz="1500" b="1" dirty="0">
                <a:solidFill>
                  <a:srgbClr val="B31A38"/>
                </a:solidFill>
                <a:latin typeface="Calibri" pitchFamily="34" charset="0"/>
                <a:ea typeface="Calibri" pitchFamily="34" charset="-122"/>
                <a:cs typeface="Calibri" pitchFamily="34" charset="-120"/>
              </a:rPr>
              <a:t>Week 1 gave us</a:t>
            </a:r>
            <a:endParaRPr lang="en-US" sz="1500" dirty="0"/>
          </a:p>
        </p:txBody>
      </p:sp>
      <p:sp>
        <p:nvSpPr>
          <p:cNvPr id="6" name="Text 4"/>
          <p:cNvSpPr/>
          <p:nvPr/>
        </p:nvSpPr>
        <p:spPr>
          <a:xfrm>
            <a:off x="868680" y="2606040"/>
            <a:ext cx="4846320" cy="3017520"/>
          </a:xfrm>
          <a:prstGeom prst="rect">
            <a:avLst/>
          </a:prstGeom>
          <a:noFill/>
          <a:ln/>
        </p:spPr>
        <p:txBody>
          <a:bodyPr wrap="square" rtlCol="0" anchor="t"/>
          <a:lstStyle/>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Why language is hard: ambiguity is the rule, not the exception</a:t>
            </a:r>
            <a:endParaRPr lang="en-US" sz="1450" dirty="0"/>
          </a:p>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Tokenization as the first design choice in any NLP system</a:t>
            </a:r>
            <a:endParaRPr lang="en-US" sz="1450" dirty="0"/>
          </a:p>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N-gram language models and the idea of predicting the next word</a:t>
            </a:r>
            <a:endParaRPr lang="en-US" sz="1450" dirty="0"/>
          </a:p>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Perplexity as a way to score a model's surprise</a:t>
            </a:r>
            <a:endParaRPr lang="en-US" sz="1450" dirty="0"/>
          </a:p>
        </p:txBody>
      </p:sp>
      <p:sp>
        <p:nvSpPr>
          <p:cNvPr id="7" name="Shape 5"/>
          <p:cNvSpPr/>
          <p:nvPr/>
        </p:nvSpPr>
        <p:spPr>
          <a:xfrm>
            <a:off x="6217920" y="1920240"/>
            <a:ext cx="5394960" cy="3931920"/>
          </a:xfrm>
          <a:prstGeom prst="roundRect">
            <a:avLst>
              <a:gd name="adj" fmla="val 1860"/>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8" name="Text 6"/>
          <p:cNvSpPr/>
          <p:nvPr/>
        </p:nvSpPr>
        <p:spPr>
          <a:xfrm>
            <a:off x="6492240" y="2148840"/>
            <a:ext cx="4846320" cy="365760"/>
          </a:xfrm>
          <a:prstGeom prst="rect">
            <a:avLst/>
          </a:prstGeom>
          <a:noFill/>
          <a:ln/>
        </p:spPr>
        <p:txBody>
          <a:bodyPr wrap="square" lIns="0" tIns="0" rIns="0" bIns="0" rtlCol="0" anchor="ctr"/>
          <a:lstStyle/>
          <a:p>
            <a:pPr marL="0" indent="0">
              <a:buNone/>
            </a:pPr>
            <a:r>
              <a:rPr lang="en-US" sz="1500" b="1" dirty="0">
                <a:solidFill>
                  <a:srgbClr val="8A6D1F"/>
                </a:solidFill>
                <a:latin typeface="Calibri" pitchFamily="34" charset="0"/>
                <a:ea typeface="Calibri" pitchFamily="34" charset="-122"/>
                <a:cs typeface="Calibri" pitchFamily="34" charset="-120"/>
              </a:rPr>
              <a:t>Week 2 asks</a:t>
            </a:r>
            <a:endParaRPr lang="en-US" sz="1500" dirty="0"/>
          </a:p>
        </p:txBody>
      </p:sp>
      <p:sp>
        <p:nvSpPr>
          <p:cNvPr id="9" name="Text 7"/>
          <p:cNvSpPr/>
          <p:nvPr/>
        </p:nvSpPr>
        <p:spPr>
          <a:xfrm>
            <a:off x="6537960" y="2606040"/>
            <a:ext cx="4846320" cy="3017520"/>
          </a:xfrm>
          <a:prstGeom prst="rect">
            <a:avLst/>
          </a:prstGeom>
          <a:noFill/>
          <a:ln/>
        </p:spPr>
        <p:txBody>
          <a:bodyPr wrap="square" rtlCol="0" anchor="t"/>
          <a:lstStyle/>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What is the right unit of text, and who decides?</a:t>
            </a:r>
            <a:endParaRPr lang="en-US" sz="1450" dirty="0"/>
          </a:p>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Once we have units, what structure do they carry?</a:t>
            </a:r>
            <a:endParaRPr lang="en-US" sz="1450" dirty="0"/>
          </a:p>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How do machines label parts of speech and real-world entities?</a:t>
            </a:r>
            <a:endParaRPr lang="en-US" sz="1450" dirty="0"/>
          </a:p>
          <a:p>
            <a:pPr marL="342900" indent="-342900">
              <a:spcAft>
                <a:spcPts val="1100"/>
              </a:spcAft>
              <a:buSzPct val="100000"/>
              <a:buChar char="•"/>
            </a:pPr>
            <a:r>
              <a:rPr lang="en-US" sz="1450" dirty="0">
                <a:solidFill>
                  <a:srgbClr val="1B1F2A"/>
                </a:solidFill>
                <a:latin typeface="Calibri" pitchFamily="34" charset="0"/>
                <a:ea typeface="Calibri" pitchFamily="34" charset="-122"/>
                <a:cs typeface="Calibri" pitchFamily="34" charset="-120"/>
              </a:rPr>
              <a:t>Today is the foundation every later model sits on top of</a:t>
            </a:r>
            <a:endParaRPr lang="en-US" sz="1450" dirty="0"/>
          </a:p>
        </p:txBody>
      </p:sp>
      <p:sp>
        <p:nvSpPr>
          <p:cNvPr id="10" name="Text 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1" name="Text 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TODAY</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By the end of class you will be able to</a:t>
            </a:r>
            <a:endParaRPr lang="en-US" sz="3000" dirty="0"/>
          </a:p>
        </p:txBody>
      </p:sp>
      <p:sp>
        <p:nvSpPr>
          <p:cNvPr id="4" name="Shape 2"/>
          <p:cNvSpPr/>
          <p:nvPr/>
        </p:nvSpPr>
        <p:spPr>
          <a:xfrm>
            <a:off x="548640" y="2011680"/>
            <a:ext cx="11064240" cy="896112"/>
          </a:xfrm>
          <a:prstGeom prst="roundRect">
            <a:avLst>
              <a:gd name="adj" fmla="val 816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777240" y="2185416"/>
            <a:ext cx="548640" cy="548640"/>
          </a:xfrm>
          <a:prstGeom prst="line">
            <a:avLst/>
          </a:prstGeom>
          <a:solidFill>
            <a:srgbClr val="B31A3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9886" y="2328062"/>
            <a:ext cx="263347" cy="263347"/>
          </a:xfrm>
          <a:prstGeom prst="rect">
            <a:avLst/>
          </a:prstGeom>
        </p:spPr>
      </p:pic>
      <p:sp>
        <p:nvSpPr>
          <p:cNvPr id="7" name="Text 4"/>
          <p:cNvSpPr/>
          <p:nvPr/>
        </p:nvSpPr>
        <p:spPr>
          <a:xfrm>
            <a:off x="1508760" y="2121408"/>
            <a:ext cx="2103120" cy="676656"/>
          </a:xfrm>
          <a:prstGeom prst="rect">
            <a:avLst/>
          </a:prstGeom>
          <a:noFill/>
          <a:ln/>
        </p:spPr>
        <p:txBody>
          <a:bodyPr wrap="square" lIns="0" tIns="0" rIns="0" bIns="0" rtlCol="0" anchor="ctr"/>
          <a:lstStyle/>
          <a:p>
            <a:pPr marL="0" indent="0">
              <a:buNone/>
            </a:pPr>
            <a:r>
              <a:rPr lang="en-US" sz="1900" b="1" dirty="0">
                <a:solidFill>
                  <a:srgbClr val="B31A38"/>
                </a:solidFill>
                <a:latin typeface="Cambria" pitchFamily="34" charset="0"/>
                <a:ea typeface="Cambria" pitchFamily="34" charset="-122"/>
                <a:cs typeface="Cambria" pitchFamily="34" charset="-120"/>
              </a:rPr>
              <a:t>Apply</a:t>
            </a:r>
            <a:endParaRPr lang="en-US" sz="1900" dirty="0"/>
          </a:p>
        </p:txBody>
      </p:sp>
      <p:sp>
        <p:nvSpPr>
          <p:cNvPr id="8" name="Text 5"/>
          <p:cNvSpPr/>
          <p:nvPr/>
        </p:nvSpPr>
        <p:spPr>
          <a:xfrm>
            <a:off x="3566160" y="2121408"/>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Run normalization and subword tokenization on raw text</a:t>
            </a:r>
            <a:endParaRPr lang="en-US" sz="1550" dirty="0"/>
          </a:p>
        </p:txBody>
      </p:sp>
      <p:sp>
        <p:nvSpPr>
          <p:cNvPr id="9" name="Shape 6"/>
          <p:cNvSpPr/>
          <p:nvPr/>
        </p:nvSpPr>
        <p:spPr>
          <a:xfrm>
            <a:off x="548640" y="3035808"/>
            <a:ext cx="11064240" cy="896112"/>
          </a:xfrm>
          <a:prstGeom prst="roundRect">
            <a:avLst>
              <a:gd name="adj" fmla="val 816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0" name="Shape 7"/>
          <p:cNvSpPr/>
          <p:nvPr/>
        </p:nvSpPr>
        <p:spPr>
          <a:xfrm>
            <a:off x="777240" y="3209544"/>
            <a:ext cx="548640" cy="548640"/>
          </a:xfrm>
          <a:prstGeom prst="line">
            <a:avLst/>
          </a:prstGeom>
          <a:solidFill>
            <a:srgbClr val="151A2E"/>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19886" y="3352190"/>
            <a:ext cx="263347" cy="263347"/>
          </a:xfrm>
          <a:prstGeom prst="rect">
            <a:avLst/>
          </a:prstGeom>
        </p:spPr>
      </p:pic>
      <p:sp>
        <p:nvSpPr>
          <p:cNvPr id="12" name="Text 8"/>
          <p:cNvSpPr/>
          <p:nvPr/>
        </p:nvSpPr>
        <p:spPr>
          <a:xfrm>
            <a:off x="1508760" y="3145536"/>
            <a:ext cx="2103120" cy="676656"/>
          </a:xfrm>
          <a:prstGeom prst="rect">
            <a:avLst/>
          </a:prstGeom>
          <a:noFill/>
          <a:ln/>
        </p:spPr>
        <p:txBody>
          <a:bodyPr wrap="square" lIns="0" tIns="0" rIns="0" bIns="0" rtlCol="0" anchor="ctr"/>
          <a:lstStyle/>
          <a:p>
            <a:pPr marL="0" indent="0">
              <a:buNone/>
            </a:pPr>
            <a:r>
              <a:rPr lang="en-US" sz="1900" b="1" dirty="0">
                <a:solidFill>
                  <a:srgbClr val="151A2E"/>
                </a:solidFill>
                <a:latin typeface="Cambria" pitchFamily="34" charset="0"/>
                <a:ea typeface="Cambria" pitchFamily="34" charset="-122"/>
                <a:cs typeface="Cambria" pitchFamily="34" charset="-120"/>
              </a:rPr>
              <a:t>Explain</a:t>
            </a:r>
            <a:endParaRPr lang="en-US" sz="1900" dirty="0"/>
          </a:p>
        </p:txBody>
      </p:sp>
      <p:sp>
        <p:nvSpPr>
          <p:cNvPr id="13" name="Text 9"/>
          <p:cNvSpPr/>
          <p:nvPr/>
        </p:nvSpPr>
        <p:spPr>
          <a:xfrm>
            <a:off x="3566160" y="3145536"/>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Describe how BPE, WordPiece and SentencePiece differ</a:t>
            </a:r>
            <a:endParaRPr lang="en-US" sz="1550" dirty="0"/>
          </a:p>
        </p:txBody>
      </p:sp>
      <p:sp>
        <p:nvSpPr>
          <p:cNvPr id="14" name="Shape 10"/>
          <p:cNvSpPr/>
          <p:nvPr/>
        </p:nvSpPr>
        <p:spPr>
          <a:xfrm>
            <a:off x="548640" y="4059936"/>
            <a:ext cx="11064240" cy="896112"/>
          </a:xfrm>
          <a:prstGeom prst="roundRect">
            <a:avLst>
              <a:gd name="adj" fmla="val 816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5" name="Shape 11"/>
          <p:cNvSpPr/>
          <p:nvPr/>
        </p:nvSpPr>
        <p:spPr>
          <a:xfrm>
            <a:off x="777240" y="4233672"/>
            <a:ext cx="548640" cy="548640"/>
          </a:xfrm>
          <a:prstGeom prst="line">
            <a:avLst/>
          </a:prstGeom>
          <a:solidFill>
            <a:srgbClr val="B5A06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19886" y="4376318"/>
            <a:ext cx="263347" cy="263347"/>
          </a:xfrm>
          <a:prstGeom prst="rect">
            <a:avLst/>
          </a:prstGeom>
        </p:spPr>
      </p:pic>
      <p:sp>
        <p:nvSpPr>
          <p:cNvPr id="17" name="Text 12"/>
          <p:cNvSpPr/>
          <p:nvPr/>
        </p:nvSpPr>
        <p:spPr>
          <a:xfrm>
            <a:off x="1508760" y="4169664"/>
            <a:ext cx="2103120" cy="676656"/>
          </a:xfrm>
          <a:prstGeom prst="rect">
            <a:avLst/>
          </a:prstGeom>
          <a:noFill/>
          <a:ln/>
        </p:spPr>
        <p:txBody>
          <a:bodyPr wrap="square" lIns="0" tIns="0" rIns="0" bIns="0" rtlCol="0" anchor="ctr"/>
          <a:lstStyle/>
          <a:p>
            <a:pPr marL="0" indent="0">
              <a:buNone/>
            </a:pPr>
            <a:r>
              <a:rPr lang="en-US" sz="1900" b="1" dirty="0">
                <a:solidFill>
                  <a:srgbClr val="B5A06A"/>
                </a:solidFill>
                <a:latin typeface="Cambria" pitchFamily="34" charset="0"/>
                <a:ea typeface="Cambria" pitchFamily="34" charset="-122"/>
                <a:cs typeface="Cambria" pitchFamily="34" charset="-120"/>
              </a:rPr>
              <a:t>Interpret</a:t>
            </a:r>
            <a:endParaRPr lang="en-US" sz="1900" dirty="0"/>
          </a:p>
        </p:txBody>
      </p:sp>
      <p:sp>
        <p:nvSpPr>
          <p:cNvPr id="18" name="Text 13"/>
          <p:cNvSpPr/>
          <p:nvPr/>
        </p:nvSpPr>
        <p:spPr>
          <a:xfrm>
            <a:off x="3566160" y="4169664"/>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Read POS tags and named entity labels on real text</a:t>
            </a:r>
            <a:endParaRPr lang="en-US" sz="1550" dirty="0"/>
          </a:p>
        </p:txBody>
      </p:sp>
      <p:sp>
        <p:nvSpPr>
          <p:cNvPr id="19" name="Shape 14"/>
          <p:cNvSpPr/>
          <p:nvPr/>
        </p:nvSpPr>
        <p:spPr>
          <a:xfrm>
            <a:off x="548640" y="5084064"/>
            <a:ext cx="11064240" cy="896112"/>
          </a:xfrm>
          <a:prstGeom prst="roundRect">
            <a:avLst>
              <a:gd name="adj" fmla="val 816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20" name="Shape 15"/>
          <p:cNvSpPr/>
          <p:nvPr/>
        </p:nvSpPr>
        <p:spPr>
          <a:xfrm>
            <a:off x="777240" y="5257800"/>
            <a:ext cx="548640" cy="548640"/>
          </a:xfrm>
          <a:prstGeom prst="line">
            <a:avLst/>
          </a:prstGeom>
          <a:solidFill>
            <a:srgbClr val="B31A3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19886" y="5400446"/>
            <a:ext cx="263347" cy="263347"/>
          </a:xfrm>
          <a:prstGeom prst="rect">
            <a:avLst/>
          </a:prstGeom>
        </p:spPr>
      </p:pic>
      <p:sp>
        <p:nvSpPr>
          <p:cNvPr id="22" name="Text 16"/>
          <p:cNvSpPr/>
          <p:nvPr/>
        </p:nvSpPr>
        <p:spPr>
          <a:xfrm>
            <a:off x="1508760" y="5193792"/>
            <a:ext cx="2103120" cy="676656"/>
          </a:xfrm>
          <a:prstGeom prst="rect">
            <a:avLst/>
          </a:prstGeom>
          <a:noFill/>
          <a:ln/>
        </p:spPr>
        <p:txBody>
          <a:bodyPr wrap="square" lIns="0" tIns="0" rIns="0" bIns="0" rtlCol="0" anchor="ctr"/>
          <a:lstStyle/>
          <a:p>
            <a:pPr marL="0" indent="0">
              <a:buNone/>
            </a:pPr>
            <a:r>
              <a:rPr lang="en-US" sz="1900" b="1" dirty="0">
                <a:solidFill>
                  <a:srgbClr val="B31A38"/>
                </a:solidFill>
                <a:latin typeface="Cambria" pitchFamily="34" charset="0"/>
                <a:ea typeface="Cambria" pitchFamily="34" charset="-122"/>
                <a:cs typeface="Cambria" pitchFamily="34" charset="-120"/>
              </a:rPr>
              <a:t>Evaluate</a:t>
            </a:r>
            <a:endParaRPr lang="en-US" sz="1900" dirty="0"/>
          </a:p>
        </p:txBody>
      </p:sp>
      <p:sp>
        <p:nvSpPr>
          <p:cNvPr id="23" name="Text 17"/>
          <p:cNvSpPr/>
          <p:nvPr/>
        </p:nvSpPr>
        <p:spPr>
          <a:xfrm>
            <a:off x="3566160" y="5193792"/>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Judge the cost and fairness impact of token choices</a:t>
            </a:r>
            <a:endParaRPr lang="en-US" sz="1550" dirty="0"/>
          </a:p>
        </p:txBody>
      </p:sp>
      <p:sp>
        <p:nvSpPr>
          <p:cNvPr id="24" name="Text 1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5" name="Text 1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THE CORE PROBLEM</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What counts as one unit of text?</a:t>
            </a:r>
            <a:endParaRPr lang="en-US" sz="3000" dirty="0"/>
          </a:p>
        </p:txBody>
      </p:sp>
      <p:sp>
        <p:nvSpPr>
          <p:cNvPr id="4" name="Text 2"/>
          <p:cNvSpPr/>
          <p:nvPr/>
        </p:nvSpPr>
        <p:spPr>
          <a:xfrm>
            <a:off x="548640" y="1600200"/>
            <a:ext cx="11064240" cy="640080"/>
          </a:xfrm>
          <a:prstGeom prst="rect">
            <a:avLst/>
          </a:prstGeom>
          <a:noFill/>
          <a:ln/>
        </p:spPr>
        <p:txBody>
          <a:bodyPr wrap="square" rtlCol="0" anchor="ctr"/>
          <a:lstStyle/>
          <a:p>
            <a:pPr marL="0" indent="0">
              <a:buNone/>
            </a:pPr>
            <a:r>
              <a:rPr lang="en-US" sz="1500" i="1" dirty="0">
                <a:solidFill>
                  <a:srgbClr val="1B1F2A"/>
                </a:solidFill>
                <a:latin typeface="Calibri" pitchFamily="34" charset="0"/>
                <a:ea typeface="Calibri" pitchFamily="34" charset="-122"/>
                <a:cs typeface="Calibri" pitchFamily="34" charset="-120"/>
              </a:rPr>
              <a:t>A model never sees letters or meaning. It sees a list of integer IDs. The map from text to those IDs is the tokenizer, and it is a design decision with real consequences.</a:t>
            </a:r>
            <a:endParaRPr lang="en-US" sz="1500" dirty="0"/>
          </a:p>
        </p:txBody>
      </p:sp>
      <p:sp>
        <p:nvSpPr>
          <p:cNvPr id="5" name="Shape 3"/>
          <p:cNvSpPr/>
          <p:nvPr/>
        </p:nvSpPr>
        <p:spPr>
          <a:xfrm>
            <a:off x="548640" y="2377440"/>
            <a:ext cx="3593592" cy="3383280"/>
          </a:xfrm>
          <a:prstGeom prst="roundRect">
            <a:avLst>
              <a:gd name="adj" fmla="val 2162"/>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548640" y="2377440"/>
            <a:ext cx="3593592" cy="640080"/>
          </a:xfrm>
          <a:prstGeom prst="roundRect">
            <a:avLst>
              <a:gd name="adj" fmla="val 11429"/>
            </a:avLst>
          </a:prstGeom>
          <a:solidFill>
            <a:srgbClr val="151A2E"/>
          </a:solidFill>
          <a:ln/>
        </p:spPr>
        <p:txBody>
          <a:bodyPr/>
          <a:lstStyle/>
          <a:p>
            <a:endParaRPr lang="en-US"/>
          </a:p>
        </p:txBody>
      </p:sp>
      <p:sp>
        <p:nvSpPr>
          <p:cNvPr id="7" name="Text 5"/>
          <p:cNvSpPr/>
          <p:nvPr/>
        </p:nvSpPr>
        <p:spPr>
          <a:xfrm>
            <a:off x="548640" y="2377440"/>
            <a:ext cx="3593592" cy="6400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Word-level</a:t>
            </a:r>
            <a:endParaRPr lang="en-US" sz="1800" dirty="0"/>
          </a:p>
        </p:txBody>
      </p:sp>
      <p:sp>
        <p:nvSpPr>
          <p:cNvPr id="8" name="Text 6"/>
          <p:cNvSpPr/>
          <p:nvPr/>
        </p:nvSpPr>
        <p:spPr>
          <a:xfrm>
            <a:off x="777240" y="3154680"/>
            <a:ext cx="3136392" cy="457200"/>
          </a:xfrm>
          <a:prstGeom prst="rect">
            <a:avLst/>
          </a:prstGeom>
          <a:noFill/>
          <a:ln/>
        </p:spPr>
        <p:txBody>
          <a:bodyPr wrap="square" lIns="0" tIns="0" rIns="0" bIns="0" rtlCol="0" anchor="ctr"/>
          <a:lstStyle/>
          <a:p>
            <a:pPr marL="0" indent="0" algn="ctr">
              <a:buNone/>
            </a:pPr>
            <a:r>
              <a:rPr lang="en-US" sz="1250" i="1" dirty="0">
                <a:solidFill>
                  <a:srgbClr val="5B6172"/>
                </a:solidFill>
                <a:latin typeface="Calibri" pitchFamily="34" charset="0"/>
                <a:ea typeface="Calibri" pitchFamily="34" charset="-122"/>
                <a:cs typeface="Calibri" pitchFamily="34" charset="-120"/>
              </a:rPr>
              <a:t>Split on spaces and punctuation</a:t>
            </a:r>
            <a:endParaRPr lang="en-US" sz="1250" dirty="0"/>
          </a:p>
        </p:txBody>
      </p:sp>
      <p:sp>
        <p:nvSpPr>
          <p:cNvPr id="9" name="Text 7"/>
          <p:cNvSpPr/>
          <p:nvPr/>
        </p:nvSpPr>
        <p:spPr>
          <a:xfrm>
            <a:off x="822960" y="3703320"/>
            <a:ext cx="3090672" cy="1828800"/>
          </a:xfrm>
          <a:prstGeom prst="rect">
            <a:avLst/>
          </a:prstGeom>
          <a:noFill/>
          <a:ln/>
        </p:spPr>
        <p:txBody>
          <a:bodyPr wrap="square" rtlCol="0" anchor="t"/>
          <a:lstStyle/>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Intuitive, one token per word</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Vocabulary explodes (millions)</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Unknown words become &lt;UNK&gt;</a:t>
            </a:r>
            <a:endParaRPr lang="en-US" sz="1300" dirty="0"/>
          </a:p>
        </p:txBody>
      </p:sp>
      <p:sp>
        <p:nvSpPr>
          <p:cNvPr id="10" name="Shape 8"/>
          <p:cNvSpPr/>
          <p:nvPr/>
        </p:nvSpPr>
        <p:spPr>
          <a:xfrm>
            <a:off x="4288536" y="2377440"/>
            <a:ext cx="3593592" cy="3383280"/>
          </a:xfrm>
          <a:prstGeom prst="roundRect">
            <a:avLst>
              <a:gd name="adj" fmla="val 2162"/>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1" name="Shape 9"/>
          <p:cNvSpPr/>
          <p:nvPr/>
        </p:nvSpPr>
        <p:spPr>
          <a:xfrm>
            <a:off x="4288536" y="2377440"/>
            <a:ext cx="3593592" cy="640080"/>
          </a:xfrm>
          <a:prstGeom prst="roundRect">
            <a:avLst>
              <a:gd name="adj" fmla="val 11429"/>
            </a:avLst>
          </a:prstGeom>
          <a:solidFill>
            <a:srgbClr val="B5A06A"/>
          </a:solidFill>
          <a:ln/>
        </p:spPr>
        <p:txBody>
          <a:bodyPr/>
          <a:lstStyle/>
          <a:p>
            <a:endParaRPr lang="en-US"/>
          </a:p>
        </p:txBody>
      </p:sp>
      <p:sp>
        <p:nvSpPr>
          <p:cNvPr id="12" name="Text 10"/>
          <p:cNvSpPr/>
          <p:nvPr/>
        </p:nvSpPr>
        <p:spPr>
          <a:xfrm>
            <a:off x="4288536" y="2377440"/>
            <a:ext cx="3593592" cy="6400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Character-level</a:t>
            </a:r>
            <a:endParaRPr lang="en-US" sz="1800" dirty="0"/>
          </a:p>
        </p:txBody>
      </p:sp>
      <p:sp>
        <p:nvSpPr>
          <p:cNvPr id="13" name="Text 11"/>
          <p:cNvSpPr/>
          <p:nvPr/>
        </p:nvSpPr>
        <p:spPr>
          <a:xfrm>
            <a:off x="4517136" y="3154680"/>
            <a:ext cx="3136392" cy="457200"/>
          </a:xfrm>
          <a:prstGeom prst="rect">
            <a:avLst/>
          </a:prstGeom>
          <a:noFill/>
          <a:ln/>
        </p:spPr>
        <p:txBody>
          <a:bodyPr wrap="square" lIns="0" tIns="0" rIns="0" bIns="0" rtlCol="0" anchor="ctr"/>
          <a:lstStyle/>
          <a:p>
            <a:pPr marL="0" indent="0" algn="ctr">
              <a:buNone/>
            </a:pPr>
            <a:r>
              <a:rPr lang="en-US" sz="1250" i="1" dirty="0">
                <a:solidFill>
                  <a:srgbClr val="5B6172"/>
                </a:solidFill>
                <a:latin typeface="Calibri" pitchFamily="34" charset="0"/>
                <a:ea typeface="Calibri" pitchFamily="34" charset="-122"/>
                <a:cs typeface="Calibri" pitchFamily="34" charset="-120"/>
              </a:rPr>
              <a:t>One token per character</a:t>
            </a:r>
            <a:endParaRPr lang="en-US" sz="1250" dirty="0"/>
          </a:p>
        </p:txBody>
      </p:sp>
      <p:sp>
        <p:nvSpPr>
          <p:cNvPr id="14" name="Text 12"/>
          <p:cNvSpPr/>
          <p:nvPr/>
        </p:nvSpPr>
        <p:spPr>
          <a:xfrm>
            <a:off x="4562856" y="3703320"/>
            <a:ext cx="3090672" cy="1828800"/>
          </a:xfrm>
          <a:prstGeom prst="rect">
            <a:avLst/>
          </a:prstGeom>
          <a:noFill/>
          <a:ln/>
        </p:spPr>
        <p:txBody>
          <a:bodyPr wrap="square" rtlCol="0" anchor="t"/>
          <a:lstStyle/>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Tiny vocabulary, no unknowns</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Sequences get very long</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Loses word-level meaning</a:t>
            </a:r>
            <a:endParaRPr lang="en-US" sz="1300" dirty="0"/>
          </a:p>
        </p:txBody>
      </p:sp>
      <p:sp>
        <p:nvSpPr>
          <p:cNvPr id="15" name="Shape 13"/>
          <p:cNvSpPr/>
          <p:nvPr/>
        </p:nvSpPr>
        <p:spPr>
          <a:xfrm>
            <a:off x="8028432" y="2377440"/>
            <a:ext cx="3593592" cy="3383280"/>
          </a:xfrm>
          <a:prstGeom prst="roundRect">
            <a:avLst>
              <a:gd name="adj" fmla="val 2162"/>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6" name="Shape 14"/>
          <p:cNvSpPr/>
          <p:nvPr/>
        </p:nvSpPr>
        <p:spPr>
          <a:xfrm>
            <a:off x="8028432" y="2377440"/>
            <a:ext cx="3593592" cy="640080"/>
          </a:xfrm>
          <a:prstGeom prst="roundRect">
            <a:avLst>
              <a:gd name="adj" fmla="val 11429"/>
            </a:avLst>
          </a:prstGeom>
          <a:solidFill>
            <a:srgbClr val="B31A38"/>
          </a:solidFill>
          <a:ln/>
        </p:spPr>
        <p:txBody>
          <a:bodyPr/>
          <a:lstStyle/>
          <a:p>
            <a:endParaRPr lang="en-US"/>
          </a:p>
        </p:txBody>
      </p:sp>
      <p:sp>
        <p:nvSpPr>
          <p:cNvPr id="17" name="Text 15"/>
          <p:cNvSpPr/>
          <p:nvPr/>
        </p:nvSpPr>
        <p:spPr>
          <a:xfrm>
            <a:off x="8028432" y="2377440"/>
            <a:ext cx="3593592" cy="6400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Subword</a:t>
            </a:r>
            <a:endParaRPr lang="en-US" sz="1800" dirty="0"/>
          </a:p>
        </p:txBody>
      </p:sp>
      <p:sp>
        <p:nvSpPr>
          <p:cNvPr id="18" name="Text 16"/>
          <p:cNvSpPr/>
          <p:nvPr/>
        </p:nvSpPr>
        <p:spPr>
          <a:xfrm>
            <a:off x="8257032" y="3154680"/>
            <a:ext cx="3136392" cy="457200"/>
          </a:xfrm>
          <a:prstGeom prst="rect">
            <a:avLst/>
          </a:prstGeom>
          <a:noFill/>
          <a:ln/>
        </p:spPr>
        <p:txBody>
          <a:bodyPr wrap="square" lIns="0" tIns="0" rIns="0" bIns="0" rtlCol="0" anchor="ctr"/>
          <a:lstStyle/>
          <a:p>
            <a:pPr marL="0" indent="0" algn="ctr">
              <a:buNone/>
            </a:pPr>
            <a:r>
              <a:rPr lang="en-US" sz="1250" i="1" dirty="0">
                <a:solidFill>
                  <a:srgbClr val="5B6172"/>
                </a:solidFill>
                <a:latin typeface="Calibri" pitchFamily="34" charset="0"/>
                <a:ea typeface="Calibri" pitchFamily="34" charset="-122"/>
                <a:cs typeface="Calibri" pitchFamily="34" charset="-120"/>
              </a:rPr>
              <a:t>Frequent chunks, rare words split</a:t>
            </a:r>
            <a:endParaRPr lang="en-US" sz="1250" dirty="0"/>
          </a:p>
        </p:txBody>
      </p:sp>
      <p:sp>
        <p:nvSpPr>
          <p:cNvPr id="19" name="Text 17"/>
          <p:cNvSpPr/>
          <p:nvPr/>
        </p:nvSpPr>
        <p:spPr>
          <a:xfrm>
            <a:off x="8302752" y="3703320"/>
            <a:ext cx="3090672" cy="1828800"/>
          </a:xfrm>
          <a:prstGeom prst="rect">
            <a:avLst/>
          </a:prstGeom>
          <a:noFill/>
          <a:ln/>
        </p:spPr>
        <p:txBody>
          <a:bodyPr wrap="square" rtlCol="0" anchor="t"/>
          <a:lstStyle/>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Small fixed vocabulary</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No true unknown words</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The modern default</a:t>
            </a:r>
            <a:endParaRPr lang="en-US" sz="1300" dirty="0"/>
          </a:p>
        </p:txBody>
      </p:sp>
      <p:sp>
        <p:nvSpPr>
          <p:cNvPr id="20" name="Text 1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1" name="Text 1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BEFORE YOU SPLIT</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Normalization: cleaning text without erasing meaning</a:t>
            </a:r>
            <a:endParaRPr lang="en-US" sz="3000" dirty="0"/>
          </a:p>
        </p:txBody>
      </p:sp>
      <p:sp>
        <p:nvSpPr>
          <p:cNvPr id="4" name="Shape 2"/>
          <p:cNvSpPr/>
          <p:nvPr/>
        </p:nvSpPr>
        <p:spPr>
          <a:xfrm>
            <a:off x="548640" y="2011680"/>
            <a:ext cx="11064240" cy="877824"/>
          </a:xfrm>
          <a:prstGeom prst="roundRect">
            <a:avLst>
              <a:gd name="adj" fmla="val 833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841248" y="2340864"/>
            <a:ext cx="219456" cy="219456"/>
          </a:xfrm>
          <a:prstGeom prst="ellipse">
            <a:avLst/>
          </a:prstGeom>
          <a:solidFill>
            <a:srgbClr val="151A2E"/>
          </a:solidFill>
          <a:ln/>
        </p:spPr>
        <p:txBody>
          <a:bodyPr/>
          <a:lstStyle/>
          <a:p>
            <a:endParaRPr lang="en-US"/>
          </a:p>
        </p:txBody>
      </p:sp>
      <p:sp>
        <p:nvSpPr>
          <p:cNvPr id="6" name="Text 4"/>
          <p:cNvSpPr/>
          <p:nvPr/>
        </p:nvSpPr>
        <p:spPr>
          <a:xfrm>
            <a:off x="1234440" y="2103120"/>
            <a:ext cx="3200400" cy="694944"/>
          </a:xfrm>
          <a:prstGeom prst="rect">
            <a:avLst/>
          </a:prstGeom>
          <a:noFill/>
          <a:ln/>
        </p:spPr>
        <p:txBody>
          <a:bodyPr wrap="square" lIns="0" tIns="0" rIns="0" bIns="0" rtlCol="0" anchor="ctr"/>
          <a:lstStyle/>
          <a:p>
            <a:pPr marL="0" indent="0">
              <a:buNone/>
            </a:pPr>
            <a:r>
              <a:rPr lang="en-US" sz="1700" b="1" dirty="0">
                <a:solidFill>
                  <a:srgbClr val="151A2E"/>
                </a:solidFill>
                <a:latin typeface="Cambria" pitchFamily="34" charset="0"/>
                <a:ea typeface="Cambria" pitchFamily="34" charset="-122"/>
                <a:cs typeface="Cambria" pitchFamily="34" charset="-120"/>
              </a:rPr>
              <a:t>Case folding</a:t>
            </a:r>
            <a:endParaRPr lang="en-US" sz="1700" dirty="0"/>
          </a:p>
        </p:txBody>
      </p:sp>
      <p:sp>
        <p:nvSpPr>
          <p:cNvPr id="7" name="Text 5"/>
          <p:cNvSpPr/>
          <p:nvPr/>
        </p:nvSpPr>
        <p:spPr>
          <a:xfrm>
            <a:off x="4572000" y="2103120"/>
            <a:ext cx="6858000" cy="694944"/>
          </a:xfrm>
          <a:prstGeom prst="rect">
            <a:avLst/>
          </a:prstGeom>
          <a:noFill/>
          <a:ln/>
        </p:spPr>
        <p:txBody>
          <a:bodyPr wrap="square" lIns="0" tIns="0" rIns="0" bIns="0" rtlCol="0" anchor="ctr"/>
          <a:lstStyle/>
          <a:p>
            <a:pPr marL="0" indent="0">
              <a:buNone/>
            </a:pPr>
            <a:r>
              <a:rPr lang="en-US" sz="1450" dirty="0">
                <a:solidFill>
                  <a:srgbClr val="1B1F2A"/>
                </a:solidFill>
                <a:latin typeface="Calibri" pitchFamily="34" charset="0"/>
                <a:ea typeface="Calibri" pitchFamily="34" charset="-122"/>
                <a:cs typeface="Calibri" pitchFamily="34" charset="-120"/>
              </a:rPr>
              <a:t>Apple vs apple. Helps matching, but US vs us loses meaning</a:t>
            </a:r>
            <a:endParaRPr lang="en-US" sz="1450" dirty="0"/>
          </a:p>
        </p:txBody>
      </p:sp>
      <p:sp>
        <p:nvSpPr>
          <p:cNvPr id="8" name="Shape 6"/>
          <p:cNvSpPr/>
          <p:nvPr/>
        </p:nvSpPr>
        <p:spPr>
          <a:xfrm>
            <a:off x="548640" y="3017520"/>
            <a:ext cx="11064240" cy="877824"/>
          </a:xfrm>
          <a:prstGeom prst="roundRect">
            <a:avLst>
              <a:gd name="adj" fmla="val 833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9" name="Shape 7"/>
          <p:cNvSpPr/>
          <p:nvPr/>
        </p:nvSpPr>
        <p:spPr>
          <a:xfrm>
            <a:off x="841248" y="3346704"/>
            <a:ext cx="219456" cy="219456"/>
          </a:xfrm>
          <a:prstGeom prst="ellipse">
            <a:avLst/>
          </a:prstGeom>
          <a:solidFill>
            <a:srgbClr val="B5A06A"/>
          </a:solidFill>
          <a:ln/>
        </p:spPr>
        <p:txBody>
          <a:bodyPr/>
          <a:lstStyle/>
          <a:p>
            <a:endParaRPr lang="en-US"/>
          </a:p>
        </p:txBody>
      </p:sp>
      <p:sp>
        <p:nvSpPr>
          <p:cNvPr id="10" name="Text 8"/>
          <p:cNvSpPr/>
          <p:nvPr/>
        </p:nvSpPr>
        <p:spPr>
          <a:xfrm>
            <a:off x="1234440" y="3108960"/>
            <a:ext cx="3200400" cy="694944"/>
          </a:xfrm>
          <a:prstGeom prst="rect">
            <a:avLst/>
          </a:prstGeom>
          <a:noFill/>
          <a:ln/>
        </p:spPr>
        <p:txBody>
          <a:bodyPr wrap="square" lIns="0" tIns="0" rIns="0" bIns="0" rtlCol="0" anchor="ctr"/>
          <a:lstStyle/>
          <a:p>
            <a:pPr marL="0" indent="0">
              <a:buNone/>
            </a:pPr>
            <a:r>
              <a:rPr lang="en-US" sz="1700" b="1" dirty="0">
                <a:solidFill>
                  <a:srgbClr val="B5A06A"/>
                </a:solidFill>
                <a:latin typeface="Cambria" pitchFamily="34" charset="0"/>
                <a:ea typeface="Cambria" pitchFamily="34" charset="-122"/>
                <a:cs typeface="Cambria" pitchFamily="34" charset="-120"/>
              </a:rPr>
              <a:t>Unicode (NFC / NFKC)</a:t>
            </a:r>
            <a:endParaRPr lang="en-US" sz="1700" dirty="0"/>
          </a:p>
        </p:txBody>
      </p:sp>
      <p:sp>
        <p:nvSpPr>
          <p:cNvPr id="11" name="Text 9"/>
          <p:cNvSpPr/>
          <p:nvPr/>
        </p:nvSpPr>
        <p:spPr>
          <a:xfrm>
            <a:off x="4572000" y="3108960"/>
            <a:ext cx="6858000" cy="694944"/>
          </a:xfrm>
          <a:prstGeom prst="rect">
            <a:avLst/>
          </a:prstGeom>
          <a:noFill/>
          <a:ln/>
        </p:spPr>
        <p:txBody>
          <a:bodyPr wrap="square" lIns="0" tIns="0" rIns="0" bIns="0" rtlCol="0" anchor="ctr"/>
          <a:lstStyle/>
          <a:p>
            <a:pPr marL="0" indent="0">
              <a:buNone/>
            </a:pPr>
            <a:r>
              <a:rPr lang="en-US" sz="1450" dirty="0">
                <a:solidFill>
                  <a:srgbClr val="1B1F2A"/>
                </a:solidFill>
                <a:latin typeface="Calibri" pitchFamily="34" charset="0"/>
                <a:ea typeface="Calibri" pitchFamily="34" charset="-122"/>
                <a:cs typeface="Calibri" pitchFamily="34" charset="-120"/>
              </a:rPr>
              <a:t>Same character, different byte sequences, made consistent</a:t>
            </a:r>
            <a:endParaRPr lang="en-US" sz="1450" dirty="0"/>
          </a:p>
        </p:txBody>
      </p:sp>
      <p:sp>
        <p:nvSpPr>
          <p:cNvPr id="12" name="Shape 10"/>
          <p:cNvSpPr/>
          <p:nvPr/>
        </p:nvSpPr>
        <p:spPr>
          <a:xfrm>
            <a:off x="548640" y="4023360"/>
            <a:ext cx="11064240" cy="877824"/>
          </a:xfrm>
          <a:prstGeom prst="roundRect">
            <a:avLst>
              <a:gd name="adj" fmla="val 833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3" name="Shape 11"/>
          <p:cNvSpPr/>
          <p:nvPr/>
        </p:nvSpPr>
        <p:spPr>
          <a:xfrm>
            <a:off x="841248" y="4352544"/>
            <a:ext cx="219456" cy="219456"/>
          </a:xfrm>
          <a:prstGeom prst="ellipse">
            <a:avLst/>
          </a:prstGeom>
          <a:solidFill>
            <a:srgbClr val="B31A38"/>
          </a:solidFill>
          <a:ln/>
        </p:spPr>
        <p:txBody>
          <a:bodyPr/>
          <a:lstStyle/>
          <a:p>
            <a:endParaRPr lang="en-US"/>
          </a:p>
        </p:txBody>
      </p:sp>
      <p:sp>
        <p:nvSpPr>
          <p:cNvPr id="14" name="Text 12"/>
          <p:cNvSpPr/>
          <p:nvPr/>
        </p:nvSpPr>
        <p:spPr>
          <a:xfrm>
            <a:off x="1234440" y="4114800"/>
            <a:ext cx="3200400" cy="694944"/>
          </a:xfrm>
          <a:prstGeom prst="rect">
            <a:avLst/>
          </a:prstGeom>
          <a:noFill/>
          <a:ln/>
        </p:spPr>
        <p:txBody>
          <a:bodyPr wrap="square" lIns="0" tIns="0" rIns="0" bIns="0" rtlCol="0" anchor="ctr"/>
          <a:lstStyle/>
          <a:p>
            <a:pPr marL="0" indent="0">
              <a:buNone/>
            </a:pPr>
            <a:r>
              <a:rPr lang="en-US" sz="1700" b="1" dirty="0">
                <a:solidFill>
                  <a:srgbClr val="B31A38"/>
                </a:solidFill>
                <a:latin typeface="Cambria" pitchFamily="34" charset="0"/>
                <a:ea typeface="Cambria" pitchFamily="34" charset="-122"/>
                <a:cs typeface="Cambria" pitchFamily="34" charset="-120"/>
              </a:rPr>
              <a:t>Stemming</a:t>
            </a:r>
            <a:endParaRPr lang="en-US" sz="1700" dirty="0"/>
          </a:p>
        </p:txBody>
      </p:sp>
      <p:sp>
        <p:nvSpPr>
          <p:cNvPr id="15" name="Text 13"/>
          <p:cNvSpPr/>
          <p:nvPr/>
        </p:nvSpPr>
        <p:spPr>
          <a:xfrm>
            <a:off x="4572000" y="4114800"/>
            <a:ext cx="6858000" cy="694944"/>
          </a:xfrm>
          <a:prstGeom prst="rect">
            <a:avLst/>
          </a:prstGeom>
          <a:noFill/>
          <a:ln/>
        </p:spPr>
        <p:txBody>
          <a:bodyPr wrap="square" lIns="0" tIns="0" rIns="0" bIns="0" rtlCol="0" anchor="ctr"/>
          <a:lstStyle/>
          <a:p>
            <a:pPr marL="0" indent="0">
              <a:buNone/>
            </a:pPr>
            <a:r>
              <a:rPr lang="en-US" sz="1450" dirty="0">
                <a:solidFill>
                  <a:srgbClr val="1B1F2A"/>
                </a:solidFill>
                <a:latin typeface="Calibri" pitchFamily="34" charset="0"/>
                <a:ea typeface="Calibri" pitchFamily="34" charset="-122"/>
                <a:cs typeface="Calibri" pitchFamily="34" charset="-120"/>
              </a:rPr>
              <a:t>Rule-based chopping: studies becomes studi. Fast, crude</a:t>
            </a:r>
            <a:endParaRPr lang="en-US" sz="1450" dirty="0"/>
          </a:p>
        </p:txBody>
      </p:sp>
      <p:sp>
        <p:nvSpPr>
          <p:cNvPr id="16" name="Shape 14"/>
          <p:cNvSpPr/>
          <p:nvPr/>
        </p:nvSpPr>
        <p:spPr>
          <a:xfrm>
            <a:off x="548640" y="5029200"/>
            <a:ext cx="11064240" cy="877824"/>
          </a:xfrm>
          <a:prstGeom prst="roundRect">
            <a:avLst>
              <a:gd name="adj" fmla="val 833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7" name="Shape 15"/>
          <p:cNvSpPr/>
          <p:nvPr/>
        </p:nvSpPr>
        <p:spPr>
          <a:xfrm>
            <a:off x="841248" y="5358384"/>
            <a:ext cx="219456" cy="219456"/>
          </a:xfrm>
          <a:prstGeom prst="ellipse">
            <a:avLst/>
          </a:prstGeom>
          <a:solidFill>
            <a:srgbClr val="151A2E"/>
          </a:solidFill>
          <a:ln/>
        </p:spPr>
        <p:txBody>
          <a:bodyPr/>
          <a:lstStyle/>
          <a:p>
            <a:endParaRPr lang="en-US"/>
          </a:p>
        </p:txBody>
      </p:sp>
      <p:sp>
        <p:nvSpPr>
          <p:cNvPr id="18" name="Text 16"/>
          <p:cNvSpPr/>
          <p:nvPr/>
        </p:nvSpPr>
        <p:spPr>
          <a:xfrm>
            <a:off x="1234440" y="5120640"/>
            <a:ext cx="3200400" cy="694944"/>
          </a:xfrm>
          <a:prstGeom prst="rect">
            <a:avLst/>
          </a:prstGeom>
          <a:noFill/>
          <a:ln/>
        </p:spPr>
        <p:txBody>
          <a:bodyPr wrap="square" lIns="0" tIns="0" rIns="0" bIns="0" rtlCol="0" anchor="ctr"/>
          <a:lstStyle/>
          <a:p>
            <a:pPr marL="0" indent="0">
              <a:buNone/>
            </a:pPr>
            <a:r>
              <a:rPr lang="en-US" sz="1700" b="1" dirty="0">
                <a:solidFill>
                  <a:srgbClr val="151A2E"/>
                </a:solidFill>
                <a:latin typeface="Cambria" pitchFamily="34" charset="0"/>
                <a:ea typeface="Cambria" pitchFamily="34" charset="-122"/>
                <a:cs typeface="Cambria" pitchFamily="34" charset="-120"/>
              </a:rPr>
              <a:t>Lemmatization</a:t>
            </a:r>
            <a:endParaRPr lang="en-US" sz="1700" dirty="0"/>
          </a:p>
        </p:txBody>
      </p:sp>
      <p:sp>
        <p:nvSpPr>
          <p:cNvPr id="19" name="Text 17"/>
          <p:cNvSpPr/>
          <p:nvPr/>
        </p:nvSpPr>
        <p:spPr>
          <a:xfrm>
            <a:off x="4572000" y="5120640"/>
            <a:ext cx="6858000" cy="694944"/>
          </a:xfrm>
          <a:prstGeom prst="rect">
            <a:avLst/>
          </a:prstGeom>
          <a:noFill/>
          <a:ln/>
        </p:spPr>
        <p:txBody>
          <a:bodyPr wrap="square" lIns="0" tIns="0" rIns="0" bIns="0" rtlCol="0" anchor="ctr"/>
          <a:lstStyle/>
          <a:p>
            <a:pPr marL="0" indent="0">
              <a:buNone/>
            </a:pPr>
            <a:r>
              <a:rPr lang="en-US" sz="1450" dirty="0">
                <a:solidFill>
                  <a:srgbClr val="1B1F2A"/>
                </a:solidFill>
                <a:latin typeface="Calibri" pitchFamily="34" charset="0"/>
                <a:ea typeface="Calibri" pitchFamily="34" charset="-122"/>
                <a:cs typeface="Calibri" pitchFamily="34" charset="-120"/>
              </a:rPr>
              <a:t>Dictionary-based: better becomes good. Slower, accurate</a:t>
            </a:r>
            <a:endParaRPr lang="en-US" sz="1450" dirty="0"/>
          </a:p>
        </p:txBody>
      </p:sp>
      <p:sp>
        <p:nvSpPr>
          <p:cNvPr id="20" name="Text 1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1" name="Text 1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THE WORKHORSE</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Byte Pair Encoding, one merge at a time</a:t>
            </a:r>
            <a:endParaRPr lang="en-US" sz="3000" dirty="0"/>
          </a:p>
        </p:txBody>
      </p:sp>
      <p:sp>
        <p:nvSpPr>
          <p:cNvPr id="4" name="Shape 2"/>
          <p:cNvSpPr/>
          <p:nvPr/>
        </p:nvSpPr>
        <p:spPr>
          <a:xfrm>
            <a:off x="548640" y="1874520"/>
            <a:ext cx="5486400" cy="3977640"/>
          </a:xfrm>
          <a:prstGeom prst="roundRect">
            <a:avLst>
              <a:gd name="adj" fmla="val 1839"/>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777240" y="2057400"/>
            <a:ext cx="5029200" cy="365760"/>
          </a:xfrm>
          <a:prstGeom prst="rect">
            <a:avLst/>
          </a:prstGeom>
          <a:noFill/>
          <a:ln/>
        </p:spPr>
        <p:txBody>
          <a:bodyPr wrap="square" lIns="0" tIns="0" rIns="0" bIns="0" rtlCol="0" anchor="ctr"/>
          <a:lstStyle/>
          <a:p>
            <a:pPr marL="0" indent="0">
              <a:buNone/>
            </a:pPr>
            <a:r>
              <a:rPr lang="en-US" sz="1400" b="1" dirty="0">
                <a:solidFill>
                  <a:srgbClr val="B31A38"/>
                </a:solidFill>
                <a:latin typeface="Calibri" pitchFamily="34" charset="0"/>
                <a:ea typeface="Calibri" pitchFamily="34" charset="-122"/>
                <a:cs typeface="Calibri" pitchFamily="34" charset="-120"/>
              </a:rPr>
              <a:t>The algorithm</a:t>
            </a:r>
            <a:endParaRPr lang="en-US" sz="1400" dirty="0"/>
          </a:p>
        </p:txBody>
      </p:sp>
      <p:sp>
        <p:nvSpPr>
          <p:cNvPr id="6" name="Text 4"/>
          <p:cNvSpPr/>
          <p:nvPr/>
        </p:nvSpPr>
        <p:spPr>
          <a:xfrm>
            <a:off x="868680" y="2468880"/>
            <a:ext cx="4937760" cy="3200400"/>
          </a:xfrm>
          <a:prstGeom prst="rect">
            <a:avLst/>
          </a:prstGeom>
          <a:noFill/>
          <a:ln/>
        </p:spPr>
        <p:txBody>
          <a:bodyPr wrap="square" rtlCol="0" anchor="t"/>
          <a:lstStyle/>
          <a:p>
            <a:pPr marL="342900" indent="-342900">
              <a:spcAft>
                <a:spcPts val="1200"/>
              </a:spcAft>
              <a:buSzPct val="100000"/>
              <a:buFont typeface="+mj-lt"/>
              <a:buAutoNum type="arabicPeriod"/>
            </a:pPr>
            <a:r>
              <a:rPr lang="en-US" sz="1450" dirty="0">
                <a:solidFill>
                  <a:srgbClr val="1B1F2A"/>
                </a:solidFill>
                <a:latin typeface="Calibri" pitchFamily="34" charset="0"/>
                <a:ea typeface="Calibri" pitchFamily="34" charset="-122"/>
                <a:cs typeface="Calibri" pitchFamily="34" charset="-120"/>
              </a:rPr>
              <a:t>Start with every word as a sequence of characters</a:t>
            </a:r>
            <a:endParaRPr lang="en-US" sz="1450" dirty="0"/>
          </a:p>
          <a:p>
            <a:pPr marL="342900" indent="-342900">
              <a:spcAft>
                <a:spcPts val="1200"/>
              </a:spcAft>
              <a:buSzPct val="100000"/>
              <a:buFont typeface="+mj-lt"/>
              <a:buAutoNum type="arabicPeriod"/>
            </a:pPr>
            <a:r>
              <a:rPr lang="en-US" sz="1450" dirty="0">
                <a:solidFill>
                  <a:srgbClr val="1B1F2A"/>
                </a:solidFill>
                <a:latin typeface="Calibri" pitchFamily="34" charset="0"/>
                <a:ea typeface="Calibri" pitchFamily="34" charset="-122"/>
                <a:cs typeface="Calibri" pitchFamily="34" charset="-120"/>
              </a:rPr>
              <a:t>Count every adjacent pair of symbols</a:t>
            </a:r>
            <a:endParaRPr lang="en-US" sz="1450" dirty="0"/>
          </a:p>
          <a:p>
            <a:pPr marL="342900" indent="-342900">
              <a:spcAft>
                <a:spcPts val="1200"/>
              </a:spcAft>
              <a:buSzPct val="100000"/>
              <a:buFont typeface="+mj-lt"/>
              <a:buAutoNum type="arabicPeriod"/>
            </a:pPr>
            <a:r>
              <a:rPr lang="en-US" sz="1450" dirty="0">
                <a:solidFill>
                  <a:srgbClr val="1B1F2A"/>
                </a:solidFill>
                <a:latin typeface="Calibri" pitchFamily="34" charset="0"/>
                <a:ea typeface="Calibri" pitchFamily="34" charset="-122"/>
                <a:cs typeface="Calibri" pitchFamily="34" charset="-120"/>
              </a:rPr>
              <a:t>Merge the most frequent pair into one new symbol</a:t>
            </a:r>
            <a:endParaRPr lang="en-US" sz="1450" dirty="0"/>
          </a:p>
          <a:p>
            <a:pPr marL="342900" indent="-342900">
              <a:spcAft>
                <a:spcPts val="1200"/>
              </a:spcAft>
              <a:buSzPct val="100000"/>
              <a:buFont typeface="+mj-lt"/>
              <a:buAutoNum type="arabicPeriod"/>
            </a:pPr>
            <a:r>
              <a:rPr lang="en-US" sz="1450" dirty="0">
                <a:solidFill>
                  <a:srgbClr val="1B1F2A"/>
                </a:solidFill>
                <a:latin typeface="Calibri" pitchFamily="34" charset="0"/>
                <a:ea typeface="Calibri" pitchFamily="34" charset="-122"/>
                <a:cs typeface="Calibri" pitchFamily="34" charset="-120"/>
              </a:rPr>
              <a:t>Repeat until you hit your target vocabulary size</a:t>
            </a:r>
            <a:endParaRPr lang="en-US" sz="1450" dirty="0"/>
          </a:p>
          <a:p>
            <a:pPr marL="342900" indent="-342900">
              <a:spcAft>
                <a:spcPts val="1200"/>
              </a:spcAft>
              <a:buSzPct val="100000"/>
              <a:buFont typeface="+mj-lt"/>
              <a:buAutoNum type="arabicPeriod"/>
            </a:pPr>
            <a:r>
              <a:rPr lang="en-US" sz="1450" dirty="0">
                <a:solidFill>
                  <a:srgbClr val="1B1F2A"/>
                </a:solidFill>
                <a:latin typeface="Calibri" pitchFamily="34" charset="0"/>
                <a:ea typeface="Calibri" pitchFamily="34" charset="-122"/>
                <a:cs typeface="Calibri" pitchFamily="34" charset="-120"/>
              </a:rPr>
              <a:t>Frequent words end up whole, rare words stay in pieces</a:t>
            </a:r>
            <a:endParaRPr lang="en-US" sz="1450" dirty="0"/>
          </a:p>
        </p:txBody>
      </p:sp>
      <p:sp>
        <p:nvSpPr>
          <p:cNvPr id="7" name="Shape 5"/>
          <p:cNvSpPr/>
          <p:nvPr/>
        </p:nvSpPr>
        <p:spPr>
          <a:xfrm>
            <a:off x="6263640" y="1874520"/>
            <a:ext cx="5349240" cy="3977640"/>
          </a:xfrm>
          <a:prstGeom prst="roundRect">
            <a:avLst>
              <a:gd name="adj" fmla="val 1839"/>
            </a:avLst>
          </a:prstGeom>
          <a:solidFill>
            <a:srgbClr val="151A2E"/>
          </a:solidFill>
          <a:ln/>
          <a:effectLst>
            <a:outerShdw blurRad="88900" dist="38100" dir="5400000" algn="bl" rotWithShape="0">
              <a:srgbClr val="000000">
                <a:alpha val="10000"/>
              </a:srgbClr>
            </a:outerShdw>
          </a:effectLst>
        </p:spPr>
        <p:txBody>
          <a:bodyPr/>
          <a:lstStyle/>
          <a:p>
            <a:endParaRPr lang="en-US"/>
          </a:p>
        </p:txBody>
      </p:sp>
      <p:sp>
        <p:nvSpPr>
          <p:cNvPr id="8" name="Text 6"/>
          <p:cNvSpPr/>
          <p:nvPr/>
        </p:nvSpPr>
        <p:spPr>
          <a:xfrm>
            <a:off x="6492240" y="2057400"/>
            <a:ext cx="48463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Worked example</a:t>
            </a:r>
            <a:endParaRPr lang="en-US" sz="1400" dirty="0"/>
          </a:p>
        </p:txBody>
      </p:sp>
      <p:sp>
        <p:nvSpPr>
          <p:cNvPr id="9" name="Text 7"/>
          <p:cNvSpPr/>
          <p:nvPr/>
        </p:nvSpPr>
        <p:spPr>
          <a:xfrm>
            <a:off x="6492240" y="2468880"/>
            <a:ext cx="4892040" cy="3200400"/>
          </a:xfrm>
          <a:prstGeom prst="rect">
            <a:avLst/>
          </a:prstGeom>
          <a:noFill/>
          <a:ln/>
        </p:spPr>
        <p:txBody>
          <a:bodyPr wrap="square" rtlCol="0" anchor="t"/>
          <a:lstStyle/>
          <a:p>
            <a:pPr marL="0" indent="0">
              <a:buNone/>
            </a:pPr>
            <a:r>
              <a:rPr lang="en-US" sz="1400" dirty="0">
                <a:solidFill>
                  <a:srgbClr val="D7DAE6"/>
                </a:solidFill>
                <a:latin typeface="Consolas" pitchFamily="34" charset="0"/>
                <a:ea typeface="Consolas" pitchFamily="34" charset="-122"/>
                <a:cs typeface="Consolas" pitchFamily="34" charset="-120"/>
              </a:rPr>
              <a:t>corpus:  low  lower  newest  widest</a:t>
            </a:r>
            <a:endParaRPr lang="en-US" sz="1400" dirty="0"/>
          </a:p>
          <a:p>
            <a:pPr marL="0" indent="0">
              <a:buNone/>
            </a:pPr>
            <a:r>
              <a:rPr lang="en-US" sz="600" dirty="0">
                <a:solidFill>
                  <a:srgbClr val="D7DAE6"/>
                </a:solidFill>
                <a:latin typeface="Consolas" pitchFamily="34" charset="0"/>
                <a:ea typeface="Consolas" pitchFamily="34" charset="-122"/>
                <a:cs typeface="Consolas" pitchFamily="34" charset="-120"/>
              </a:rPr>
              <a:t> </a:t>
            </a:r>
            <a:endParaRPr lang="en-US" sz="1400" dirty="0"/>
          </a:p>
          <a:p>
            <a:pPr marL="0" indent="0">
              <a:buNone/>
            </a:pPr>
            <a:r>
              <a:rPr lang="en-US" sz="1400" dirty="0">
                <a:solidFill>
                  <a:srgbClr val="D7DAE6"/>
                </a:solidFill>
                <a:latin typeface="Consolas" pitchFamily="34" charset="0"/>
                <a:ea typeface="Consolas" pitchFamily="34" charset="-122"/>
                <a:cs typeface="Consolas" pitchFamily="34" charset="-120"/>
              </a:rPr>
              <a:t>merge 1:  e + s  -&gt;  es</a:t>
            </a:r>
            <a:endParaRPr lang="en-US" sz="1400" dirty="0"/>
          </a:p>
          <a:p>
            <a:pPr marL="0" indent="0">
              <a:buNone/>
            </a:pPr>
            <a:r>
              <a:rPr lang="en-US" sz="1400" dirty="0">
                <a:solidFill>
                  <a:srgbClr val="D7DAE6"/>
                </a:solidFill>
                <a:latin typeface="Consolas" pitchFamily="34" charset="0"/>
                <a:ea typeface="Consolas" pitchFamily="34" charset="-122"/>
                <a:cs typeface="Consolas" pitchFamily="34" charset="-120"/>
              </a:rPr>
              <a:t>merge 2:  es + t -&gt;  est</a:t>
            </a:r>
            <a:endParaRPr lang="en-US" sz="1400" dirty="0"/>
          </a:p>
          <a:p>
            <a:pPr marL="0" indent="0">
              <a:buNone/>
            </a:pPr>
            <a:r>
              <a:rPr lang="en-US" sz="1400" dirty="0">
                <a:solidFill>
                  <a:srgbClr val="D7DAE6"/>
                </a:solidFill>
                <a:latin typeface="Consolas" pitchFamily="34" charset="0"/>
                <a:ea typeface="Consolas" pitchFamily="34" charset="-122"/>
                <a:cs typeface="Consolas" pitchFamily="34" charset="-120"/>
              </a:rPr>
              <a:t>merge 3:  l + o  -&gt;  lo</a:t>
            </a:r>
            <a:endParaRPr lang="en-US" sz="1400" dirty="0"/>
          </a:p>
          <a:p>
            <a:pPr marL="0" indent="0">
              <a:buNone/>
            </a:pPr>
            <a:r>
              <a:rPr lang="en-US" sz="600" dirty="0">
                <a:solidFill>
                  <a:srgbClr val="D7DAE6"/>
                </a:solidFill>
                <a:latin typeface="Consolas" pitchFamily="34" charset="0"/>
                <a:ea typeface="Consolas" pitchFamily="34" charset="-122"/>
                <a:cs typeface="Consolas" pitchFamily="34" charset="-120"/>
              </a:rPr>
              <a:t> </a:t>
            </a:r>
            <a:endParaRPr lang="en-US" sz="1400" dirty="0"/>
          </a:p>
          <a:p>
            <a:pPr marL="0" indent="0">
              <a:buNone/>
            </a:pPr>
            <a:r>
              <a:rPr lang="en-US" sz="1400" dirty="0">
                <a:solidFill>
                  <a:srgbClr val="B5A06A"/>
                </a:solidFill>
                <a:latin typeface="Consolas" pitchFamily="34" charset="0"/>
                <a:ea typeface="Consolas" pitchFamily="34" charset="-122"/>
                <a:cs typeface="Consolas" pitchFamily="34" charset="-120"/>
              </a:rPr>
              <a:t>newest -&gt; new + est</a:t>
            </a:r>
            <a:endParaRPr lang="en-US" sz="1400" dirty="0"/>
          </a:p>
          <a:p>
            <a:pPr marL="0" indent="0">
              <a:buNone/>
            </a:pPr>
            <a:r>
              <a:rPr lang="en-US" sz="1400" dirty="0">
                <a:solidFill>
                  <a:srgbClr val="B5A06A"/>
                </a:solidFill>
                <a:latin typeface="Consolas" pitchFamily="34" charset="0"/>
                <a:ea typeface="Consolas" pitchFamily="34" charset="-122"/>
                <a:cs typeface="Consolas" pitchFamily="34" charset="-120"/>
              </a:rPr>
              <a:t>widest -&gt; wid + est</a:t>
            </a:r>
            <a:endParaRPr lang="en-US" sz="1400" dirty="0"/>
          </a:p>
        </p:txBody>
      </p:sp>
      <p:sp>
        <p:nvSpPr>
          <p:cNvPr id="10" name="Text 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1" name="Text 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B31A38"/>
                </a:solidFill>
                <a:effectLst/>
                <a:uLnTx/>
                <a:uFillTx/>
                <a:latin typeface="Calibri" pitchFamily="34" charset="0"/>
                <a:ea typeface="Calibri" pitchFamily="34" charset="-122"/>
                <a:cs typeface="Calibri" pitchFamily="34" charset="-120"/>
              </a:rPr>
              <a:t>THE WORKHORSE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51A2E"/>
                </a:solidFill>
                <a:effectLst/>
                <a:uLnTx/>
                <a:uFillTx/>
                <a:latin typeface="Cambria" pitchFamily="34" charset="0"/>
                <a:ea typeface="Cambria" pitchFamily="34" charset="-122"/>
                <a:cs typeface="Cambria" pitchFamily="34" charset="-120"/>
              </a:rPr>
              <a:t>Byte Pair Encoding, one merge at a time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874520"/>
            <a:ext cx="5486400" cy="3977640"/>
          </a:xfrm>
          <a:prstGeom prst="roundRect">
            <a:avLst>
              <a:gd name="adj" fmla="val 1839"/>
            </a:avLst>
          </a:prstGeom>
          <a:solidFill>
            <a:srgbClr val="FFFFFF"/>
          </a:solidFill>
          <a:ln/>
          <a:effectLst>
            <a:outerShdw blurRad="88900" dist="381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77240" y="2057400"/>
            <a:ext cx="5029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31A38"/>
                </a:solidFill>
                <a:effectLst/>
                <a:uLnTx/>
                <a:uFillTx/>
                <a:latin typeface="Calibri" pitchFamily="34" charset="0"/>
                <a:ea typeface="Calibri" pitchFamily="34" charset="-122"/>
                <a:cs typeface="Calibri" pitchFamily="34" charset="-120"/>
              </a:rPr>
              <a:t>The algorithm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68680" y="2468880"/>
            <a:ext cx="4937760" cy="320040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200"/>
              </a:spcAft>
              <a:buClrTx/>
              <a:buSzPct val="100000"/>
              <a:buFont typeface="+mj-lt"/>
              <a:buAutoNum type="arabicPeriod"/>
              <a:tabLst/>
              <a:defRPr/>
            </a:pPr>
            <a:r>
              <a:rPr kumimoji="0" lang="en-US" sz="1450" b="0" i="0" u="none" strike="noStrike" kern="1200" cap="none" spc="0" normalizeH="0" baseline="0" noProof="0" dirty="0">
                <a:ln>
                  <a:noFill/>
                </a:ln>
                <a:solidFill>
                  <a:srgbClr val="1B1F2A"/>
                </a:solidFill>
                <a:effectLst/>
                <a:uLnTx/>
                <a:uFillTx/>
                <a:latin typeface="Calibri" pitchFamily="34" charset="0"/>
                <a:ea typeface="Calibri" pitchFamily="34" charset="-122"/>
                <a:cs typeface="Calibri" pitchFamily="34" charset="-120"/>
              </a:rPr>
              <a:t>Start with every word as a sequence of characters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 typeface="+mj-lt"/>
              <a:buAutoNum type="arabicPeriod"/>
              <a:tabLst/>
              <a:defRPr/>
            </a:pPr>
            <a:r>
              <a:rPr kumimoji="0" lang="en-US" sz="1450" b="0" i="0" u="none" strike="noStrike" kern="1200" cap="none" spc="0" normalizeH="0" baseline="0" noProof="0" dirty="0">
                <a:ln>
                  <a:noFill/>
                </a:ln>
                <a:solidFill>
                  <a:srgbClr val="1B1F2A"/>
                </a:solidFill>
                <a:effectLst/>
                <a:uLnTx/>
                <a:uFillTx/>
                <a:latin typeface="Calibri" pitchFamily="34" charset="0"/>
                <a:ea typeface="Calibri" pitchFamily="34" charset="-122"/>
                <a:cs typeface="Calibri" pitchFamily="34" charset="-120"/>
              </a:rPr>
              <a:t>Count every adjacent pair of symbols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 typeface="+mj-lt"/>
              <a:buAutoNum type="arabicPeriod"/>
              <a:tabLst/>
              <a:defRPr/>
            </a:pPr>
            <a:r>
              <a:rPr kumimoji="0" lang="en-US" sz="1450" b="0" i="0" u="none" strike="noStrike" kern="1200" cap="none" spc="0" normalizeH="0" baseline="0" noProof="0" dirty="0">
                <a:ln>
                  <a:noFill/>
                </a:ln>
                <a:solidFill>
                  <a:srgbClr val="1B1F2A"/>
                </a:solidFill>
                <a:effectLst/>
                <a:uLnTx/>
                <a:uFillTx/>
                <a:latin typeface="Calibri" pitchFamily="34" charset="0"/>
                <a:ea typeface="Calibri" pitchFamily="34" charset="-122"/>
                <a:cs typeface="Calibri" pitchFamily="34" charset="-120"/>
              </a:rPr>
              <a:t>Merge the most frequent pair into one new symbol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 typeface="+mj-lt"/>
              <a:buAutoNum type="arabicPeriod"/>
              <a:tabLst/>
              <a:defRPr/>
            </a:pPr>
            <a:r>
              <a:rPr kumimoji="0" lang="en-US" sz="1450" b="0" i="0" u="none" strike="noStrike" kern="1200" cap="none" spc="0" normalizeH="0" baseline="0" noProof="0" dirty="0">
                <a:ln>
                  <a:noFill/>
                </a:ln>
                <a:solidFill>
                  <a:srgbClr val="1B1F2A"/>
                </a:solidFill>
                <a:effectLst/>
                <a:uLnTx/>
                <a:uFillTx/>
                <a:latin typeface="Calibri" pitchFamily="34" charset="0"/>
                <a:ea typeface="Calibri" pitchFamily="34" charset="-122"/>
                <a:cs typeface="Calibri" pitchFamily="34" charset="-120"/>
              </a:rPr>
              <a:t>Repeat until you hit your target vocabulary size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 typeface="+mj-lt"/>
              <a:buAutoNum type="arabicPeriod"/>
              <a:tabLst/>
              <a:defRPr/>
            </a:pPr>
            <a:r>
              <a:rPr kumimoji="0" lang="en-US" sz="1450" b="0" i="0" u="none" strike="noStrike" kern="1200" cap="none" spc="0" normalizeH="0" baseline="0" noProof="0" dirty="0">
                <a:ln>
                  <a:noFill/>
                </a:ln>
                <a:solidFill>
                  <a:srgbClr val="1B1F2A"/>
                </a:solidFill>
                <a:effectLst/>
                <a:uLnTx/>
                <a:uFillTx/>
                <a:latin typeface="Calibri" pitchFamily="34" charset="0"/>
                <a:ea typeface="Calibri" pitchFamily="34" charset="-122"/>
                <a:cs typeface="Calibri" pitchFamily="34" charset="-120"/>
              </a:rPr>
              <a:t>Frequent words end up whole, rare words stay in pieces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263640" y="1874520"/>
            <a:ext cx="5349240" cy="3977640"/>
          </a:xfrm>
          <a:prstGeom prst="roundRect">
            <a:avLst>
              <a:gd name="adj" fmla="val 1839"/>
            </a:avLst>
          </a:prstGeom>
          <a:solidFill>
            <a:srgbClr val="151A2E"/>
          </a:solidFill>
          <a:ln/>
          <a:effectLst>
            <a:outerShdw blurRad="88900" dist="381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492240" y="2057400"/>
            <a:ext cx="48463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5A06A"/>
                </a:solidFill>
                <a:effectLst/>
                <a:uLnTx/>
                <a:uFillTx/>
                <a:latin typeface="Calibri" pitchFamily="34" charset="0"/>
                <a:ea typeface="Calibri" pitchFamily="34" charset="-122"/>
                <a:cs typeface="Calibri" pitchFamily="34" charset="-120"/>
              </a:rPr>
              <a:t>Worked example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492240" y="2468880"/>
            <a:ext cx="4892040" cy="3200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corpus:  low  lower  newest  widest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5 pairs tie; we follow 3 that build est: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merge 1:  e + s   -&gt; 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merge 2:  es + t  -&gt; est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merge 3:  l + o   -&gt; lo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trace newest, one merge at a time: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n e w e s 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n e w [es] t     (merge 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n e w [est]      (merge 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[new] [est]      (more merges)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D7DAE6"/>
                </a:solidFill>
                <a:effectLst/>
                <a:uLnTx/>
                <a:uFillTx/>
                <a:latin typeface="Consolas" pitchFamily="34" charset="0"/>
                <a:ea typeface="Consolas" pitchFamily="34" charset="-122"/>
                <a:cs typeface="Consolas" pitchFamily="34" charset="-120"/>
              </a:rPr>
              <a:t> </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B5A06A"/>
                </a:solidFill>
                <a:effectLst/>
                <a:uLnTx/>
                <a:uFillTx/>
                <a:latin typeface="Consolas" pitchFamily="34" charset="0"/>
                <a:ea typeface="Consolas" pitchFamily="34" charset="-122"/>
                <a:cs typeface="Consolas" pitchFamily="34" charset="-120"/>
              </a:rPr>
              <a:t>widest the same way -&gt;  [wid] [est]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B5A06A"/>
                </a:solidFill>
                <a:effectLst/>
                <a:uLnTx/>
                <a:uFillTx/>
                <a:latin typeface="Consolas" pitchFamily="34" charset="0"/>
                <a:ea typeface="Consolas" pitchFamily="34" charset="-122"/>
                <a:cs typeface="Consolas" pitchFamily="34" charset="-120"/>
              </a:rPr>
              <a:t>both reuse the learned token  est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6437376"/>
            <a:ext cx="9601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172"/>
                </a:solidFill>
                <a:effectLst/>
                <a:uLnTx/>
                <a:uFillTx/>
                <a:latin typeface="Calibri" pitchFamily="34" charset="0"/>
                <a:ea typeface="Calibri" pitchFamily="34" charset="-122"/>
                <a:cs typeface="Calibri" pitchFamily="34" charset="-120"/>
              </a:rPr>
              <a:t>ISBA 2411 · Natural Language Processing &amp; AI · Summer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1338560" y="6437376"/>
            <a:ext cx="36576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172"/>
                </a:solidFill>
                <a:effectLst/>
                <a:uLnTx/>
                <a:uFillTx/>
                <a:latin typeface="Calibri" pitchFamily="34" charset="0"/>
                <a:ea typeface="Calibri" pitchFamily="34" charset="-122"/>
                <a:cs typeface="Calibri"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KNOW YOUR TOOLS</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Three tokenizers you will actually meet</a:t>
            </a:r>
            <a:endParaRPr lang="en-US" sz="3000" dirty="0"/>
          </a:p>
        </p:txBody>
      </p:sp>
      <p:sp>
        <p:nvSpPr>
          <p:cNvPr id="4" name="Shape 2"/>
          <p:cNvSpPr/>
          <p:nvPr/>
        </p:nvSpPr>
        <p:spPr>
          <a:xfrm>
            <a:off x="548640" y="2103120"/>
            <a:ext cx="3593592" cy="3566160"/>
          </a:xfrm>
          <a:prstGeom prst="roundRect">
            <a:avLst>
              <a:gd name="adj" fmla="val 2051"/>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1979676" y="2331720"/>
            <a:ext cx="731520" cy="731520"/>
          </a:xfrm>
          <a:prstGeom prst="line">
            <a:avLst/>
          </a:prstGeom>
          <a:solidFill>
            <a:srgbClr val="B31A3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2169871" y="2521915"/>
            <a:ext cx="351130" cy="351130"/>
          </a:xfrm>
          <a:prstGeom prst="rect">
            <a:avLst/>
          </a:prstGeom>
        </p:spPr>
      </p:pic>
      <p:sp>
        <p:nvSpPr>
          <p:cNvPr id="7" name="Text 4"/>
          <p:cNvSpPr/>
          <p:nvPr/>
        </p:nvSpPr>
        <p:spPr>
          <a:xfrm>
            <a:off x="548640" y="3154680"/>
            <a:ext cx="3593592" cy="411480"/>
          </a:xfrm>
          <a:prstGeom prst="rect">
            <a:avLst/>
          </a:prstGeom>
          <a:noFill/>
          <a:ln/>
        </p:spPr>
        <p:txBody>
          <a:bodyPr wrap="square" rtlCol="0" anchor="ctr"/>
          <a:lstStyle/>
          <a:p>
            <a:pPr marL="0" indent="0" algn="ctr">
              <a:buNone/>
            </a:pPr>
            <a:r>
              <a:rPr lang="en-US" sz="2000" b="1" dirty="0">
                <a:solidFill>
                  <a:srgbClr val="B31A38"/>
                </a:solidFill>
                <a:latin typeface="Cambria" pitchFamily="34" charset="0"/>
                <a:ea typeface="Cambria" pitchFamily="34" charset="-122"/>
                <a:cs typeface="Cambria" pitchFamily="34" charset="-120"/>
              </a:rPr>
              <a:t>BPE</a:t>
            </a:r>
            <a:endParaRPr lang="en-US" sz="2000" dirty="0"/>
          </a:p>
        </p:txBody>
      </p:sp>
      <p:sp>
        <p:nvSpPr>
          <p:cNvPr id="8" name="Text 5"/>
          <p:cNvSpPr/>
          <p:nvPr/>
        </p:nvSpPr>
        <p:spPr>
          <a:xfrm>
            <a:off x="731520" y="3566160"/>
            <a:ext cx="3227832" cy="548640"/>
          </a:xfrm>
          <a:prstGeom prst="rect">
            <a:avLst/>
          </a:prstGeom>
          <a:noFill/>
          <a:ln/>
        </p:spPr>
        <p:txBody>
          <a:bodyPr wrap="square" lIns="0" tIns="0" rIns="0" bIns="0" rtlCol="0" anchor="ctr"/>
          <a:lstStyle/>
          <a:p>
            <a:pPr marL="0" indent="0" algn="ctr">
              <a:buNone/>
            </a:pPr>
            <a:r>
              <a:rPr lang="en-US" sz="1250" i="1" dirty="0">
                <a:solidFill>
                  <a:srgbClr val="5B6172"/>
                </a:solidFill>
                <a:latin typeface="Calibri" pitchFamily="34" charset="0"/>
                <a:ea typeface="Calibri" pitchFamily="34" charset="-122"/>
                <a:cs typeface="Calibri" pitchFamily="34" charset="-120"/>
              </a:rPr>
              <a:t>GPT family, RoBERTa</a:t>
            </a:r>
            <a:endParaRPr lang="en-US" sz="1250" dirty="0"/>
          </a:p>
        </p:txBody>
      </p:sp>
      <p:sp>
        <p:nvSpPr>
          <p:cNvPr id="9" name="Text 6"/>
          <p:cNvSpPr/>
          <p:nvPr/>
        </p:nvSpPr>
        <p:spPr>
          <a:xfrm>
            <a:off x="822960" y="4160520"/>
            <a:ext cx="3044952" cy="1371600"/>
          </a:xfrm>
          <a:prstGeom prst="rect">
            <a:avLst/>
          </a:prstGeom>
          <a:noFill/>
          <a:ln/>
        </p:spPr>
        <p:txBody>
          <a:bodyPr wrap="square" rtlCol="0" anchor="t"/>
          <a:lstStyle/>
          <a:p>
            <a:pPr marL="0" indent="0" algn="ctr">
              <a:buNone/>
            </a:pPr>
            <a:r>
              <a:rPr lang="en-US" sz="1350" dirty="0">
                <a:solidFill>
                  <a:srgbClr val="1B1F2A"/>
                </a:solidFill>
                <a:latin typeface="Calibri" pitchFamily="34" charset="0"/>
                <a:ea typeface="Calibri" pitchFamily="34" charset="-122"/>
                <a:cs typeface="Calibri" pitchFamily="34" charset="-120"/>
              </a:rPr>
              <a:t>Merges the most frequent pair. Byte-level variant never fails on any input.</a:t>
            </a:r>
            <a:endParaRPr lang="en-US" sz="1350" dirty="0"/>
          </a:p>
        </p:txBody>
      </p:sp>
      <p:sp>
        <p:nvSpPr>
          <p:cNvPr id="10" name="Shape 7"/>
          <p:cNvSpPr/>
          <p:nvPr/>
        </p:nvSpPr>
        <p:spPr>
          <a:xfrm>
            <a:off x="4288536" y="2103120"/>
            <a:ext cx="3593592" cy="3566160"/>
          </a:xfrm>
          <a:prstGeom prst="roundRect">
            <a:avLst>
              <a:gd name="adj" fmla="val 2051"/>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1" name="Shape 8"/>
          <p:cNvSpPr/>
          <p:nvPr/>
        </p:nvSpPr>
        <p:spPr>
          <a:xfrm>
            <a:off x="5719572" y="2331720"/>
            <a:ext cx="731520" cy="731520"/>
          </a:xfrm>
          <a:prstGeom prst="line">
            <a:avLst/>
          </a:prstGeom>
          <a:solidFill>
            <a:srgbClr val="151A2E"/>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5909767" y="2521915"/>
            <a:ext cx="351130" cy="351130"/>
          </a:xfrm>
          <a:prstGeom prst="rect">
            <a:avLst/>
          </a:prstGeom>
        </p:spPr>
      </p:pic>
      <p:sp>
        <p:nvSpPr>
          <p:cNvPr id="13" name="Text 9"/>
          <p:cNvSpPr/>
          <p:nvPr/>
        </p:nvSpPr>
        <p:spPr>
          <a:xfrm>
            <a:off x="4288536" y="3154680"/>
            <a:ext cx="3593592" cy="411480"/>
          </a:xfrm>
          <a:prstGeom prst="rect">
            <a:avLst/>
          </a:prstGeom>
          <a:noFill/>
          <a:ln/>
        </p:spPr>
        <p:txBody>
          <a:bodyPr wrap="square" rtlCol="0" anchor="ctr"/>
          <a:lstStyle/>
          <a:p>
            <a:pPr marL="0" indent="0" algn="ctr">
              <a:buNone/>
            </a:pPr>
            <a:r>
              <a:rPr lang="en-US" sz="2000" b="1" dirty="0">
                <a:solidFill>
                  <a:srgbClr val="151A2E"/>
                </a:solidFill>
                <a:latin typeface="Cambria" pitchFamily="34" charset="0"/>
                <a:ea typeface="Cambria" pitchFamily="34" charset="-122"/>
                <a:cs typeface="Cambria" pitchFamily="34" charset="-120"/>
              </a:rPr>
              <a:t>WordPiece</a:t>
            </a:r>
            <a:endParaRPr lang="en-US" sz="2000" dirty="0"/>
          </a:p>
        </p:txBody>
      </p:sp>
      <p:sp>
        <p:nvSpPr>
          <p:cNvPr id="14" name="Text 10"/>
          <p:cNvSpPr/>
          <p:nvPr/>
        </p:nvSpPr>
        <p:spPr>
          <a:xfrm>
            <a:off x="4471416" y="3566160"/>
            <a:ext cx="3227832" cy="548640"/>
          </a:xfrm>
          <a:prstGeom prst="rect">
            <a:avLst/>
          </a:prstGeom>
          <a:noFill/>
          <a:ln/>
        </p:spPr>
        <p:txBody>
          <a:bodyPr wrap="square" lIns="0" tIns="0" rIns="0" bIns="0" rtlCol="0" anchor="ctr"/>
          <a:lstStyle/>
          <a:p>
            <a:pPr marL="0" indent="0" algn="ctr">
              <a:buNone/>
            </a:pPr>
            <a:r>
              <a:rPr lang="en-US" sz="1250" i="1" dirty="0">
                <a:solidFill>
                  <a:srgbClr val="5B6172"/>
                </a:solidFill>
                <a:latin typeface="Calibri" pitchFamily="34" charset="0"/>
                <a:ea typeface="Calibri" pitchFamily="34" charset="-122"/>
                <a:cs typeface="Calibri" pitchFamily="34" charset="-120"/>
              </a:rPr>
              <a:t>BERT, DistilBERT</a:t>
            </a:r>
            <a:endParaRPr lang="en-US" sz="1250" dirty="0"/>
          </a:p>
        </p:txBody>
      </p:sp>
      <p:sp>
        <p:nvSpPr>
          <p:cNvPr id="15" name="Text 11"/>
          <p:cNvSpPr/>
          <p:nvPr/>
        </p:nvSpPr>
        <p:spPr>
          <a:xfrm>
            <a:off x="4562856" y="4160520"/>
            <a:ext cx="3044952" cy="1371600"/>
          </a:xfrm>
          <a:prstGeom prst="rect">
            <a:avLst/>
          </a:prstGeom>
          <a:noFill/>
          <a:ln/>
        </p:spPr>
        <p:txBody>
          <a:bodyPr wrap="square" rtlCol="0" anchor="t"/>
          <a:lstStyle/>
          <a:p>
            <a:pPr marL="0" indent="0" algn="ctr">
              <a:buNone/>
            </a:pPr>
            <a:r>
              <a:rPr lang="en-US" sz="1350" dirty="0">
                <a:solidFill>
                  <a:srgbClr val="1B1F2A"/>
                </a:solidFill>
                <a:latin typeface="Calibri" pitchFamily="34" charset="0"/>
                <a:ea typeface="Calibri" pitchFamily="34" charset="-122"/>
                <a:cs typeface="Calibri" pitchFamily="34" charset="-120"/>
              </a:rPr>
              <a:t>Merges the pair that most improves likelihood. Marks word-internal pieces with ##.</a:t>
            </a:r>
            <a:endParaRPr lang="en-US" sz="1350" dirty="0"/>
          </a:p>
        </p:txBody>
      </p:sp>
      <p:sp>
        <p:nvSpPr>
          <p:cNvPr id="16" name="Shape 12"/>
          <p:cNvSpPr/>
          <p:nvPr/>
        </p:nvSpPr>
        <p:spPr>
          <a:xfrm>
            <a:off x="8028432" y="2103120"/>
            <a:ext cx="3593592" cy="3566160"/>
          </a:xfrm>
          <a:prstGeom prst="roundRect">
            <a:avLst>
              <a:gd name="adj" fmla="val 2051"/>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7" name="Shape 13"/>
          <p:cNvSpPr/>
          <p:nvPr/>
        </p:nvSpPr>
        <p:spPr>
          <a:xfrm>
            <a:off x="9459468" y="2331720"/>
            <a:ext cx="731520" cy="731520"/>
          </a:xfrm>
          <a:prstGeom prst="line">
            <a:avLst/>
          </a:prstGeom>
          <a:solidFill>
            <a:srgbClr val="B5A06A"/>
          </a:solidFill>
          <a:ln/>
        </p:spPr>
        <p:txBody>
          <a:bodyPr/>
          <a:lstStyle/>
          <a:p>
            <a:endParaRPr lang="en-US"/>
          </a:p>
        </p:txBody>
      </p:sp>
      <p:pic>
        <p:nvPicPr>
          <p:cNvPr id="18" name="Image 2" descr="preencoded.png"/>
          <p:cNvPicPr>
            <a:picLocks noChangeAspect="1"/>
          </p:cNvPicPr>
          <p:nvPr/>
        </p:nvPicPr>
        <p:blipFill>
          <a:blip r:embed="rId3"/>
          <a:stretch>
            <a:fillRect/>
          </a:stretch>
        </p:blipFill>
        <p:spPr>
          <a:xfrm>
            <a:off x="9649663" y="2521915"/>
            <a:ext cx="351130" cy="351130"/>
          </a:xfrm>
          <a:prstGeom prst="rect">
            <a:avLst/>
          </a:prstGeom>
        </p:spPr>
      </p:pic>
      <p:sp>
        <p:nvSpPr>
          <p:cNvPr id="19" name="Text 14"/>
          <p:cNvSpPr/>
          <p:nvPr/>
        </p:nvSpPr>
        <p:spPr>
          <a:xfrm>
            <a:off x="8028432" y="3154680"/>
            <a:ext cx="3593592" cy="411480"/>
          </a:xfrm>
          <a:prstGeom prst="rect">
            <a:avLst/>
          </a:prstGeom>
          <a:noFill/>
          <a:ln/>
        </p:spPr>
        <p:txBody>
          <a:bodyPr wrap="square" rtlCol="0" anchor="ctr"/>
          <a:lstStyle/>
          <a:p>
            <a:pPr marL="0" indent="0" algn="ctr">
              <a:buNone/>
            </a:pPr>
            <a:r>
              <a:rPr lang="en-US" sz="2000" b="1" dirty="0">
                <a:solidFill>
                  <a:srgbClr val="B5A06A"/>
                </a:solidFill>
                <a:latin typeface="Cambria" pitchFamily="34" charset="0"/>
                <a:ea typeface="Cambria" pitchFamily="34" charset="-122"/>
                <a:cs typeface="Cambria" pitchFamily="34" charset="-120"/>
              </a:rPr>
              <a:t>SentencePiece</a:t>
            </a:r>
            <a:endParaRPr lang="en-US" sz="2000" dirty="0"/>
          </a:p>
        </p:txBody>
      </p:sp>
      <p:sp>
        <p:nvSpPr>
          <p:cNvPr id="20" name="Text 15"/>
          <p:cNvSpPr/>
          <p:nvPr/>
        </p:nvSpPr>
        <p:spPr>
          <a:xfrm>
            <a:off x="8211312" y="3566160"/>
            <a:ext cx="3227832" cy="548640"/>
          </a:xfrm>
          <a:prstGeom prst="rect">
            <a:avLst/>
          </a:prstGeom>
          <a:noFill/>
          <a:ln/>
        </p:spPr>
        <p:txBody>
          <a:bodyPr wrap="square" lIns="0" tIns="0" rIns="0" bIns="0" rtlCol="0" anchor="ctr"/>
          <a:lstStyle/>
          <a:p>
            <a:pPr marL="0" indent="0" algn="ctr">
              <a:buNone/>
            </a:pPr>
            <a:r>
              <a:rPr lang="en-US" sz="1250" i="1" dirty="0">
                <a:solidFill>
                  <a:srgbClr val="5B6172"/>
                </a:solidFill>
                <a:latin typeface="Calibri" pitchFamily="34" charset="0"/>
                <a:ea typeface="Calibri" pitchFamily="34" charset="-122"/>
                <a:cs typeface="Calibri" pitchFamily="34" charset="-120"/>
              </a:rPr>
              <a:t>T5, LLaMA, many multilingual</a:t>
            </a:r>
            <a:endParaRPr lang="en-US" sz="1250" dirty="0"/>
          </a:p>
        </p:txBody>
      </p:sp>
      <p:sp>
        <p:nvSpPr>
          <p:cNvPr id="21" name="Text 16"/>
          <p:cNvSpPr/>
          <p:nvPr/>
        </p:nvSpPr>
        <p:spPr>
          <a:xfrm>
            <a:off x="8302752" y="4160520"/>
            <a:ext cx="3044952" cy="1371600"/>
          </a:xfrm>
          <a:prstGeom prst="rect">
            <a:avLst/>
          </a:prstGeom>
          <a:noFill/>
          <a:ln/>
        </p:spPr>
        <p:txBody>
          <a:bodyPr wrap="square" rtlCol="0" anchor="t"/>
          <a:lstStyle/>
          <a:p>
            <a:pPr marL="0" indent="0" algn="ctr">
              <a:buNone/>
            </a:pPr>
            <a:r>
              <a:rPr lang="en-US" sz="1350" dirty="0">
                <a:solidFill>
                  <a:srgbClr val="1B1F2A"/>
                </a:solidFill>
                <a:latin typeface="Calibri" pitchFamily="34" charset="0"/>
                <a:ea typeface="Calibri" pitchFamily="34" charset="-122"/>
                <a:cs typeface="Calibri" pitchFamily="34" charset="-120"/>
              </a:rPr>
              <a:t>Treats raw text as a stream, spaces included. No language assumptions.</a:t>
            </a:r>
            <a:endParaRPr lang="en-US" sz="1350" dirty="0"/>
          </a:p>
        </p:txBody>
      </p:sp>
      <p:sp>
        <p:nvSpPr>
          <p:cNvPr id="22" name="Text 17"/>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3" name="Text 18"/>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640080" y="548640"/>
            <a:ext cx="1005840" cy="1005840"/>
          </a:xfrm>
          <a:prstGeom prst="line">
            <a:avLst/>
          </a:prstGeom>
          <a:solidFill>
            <a:srgbClr val="B31A3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01598" y="810158"/>
            <a:ext cx="482803" cy="482803"/>
          </a:xfrm>
          <a:prstGeom prst="rect">
            <a:avLst/>
          </a:prstGeom>
        </p:spPr>
      </p:pic>
      <p:sp>
        <p:nvSpPr>
          <p:cNvPr id="4" name="Text 1"/>
          <p:cNvSpPr/>
          <p:nvPr/>
        </p:nvSpPr>
        <p:spPr>
          <a:xfrm>
            <a:off x="1828800" y="566928"/>
            <a:ext cx="8229600" cy="365760"/>
          </a:xfrm>
          <a:prstGeom prst="rect">
            <a:avLst/>
          </a:prstGeom>
          <a:noFill/>
          <a:ln/>
        </p:spPr>
        <p:txBody>
          <a:bodyPr wrap="square" rtlCol="0" anchor="ctr"/>
          <a:lstStyle/>
          <a:p>
            <a:pPr marL="0" indent="0">
              <a:buNone/>
            </a:pPr>
            <a:r>
              <a:rPr lang="en-US" sz="1400" b="1" kern="0" spc="200" dirty="0">
                <a:solidFill>
                  <a:srgbClr val="B5A06A"/>
                </a:solidFill>
                <a:latin typeface="Calibri" pitchFamily="34" charset="0"/>
                <a:ea typeface="Calibri" pitchFamily="34" charset="-122"/>
                <a:cs typeface="Calibri" pitchFamily="34" charset="-120"/>
              </a:rPr>
              <a:t>IN-CLASS EXERCISE 1</a:t>
            </a:r>
            <a:endParaRPr lang="en-US" sz="1400" dirty="0"/>
          </a:p>
        </p:txBody>
      </p:sp>
      <p:sp>
        <p:nvSpPr>
          <p:cNvPr id="5" name="Text 2"/>
          <p:cNvSpPr/>
          <p:nvPr/>
        </p:nvSpPr>
        <p:spPr>
          <a:xfrm>
            <a:off x="1828800" y="91440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Tokenizer face-off</a:t>
            </a:r>
            <a:endParaRPr lang="en-US" sz="3000" dirty="0"/>
          </a:p>
        </p:txBody>
      </p:sp>
      <p:sp>
        <p:nvSpPr>
          <p:cNvPr id="6" name="Text 3"/>
          <p:cNvSpPr/>
          <p:nvPr/>
        </p:nvSpPr>
        <p:spPr>
          <a:xfrm>
            <a:off x="1828800" y="1554480"/>
            <a:ext cx="10058400" cy="365760"/>
          </a:xfrm>
          <a:prstGeom prst="rect">
            <a:avLst/>
          </a:prstGeom>
          <a:noFill/>
          <a:ln/>
        </p:spPr>
        <p:txBody>
          <a:bodyPr wrap="square" rtlCol="0" anchor="ctr"/>
          <a:lstStyle/>
          <a:p>
            <a:pPr marL="0" indent="0">
              <a:buNone/>
            </a:pPr>
            <a:r>
              <a:rPr lang="en-US" sz="1400" i="1" dirty="0">
                <a:solidFill>
                  <a:srgbClr val="C9CDDA"/>
                </a:solidFill>
                <a:latin typeface="Calibri" pitchFamily="34" charset="0"/>
                <a:ea typeface="Calibri" pitchFamily="34" charset="-122"/>
                <a:cs typeface="Calibri" pitchFamily="34" charset="-120"/>
              </a:rPr>
              <a:t>Colab notebook, pure Python, no API key needed   ·   ~15 minutes   ·   pairs</a:t>
            </a:r>
            <a:endParaRPr lang="en-US" sz="1400" dirty="0"/>
          </a:p>
        </p:txBody>
      </p:sp>
      <p:sp>
        <p:nvSpPr>
          <p:cNvPr id="7" name="Shape 4"/>
          <p:cNvSpPr/>
          <p:nvPr/>
        </p:nvSpPr>
        <p:spPr>
          <a:xfrm>
            <a:off x="640080" y="2194560"/>
            <a:ext cx="676656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8" name="Text 5"/>
          <p:cNvSpPr/>
          <p:nvPr/>
        </p:nvSpPr>
        <p:spPr>
          <a:xfrm>
            <a:off x="868680" y="2377440"/>
            <a:ext cx="62179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Your task</a:t>
            </a:r>
            <a:endParaRPr lang="en-US" sz="1400" dirty="0"/>
          </a:p>
        </p:txBody>
      </p:sp>
      <p:sp>
        <p:nvSpPr>
          <p:cNvPr id="9" name="Text 6"/>
          <p:cNvSpPr/>
          <p:nvPr/>
        </p:nvSpPr>
        <p:spPr>
          <a:xfrm>
            <a:off x="914400" y="2788920"/>
            <a:ext cx="6309360" cy="2926080"/>
          </a:xfrm>
          <a:prstGeom prst="rect">
            <a:avLst/>
          </a:prstGeom>
          <a:noFill/>
          <a:ln/>
        </p:spPr>
        <p:txBody>
          <a:bodyPr wrap="square" rtlCol="0" anchor="t"/>
          <a:lstStyle/>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Load GPT-2 and BERT tokenizers from Hugging Face</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Tokenize the same four strings with each</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Include: a common word, a rare word, an emoji, a Spanish phrase</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Print the token count and the actual pieces for each</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Find one string where the two tokenizers disagree most</a:t>
            </a:r>
            <a:endParaRPr lang="en-US" sz="1400" dirty="0"/>
          </a:p>
        </p:txBody>
      </p:sp>
      <p:sp>
        <p:nvSpPr>
          <p:cNvPr id="10" name="Shape 7"/>
          <p:cNvSpPr/>
          <p:nvPr/>
        </p:nvSpPr>
        <p:spPr>
          <a:xfrm>
            <a:off x="7635240" y="2194560"/>
            <a:ext cx="397764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11" name="Text 8"/>
          <p:cNvSpPr/>
          <p:nvPr/>
        </p:nvSpPr>
        <p:spPr>
          <a:xfrm>
            <a:off x="7863840" y="2377440"/>
            <a:ext cx="356616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Bring back an answer to</a:t>
            </a:r>
            <a:endParaRPr lang="en-US" sz="1400" dirty="0"/>
          </a:p>
        </p:txBody>
      </p:sp>
      <p:sp>
        <p:nvSpPr>
          <p:cNvPr id="12" name="Text 9"/>
          <p:cNvSpPr/>
          <p:nvPr/>
        </p:nvSpPr>
        <p:spPr>
          <a:xfrm>
            <a:off x="7909560" y="2788920"/>
            <a:ext cx="3566160" cy="2926080"/>
          </a:xfrm>
          <a:prstGeom prst="rect">
            <a:avLst/>
          </a:prstGeom>
          <a:noFill/>
          <a:ln/>
        </p:spPr>
        <p:txBody>
          <a:bodyPr wrap="square" rtlCol="0" anchor="t"/>
          <a:lstStyle/>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Which input was most expensive in tokens?</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Did the emoji survive as one piece or shatter?</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What does that imply for non-English users?</a:t>
            </a:r>
            <a:endParaRPr lang="en-US" sz="1350" dirty="0"/>
          </a:p>
        </p:txBody>
      </p:sp>
      <p:sp>
        <p:nvSpPr>
          <p:cNvPr id="13" name="Text 10"/>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The token tax: who pays for tokenization?</a:t>
            </a:r>
            <a:endParaRPr lang="en-US" sz="3000" dirty="0"/>
          </a:p>
        </p:txBody>
      </p:sp>
      <p:sp>
        <p:nvSpPr>
          <p:cNvPr id="4" name="Shape 2"/>
          <p:cNvSpPr/>
          <p:nvPr/>
        </p:nvSpPr>
        <p:spPr>
          <a:xfrm>
            <a:off x="548640" y="1920240"/>
            <a:ext cx="5394960" cy="1874520"/>
          </a:xfrm>
          <a:prstGeom prst="roundRect">
            <a:avLst>
              <a:gd name="adj" fmla="val 3902"/>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777240" y="2084832"/>
            <a:ext cx="4937760" cy="320040"/>
          </a:xfrm>
          <a:prstGeom prst="rect">
            <a:avLst/>
          </a:prstGeom>
          <a:noFill/>
          <a:ln/>
        </p:spPr>
        <p:txBody>
          <a:bodyPr wrap="square" lIns="0" tIns="0" rIns="0" bIns="0" rtlCol="0" anchor="ctr"/>
          <a:lstStyle/>
          <a:p>
            <a:pPr marL="0" indent="0">
              <a:buNone/>
            </a:pPr>
            <a:r>
              <a:rPr lang="en-US" sz="1300" b="1" dirty="0">
                <a:solidFill>
                  <a:srgbClr val="8A6D1F"/>
                </a:solidFill>
                <a:latin typeface="Calibri" pitchFamily="34" charset="0"/>
                <a:ea typeface="Calibri" pitchFamily="34" charset="-122"/>
                <a:cs typeface="Calibri" pitchFamily="34" charset="-120"/>
              </a:rPr>
              <a:t>The fact</a:t>
            </a:r>
            <a:endParaRPr lang="en-US" sz="1300" dirty="0"/>
          </a:p>
        </p:txBody>
      </p:sp>
      <p:sp>
        <p:nvSpPr>
          <p:cNvPr id="6" name="Text 4"/>
          <p:cNvSpPr/>
          <p:nvPr/>
        </p:nvSpPr>
        <p:spPr>
          <a:xfrm>
            <a:off x="777240" y="2414016"/>
            <a:ext cx="4983480" cy="1234440"/>
          </a:xfrm>
          <a:prstGeom prst="rect">
            <a:avLst/>
          </a:prstGeom>
          <a:noFill/>
          <a:ln/>
        </p:spPr>
        <p:txBody>
          <a:bodyPr wrap="square" lIns="0" tIns="0" rIns="0" bIns="0" rtlCol="0" anchor="t"/>
          <a:lstStyle/>
          <a:p>
            <a:pPr marL="0" indent="0">
              <a:buNone/>
            </a:pPr>
            <a:r>
              <a:rPr lang="en-US" sz="1450" dirty="0">
                <a:solidFill>
                  <a:srgbClr val="1B1F2A"/>
                </a:solidFill>
                <a:latin typeface="Calibri" pitchFamily="34" charset="0"/>
                <a:ea typeface="Calibri" pitchFamily="34" charset="-122"/>
                <a:cs typeface="Calibri" pitchFamily="34" charset="-120"/>
              </a:rPr>
              <a:t>LLM pricing and context windows are measured in tokens, not words. The same sentence in Hindi or Thai can cost 2 to 4 times the tokens of its English version.</a:t>
            </a:r>
            <a:endParaRPr lang="en-US" sz="1450" dirty="0"/>
          </a:p>
        </p:txBody>
      </p:sp>
      <p:sp>
        <p:nvSpPr>
          <p:cNvPr id="7" name="Shape 5"/>
          <p:cNvSpPr/>
          <p:nvPr/>
        </p:nvSpPr>
        <p:spPr>
          <a:xfrm>
            <a:off x="6217920" y="1920240"/>
            <a:ext cx="5394960" cy="1874520"/>
          </a:xfrm>
          <a:prstGeom prst="roundRect">
            <a:avLst>
              <a:gd name="adj" fmla="val 3902"/>
            </a:avLst>
          </a:prstGeom>
          <a:solidFill>
            <a:srgbClr val="FBEDEF"/>
          </a:solidFill>
          <a:ln/>
          <a:effectLst>
            <a:outerShdw blurRad="88900" dist="38100" dir="5400000" algn="bl" rotWithShape="0">
              <a:srgbClr val="000000">
                <a:alpha val="10000"/>
              </a:srgbClr>
            </a:outerShdw>
          </a:effectLst>
        </p:spPr>
        <p:txBody>
          <a:bodyPr/>
          <a:lstStyle/>
          <a:p>
            <a:endParaRPr lang="en-US"/>
          </a:p>
        </p:txBody>
      </p:sp>
      <p:sp>
        <p:nvSpPr>
          <p:cNvPr id="8" name="Text 6"/>
          <p:cNvSpPr/>
          <p:nvPr/>
        </p:nvSpPr>
        <p:spPr>
          <a:xfrm>
            <a:off x="6446520" y="2084832"/>
            <a:ext cx="4937760" cy="320040"/>
          </a:xfrm>
          <a:prstGeom prst="rect">
            <a:avLst/>
          </a:prstGeom>
          <a:noFill/>
          <a:ln/>
        </p:spPr>
        <p:txBody>
          <a:bodyPr wrap="square" lIns="0" tIns="0" rIns="0" bIns="0" rtlCol="0" anchor="ctr"/>
          <a:lstStyle/>
          <a:p>
            <a:pPr marL="0" indent="0">
              <a:buNone/>
            </a:pPr>
            <a:r>
              <a:rPr lang="en-US" sz="1300" b="1" dirty="0">
                <a:solidFill>
                  <a:srgbClr val="B31A38"/>
                </a:solidFill>
                <a:latin typeface="Calibri" pitchFamily="34" charset="0"/>
                <a:ea typeface="Calibri" pitchFamily="34" charset="-122"/>
                <a:cs typeface="Calibri" pitchFamily="34" charset="-120"/>
              </a:rPr>
              <a:t>So what</a:t>
            </a:r>
            <a:endParaRPr lang="en-US" sz="1300" dirty="0"/>
          </a:p>
        </p:txBody>
      </p:sp>
      <p:sp>
        <p:nvSpPr>
          <p:cNvPr id="9" name="Text 7"/>
          <p:cNvSpPr/>
          <p:nvPr/>
        </p:nvSpPr>
        <p:spPr>
          <a:xfrm>
            <a:off x="6446520" y="2414016"/>
            <a:ext cx="4983480" cy="1234440"/>
          </a:xfrm>
          <a:prstGeom prst="rect">
            <a:avLst/>
          </a:prstGeom>
          <a:noFill/>
          <a:ln/>
        </p:spPr>
        <p:txBody>
          <a:bodyPr wrap="square" lIns="0" tIns="0" rIns="0" bIns="0" rtlCol="0" anchor="t"/>
          <a:lstStyle/>
          <a:p>
            <a:pPr marL="0" indent="0">
              <a:buNone/>
            </a:pPr>
            <a:r>
              <a:rPr lang="en-US" sz="1450" dirty="0">
                <a:solidFill>
                  <a:srgbClr val="1B1F2A"/>
                </a:solidFill>
                <a:latin typeface="Calibri" pitchFamily="34" charset="0"/>
                <a:ea typeface="Calibri" pitchFamily="34" charset="-122"/>
                <a:cs typeface="Calibri" pitchFamily="34" charset="-120"/>
              </a:rPr>
              <a:t>A non-English user pays more, gets a shorter effective context window, and slower responses, for the exact same request.</a:t>
            </a:r>
            <a:endParaRPr lang="en-US" sz="1450" dirty="0"/>
          </a:p>
        </p:txBody>
      </p:sp>
      <p:sp>
        <p:nvSpPr>
          <p:cNvPr id="10" name="Shape 8"/>
          <p:cNvSpPr/>
          <p:nvPr/>
        </p:nvSpPr>
        <p:spPr>
          <a:xfrm>
            <a:off x="548640" y="3977640"/>
            <a:ext cx="11064240" cy="1874520"/>
          </a:xfrm>
          <a:prstGeom prst="roundRect">
            <a:avLst>
              <a:gd name="adj" fmla="val 3902"/>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1" name="Text 9"/>
          <p:cNvSpPr/>
          <p:nvPr/>
        </p:nvSpPr>
        <p:spPr>
          <a:xfrm>
            <a:off x="777240" y="4142232"/>
            <a:ext cx="10607040" cy="320040"/>
          </a:xfrm>
          <a:prstGeom prst="rect">
            <a:avLst/>
          </a:prstGeom>
          <a:noFill/>
          <a:ln/>
        </p:spPr>
        <p:txBody>
          <a:bodyPr wrap="square" lIns="0" tIns="0" rIns="0" bIns="0" rtlCol="0" anchor="ctr"/>
          <a:lstStyle/>
          <a:p>
            <a:pPr marL="0" indent="0">
              <a:buNone/>
            </a:pPr>
            <a:r>
              <a:rPr lang="en-US" sz="1300" b="1" dirty="0">
                <a:solidFill>
                  <a:srgbClr val="151A2E"/>
                </a:solidFill>
                <a:latin typeface="Calibri" pitchFamily="34" charset="0"/>
                <a:ea typeface="Calibri" pitchFamily="34" charset="-122"/>
                <a:cs typeface="Calibri" pitchFamily="34" charset="-120"/>
              </a:rPr>
              <a:t>Talk it through</a:t>
            </a:r>
            <a:endParaRPr lang="en-US" sz="1300" dirty="0"/>
          </a:p>
        </p:txBody>
      </p:sp>
      <p:sp>
        <p:nvSpPr>
          <p:cNvPr id="12" name="Text 10"/>
          <p:cNvSpPr/>
          <p:nvPr/>
        </p:nvSpPr>
        <p:spPr>
          <a:xfrm>
            <a:off x="822960" y="4480560"/>
            <a:ext cx="10515600" cy="1280160"/>
          </a:xfrm>
          <a:prstGeom prst="rect">
            <a:avLst/>
          </a:prstGeom>
          <a:noFill/>
          <a:ln/>
        </p:spPr>
        <p:txBody>
          <a:bodyPr wrap="square" rtlCol="0" anchor="t"/>
          <a:lstStyle/>
          <a:p>
            <a:pPr marL="342900" indent="-342900">
              <a:spcAft>
                <a:spcPts val="900"/>
              </a:spcAft>
              <a:buSzPct val="100000"/>
              <a:buChar char="•"/>
            </a:pPr>
            <a:r>
              <a:rPr lang="en-US" sz="1450" dirty="0">
                <a:solidFill>
                  <a:srgbClr val="1B1F2A"/>
                </a:solidFill>
                <a:latin typeface="Calibri" pitchFamily="34" charset="0"/>
                <a:ea typeface="Calibri" pitchFamily="34" charset="-122"/>
                <a:cs typeface="Calibri" pitchFamily="34" charset="-120"/>
              </a:rPr>
              <a:t>You run a SaaS product that charges customers per request but pays the model provider per token. How does adding multilingual support change your unit economics?</a:t>
            </a:r>
            <a:endParaRPr lang="en-US" sz="1450" dirty="0"/>
          </a:p>
          <a:p>
            <a:pPr marL="342900" indent="-342900">
              <a:buSzPct val="100000"/>
              <a:buChar char="•"/>
            </a:pPr>
            <a:r>
              <a:rPr lang="en-US" sz="1450" dirty="0">
                <a:solidFill>
                  <a:srgbClr val="1B1F2A"/>
                </a:solidFill>
                <a:latin typeface="Calibri" pitchFamily="34" charset="0"/>
                <a:ea typeface="Calibri" pitchFamily="34" charset="-122"/>
                <a:cs typeface="Calibri" pitchFamily="34" charset="-120"/>
              </a:rPr>
              <a:t>Is the token tax a fairness problem, a pricing problem, or both? Who is responsible for fixing it?</a:t>
            </a:r>
            <a:endParaRPr lang="en-US" sz="1450" dirty="0"/>
          </a:p>
        </p:txBody>
      </p:sp>
      <p:sp>
        <p:nvSpPr>
          <p:cNvPr id="13" name="Text 11"/>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4" name="Text 12"/>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STRUCTURE, LAYER ONE</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Part-of-speech tagging: what job does each word do?</a:t>
            </a:r>
            <a:endParaRPr lang="en-US" sz="3000" dirty="0"/>
          </a:p>
        </p:txBody>
      </p:sp>
      <p:sp>
        <p:nvSpPr>
          <p:cNvPr id="4" name="Text 2"/>
          <p:cNvSpPr/>
          <p:nvPr/>
        </p:nvSpPr>
        <p:spPr>
          <a:xfrm>
            <a:off x="548640" y="1600200"/>
            <a:ext cx="11064240" cy="457200"/>
          </a:xfrm>
          <a:prstGeom prst="rect">
            <a:avLst/>
          </a:prstGeom>
          <a:noFill/>
          <a:ln/>
        </p:spPr>
        <p:txBody>
          <a:bodyPr wrap="square" rtlCol="0" anchor="ctr"/>
          <a:lstStyle/>
          <a:p>
            <a:pPr marL="0" indent="0">
              <a:buNone/>
            </a:pPr>
            <a:r>
              <a:rPr lang="en-US" sz="1500" i="1" dirty="0">
                <a:solidFill>
                  <a:srgbClr val="1B1F2A"/>
                </a:solidFill>
                <a:latin typeface="Calibri" pitchFamily="34" charset="0"/>
                <a:ea typeface="Calibri" pitchFamily="34" charset="-122"/>
                <a:cs typeface="Calibri" pitchFamily="34" charset="-120"/>
              </a:rPr>
              <a:t>Same spelling, different grammatical role. The tag depends on context, which is exactly why it is not trivial.</a:t>
            </a:r>
            <a:endParaRPr lang="en-US" sz="1500" dirty="0"/>
          </a:p>
        </p:txBody>
      </p:sp>
      <p:sp>
        <p:nvSpPr>
          <p:cNvPr id="5" name="Shape 3"/>
          <p:cNvSpPr/>
          <p:nvPr/>
        </p:nvSpPr>
        <p:spPr>
          <a:xfrm>
            <a:off x="548640" y="2240280"/>
            <a:ext cx="11064240" cy="1371600"/>
          </a:xfrm>
          <a:prstGeom prst="roundRect">
            <a:avLst>
              <a:gd name="adj" fmla="val 5333"/>
            </a:avLst>
          </a:prstGeom>
          <a:solidFill>
            <a:srgbClr val="151A2E"/>
          </a:solidFill>
          <a:ln/>
          <a:effectLst>
            <a:outerShdw blurRad="88900" dist="38100" dir="5400000" algn="bl" rotWithShape="0">
              <a:srgbClr val="000000">
                <a:alpha val="10000"/>
              </a:srgbClr>
            </a:outerShdw>
          </a:effectLst>
        </p:spPr>
        <p:txBody>
          <a:bodyPr/>
          <a:lstStyle/>
          <a:p>
            <a:endParaRPr lang="en-US"/>
          </a:p>
        </p:txBody>
      </p:sp>
      <p:sp>
        <p:nvSpPr>
          <p:cNvPr id="6" name="Text 4"/>
          <p:cNvSpPr/>
          <p:nvPr/>
        </p:nvSpPr>
        <p:spPr>
          <a:xfrm>
            <a:off x="777240" y="2240280"/>
            <a:ext cx="10607040" cy="1371600"/>
          </a:xfrm>
          <a:prstGeom prst="rect">
            <a:avLst/>
          </a:prstGeom>
          <a:noFill/>
          <a:ln/>
        </p:spPr>
        <p:txBody>
          <a:bodyPr wrap="square" rtlCol="0" anchor="ctr"/>
          <a:lstStyle/>
          <a:p>
            <a:pPr marL="0" indent="0" algn="ctr">
              <a:buNone/>
            </a:pPr>
            <a:r>
              <a:rPr lang="en-US" sz="1900" dirty="0">
                <a:solidFill>
                  <a:srgbClr val="FFFFFF"/>
                </a:solidFill>
                <a:latin typeface="Consolas" pitchFamily="34" charset="0"/>
                <a:ea typeface="Consolas" pitchFamily="34" charset="-122"/>
                <a:cs typeface="Consolas" pitchFamily="34" charset="-120"/>
              </a:rPr>
              <a:t>I </a:t>
            </a:r>
            <a:r>
              <a:rPr lang="en-US" sz="1900" b="1" dirty="0">
                <a:solidFill>
                  <a:srgbClr val="B5A06A"/>
                </a:solidFill>
                <a:latin typeface="Consolas" pitchFamily="34" charset="0"/>
                <a:ea typeface="Consolas" pitchFamily="34" charset="-122"/>
                <a:cs typeface="Consolas" pitchFamily="34" charset="-120"/>
              </a:rPr>
              <a:t>book</a:t>
            </a:r>
            <a:r>
              <a:rPr lang="en-US" sz="1900" dirty="0">
                <a:solidFill>
                  <a:srgbClr val="FFFFFF"/>
                </a:solidFill>
                <a:latin typeface="Consolas" pitchFamily="34" charset="0"/>
                <a:ea typeface="Consolas" pitchFamily="34" charset="-122"/>
                <a:cs typeface="Consolas" pitchFamily="34" charset="-120"/>
              </a:rPr>
              <a:t> a flight   </a:t>
            </a:r>
            <a:r>
              <a:rPr lang="en-US" sz="1900" i="1" dirty="0">
                <a:solidFill>
                  <a:srgbClr val="9AA0B4"/>
                </a:solidFill>
                <a:latin typeface="Consolas" pitchFamily="34" charset="0"/>
                <a:ea typeface="Consolas" pitchFamily="34" charset="-122"/>
                <a:cs typeface="Consolas" pitchFamily="34" charset="-120"/>
              </a:rPr>
              <a:t>(book = VERB)</a:t>
            </a:r>
            <a:r>
              <a:rPr lang="en-US" sz="1900" dirty="0">
                <a:solidFill>
                  <a:srgbClr val="FFFFFF"/>
                </a:solidFill>
                <a:latin typeface="Consolas" pitchFamily="34" charset="0"/>
                <a:ea typeface="Consolas" pitchFamily="34" charset="-122"/>
                <a:cs typeface="Consolas" pitchFamily="34" charset="-120"/>
              </a:rPr>
              <a:t>      vs      I read a </a:t>
            </a:r>
            <a:r>
              <a:rPr lang="en-US" sz="1900" b="1" dirty="0">
                <a:solidFill>
                  <a:srgbClr val="B5A06A"/>
                </a:solidFill>
                <a:latin typeface="Consolas" pitchFamily="34" charset="0"/>
                <a:ea typeface="Consolas" pitchFamily="34" charset="-122"/>
                <a:cs typeface="Consolas" pitchFamily="34" charset="-120"/>
              </a:rPr>
              <a:t>book</a:t>
            </a:r>
            <a:r>
              <a:rPr lang="en-US" sz="1900" dirty="0">
                <a:solidFill>
                  <a:srgbClr val="FFFFFF"/>
                </a:solidFill>
                <a:latin typeface="Consolas" pitchFamily="34" charset="0"/>
                <a:ea typeface="Consolas" pitchFamily="34" charset="-122"/>
                <a:cs typeface="Consolas" pitchFamily="34" charset="-120"/>
              </a:rPr>
              <a:t>   </a:t>
            </a:r>
            <a:r>
              <a:rPr lang="en-US" sz="1900" i="1" dirty="0">
                <a:solidFill>
                  <a:srgbClr val="9AA0B4"/>
                </a:solidFill>
                <a:latin typeface="Consolas" pitchFamily="34" charset="0"/>
                <a:ea typeface="Consolas" pitchFamily="34" charset="-122"/>
                <a:cs typeface="Consolas" pitchFamily="34" charset="-120"/>
              </a:rPr>
              <a:t>(book = NOUN)</a:t>
            </a:r>
            <a:endParaRPr lang="en-US" sz="1900" dirty="0"/>
          </a:p>
        </p:txBody>
      </p:sp>
      <p:sp>
        <p:nvSpPr>
          <p:cNvPr id="7" name="Shape 5"/>
          <p:cNvSpPr/>
          <p:nvPr/>
        </p:nvSpPr>
        <p:spPr>
          <a:xfrm>
            <a:off x="548640" y="3886200"/>
            <a:ext cx="3593592" cy="1874520"/>
          </a:xfrm>
          <a:prstGeom prst="roundRect">
            <a:avLst>
              <a:gd name="adj" fmla="val 3902"/>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8" name="Shape 6"/>
          <p:cNvSpPr/>
          <p:nvPr/>
        </p:nvSpPr>
        <p:spPr>
          <a:xfrm>
            <a:off x="822960" y="4114800"/>
            <a:ext cx="594360" cy="594360"/>
          </a:xfrm>
          <a:prstGeom prst="line">
            <a:avLst/>
          </a:prstGeom>
          <a:solidFill>
            <a:srgbClr val="B31A38"/>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77494" y="4269334"/>
            <a:ext cx="285293" cy="285293"/>
          </a:xfrm>
          <a:prstGeom prst="rect">
            <a:avLst/>
          </a:prstGeom>
        </p:spPr>
      </p:pic>
      <p:sp>
        <p:nvSpPr>
          <p:cNvPr id="10" name="Text 7"/>
          <p:cNvSpPr/>
          <p:nvPr/>
        </p:nvSpPr>
        <p:spPr>
          <a:xfrm>
            <a:off x="1508760" y="4114800"/>
            <a:ext cx="2496312" cy="594360"/>
          </a:xfrm>
          <a:prstGeom prst="rect">
            <a:avLst/>
          </a:prstGeom>
          <a:noFill/>
          <a:ln/>
        </p:spPr>
        <p:txBody>
          <a:bodyPr wrap="square" lIns="0" tIns="0" rIns="0" bIns="0" rtlCol="0" anchor="ctr"/>
          <a:lstStyle/>
          <a:p>
            <a:pPr marL="0" indent="0">
              <a:buNone/>
            </a:pPr>
            <a:r>
              <a:rPr lang="en-US" sz="1550" b="1" dirty="0">
                <a:solidFill>
                  <a:srgbClr val="B31A38"/>
                </a:solidFill>
                <a:latin typeface="Cambria" pitchFamily="34" charset="0"/>
                <a:ea typeface="Cambria" pitchFamily="34" charset="-122"/>
                <a:cs typeface="Cambria" pitchFamily="34" charset="-120"/>
              </a:rPr>
              <a:t>Disambiguation</a:t>
            </a:r>
            <a:endParaRPr lang="en-US" sz="1550" dirty="0"/>
          </a:p>
        </p:txBody>
      </p:sp>
      <p:sp>
        <p:nvSpPr>
          <p:cNvPr id="11" name="Text 8"/>
          <p:cNvSpPr/>
          <p:nvPr/>
        </p:nvSpPr>
        <p:spPr>
          <a:xfrm>
            <a:off x="822960" y="4846320"/>
            <a:ext cx="3044952" cy="777240"/>
          </a:xfrm>
          <a:prstGeom prst="rect">
            <a:avLst/>
          </a:prstGeom>
          <a:noFill/>
          <a:ln/>
        </p:spPr>
        <p:txBody>
          <a:bodyPr wrap="square" lIns="0" tIns="0" rIns="0" bIns="0" rtlCol="0" anchor="t"/>
          <a:lstStyle/>
          <a:p>
            <a:pPr marL="0" indent="0">
              <a:buNone/>
            </a:pPr>
            <a:r>
              <a:rPr lang="en-US" sz="1300" dirty="0">
                <a:solidFill>
                  <a:srgbClr val="1B1F2A"/>
                </a:solidFill>
                <a:latin typeface="Calibri" pitchFamily="34" charset="0"/>
                <a:ea typeface="Calibri" pitchFamily="34" charset="-122"/>
                <a:cs typeface="Calibri" pitchFamily="34" charset="-120"/>
              </a:rPr>
              <a:t>Resolve which sense of a word is in play</a:t>
            </a:r>
            <a:endParaRPr lang="en-US" sz="1300" dirty="0"/>
          </a:p>
        </p:txBody>
      </p:sp>
      <p:sp>
        <p:nvSpPr>
          <p:cNvPr id="12" name="Shape 9"/>
          <p:cNvSpPr/>
          <p:nvPr/>
        </p:nvSpPr>
        <p:spPr>
          <a:xfrm>
            <a:off x="4288536" y="3886200"/>
            <a:ext cx="3593592" cy="1874520"/>
          </a:xfrm>
          <a:prstGeom prst="roundRect">
            <a:avLst>
              <a:gd name="adj" fmla="val 3902"/>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4562856" y="4114800"/>
            <a:ext cx="594360" cy="594360"/>
          </a:xfrm>
          <a:prstGeom prst="line">
            <a:avLst/>
          </a:prstGeom>
          <a:solidFill>
            <a:srgbClr val="151A2E"/>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17390" y="4269334"/>
            <a:ext cx="285293" cy="285293"/>
          </a:xfrm>
          <a:prstGeom prst="rect">
            <a:avLst/>
          </a:prstGeom>
        </p:spPr>
      </p:pic>
      <p:sp>
        <p:nvSpPr>
          <p:cNvPr id="15" name="Text 11"/>
          <p:cNvSpPr/>
          <p:nvPr/>
        </p:nvSpPr>
        <p:spPr>
          <a:xfrm>
            <a:off x="5248656" y="4114800"/>
            <a:ext cx="2496312" cy="594360"/>
          </a:xfrm>
          <a:prstGeom prst="rect">
            <a:avLst/>
          </a:prstGeom>
          <a:noFill/>
          <a:ln/>
        </p:spPr>
        <p:txBody>
          <a:bodyPr wrap="square" lIns="0" tIns="0" rIns="0" bIns="0" rtlCol="0" anchor="ctr"/>
          <a:lstStyle/>
          <a:p>
            <a:pPr marL="0" indent="0">
              <a:buNone/>
            </a:pPr>
            <a:r>
              <a:rPr lang="en-US" sz="1550" b="1" dirty="0">
                <a:solidFill>
                  <a:srgbClr val="151A2E"/>
                </a:solidFill>
                <a:latin typeface="Cambria" pitchFamily="34" charset="0"/>
                <a:ea typeface="Cambria" pitchFamily="34" charset="-122"/>
                <a:cs typeface="Cambria" pitchFamily="34" charset="-120"/>
              </a:rPr>
              <a:t>Feature signal</a:t>
            </a:r>
            <a:endParaRPr lang="en-US" sz="1550" dirty="0"/>
          </a:p>
        </p:txBody>
      </p:sp>
      <p:sp>
        <p:nvSpPr>
          <p:cNvPr id="16" name="Text 12"/>
          <p:cNvSpPr/>
          <p:nvPr/>
        </p:nvSpPr>
        <p:spPr>
          <a:xfrm>
            <a:off x="4562856" y="4846320"/>
            <a:ext cx="3044952" cy="777240"/>
          </a:xfrm>
          <a:prstGeom prst="rect">
            <a:avLst/>
          </a:prstGeom>
          <a:noFill/>
          <a:ln/>
        </p:spPr>
        <p:txBody>
          <a:bodyPr wrap="square" lIns="0" tIns="0" rIns="0" bIns="0" rtlCol="0" anchor="t"/>
          <a:lstStyle/>
          <a:p>
            <a:pPr marL="0" indent="0">
              <a:buNone/>
            </a:pPr>
            <a:r>
              <a:rPr lang="en-US" sz="1300" dirty="0">
                <a:solidFill>
                  <a:srgbClr val="1B1F2A"/>
                </a:solidFill>
                <a:latin typeface="Calibri" pitchFamily="34" charset="0"/>
                <a:ea typeface="Calibri" pitchFamily="34" charset="-122"/>
                <a:cs typeface="Calibri" pitchFamily="34" charset="-120"/>
              </a:rPr>
              <a:t>Feed downstream parsing and extraction</a:t>
            </a:r>
            <a:endParaRPr lang="en-US" sz="1300" dirty="0"/>
          </a:p>
        </p:txBody>
      </p:sp>
      <p:sp>
        <p:nvSpPr>
          <p:cNvPr id="17" name="Shape 13"/>
          <p:cNvSpPr/>
          <p:nvPr/>
        </p:nvSpPr>
        <p:spPr>
          <a:xfrm>
            <a:off x="8028432" y="3886200"/>
            <a:ext cx="3593592" cy="1874520"/>
          </a:xfrm>
          <a:prstGeom prst="roundRect">
            <a:avLst>
              <a:gd name="adj" fmla="val 3902"/>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8" name="Shape 14"/>
          <p:cNvSpPr/>
          <p:nvPr/>
        </p:nvSpPr>
        <p:spPr>
          <a:xfrm>
            <a:off x="8302752" y="4114800"/>
            <a:ext cx="594360" cy="594360"/>
          </a:xfrm>
          <a:prstGeom prst="line">
            <a:avLst/>
          </a:prstGeom>
          <a:solidFill>
            <a:srgbClr val="B5A06A"/>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457286" y="4269334"/>
            <a:ext cx="285293" cy="285293"/>
          </a:xfrm>
          <a:prstGeom prst="rect">
            <a:avLst/>
          </a:prstGeom>
        </p:spPr>
      </p:pic>
      <p:sp>
        <p:nvSpPr>
          <p:cNvPr id="20" name="Text 15"/>
          <p:cNvSpPr/>
          <p:nvPr/>
        </p:nvSpPr>
        <p:spPr>
          <a:xfrm>
            <a:off x="8988552" y="4114800"/>
            <a:ext cx="2496312" cy="594360"/>
          </a:xfrm>
          <a:prstGeom prst="rect">
            <a:avLst/>
          </a:prstGeom>
          <a:noFill/>
          <a:ln/>
        </p:spPr>
        <p:txBody>
          <a:bodyPr wrap="square" lIns="0" tIns="0" rIns="0" bIns="0" rtlCol="0" anchor="ctr"/>
          <a:lstStyle/>
          <a:p>
            <a:pPr marL="0" indent="0">
              <a:buNone/>
            </a:pPr>
            <a:r>
              <a:rPr lang="en-US" sz="1550" b="1" dirty="0">
                <a:solidFill>
                  <a:srgbClr val="B5A06A"/>
                </a:solidFill>
                <a:latin typeface="Cambria" pitchFamily="34" charset="0"/>
                <a:ea typeface="Cambria" pitchFamily="34" charset="-122"/>
                <a:cs typeface="Cambria" pitchFamily="34" charset="-120"/>
              </a:rPr>
              <a:t>Search &amp; filter</a:t>
            </a:r>
            <a:endParaRPr lang="en-US" sz="1550" dirty="0"/>
          </a:p>
        </p:txBody>
      </p:sp>
      <p:sp>
        <p:nvSpPr>
          <p:cNvPr id="21" name="Text 16"/>
          <p:cNvSpPr/>
          <p:nvPr/>
        </p:nvSpPr>
        <p:spPr>
          <a:xfrm>
            <a:off x="8302752" y="4846320"/>
            <a:ext cx="3044952" cy="777240"/>
          </a:xfrm>
          <a:prstGeom prst="rect">
            <a:avLst/>
          </a:prstGeom>
          <a:noFill/>
          <a:ln/>
        </p:spPr>
        <p:txBody>
          <a:bodyPr wrap="square" lIns="0" tIns="0" rIns="0" bIns="0" rtlCol="0" anchor="t"/>
          <a:lstStyle/>
          <a:p>
            <a:pPr marL="0" indent="0">
              <a:buNone/>
            </a:pPr>
            <a:r>
              <a:rPr lang="en-US" sz="1300" dirty="0">
                <a:solidFill>
                  <a:srgbClr val="1B1F2A"/>
                </a:solidFill>
                <a:latin typeface="Calibri" pitchFamily="34" charset="0"/>
                <a:ea typeface="Calibri" pitchFamily="34" charset="-122"/>
                <a:cs typeface="Calibri" pitchFamily="34" charset="-120"/>
              </a:rPr>
              <a:t>Pull all verbs, all proper nouns, fast</a:t>
            </a:r>
            <a:endParaRPr lang="en-US" sz="1300" dirty="0"/>
          </a:p>
        </p:txBody>
      </p:sp>
      <p:sp>
        <p:nvSpPr>
          <p:cNvPr id="22" name="Text 17"/>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3" name="Text 18"/>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STRUCTURE, LAYER TWO</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Named Entity Recognition: pulling the real world out of text</a:t>
            </a:r>
            <a:endParaRPr lang="en-US" sz="3000" dirty="0"/>
          </a:p>
        </p:txBody>
      </p:sp>
      <p:sp>
        <p:nvSpPr>
          <p:cNvPr id="4" name="Shape 2"/>
          <p:cNvSpPr/>
          <p:nvPr/>
        </p:nvSpPr>
        <p:spPr>
          <a:xfrm>
            <a:off x="548640" y="1920240"/>
            <a:ext cx="11064240" cy="1234440"/>
          </a:xfrm>
          <a:prstGeom prst="roundRect">
            <a:avLst>
              <a:gd name="adj" fmla="val 5926"/>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777240" y="1920240"/>
            <a:ext cx="10607040" cy="1234440"/>
          </a:xfrm>
          <a:prstGeom prst="rect">
            <a:avLst/>
          </a:prstGeom>
          <a:noFill/>
          <a:ln/>
        </p:spPr>
        <p:txBody>
          <a:bodyPr wrap="square" rtlCol="0" anchor="ctr"/>
          <a:lstStyle/>
          <a:p>
            <a:pPr marL="0" indent="0" algn="ctr">
              <a:buNone/>
            </a:pPr>
            <a:r>
              <a:rPr lang="en-US" sz="1800" b="1" dirty="0">
                <a:solidFill>
                  <a:srgbClr val="B31A38"/>
                </a:solidFill>
                <a:latin typeface="Calibri" pitchFamily="34" charset="0"/>
                <a:ea typeface="Calibri" pitchFamily="34" charset="-122"/>
                <a:cs typeface="Calibri" pitchFamily="34" charset="-120"/>
              </a:rPr>
              <a:t>Tim Cook</a:t>
            </a:r>
            <a:r>
              <a:rPr lang="en-US" sz="1800" dirty="0">
                <a:solidFill>
                  <a:srgbClr val="1B1F2A"/>
                </a:solidFill>
                <a:latin typeface="Calibri" pitchFamily="34" charset="0"/>
                <a:ea typeface="Calibri" pitchFamily="34" charset="-122"/>
                <a:cs typeface="Calibri" pitchFamily="34" charset="-120"/>
              </a:rPr>
              <a:t> met regulators in </a:t>
            </a:r>
            <a:r>
              <a:rPr lang="en-US" sz="1800" b="1" dirty="0">
                <a:solidFill>
                  <a:srgbClr val="151A2E"/>
                </a:solidFill>
                <a:latin typeface="Calibri" pitchFamily="34" charset="0"/>
                <a:ea typeface="Calibri" pitchFamily="34" charset="-122"/>
                <a:cs typeface="Calibri" pitchFamily="34" charset="-120"/>
              </a:rPr>
              <a:t>Brussels</a:t>
            </a:r>
            <a:r>
              <a:rPr lang="en-US" sz="1800" dirty="0">
                <a:solidFill>
                  <a:srgbClr val="1B1F2A"/>
                </a:solidFill>
                <a:latin typeface="Calibri" pitchFamily="34" charset="0"/>
                <a:ea typeface="Calibri" pitchFamily="34" charset="-122"/>
                <a:cs typeface="Calibri" pitchFamily="34" charset="-120"/>
              </a:rPr>
              <a:t> on </a:t>
            </a:r>
            <a:r>
              <a:rPr lang="en-US" sz="1800" b="1" dirty="0">
                <a:solidFill>
                  <a:srgbClr val="8A6D1F"/>
                </a:solidFill>
                <a:latin typeface="Calibri" pitchFamily="34" charset="0"/>
                <a:ea typeface="Calibri" pitchFamily="34" charset="-122"/>
                <a:cs typeface="Calibri" pitchFamily="34" charset="-120"/>
              </a:rPr>
              <a:t>Tuesday</a:t>
            </a:r>
            <a:r>
              <a:rPr lang="en-US" sz="1800" dirty="0">
                <a:solidFill>
                  <a:srgbClr val="1B1F2A"/>
                </a:solidFill>
                <a:latin typeface="Calibri" pitchFamily="34" charset="0"/>
                <a:ea typeface="Calibri" pitchFamily="34" charset="-122"/>
                <a:cs typeface="Calibri" pitchFamily="34" charset="-120"/>
              </a:rPr>
              <a:t> to discuss a </a:t>
            </a:r>
            <a:r>
              <a:rPr lang="en-US" sz="1800" b="1" dirty="0">
                <a:solidFill>
                  <a:srgbClr val="B31A38"/>
                </a:solidFill>
                <a:latin typeface="Calibri" pitchFamily="34" charset="0"/>
                <a:ea typeface="Calibri" pitchFamily="34" charset="-122"/>
                <a:cs typeface="Calibri" pitchFamily="34" charset="-120"/>
              </a:rPr>
              <a:t>2 billion euro</a:t>
            </a:r>
            <a:r>
              <a:rPr lang="en-US" sz="1800" dirty="0">
                <a:solidFill>
                  <a:srgbClr val="1B1F2A"/>
                </a:solidFill>
                <a:latin typeface="Calibri" pitchFamily="34" charset="0"/>
                <a:ea typeface="Calibri" pitchFamily="34" charset="-122"/>
                <a:cs typeface="Calibri" pitchFamily="34" charset="-120"/>
              </a:rPr>
              <a:t> fine.</a:t>
            </a:r>
            <a:endParaRPr lang="en-US" sz="1800" dirty="0"/>
          </a:p>
        </p:txBody>
      </p:sp>
      <p:sp>
        <p:nvSpPr>
          <p:cNvPr id="6" name="Text 4"/>
          <p:cNvSpPr/>
          <p:nvPr/>
        </p:nvSpPr>
        <p:spPr>
          <a:xfrm>
            <a:off x="777240" y="3200400"/>
            <a:ext cx="10607040" cy="320040"/>
          </a:xfrm>
          <a:prstGeom prst="rect">
            <a:avLst/>
          </a:prstGeom>
          <a:noFill/>
          <a:ln/>
        </p:spPr>
        <p:txBody>
          <a:bodyPr wrap="square" rtlCol="0" anchor="ctr"/>
          <a:lstStyle/>
          <a:p>
            <a:pPr marL="0" indent="0" algn="ctr">
              <a:buNone/>
            </a:pPr>
            <a:r>
              <a:rPr lang="en-US" sz="1200" i="1" dirty="0">
                <a:solidFill>
                  <a:srgbClr val="5B6172"/>
                </a:solidFill>
                <a:latin typeface="Calibri" pitchFamily="34" charset="0"/>
                <a:ea typeface="Calibri" pitchFamily="34" charset="-122"/>
                <a:cs typeface="Calibri" pitchFamily="34" charset="-120"/>
              </a:rPr>
              <a:t>PERSON          ·          GPE (place)          ·          DATE          ·          MONEY</a:t>
            </a:r>
            <a:endParaRPr lang="en-US" sz="1200" dirty="0"/>
          </a:p>
        </p:txBody>
      </p:sp>
      <p:sp>
        <p:nvSpPr>
          <p:cNvPr id="7" name="Shape 5"/>
          <p:cNvSpPr/>
          <p:nvPr/>
        </p:nvSpPr>
        <p:spPr>
          <a:xfrm>
            <a:off x="548640" y="3657600"/>
            <a:ext cx="5440680" cy="960120"/>
          </a:xfrm>
          <a:prstGeom prst="roundRect">
            <a:avLst>
              <a:gd name="adj" fmla="val 7619"/>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8" name="Shape 6"/>
          <p:cNvSpPr/>
          <p:nvPr/>
        </p:nvSpPr>
        <p:spPr>
          <a:xfrm>
            <a:off x="777240" y="3858768"/>
            <a:ext cx="548640" cy="548640"/>
          </a:xfrm>
          <a:prstGeom prst="line">
            <a:avLst/>
          </a:prstGeom>
          <a:solidFill>
            <a:srgbClr val="151A2E"/>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19886" y="4001414"/>
            <a:ext cx="263347" cy="263347"/>
          </a:xfrm>
          <a:prstGeom prst="rect">
            <a:avLst/>
          </a:prstGeom>
        </p:spPr>
      </p:pic>
      <p:sp>
        <p:nvSpPr>
          <p:cNvPr id="10" name="Text 7"/>
          <p:cNvSpPr/>
          <p:nvPr/>
        </p:nvSpPr>
        <p:spPr>
          <a:xfrm>
            <a:off x="1463040" y="3767328"/>
            <a:ext cx="4297680" cy="384048"/>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Information extraction</a:t>
            </a:r>
            <a:endParaRPr lang="en-US" sz="1500" dirty="0"/>
          </a:p>
        </p:txBody>
      </p:sp>
      <p:sp>
        <p:nvSpPr>
          <p:cNvPr id="11" name="Text 8"/>
          <p:cNvSpPr/>
          <p:nvPr/>
        </p:nvSpPr>
        <p:spPr>
          <a:xfrm>
            <a:off x="1463040" y="4133088"/>
            <a:ext cx="4297680" cy="411480"/>
          </a:xfrm>
          <a:prstGeom prst="rect">
            <a:avLst/>
          </a:prstGeom>
          <a:noFill/>
          <a:ln/>
        </p:spPr>
        <p:txBody>
          <a:bodyPr wrap="square" lIns="0" tIns="0" rIns="0" bIns="0" rtlCol="0" anchor="ctr"/>
          <a:lstStyle/>
          <a:p>
            <a:pPr marL="0" indent="0">
              <a:buNone/>
            </a:pPr>
            <a:r>
              <a:rPr lang="en-US" sz="1250" dirty="0">
                <a:solidFill>
                  <a:srgbClr val="1B1F2A"/>
                </a:solidFill>
                <a:latin typeface="Calibri" pitchFamily="34" charset="0"/>
                <a:ea typeface="Calibri" pitchFamily="34" charset="-122"/>
                <a:cs typeface="Calibri" pitchFamily="34" charset="-120"/>
              </a:rPr>
              <a:t>Turn prose into rows in a database</a:t>
            </a:r>
            <a:endParaRPr lang="en-US" sz="1250" dirty="0"/>
          </a:p>
        </p:txBody>
      </p:sp>
      <p:sp>
        <p:nvSpPr>
          <p:cNvPr id="12" name="Shape 9"/>
          <p:cNvSpPr/>
          <p:nvPr/>
        </p:nvSpPr>
        <p:spPr>
          <a:xfrm>
            <a:off x="6172200" y="3657600"/>
            <a:ext cx="5440680" cy="960120"/>
          </a:xfrm>
          <a:prstGeom prst="roundRect">
            <a:avLst>
              <a:gd name="adj" fmla="val 7619"/>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6400800" y="3858768"/>
            <a:ext cx="548640" cy="548640"/>
          </a:xfrm>
          <a:prstGeom prst="line">
            <a:avLst/>
          </a:prstGeom>
          <a:solidFill>
            <a:srgbClr val="B5A06A"/>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6543446" y="4001414"/>
            <a:ext cx="263347" cy="263347"/>
          </a:xfrm>
          <a:prstGeom prst="rect">
            <a:avLst/>
          </a:prstGeom>
        </p:spPr>
      </p:pic>
      <p:sp>
        <p:nvSpPr>
          <p:cNvPr id="15" name="Text 11"/>
          <p:cNvSpPr/>
          <p:nvPr/>
        </p:nvSpPr>
        <p:spPr>
          <a:xfrm>
            <a:off x="7086600" y="3767328"/>
            <a:ext cx="4297680" cy="384048"/>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Knowledge graphs</a:t>
            </a:r>
            <a:endParaRPr lang="en-US" sz="1500" dirty="0"/>
          </a:p>
        </p:txBody>
      </p:sp>
      <p:sp>
        <p:nvSpPr>
          <p:cNvPr id="16" name="Text 12"/>
          <p:cNvSpPr/>
          <p:nvPr/>
        </p:nvSpPr>
        <p:spPr>
          <a:xfrm>
            <a:off x="7086600" y="4133088"/>
            <a:ext cx="4297680" cy="411480"/>
          </a:xfrm>
          <a:prstGeom prst="rect">
            <a:avLst/>
          </a:prstGeom>
          <a:noFill/>
          <a:ln/>
        </p:spPr>
        <p:txBody>
          <a:bodyPr wrap="square" lIns="0" tIns="0" rIns="0" bIns="0" rtlCol="0" anchor="ctr"/>
          <a:lstStyle/>
          <a:p>
            <a:pPr marL="0" indent="0">
              <a:buNone/>
            </a:pPr>
            <a:r>
              <a:rPr lang="en-US" sz="1250" dirty="0">
                <a:solidFill>
                  <a:srgbClr val="1B1F2A"/>
                </a:solidFill>
                <a:latin typeface="Calibri" pitchFamily="34" charset="0"/>
                <a:ea typeface="Calibri" pitchFamily="34" charset="-122"/>
                <a:cs typeface="Calibri" pitchFamily="34" charset="-120"/>
              </a:rPr>
              <a:t>Link entities into a connected map</a:t>
            </a:r>
            <a:endParaRPr lang="en-US" sz="1250" dirty="0"/>
          </a:p>
        </p:txBody>
      </p:sp>
      <p:sp>
        <p:nvSpPr>
          <p:cNvPr id="17" name="Shape 13"/>
          <p:cNvSpPr/>
          <p:nvPr/>
        </p:nvSpPr>
        <p:spPr>
          <a:xfrm>
            <a:off x="548640" y="4754880"/>
            <a:ext cx="5440680" cy="960120"/>
          </a:xfrm>
          <a:prstGeom prst="roundRect">
            <a:avLst>
              <a:gd name="adj" fmla="val 7619"/>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8" name="Shape 14"/>
          <p:cNvSpPr/>
          <p:nvPr/>
        </p:nvSpPr>
        <p:spPr>
          <a:xfrm>
            <a:off x="777240" y="4956048"/>
            <a:ext cx="548640" cy="548640"/>
          </a:xfrm>
          <a:prstGeom prst="line">
            <a:avLst/>
          </a:prstGeom>
          <a:solidFill>
            <a:srgbClr val="151A2E"/>
          </a:solidFill>
          <a:ln/>
        </p:spPr>
        <p:txBody>
          <a:bodyPr/>
          <a:lstStyle/>
          <a:p>
            <a:endParaRPr lang="en-US"/>
          </a:p>
        </p:txBody>
      </p:sp>
      <p:pic>
        <p:nvPicPr>
          <p:cNvPr id="19" name="Image 2" descr="preencoded.png"/>
          <p:cNvPicPr>
            <a:picLocks noChangeAspect="1"/>
          </p:cNvPicPr>
          <p:nvPr/>
        </p:nvPicPr>
        <p:blipFill>
          <a:blip r:embed="rId3"/>
          <a:stretch>
            <a:fillRect/>
          </a:stretch>
        </p:blipFill>
        <p:spPr>
          <a:xfrm>
            <a:off x="919886" y="5098694"/>
            <a:ext cx="263347" cy="263347"/>
          </a:xfrm>
          <a:prstGeom prst="rect">
            <a:avLst/>
          </a:prstGeom>
        </p:spPr>
      </p:pic>
      <p:sp>
        <p:nvSpPr>
          <p:cNvPr id="20" name="Text 15"/>
          <p:cNvSpPr/>
          <p:nvPr/>
        </p:nvSpPr>
        <p:spPr>
          <a:xfrm>
            <a:off x="1463040" y="4864608"/>
            <a:ext cx="4297680" cy="384048"/>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PII redaction</a:t>
            </a:r>
            <a:endParaRPr lang="en-US" sz="1500" dirty="0"/>
          </a:p>
        </p:txBody>
      </p:sp>
      <p:sp>
        <p:nvSpPr>
          <p:cNvPr id="21" name="Text 16"/>
          <p:cNvSpPr/>
          <p:nvPr/>
        </p:nvSpPr>
        <p:spPr>
          <a:xfrm>
            <a:off x="1463040" y="5230368"/>
            <a:ext cx="4297680" cy="411480"/>
          </a:xfrm>
          <a:prstGeom prst="rect">
            <a:avLst/>
          </a:prstGeom>
          <a:noFill/>
          <a:ln/>
        </p:spPr>
        <p:txBody>
          <a:bodyPr wrap="square" lIns="0" tIns="0" rIns="0" bIns="0" rtlCol="0" anchor="ctr"/>
          <a:lstStyle/>
          <a:p>
            <a:pPr marL="0" indent="0">
              <a:buNone/>
            </a:pPr>
            <a:r>
              <a:rPr lang="en-US" sz="1250" dirty="0">
                <a:solidFill>
                  <a:srgbClr val="1B1F2A"/>
                </a:solidFill>
                <a:latin typeface="Calibri" pitchFamily="34" charset="0"/>
                <a:ea typeface="Calibri" pitchFamily="34" charset="-122"/>
                <a:cs typeface="Calibri" pitchFamily="34" charset="-120"/>
              </a:rPr>
              <a:t>Find and mask names, IDs, money for compliance</a:t>
            </a:r>
            <a:endParaRPr lang="en-US" sz="1250" dirty="0"/>
          </a:p>
        </p:txBody>
      </p:sp>
      <p:sp>
        <p:nvSpPr>
          <p:cNvPr id="22" name="Shape 17"/>
          <p:cNvSpPr/>
          <p:nvPr/>
        </p:nvSpPr>
        <p:spPr>
          <a:xfrm>
            <a:off x="6172200" y="4754880"/>
            <a:ext cx="5440680" cy="960120"/>
          </a:xfrm>
          <a:prstGeom prst="roundRect">
            <a:avLst>
              <a:gd name="adj" fmla="val 7619"/>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23" name="Shape 18"/>
          <p:cNvSpPr/>
          <p:nvPr/>
        </p:nvSpPr>
        <p:spPr>
          <a:xfrm>
            <a:off x="6400800" y="4956048"/>
            <a:ext cx="548640" cy="548640"/>
          </a:xfrm>
          <a:prstGeom prst="line">
            <a:avLst/>
          </a:prstGeom>
          <a:solidFill>
            <a:srgbClr val="B5A06A"/>
          </a:solidFill>
          <a:ln/>
        </p:spPr>
        <p:txBody>
          <a:bodyPr/>
          <a:lstStyle/>
          <a:p>
            <a:endParaRPr lang="en-US"/>
          </a:p>
        </p:txBody>
      </p:sp>
      <p:pic>
        <p:nvPicPr>
          <p:cNvPr id="24" name="Image 3" descr="preencoded.png"/>
          <p:cNvPicPr>
            <a:picLocks noChangeAspect="1"/>
          </p:cNvPicPr>
          <p:nvPr/>
        </p:nvPicPr>
        <p:blipFill>
          <a:blip r:embed="rId3"/>
          <a:stretch>
            <a:fillRect/>
          </a:stretch>
        </p:blipFill>
        <p:spPr>
          <a:xfrm>
            <a:off x="6543446" y="5098694"/>
            <a:ext cx="263347" cy="263347"/>
          </a:xfrm>
          <a:prstGeom prst="rect">
            <a:avLst/>
          </a:prstGeom>
        </p:spPr>
      </p:pic>
      <p:sp>
        <p:nvSpPr>
          <p:cNvPr id="25" name="Text 19"/>
          <p:cNvSpPr/>
          <p:nvPr/>
        </p:nvSpPr>
        <p:spPr>
          <a:xfrm>
            <a:off x="7086600" y="4864608"/>
            <a:ext cx="4297680" cy="384048"/>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Search &amp; analytics</a:t>
            </a:r>
            <a:endParaRPr lang="en-US" sz="1500" dirty="0"/>
          </a:p>
        </p:txBody>
      </p:sp>
      <p:sp>
        <p:nvSpPr>
          <p:cNvPr id="26" name="Text 20"/>
          <p:cNvSpPr/>
          <p:nvPr/>
        </p:nvSpPr>
        <p:spPr>
          <a:xfrm>
            <a:off x="7086600" y="5230368"/>
            <a:ext cx="4297680" cy="411480"/>
          </a:xfrm>
          <a:prstGeom prst="rect">
            <a:avLst/>
          </a:prstGeom>
          <a:noFill/>
          <a:ln/>
        </p:spPr>
        <p:txBody>
          <a:bodyPr wrap="square" lIns="0" tIns="0" rIns="0" bIns="0" rtlCol="0" anchor="ctr"/>
          <a:lstStyle/>
          <a:p>
            <a:pPr marL="0" indent="0">
              <a:buNone/>
            </a:pPr>
            <a:r>
              <a:rPr lang="en-US" sz="1250" dirty="0">
                <a:solidFill>
                  <a:srgbClr val="1B1F2A"/>
                </a:solidFill>
                <a:latin typeface="Calibri" pitchFamily="34" charset="0"/>
                <a:ea typeface="Calibri" pitchFamily="34" charset="-122"/>
                <a:cs typeface="Calibri" pitchFamily="34" charset="-120"/>
              </a:rPr>
              <a:t>Count mentions of companies, people, places</a:t>
            </a:r>
            <a:endParaRPr lang="en-US" sz="1250" dirty="0"/>
          </a:p>
        </p:txBody>
      </p:sp>
      <p:sp>
        <p:nvSpPr>
          <p:cNvPr id="27" name="Text 21"/>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8" name="Text 22"/>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640080" y="548640"/>
            <a:ext cx="1005840" cy="1005840"/>
          </a:xfrm>
          <a:prstGeom prst="line">
            <a:avLst/>
          </a:prstGeom>
          <a:solidFill>
            <a:srgbClr val="B31A3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01598" y="810158"/>
            <a:ext cx="482803" cy="482803"/>
          </a:xfrm>
          <a:prstGeom prst="rect">
            <a:avLst/>
          </a:prstGeom>
        </p:spPr>
      </p:pic>
      <p:sp>
        <p:nvSpPr>
          <p:cNvPr id="4" name="Text 1"/>
          <p:cNvSpPr/>
          <p:nvPr/>
        </p:nvSpPr>
        <p:spPr>
          <a:xfrm>
            <a:off x="1828800" y="566928"/>
            <a:ext cx="8229600" cy="365760"/>
          </a:xfrm>
          <a:prstGeom prst="rect">
            <a:avLst/>
          </a:prstGeom>
          <a:noFill/>
          <a:ln/>
        </p:spPr>
        <p:txBody>
          <a:bodyPr wrap="square" rtlCol="0" anchor="ctr"/>
          <a:lstStyle/>
          <a:p>
            <a:pPr marL="0" indent="0">
              <a:buNone/>
            </a:pPr>
            <a:r>
              <a:rPr lang="en-US" sz="1400" b="1" kern="0" spc="200" dirty="0">
                <a:solidFill>
                  <a:srgbClr val="B5A06A"/>
                </a:solidFill>
                <a:latin typeface="Calibri" pitchFamily="34" charset="0"/>
                <a:ea typeface="Calibri" pitchFamily="34" charset="-122"/>
                <a:cs typeface="Calibri" pitchFamily="34" charset="-120"/>
              </a:rPr>
              <a:t>IN-CLASS EXERCISE 2</a:t>
            </a:r>
            <a:endParaRPr lang="en-US" sz="1400" dirty="0"/>
          </a:p>
        </p:txBody>
      </p:sp>
      <p:sp>
        <p:nvSpPr>
          <p:cNvPr id="5" name="Text 2"/>
          <p:cNvSpPr/>
          <p:nvPr/>
        </p:nvSpPr>
        <p:spPr>
          <a:xfrm>
            <a:off x="1828800" y="91440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Annotate a real paragraph</a:t>
            </a:r>
            <a:endParaRPr lang="en-US" sz="3000" dirty="0"/>
          </a:p>
        </p:txBody>
      </p:sp>
      <p:sp>
        <p:nvSpPr>
          <p:cNvPr id="6" name="Text 3"/>
          <p:cNvSpPr/>
          <p:nvPr/>
        </p:nvSpPr>
        <p:spPr>
          <a:xfrm>
            <a:off x="1828800" y="1554480"/>
            <a:ext cx="10058400" cy="365760"/>
          </a:xfrm>
          <a:prstGeom prst="rect">
            <a:avLst/>
          </a:prstGeom>
          <a:noFill/>
          <a:ln/>
        </p:spPr>
        <p:txBody>
          <a:bodyPr wrap="square" rtlCol="0" anchor="ctr"/>
          <a:lstStyle/>
          <a:p>
            <a:pPr marL="0" indent="0">
              <a:buNone/>
            </a:pPr>
            <a:r>
              <a:rPr lang="en-US" sz="1400" i="1" dirty="0">
                <a:solidFill>
                  <a:srgbClr val="C9CDDA"/>
                </a:solidFill>
                <a:latin typeface="Calibri" pitchFamily="34" charset="0"/>
                <a:ea typeface="Calibri" pitchFamily="34" charset="-122"/>
                <a:cs typeface="Calibri" pitchFamily="34" charset="-120"/>
              </a:rPr>
              <a:t>Colab with spaCy, no API key needed   ·   ~15 minutes   ·   pairs</a:t>
            </a:r>
            <a:endParaRPr lang="en-US" sz="1400" dirty="0"/>
          </a:p>
        </p:txBody>
      </p:sp>
      <p:sp>
        <p:nvSpPr>
          <p:cNvPr id="7" name="Shape 4"/>
          <p:cNvSpPr/>
          <p:nvPr/>
        </p:nvSpPr>
        <p:spPr>
          <a:xfrm>
            <a:off x="640080" y="2194560"/>
            <a:ext cx="676656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8" name="Text 5"/>
          <p:cNvSpPr/>
          <p:nvPr/>
        </p:nvSpPr>
        <p:spPr>
          <a:xfrm>
            <a:off x="868680" y="2377440"/>
            <a:ext cx="62179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Your task</a:t>
            </a:r>
            <a:endParaRPr lang="en-US" sz="1400" dirty="0"/>
          </a:p>
        </p:txBody>
      </p:sp>
      <p:sp>
        <p:nvSpPr>
          <p:cNvPr id="9" name="Text 6"/>
          <p:cNvSpPr/>
          <p:nvPr/>
        </p:nvSpPr>
        <p:spPr>
          <a:xfrm>
            <a:off x="914400" y="2788920"/>
            <a:ext cx="6309360" cy="2926080"/>
          </a:xfrm>
          <a:prstGeom prst="rect">
            <a:avLst/>
          </a:prstGeom>
          <a:noFill/>
          <a:ln/>
        </p:spPr>
        <p:txBody>
          <a:bodyPr wrap="square" rtlCol="0" anchor="t"/>
          <a:lstStyle/>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Paste a news paragraph of your choice into the notebook</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Run spaCy to get POS tags and named entities</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Use displacy to visualize the entities inline</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Count the POS distribution: how noun-heavy is your text?</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Find one entity the model got wrong or missed</a:t>
            </a:r>
            <a:endParaRPr lang="en-US" sz="1400" dirty="0"/>
          </a:p>
        </p:txBody>
      </p:sp>
      <p:sp>
        <p:nvSpPr>
          <p:cNvPr id="10" name="Shape 7"/>
          <p:cNvSpPr/>
          <p:nvPr/>
        </p:nvSpPr>
        <p:spPr>
          <a:xfrm>
            <a:off x="7635240" y="2194560"/>
            <a:ext cx="397764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11" name="Text 8"/>
          <p:cNvSpPr/>
          <p:nvPr/>
        </p:nvSpPr>
        <p:spPr>
          <a:xfrm>
            <a:off x="7863840" y="2377440"/>
            <a:ext cx="356616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Bring back an answer to</a:t>
            </a:r>
            <a:endParaRPr lang="en-US" sz="1400" dirty="0"/>
          </a:p>
        </p:txBody>
      </p:sp>
      <p:sp>
        <p:nvSpPr>
          <p:cNvPr id="12" name="Text 9"/>
          <p:cNvSpPr/>
          <p:nvPr/>
        </p:nvSpPr>
        <p:spPr>
          <a:xfrm>
            <a:off x="7909560" y="2788920"/>
            <a:ext cx="3566160" cy="2926080"/>
          </a:xfrm>
          <a:prstGeom prst="rect">
            <a:avLst/>
          </a:prstGeom>
          <a:noFill/>
          <a:ln/>
        </p:spPr>
        <p:txBody>
          <a:bodyPr wrap="square" rtlCol="0" anchor="t"/>
          <a:lstStyle/>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What kind of text broke the tagger?</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Was the miss a hard case or a plain error?</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Would more context have fixed it?</a:t>
            </a:r>
            <a:endParaRPr lang="en-US" sz="1350" dirty="0"/>
          </a:p>
        </p:txBody>
      </p:sp>
      <p:sp>
        <p:nvSpPr>
          <p:cNvPr id="13" name="Text 10"/>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Two more to argue about</a:t>
            </a:r>
            <a:endParaRPr lang="en-US" sz="3000" dirty="0"/>
          </a:p>
        </p:txBody>
      </p:sp>
      <p:sp>
        <p:nvSpPr>
          <p:cNvPr id="4" name="Shape 2"/>
          <p:cNvSpPr/>
          <p:nvPr/>
        </p:nvSpPr>
        <p:spPr>
          <a:xfrm>
            <a:off x="10607040" y="502920"/>
            <a:ext cx="1005840" cy="1005840"/>
          </a:xfrm>
          <a:prstGeom prst="line">
            <a:avLst/>
          </a:prstGeom>
          <a:solidFill>
            <a:srgbClr val="151A2E"/>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868558" y="764438"/>
            <a:ext cx="482803" cy="482803"/>
          </a:xfrm>
          <a:prstGeom prst="rect">
            <a:avLst/>
          </a:prstGeom>
        </p:spPr>
      </p:pic>
      <p:sp>
        <p:nvSpPr>
          <p:cNvPr id="6" name="Text 3"/>
          <p:cNvSpPr/>
          <p:nvPr/>
        </p:nvSpPr>
        <p:spPr>
          <a:xfrm>
            <a:off x="548640" y="1600200"/>
            <a:ext cx="9601200" cy="365760"/>
          </a:xfrm>
          <a:prstGeom prst="rect">
            <a:avLst/>
          </a:prstGeom>
          <a:noFill/>
          <a:ln/>
        </p:spPr>
        <p:txBody>
          <a:bodyPr wrap="square" rtlCol="0" anchor="ctr"/>
          <a:lstStyle/>
          <a:p>
            <a:pPr marL="0" indent="0">
              <a:buNone/>
            </a:pPr>
            <a:r>
              <a:rPr lang="en-US" sz="1500" i="1" dirty="0">
                <a:solidFill>
                  <a:srgbClr val="5B6172"/>
                </a:solidFill>
                <a:latin typeface="Calibri" pitchFamily="34" charset="0"/>
                <a:ea typeface="Calibri" pitchFamily="34" charset="-122"/>
                <a:cs typeface="Calibri" pitchFamily="34" charset="-120"/>
              </a:rPr>
              <a:t>Small groups, then report out. There is no clean answer to either.</a:t>
            </a:r>
            <a:endParaRPr lang="en-US" sz="1500" dirty="0"/>
          </a:p>
        </p:txBody>
      </p:sp>
      <p:sp>
        <p:nvSpPr>
          <p:cNvPr id="7" name="Shape 4"/>
          <p:cNvSpPr/>
          <p:nvPr/>
        </p:nvSpPr>
        <p:spPr>
          <a:xfrm>
            <a:off x="548640" y="2148840"/>
            <a:ext cx="11064240" cy="1691640"/>
          </a:xfrm>
          <a:prstGeom prst="roundRect">
            <a:avLst>
              <a:gd name="adj" fmla="val 4324"/>
            </a:avLst>
          </a:prstGeom>
          <a:solidFill>
            <a:srgbClr val="FBEDEF"/>
          </a:solidFill>
          <a:ln/>
          <a:effectLst>
            <a:outerShdw blurRad="88900" dist="38100" dir="5400000" algn="bl" rotWithShape="0">
              <a:srgbClr val="000000">
                <a:alpha val="10000"/>
              </a:srgbClr>
            </a:outerShdw>
          </a:effectLst>
        </p:spPr>
        <p:txBody>
          <a:bodyPr/>
          <a:lstStyle/>
          <a:p>
            <a:endParaRPr lang="en-US"/>
          </a:p>
        </p:txBody>
      </p:sp>
      <p:sp>
        <p:nvSpPr>
          <p:cNvPr id="8" name="Shape 5"/>
          <p:cNvSpPr/>
          <p:nvPr/>
        </p:nvSpPr>
        <p:spPr>
          <a:xfrm>
            <a:off x="868680" y="2441448"/>
            <a:ext cx="868680" cy="868680"/>
          </a:xfrm>
          <a:prstGeom prst="ellipse">
            <a:avLst/>
          </a:prstGeom>
          <a:solidFill>
            <a:srgbClr val="B31A38"/>
          </a:solidFill>
          <a:ln/>
        </p:spPr>
        <p:txBody>
          <a:bodyPr/>
          <a:lstStyle/>
          <a:p>
            <a:endParaRPr lang="en-US"/>
          </a:p>
        </p:txBody>
      </p:sp>
      <p:sp>
        <p:nvSpPr>
          <p:cNvPr id="9" name="Text 6"/>
          <p:cNvSpPr/>
          <p:nvPr/>
        </p:nvSpPr>
        <p:spPr>
          <a:xfrm>
            <a:off x="868680" y="2441448"/>
            <a:ext cx="868680" cy="86868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10" name="Text 7"/>
          <p:cNvSpPr/>
          <p:nvPr/>
        </p:nvSpPr>
        <p:spPr>
          <a:xfrm>
            <a:off x="2011680" y="2377440"/>
            <a:ext cx="9235440" cy="914400"/>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A bank uses NER to redact customer names before logs leave the building. It catches 97 percent of names. Is that good enough? What does each missed name cost, and what does each over-redaction cost?</a:t>
            </a:r>
            <a:endParaRPr lang="en-US" sz="1550" dirty="0"/>
          </a:p>
        </p:txBody>
      </p:sp>
      <p:sp>
        <p:nvSpPr>
          <p:cNvPr id="11" name="Text 8"/>
          <p:cNvSpPr/>
          <p:nvPr/>
        </p:nvSpPr>
        <p:spPr>
          <a:xfrm>
            <a:off x="2011680" y="3319272"/>
            <a:ext cx="9235440" cy="365760"/>
          </a:xfrm>
          <a:prstGeom prst="rect">
            <a:avLst/>
          </a:prstGeom>
          <a:noFill/>
          <a:ln/>
        </p:spPr>
        <p:txBody>
          <a:bodyPr wrap="square" lIns="0" tIns="0" rIns="0" bIns="0" rtlCol="0" anchor="ctr"/>
          <a:lstStyle/>
          <a:p>
            <a:pPr marL="0" indent="0">
              <a:buNone/>
            </a:pPr>
            <a:r>
              <a:rPr lang="en-US" sz="1250" b="1" i="1" dirty="0">
                <a:solidFill>
                  <a:srgbClr val="B31A38"/>
                </a:solidFill>
                <a:latin typeface="Calibri" pitchFamily="34" charset="0"/>
                <a:ea typeface="Calibri" pitchFamily="34" charset="-122"/>
                <a:cs typeface="Calibri" pitchFamily="34" charset="-120"/>
              </a:rPr>
              <a:t>Precision and recall stop being abstract when each error has a price.</a:t>
            </a:r>
            <a:endParaRPr lang="en-US" sz="1250" dirty="0"/>
          </a:p>
        </p:txBody>
      </p:sp>
      <p:sp>
        <p:nvSpPr>
          <p:cNvPr id="12" name="Shape 9"/>
          <p:cNvSpPr/>
          <p:nvPr/>
        </p:nvSpPr>
        <p:spPr>
          <a:xfrm>
            <a:off x="548640" y="4023360"/>
            <a:ext cx="11064240" cy="1691640"/>
          </a:xfrm>
          <a:prstGeom prst="roundRect">
            <a:avLst>
              <a:gd name="adj" fmla="val 4324"/>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868680" y="4315968"/>
            <a:ext cx="868680" cy="868680"/>
          </a:xfrm>
          <a:prstGeom prst="ellipse">
            <a:avLst/>
          </a:prstGeom>
          <a:solidFill>
            <a:srgbClr val="151A2E"/>
          </a:solidFill>
          <a:ln/>
        </p:spPr>
        <p:txBody>
          <a:bodyPr/>
          <a:lstStyle/>
          <a:p>
            <a:endParaRPr lang="en-US"/>
          </a:p>
        </p:txBody>
      </p:sp>
      <p:sp>
        <p:nvSpPr>
          <p:cNvPr id="14" name="Text 11"/>
          <p:cNvSpPr/>
          <p:nvPr/>
        </p:nvSpPr>
        <p:spPr>
          <a:xfrm>
            <a:off x="868680" y="4315968"/>
            <a:ext cx="868680" cy="86868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15" name="Text 12"/>
          <p:cNvSpPr/>
          <p:nvPr/>
        </p:nvSpPr>
        <p:spPr>
          <a:xfrm>
            <a:off x="2011680" y="4251960"/>
            <a:ext cx="9235440" cy="914400"/>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A tokenizer is frozen the day the model ships, but language keeps moving: new slang, new brand names, new emoji. What breaks first, and how would you even detect tokenizer drift in production?</a:t>
            </a:r>
            <a:endParaRPr lang="en-US" sz="1550" dirty="0"/>
          </a:p>
        </p:txBody>
      </p:sp>
      <p:sp>
        <p:nvSpPr>
          <p:cNvPr id="16" name="Text 13"/>
          <p:cNvSpPr/>
          <p:nvPr/>
        </p:nvSpPr>
        <p:spPr>
          <a:xfrm>
            <a:off x="2011680" y="5193792"/>
            <a:ext cx="9235440" cy="365760"/>
          </a:xfrm>
          <a:prstGeom prst="rect">
            <a:avLst/>
          </a:prstGeom>
          <a:noFill/>
          <a:ln/>
        </p:spPr>
        <p:txBody>
          <a:bodyPr wrap="square" lIns="0" tIns="0" rIns="0" bIns="0" rtlCol="0" anchor="ctr"/>
          <a:lstStyle/>
          <a:p>
            <a:pPr marL="0" indent="0">
              <a:buNone/>
            </a:pPr>
            <a:r>
              <a:rPr lang="en-US" sz="1250" b="1" i="1" dirty="0">
                <a:solidFill>
                  <a:srgbClr val="151A2E"/>
                </a:solidFill>
                <a:latin typeface="Calibri" pitchFamily="34" charset="0"/>
                <a:ea typeface="Calibri" pitchFamily="34" charset="-122"/>
                <a:cs typeface="Calibri" pitchFamily="34" charset="-120"/>
              </a:rPr>
              <a:t>The vocabulary you cannot retrain slowly turns into technical debt.</a:t>
            </a:r>
            <a:endParaRPr lang="en-US" sz="1250" dirty="0"/>
          </a:p>
        </p:txBody>
      </p:sp>
      <p:sp>
        <p:nvSpPr>
          <p:cNvPr id="17" name="Text 14"/>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8" name="Text 15"/>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640080" y="594360"/>
            <a:ext cx="10058400" cy="365760"/>
          </a:xfrm>
          <a:prstGeom prst="rect">
            <a:avLst/>
          </a:prstGeom>
          <a:noFill/>
          <a:ln/>
        </p:spPr>
        <p:txBody>
          <a:bodyPr wrap="square" rtlCol="0" anchor="ctr"/>
          <a:lstStyle/>
          <a:p>
            <a:pPr marL="0" indent="0">
              <a:buNone/>
            </a:pPr>
            <a:r>
              <a:rPr lang="en-US" sz="1400" b="1" kern="0" spc="300" dirty="0">
                <a:solidFill>
                  <a:srgbClr val="B5A06A"/>
                </a:solidFill>
                <a:latin typeface="Calibri" pitchFamily="34" charset="0"/>
                <a:ea typeface="Calibri" pitchFamily="34" charset="-122"/>
                <a:cs typeface="Calibri" pitchFamily="34" charset="-120"/>
              </a:rPr>
              <a:t>WRAP-UP</a:t>
            </a:r>
            <a:endParaRPr lang="en-US" sz="1400" dirty="0"/>
          </a:p>
        </p:txBody>
      </p:sp>
      <p:sp>
        <p:nvSpPr>
          <p:cNvPr id="3" name="Text 1"/>
          <p:cNvSpPr/>
          <p:nvPr/>
        </p:nvSpPr>
        <p:spPr>
          <a:xfrm>
            <a:off x="640080" y="96012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Today in one line</a:t>
            </a:r>
            <a:endParaRPr lang="en-US" sz="3000" dirty="0"/>
          </a:p>
        </p:txBody>
      </p:sp>
      <p:sp>
        <p:nvSpPr>
          <p:cNvPr id="4" name="Text 2"/>
          <p:cNvSpPr/>
          <p:nvPr/>
        </p:nvSpPr>
        <p:spPr>
          <a:xfrm>
            <a:off x="640080" y="1691640"/>
            <a:ext cx="10515600" cy="548640"/>
          </a:xfrm>
          <a:prstGeom prst="rect">
            <a:avLst/>
          </a:prstGeom>
          <a:noFill/>
          <a:ln/>
        </p:spPr>
        <p:txBody>
          <a:bodyPr wrap="square" rtlCol="0" anchor="ctr"/>
          <a:lstStyle/>
          <a:p>
            <a:pPr marL="0" indent="0">
              <a:buNone/>
            </a:pPr>
            <a:r>
              <a:rPr lang="en-US" sz="1700" i="1" dirty="0">
                <a:solidFill>
                  <a:srgbClr val="C9CDDA"/>
                </a:solidFill>
                <a:latin typeface="Calibri" pitchFamily="34" charset="0"/>
                <a:ea typeface="Calibri" pitchFamily="34" charset="-122"/>
                <a:cs typeface="Calibri" pitchFamily="34" charset="-120"/>
              </a:rPr>
              <a:t>The unit of text is a design choice, and that choice carries structure, cost, and consequences.</a:t>
            </a:r>
            <a:endParaRPr lang="en-US" sz="1700" dirty="0"/>
          </a:p>
        </p:txBody>
      </p:sp>
      <p:sp>
        <p:nvSpPr>
          <p:cNvPr id="5" name="Shape 3"/>
          <p:cNvSpPr/>
          <p:nvPr/>
        </p:nvSpPr>
        <p:spPr>
          <a:xfrm>
            <a:off x="640080" y="2423160"/>
            <a:ext cx="3630168" cy="1828800"/>
          </a:xfrm>
          <a:prstGeom prst="roundRect">
            <a:avLst>
              <a:gd name="adj" fmla="val 4000"/>
            </a:avLst>
          </a:prstGeom>
          <a:solidFill>
            <a:srgbClr val="1F2540"/>
          </a:solidFill>
          <a:ln/>
        </p:spPr>
        <p:txBody>
          <a:bodyPr/>
          <a:lstStyle/>
          <a:p>
            <a:endParaRPr lang="en-US"/>
          </a:p>
        </p:txBody>
      </p:sp>
      <p:sp>
        <p:nvSpPr>
          <p:cNvPr id="6" name="Shape 4"/>
          <p:cNvSpPr/>
          <p:nvPr/>
        </p:nvSpPr>
        <p:spPr>
          <a:xfrm>
            <a:off x="914400" y="2651760"/>
            <a:ext cx="640080" cy="640080"/>
          </a:xfrm>
          <a:prstGeom prst="line">
            <a:avLst/>
          </a:prstGeom>
          <a:solidFill>
            <a:srgbClr val="B31A3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0821" y="2818181"/>
            <a:ext cx="307238" cy="307238"/>
          </a:xfrm>
          <a:prstGeom prst="rect">
            <a:avLst/>
          </a:prstGeom>
        </p:spPr>
      </p:pic>
      <p:sp>
        <p:nvSpPr>
          <p:cNvPr id="8" name="Text 5"/>
          <p:cNvSpPr/>
          <p:nvPr/>
        </p:nvSpPr>
        <p:spPr>
          <a:xfrm>
            <a:off x="914400" y="3383280"/>
            <a:ext cx="3081528"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Subword tokenization</a:t>
            </a:r>
            <a:endParaRPr lang="en-US" sz="1550" dirty="0"/>
          </a:p>
        </p:txBody>
      </p:sp>
      <p:sp>
        <p:nvSpPr>
          <p:cNvPr id="9" name="Text 6"/>
          <p:cNvSpPr/>
          <p:nvPr/>
        </p:nvSpPr>
        <p:spPr>
          <a:xfrm>
            <a:off x="914400" y="3749040"/>
            <a:ext cx="3081528" cy="457200"/>
          </a:xfrm>
          <a:prstGeom prst="rect">
            <a:avLst/>
          </a:prstGeom>
          <a:noFill/>
          <a:ln/>
        </p:spPr>
        <p:txBody>
          <a:bodyPr wrap="square" lIns="0" tIns="0" rIns="0" bIns="0" rtlCol="0" anchor="ctr"/>
          <a:lstStyle/>
          <a:p>
            <a:pPr marL="0" indent="0">
              <a:buNone/>
            </a:pPr>
            <a:r>
              <a:rPr lang="en-US" sz="1250" dirty="0">
                <a:solidFill>
                  <a:srgbClr val="B9BDCC"/>
                </a:solidFill>
                <a:latin typeface="Calibri" pitchFamily="34" charset="0"/>
                <a:ea typeface="Calibri" pitchFamily="34" charset="-122"/>
                <a:cs typeface="Calibri" pitchFamily="34" charset="-120"/>
              </a:rPr>
              <a:t>BPE, WordPiece, SentencePiece: the modern default</a:t>
            </a:r>
            <a:endParaRPr lang="en-US" sz="1250" dirty="0"/>
          </a:p>
        </p:txBody>
      </p:sp>
      <p:sp>
        <p:nvSpPr>
          <p:cNvPr id="10" name="Shape 7"/>
          <p:cNvSpPr/>
          <p:nvPr/>
        </p:nvSpPr>
        <p:spPr>
          <a:xfrm>
            <a:off x="4434840" y="2423160"/>
            <a:ext cx="3630168" cy="1828800"/>
          </a:xfrm>
          <a:prstGeom prst="roundRect">
            <a:avLst>
              <a:gd name="adj" fmla="val 4000"/>
            </a:avLst>
          </a:prstGeom>
          <a:solidFill>
            <a:srgbClr val="1F2540"/>
          </a:solidFill>
          <a:ln/>
        </p:spPr>
        <p:txBody>
          <a:bodyPr/>
          <a:lstStyle/>
          <a:p>
            <a:endParaRPr lang="en-US"/>
          </a:p>
        </p:txBody>
      </p:sp>
      <p:sp>
        <p:nvSpPr>
          <p:cNvPr id="11" name="Shape 8"/>
          <p:cNvSpPr/>
          <p:nvPr/>
        </p:nvSpPr>
        <p:spPr>
          <a:xfrm>
            <a:off x="4709160" y="2651760"/>
            <a:ext cx="640080" cy="640080"/>
          </a:xfrm>
          <a:prstGeom prst="line">
            <a:avLst/>
          </a:prstGeom>
          <a:solidFill>
            <a:srgbClr val="B31A3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875581" y="2818181"/>
            <a:ext cx="307238" cy="307238"/>
          </a:xfrm>
          <a:prstGeom prst="rect">
            <a:avLst/>
          </a:prstGeom>
        </p:spPr>
      </p:pic>
      <p:sp>
        <p:nvSpPr>
          <p:cNvPr id="13" name="Text 9"/>
          <p:cNvSpPr/>
          <p:nvPr/>
        </p:nvSpPr>
        <p:spPr>
          <a:xfrm>
            <a:off x="4709160" y="3383280"/>
            <a:ext cx="3081528"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POS &amp; NER</a:t>
            </a:r>
            <a:endParaRPr lang="en-US" sz="1550" dirty="0"/>
          </a:p>
        </p:txBody>
      </p:sp>
      <p:sp>
        <p:nvSpPr>
          <p:cNvPr id="14" name="Text 10"/>
          <p:cNvSpPr/>
          <p:nvPr/>
        </p:nvSpPr>
        <p:spPr>
          <a:xfrm>
            <a:off x="4709160" y="3749040"/>
            <a:ext cx="3081528" cy="457200"/>
          </a:xfrm>
          <a:prstGeom prst="rect">
            <a:avLst/>
          </a:prstGeom>
          <a:noFill/>
          <a:ln/>
        </p:spPr>
        <p:txBody>
          <a:bodyPr wrap="square" lIns="0" tIns="0" rIns="0" bIns="0" rtlCol="0" anchor="ctr"/>
          <a:lstStyle/>
          <a:p>
            <a:pPr marL="0" indent="0">
              <a:buNone/>
            </a:pPr>
            <a:r>
              <a:rPr lang="en-US" sz="1250" dirty="0">
                <a:solidFill>
                  <a:srgbClr val="B9BDCC"/>
                </a:solidFill>
                <a:latin typeface="Calibri" pitchFamily="34" charset="0"/>
                <a:ea typeface="Calibri" pitchFamily="34" charset="-122"/>
                <a:cs typeface="Calibri" pitchFamily="34" charset="-120"/>
              </a:rPr>
              <a:t>First layers of linguistic structure over raw tokens</a:t>
            </a:r>
            <a:endParaRPr lang="en-US" sz="1250" dirty="0"/>
          </a:p>
        </p:txBody>
      </p:sp>
      <p:sp>
        <p:nvSpPr>
          <p:cNvPr id="15" name="Shape 11"/>
          <p:cNvSpPr/>
          <p:nvPr/>
        </p:nvSpPr>
        <p:spPr>
          <a:xfrm>
            <a:off x="8229600" y="2423160"/>
            <a:ext cx="3630168" cy="1828800"/>
          </a:xfrm>
          <a:prstGeom prst="roundRect">
            <a:avLst>
              <a:gd name="adj" fmla="val 4000"/>
            </a:avLst>
          </a:prstGeom>
          <a:solidFill>
            <a:srgbClr val="1F2540"/>
          </a:solidFill>
          <a:ln/>
        </p:spPr>
        <p:txBody>
          <a:bodyPr/>
          <a:lstStyle/>
          <a:p>
            <a:endParaRPr lang="en-US"/>
          </a:p>
        </p:txBody>
      </p:sp>
      <p:sp>
        <p:nvSpPr>
          <p:cNvPr id="16" name="Shape 12"/>
          <p:cNvSpPr/>
          <p:nvPr/>
        </p:nvSpPr>
        <p:spPr>
          <a:xfrm>
            <a:off x="8503920" y="2651760"/>
            <a:ext cx="640080" cy="640080"/>
          </a:xfrm>
          <a:prstGeom prst="line">
            <a:avLst/>
          </a:prstGeom>
          <a:solidFill>
            <a:srgbClr val="B31A38"/>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670341" y="2818181"/>
            <a:ext cx="307238" cy="307238"/>
          </a:xfrm>
          <a:prstGeom prst="rect">
            <a:avLst/>
          </a:prstGeom>
        </p:spPr>
      </p:pic>
      <p:sp>
        <p:nvSpPr>
          <p:cNvPr id="18" name="Text 13"/>
          <p:cNvSpPr/>
          <p:nvPr/>
        </p:nvSpPr>
        <p:spPr>
          <a:xfrm>
            <a:off x="8503920" y="3383280"/>
            <a:ext cx="3081528"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Token economics</a:t>
            </a:r>
            <a:endParaRPr lang="en-US" sz="1550" dirty="0"/>
          </a:p>
        </p:txBody>
      </p:sp>
      <p:sp>
        <p:nvSpPr>
          <p:cNvPr id="19" name="Text 14"/>
          <p:cNvSpPr/>
          <p:nvPr/>
        </p:nvSpPr>
        <p:spPr>
          <a:xfrm>
            <a:off x="8503920" y="3749040"/>
            <a:ext cx="3081528" cy="457200"/>
          </a:xfrm>
          <a:prstGeom prst="rect">
            <a:avLst/>
          </a:prstGeom>
          <a:noFill/>
          <a:ln/>
        </p:spPr>
        <p:txBody>
          <a:bodyPr wrap="square" lIns="0" tIns="0" rIns="0" bIns="0" rtlCol="0" anchor="ctr"/>
          <a:lstStyle/>
          <a:p>
            <a:pPr marL="0" indent="0">
              <a:buNone/>
            </a:pPr>
            <a:r>
              <a:rPr lang="en-US" sz="1250" dirty="0">
                <a:solidFill>
                  <a:srgbClr val="B9BDCC"/>
                </a:solidFill>
                <a:latin typeface="Calibri" pitchFamily="34" charset="0"/>
                <a:ea typeface="Calibri" pitchFamily="34" charset="-122"/>
                <a:cs typeface="Calibri" pitchFamily="34" charset="-120"/>
              </a:rPr>
              <a:t>Tokenization is a fairness and pricing question</a:t>
            </a:r>
            <a:endParaRPr lang="en-US" sz="1250" dirty="0"/>
          </a:p>
        </p:txBody>
      </p:sp>
      <p:sp>
        <p:nvSpPr>
          <p:cNvPr id="20" name="Shape 15"/>
          <p:cNvSpPr/>
          <p:nvPr/>
        </p:nvSpPr>
        <p:spPr>
          <a:xfrm>
            <a:off x="640080" y="4526280"/>
            <a:ext cx="10972800" cy="1325880"/>
          </a:xfrm>
          <a:prstGeom prst="roundRect">
            <a:avLst>
              <a:gd name="adj" fmla="val 5517"/>
            </a:avLst>
          </a:prstGeom>
          <a:solidFill>
            <a:srgbClr val="B31A38"/>
          </a:solidFill>
          <a:ln/>
        </p:spPr>
        <p:txBody>
          <a:bodyPr/>
          <a:lstStyle/>
          <a:p>
            <a:endParaRPr lang="en-US"/>
          </a:p>
        </p:txBody>
      </p:sp>
      <p:sp>
        <p:nvSpPr>
          <p:cNvPr id="21" name="Shape 16"/>
          <p:cNvSpPr/>
          <p:nvPr/>
        </p:nvSpPr>
        <p:spPr>
          <a:xfrm>
            <a:off x="914400" y="4818888"/>
            <a:ext cx="731520" cy="731520"/>
          </a:xfrm>
          <a:prstGeom prst="line">
            <a:avLst/>
          </a:prstGeom>
          <a:solidFill>
            <a:srgbClr val="151A2E"/>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104595" y="5009083"/>
            <a:ext cx="351130" cy="351130"/>
          </a:xfrm>
          <a:prstGeom prst="rect">
            <a:avLst/>
          </a:prstGeom>
        </p:spPr>
      </p:pic>
      <p:sp>
        <p:nvSpPr>
          <p:cNvPr id="23" name="Text 17"/>
          <p:cNvSpPr/>
          <p:nvPr/>
        </p:nvSpPr>
        <p:spPr>
          <a:xfrm>
            <a:off x="1920240" y="4709160"/>
            <a:ext cx="941832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Thursday: Syntax, Ambiguity &amp; Multilingual Pipelines</a:t>
            </a:r>
            <a:endParaRPr lang="en-US" sz="1800" dirty="0"/>
          </a:p>
        </p:txBody>
      </p:sp>
      <p:sp>
        <p:nvSpPr>
          <p:cNvPr id="24" name="Text 18"/>
          <p:cNvSpPr/>
          <p:nvPr/>
        </p:nvSpPr>
        <p:spPr>
          <a:xfrm>
            <a:off x="1920240" y="5212080"/>
            <a:ext cx="9418320" cy="548640"/>
          </a:xfrm>
          <a:prstGeom prst="rect">
            <a:avLst/>
          </a:prstGeom>
          <a:noFill/>
          <a:ln/>
        </p:spPr>
        <p:txBody>
          <a:bodyPr wrap="square" lIns="0" tIns="0" rIns="0" bIns="0" rtlCol="0" anchor="ctr"/>
          <a:lstStyle/>
          <a:p>
            <a:pPr marL="0" indent="0">
              <a:buNone/>
            </a:pPr>
            <a:r>
              <a:rPr lang="en-US" sz="1350" dirty="0">
                <a:solidFill>
                  <a:srgbClr val="FFE3E8"/>
                </a:solidFill>
                <a:latin typeface="Calibri" pitchFamily="34" charset="0"/>
                <a:ea typeface="Calibri" pitchFamily="34" charset="-122"/>
                <a:cs typeface="Calibri" pitchFamily="34" charset="-120"/>
              </a:rPr>
              <a:t>From tagging single words to parsing whole sentences, plus the tokenizer bug that breaks real pipelines.</a:t>
            </a:r>
            <a:endParaRPr lang="en-US" sz="1350" dirty="0"/>
          </a:p>
        </p:txBody>
      </p:sp>
      <p:sp>
        <p:nvSpPr>
          <p:cNvPr id="25" name="Text 19"/>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
        <p:nvSpPr>
          <p:cNvPr id="26" name="Text 20"/>
          <p:cNvSpPr/>
          <p:nvPr/>
        </p:nvSpPr>
        <p:spPr>
          <a:xfrm>
            <a:off x="7315200" y="6327648"/>
            <a:ext cx="4297680" cy="274320"/>
          </a:xfrm>
          <a:prstGeom prst="rect">
            <a:avLst/>
          </a:prstGeom>
          <a:noFill/>
          <a:ln/>
        </p:spPr>
        <p:txBody>
          <a:bodyPr wrap="square" rtlCol="0" anchor="ctr"/>
          <a:lstStyle/>
          <a:p>
            <a:pPr marL="0" indent="0" algn="r">
              <a:buNone/>
            </a:pPr>
            <a:r>
              <a:rPr lang="en-US" sz="1000" i="1" dirty="0">
                <a:solidFill>
                  <a:srgbClr val="B5A06A"/>
                </a:solidFill>
                <a:latin typeface="Calibri" pitchFamily="34" charset="0"/>
                <a:ea typeface="Calibri" pitchFamily="34" charset="-122"/>
                <a:cs typeface="Calibri" pitchFamily="34" charset="-120"/>
              </a:rPr>
              <a:t>Read: J&amp;M ch. 2 (tokenization) and ch. 17 (POS &amp; NER)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315</TotalTime>
  <Words>2455</Words>
  <Application>Microsoft Macintosh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ISBA 2411 - L3 - Subword Tokenization, POS &amp; NER</dc:title>
  <dc:subject>PptxGenJS Presentation</dc:subject>
  <dc:creator>Jules Malin</dc:creator>
  <cp:lastModifiedBy>Jules Malin</cp:lastModifiedBy>
  <cp:revision>3</cp:revision>
  <dcterms:created xsi:type="dcterms:W3CDTF">2026-06-20T18:25:15Z</dcterms:created>
  <dcterms:modified xsi:type="dcterms:W3CDTF">2026-06-23T23:15:54Z</dcterms:modified>
</cp:coreProperties>
</file>